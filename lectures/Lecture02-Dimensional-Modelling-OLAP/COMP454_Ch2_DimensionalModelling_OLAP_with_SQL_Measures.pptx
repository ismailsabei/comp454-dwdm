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306" r:id="rId57"/>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0046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2 turns the first look at star schemas from Lecture 1 into a full design method, then shows how analysts explore a star schema with OLAP operations — all on Databricks.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every lecture by locating it on the course map. Lecture 1 introduced the platform and gave a first look at the star schema and the ETL layers. Lecture 2 designs the Gold layer properly (Part A) and shows how it is analysed with OLAP (Part B). Lecture 3 then builds the pipeline that fills this design. Target-first thinking: design the Gold star before building the pipeline.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objectives cover Kimball-style dimensional design as recommended for the lakehouse Gold layer in the Big Book of Data Warehousing and BI (sections 1.5 and 2.4). Part B objectives follow the Databricks “What is OLAP?” article and the Databricks SQL features used to implement OLAP.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follows the Kimball dimensional modelling approach. The Big Book of Data Warehousing and BI (sections 1.5 and 2.4) describes dimensional modelling as the backbone of BI and shows how star schemas, surrogate keys and SCDs are implemented with Delta tables on Databricks.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Book (section 1.5) lists three modelling paradigms used on the lakehouse: third normal form (3NF), Data Vault and dimensional modelling, and notes that the medallion layers align with modelling choices: Silver often holds integrated, more normalised data, while Gold carries business logic for BI — where dimensional (star) models are the most widely adopted. 3NF avoids redundancy and suits operational systems and integration layers; Data Vault (hubs, links, satellites) favours auditability and agile integration of many sources; dimensional models favour understandable, fast analytical queries.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real-world concepts, then translate them into analytical structures. An entity becomes a table, its attributes become columns, and its identifier becomes a key. This bridge connects earlier database modelling knowledge (ER diagrams) with dimensional warehouse design.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dimensional model is only useful when fact rows can be reliably connected to dimension rows. The primary key uniquely identifies each dimension row; the foreign key in the fact table points to it. Warehouses usually use surrogate keys: meaningless integers generated by the warehouse, rather than the natural/business key from the source (e.g. product code "P-0037"). The Big Book notes that surrogate keys keep identifiers consistent and immutable, support slowly changing dimensions and simplify joins; Delta tables can generate them automatically with identity columns.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Grain is the most important design decision. Before choosing measures or dimensions, define exactly what one fact row means. A clear grain prevents accidental mixing of detail levels and protects BI calculations and downstream ML features. Facts are the numbers we aggregate; dimensions are the descriptive context (who, what, where, when) we filter and group by.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Kimball dimensional design process: (1) choose the business process to model; (2) declare the grain; (3) identify the dimensions that are true at that grain; (4) identify the numeric facts that are true at that grain. The right-hand column applies each step to SmartRetail. Emphasise that steps 3 and 4 are tested against the grain declared in step 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fact table is at order-line grain: order 5001 has three lines. Shipping fee is an order-level value ($10 per order). If it is copied onto every line, SUM(shipping_fee) returns $30 for order 5001 instead of $10 — the report is wrong but no error is raised. Fixes: keep order-level measures in a separate order-grain fact table (e.g. fact_order), or allocate the fee across lines (e.g. proportional to sales_amount) so line values sum back to the true total.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Kimball identifies three fundamental fact-table types. Transaction facts record one row per event at the lowest grain (each order line). Periodic snapshot facts record the state of something at regular intervals (stock on hand per product per store per day), so they are dense even when nothing happens. Accumulating snapshot facts track a process with a defined start and end (an order moving through placed, paid, shipped, delivered): one row per order that is updated as milestones occur, with several date keys. A factless fact table records that an event or coverage occurred without numeric measures (which products were on promotion in which store on which day) — you COUNT rows.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Additive measures can be summed across every dimension (sales_amount, quantity). Semi-additive measures can be summed across some dimensions but not time: stock on hand can be summed across stores for one day, but summing daily balances over a month is meaningless — use the period-end value or an average. Non-additive measures cannot be summed at all: unit price, percentages and ratios. Store the additive components (profit and revenue) and compute the ratio after aggregating: SUM(profit) / SUM(revenue), never AVG or SUM of row-level margins.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 fact table has at least one date key, so dim_date is shared by the whole warehouse. It is generated rather than extracted: one row per calendar day covering the full range needed, with pre-computed attributes (year, quarter, month name, weekday, weekend flag, and optionally fiscal periods and public holidays). The smart integer key yyyyMMdd is a widely used convention because it is readable and sorts correctly. In Databricks the rows can be generated with sequence() and explode(). Note dayofweek() returns 1 for Sunday and 7 for Saturday.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Role-playing: one physical dimension used several times in a fact with different meanings — dim_date as order date and ship date. Join it twice with different aliases (or expose views named dim_order_date and dim_ship_date). Degenerate: an identifier kept in the fact table with no dimension table because it has no attributes of its own — order_id; it is still useful for grouping lines into baskets. Junk: several low-cardinality flags (channel, payment type, promo flag) combined into one small dimension instead of cluttering the fact table or creating many tiny dimensions.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hierarchy is a set of attributes in a dimension ordered from detailed to summary. In a star schema all levels are stored as columns of the same (denormalised) dimension row, so rolling up is just grouping by a coarser column. Hierarchies are what OLAP roll-up and drill-down navigate (Part B). When a relationship is many-to-many (a sale linked to several promotions, a patient with several diagnoses), a bridge table sits between the fact and the dimension; allocation weights prevent double counting.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 choice shapes how analysts write queries. The star schema is the teaching default because join paths are explicit and simple. Snowflake reduces redundancy but increases query complexity. A fact constellation is used once the business has several measurable processes sharing common (conformed) dimensions. The Big Book notes that star and snowflake schemas are both implemented on Delta tables in Databricks.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 schema is deliberately simple. Redundancy in dimension attributes (e.g. repeating the category name on every product row) is accepted because analytical speed and query clarity matter more than strict normalisation. Students should visualise almost every warehouse query as starting at the fact table and joining outward — one hop to each dimension.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canonical star-schema pattern. The fact table supplies sales_amount; the date and product dimensions provide the descriptive grouping attributes. Repeatedly showing this pattern helps students understand why keys and dimensional structure matter.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Snowflake schemas are closer to normalised database design. They reduce repeated dimension values (e.g. department name stored once), but analytical queries need extra joins to recover context. For introductory warehousing the star schema usually provides a clearer model.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fact constellation, or galaxy schema, appears when several measurable processes share the same dimensions. For example, Sales and Purchases both use the same Date and Product dimensions. These shared, identically defined dimensions are called conformed dimensions; they ensure “product” and “month” mean exactly the same thing in every analysis, so sales can be compared with purchases.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Kimball’s enterprise data warehouse bus matrix lists business processes (future fact tables) as rows and dimensions as columns; an X marks which dimensions each process uses. Columns with many X marks are conformed dimensions that must be designed once and shared (here Date and Product). The matrix is a planning tool: it lets a team build one star at a time while guaranteeing they will fit together into a constellation.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Slowly changing dimension types are chosen per attribute. Type 0 never changes the value (original signup date). Type 1 overwrites, losing history (correcting a typo in a name). Type 2 adds a new row with a new surrogate key and validity dates, keeping full history (customer city, customer segment). Type 3 keeps a limited “previous value” column (current_region and previous_region after a reorganisation). The Big Book recommends Type 2 wherever auditability matters, and Databricks declarative pipelines can maintain Type 1 and Type 2 automatically.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Dimension attributes change slowly: a customer moves city, a product changes category. SCD Type 1 overwrites the old value — simple, but history is lost, so past sales are re-labelled with the new city. SCD Type 2 closes the old row and inserts a new row with a new surrogate key and validity dates, so each sale stays linked to the version that was true at the time. The Big Book recommends SCD Type 2 for history-aware dimensions where auditability matters, and the Databricks SQL ETL guide shows declarative pipelines that maintain SCD Type 2 automatically (APPLY CHANGES / AUTO CDC … STORED AS SCD TYPE 2).</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each sale stores the surrogate key that was current when it happened, the normal join on customer_key gives the historical view: 2025 sales stay in Brisbane. To restate all history by the customer’s current attributes, go through the natural key to the row flagged is_current. Both are legitimate; the business question decides. For point-in-time lookups (e.g. building ML features “as of” a date), filter with valid_from &lt;= date AND date &lt;= valid_to.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Databricks documentation: primary-key, foreign-key and unique constraints in Unity Catalog are informational only — they document the model, show relationships in Catalog Explorer and BI tools, and can help the optimiser, but they are NOT enforced. NOT NULL and CHECK constraints ARE enforced: violating writes fail. Identity columns generate surrogate keys; GENERATED BY DEFAULT (rather than ALWAYS) lets you insert explicit values such as -1 for the unknown member. CLUSTER BY enables liquid clustering on columns frequently used in filters and joins, improving data skipping. Comments on tables and columns feed discovery in Unity Catalog and help Genie.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reference dimensions, so dimensions are loaded (or updated) first and facts second — this is also the dependency order in the Lecture 3 DAG. If an incoming sale references a customer not yet in dim_customer (late-arriving dimension, bad code), an inner join would silently drop the sale and revenue would be understated. Instead, each dimension carries an “unknown” member with key -1, and unmatched facts are assigned to it with COALESCE; a monitoring query counts facts on -1 so the issue is visible and can be fixed later.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checklist in the Lab 2 design workshop and for peer review of each other’s designs. Each item corresponds to a slide in Part 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SmartRetail gives the course continuity. Students ingest the same business data, improve its quality, construct a star schema, and then derive mining datasets from it. This avoids the common teaching problem where every week introduces a disconnected toy dataset.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follows the Databricks article “What is OLAP?” (January 2026, updated April 2026), and implements each idea with Databricks SQL features: GROUP BY ROLLUP / CUBE / GROUPING SETS, PIVOT, materialized views, Unity Catalog metric views, AI/BI dashboards and Genie.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Databricks article defines OLAP as “a way to analyze data across multiple dimensions quickly and interactively”, letting teams explore trends and investigate performance questions without writing a new custom report for each step. It contrasts OLAP (historical, consolidated data; complex multi-dimensional queries; business understanding) with OLTP (current transactional data; fast accurate updates; running the business) — the same contrast introduced in Lecture 1.</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article describes an OLAP cube as a multidimensional structure with measures (numeric values such as revenue, cost, margin, order count), dimensions (categorical descriptors such as product, geography, customer, time) and hierarchies that enable drill-down. Map each part to the SmartRetail star: every dimension table is an axis, each cell is an aggregate of fact measures for one combination of dimension members. In Databricks we never build a separate cube: SQL on the Gold tables computes any cell on demand.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OLAP operations from the Databricks article: drill-down and roll-up move between detail and summary levels of a hierarchy; slice selects a single value of one dimension; dice selects values across several dimensions; pivot reorients the view (swapping rows and columns) to reveal another perspective. Each maps to a simple change in a SQL query, shown on the next slides.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walkthrough adapts the example in the Databricks OLAP article (an executive investigating declining Q3 sales drills from national to regional results, slices to specific stores, dices into top categories and pivots by customer segment) to SmartRetail. Step 1 is the rolled-up view: revenue per quarter for the whole company. Step 2 drills down: add region and month to see where and when the drop happened. Figures shown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Slice fixes one dimension to a single member — here region = Queensland — giving a lower-dimensional sub-cube. Dice restricts several dimensions at once — Q3, two regions, two categories — to compare targeted subsets. In SQL both are WHERE conditions; the difference is how many dimensions are restricted. Figures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reorients the result: values of one dimension become columns. Databricks SQL supports a PIVOT clause: the inner query supplies the grouping column, the pivot column and the measure; PIVOT aggregates the measure for each listed value. In a dashboard the same effect is achieved by choosing which field goes on rows and which on columns. Figures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Databricks SQL supports GROUP BY ROLLUP(a, b) (equivalently GROUP BY a, b WITH ROLLUP). ROLLUP(year, quarter) produces the groupings (year, quarter), (year) and () — detail rows, a subtotal per year and a grand total — exactly the roll-up operation along a hierarchy. Subtotal rows show NULL in the rolled-up columns; the grouping() function returns 1 when a column was aggregated away, which distinguishes a subtotal NULL from a genuine missing value. Figures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CUBE(a, b) produces every combination of the listed columns: (a, b), (a), (b) and () — for n columns that is 2^n groupings, the full data cube. GROUPING SETS lists exactly the groupings wanted, which avoids computing combinations nobody uses; ROLLUP and CUBE are shorthands for particular grouping sets. grouping_id(a, b) returns a bit pattern identifying which columns were aggregated in each row, handy for labelling or filtering levels.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possible GROUP BY over a set of dimensions is a cuboid. With three dimensions (Date, Product, Store) there are 2^3 = 8 cuboids, from the base cuboid (all three) to the apex (grand total). With hierarchies the count multiplies further: if each dimension has L levels, there are (L1+1)(L2+1)(L3+1) cuboids. Pre-computing all of them (full materialisation) is expensive, so systems pre-compute only frequently used cuboids and derive the rest — Databricks does this with materialized views over Gold (next slides). Coarser cuboids can be computed from finer ones: (Date) = roll-up of (Date, Product).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Databricks OLAP article. MOLAP stores pre-aggregated cube structures: very fast, predictable responses and easy hierarchy navigation, but more storage and delayed access to new data (the cube must be reprocessed). ROLAP runs OLAP operations directly on relational tables or cloud warehouses: handles large volumes and flexible schema changes via SQL, but performance can vary without pre-aggregation. HOLAP combines cube summaries with relational detail: fast summaries plus detailed drill-down, at the cost of synchronisation complexity. Databricks is essentially ROLAP on Delta tables, closing the performance gap with a vectorised engine (Photon), caching, data skipping and selective pre-aggregation through materialized views — and the article stresses that OLAP workloads run on the same data used for ML, streaming and engineering.</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materialized view stores the result of its query and Databricks refreshes it — incrementally when the query allows — on a schedule or on demand. Dashboards then read a small aggregate instead of scanning the fact table, which matters on Free Edition’s single 2X-Small SQL warehouse. The Databricks SQL ETL guide shows the SCHEDULE clause and reports large speed-ups from materialized views on big fact tables. Choose views that match frequent questions: here region × category × month.</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Unity Catalog metric views separate measure definitions from the dimensions (fields) used to group and filter them. They are created with CREATE VIEW … WITH METRICS LANGUAGE YAML, listing a source table, optional joins, fields and measures (Databricks Runtime 16.4+ / SQL warehouse). Measures are queried with the MEASURE() aggregate function and GROUP BY; SELECT * is not allowed. Because every dashboard, notebook and Genie space uses the same definition, the Big Book’s problem of “metric drift” between BI tools disappears. Check the YAML version supported by your workspace in the documentation.</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Databricks OLAP article credits Delta Lake’s performance features such as indexing, caching and data skipping, and cloud elasticity from separating storage and compute. Photon is the vectorised query engine used by Databricks SQL warehouses. Delta keeps min/max statistics per file so filters on clustered columns skip files entirely; liquid clustering (CLUSTER BY) organises data by commonly filtered columns. Repeated dashboard queries benefit from result and disk caching. On Free Edition there is one 2X-Small SQL warehouse, so good modelling and pre-aggregation matter more than raw compute.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Databricks OLAP article notes that modern platforms embed OLAP interactions in BI interfaces regardless of whether a traditional cube exists. In AI/BI dashboards, filters slice and dice; cross-filtering applies automatically when charts on the same page use the same dataset and a supported chart type (bar, pie, heatmap, scatter…); drill-through lets a user right-click a mark and jump to another page pre-filtered to that value; changing the field on an axis rolls up or drills down. Genie lets users ask questions in plain English over governed tables or metric views, shows the SQL it generated, and can be improved with table comments and example queries.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OLAP is descriptive analysis: it tells us what happened and where. Data mining (second half) looks for patterns and predictions. The two share the same foundations: many mining features are roll-ups of the fact table by an entity (RFM is GROUP BY customer), association rules need the line-item grain and the degenerate order_id, and leakage-free classification relies on dim_date and SCD Type 2 point-in-time lookups. OLAP exploration is also the natural first step of any mining project: understand the data before modelling it.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applies both halves of the lecture in Databricks Free Edition. Because the full ETL pipeline is Lecture 3, this lab loads the dimensions and fact from a provided clean extract; Lecture 3 later rebuilds the same tables properly through Bronze and Silver. Suggested deliverables: the design sheet (grain, bus-matrix row, SCD choices), the DDL notebook, the query notebook with interpretations, and a screenshot or link of the dashboard.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six statements to check understanding before moving on to Lecture 3.</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1) The grain states what one fact row represents; everything else must be true at it, otherwise measures double-count. 2) Periodic snapshot (one row per product per store per day). 3) Stock on hand is semi-additive: sum across stores, not across days — use period-end or average. 4) Role-playing: dim_date joined twice (order_date_key, ship_date_key) with aliases. 5) Type 2: close the old row, insert a new row with a new surrogate key and validity dates; old sales keep the old key. 6) Informational only; NOT NULL and CHECK are enforced, so the pipeline must test uniqueness and orphans. 7) Roll-up = coarser GROUP BY; slice = WHERE on one dimension; dice = WHERE on several. 8) ROLLUP(year, quarter) gives (year, quarter), (year), (); NULL in quarter with grouping(quarter)=1 means “all quarters”. 9) 2^3 = 8. 10) Databricks is essentially ROLAP on Delta tables, with materialized views for selective pre-aggregation.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of key Lecture 2 terms.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of key Lecture 2 terms.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linking forward: Lecture 3 builds the pipeline that loads this design; the mining half then uses the same Gold tables.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8FA3B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8FA3B8"/>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4.png"/><Relationship Id="rId6"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9.png"/><Relationship Id="rId5" Type="http://schemas.openxmlformats.org/officeDocument/2006/relationships/image" Target="../media/image23.png"/><Relationship Id="rId6"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png"/><Relationship Id="rId6"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14.png"/><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8.png"/><Relationship Id="rId5"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9.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6.png"/><Relationship Id="rId7" Type="http://schemas.openxmlformats.org/officeDocument/2006/relationships/image" Target="../media/image32.png"/><Relationship Id="rId8"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6.png"/><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6.png"/><Relationship Id="rId4" Type="http://schemas.openxmlformats.org/officeDocument/2006/relationships/image" Target="../media/image31.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6.png"/><Relationship Id="rId8" Type="http://schemas.openxmlformats.org/officeDocument/2006/relationships/image" Target="../media/image26.png"/><Relationship Id="rId9"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1.png"/><Relationship Id="rId4" Type="http://schemas.openxmlformats.org/officeDocument/2006/relationships/image" Target="../media/image35.png"/><Relationship Id="rId5"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a:effectLst/>
      </p:bgPr>
    </p:bg>
    <p:spTree>
      <p:nvGrpSpPr>
        <p:cNvPr id="1" name=""/>
        <p:cNvGrpSpPr/>
        <p:nvPr/>
      </p:nvGrpSpPr>
      <p:grpSpPr>
        <a:xfrm>
          <a:off x="0" y="0"/>
          <a:ext cx="0" cy="0"/>
          <a:chOff x="0" y="0"/>
          <a:chExt cx="0" cy="0"/>
        </a:xfrm>
      </p:grpSpPr>
      <p:sp>
        <p:nvSpPr>
          <p:cNvPr id="2" name="Text 0"/>
          <p:cNvSpPr txBox="1"/>
          <p:nvPr/>
        </p:nvSpPr>
        <p:spPr>
          <a:xfrm>
            <a:off x="640080" y="1234440"/>
            <a:ext cx="5486400" cy="320040"/>
          </a:xfrm>
          <a:prstGeom prst="rect">
            <a:avLst/>
          </a:prstGeom>
          <a:noFill/>
          <a:ln/>
        </p:spPr>
        <p:txBody>
          <a:bodyPr wrap="square" lIns="0" tIns="0" rIns="0" bIns="0" rtlCol="0" anchor="t"/>
          <a:lstStyle/>
          <a:p>
            <a:pPr marL="0" indent="0">
              <a:buNone/>
            </a:pPr>
            <a:r>
              <a:rPr lang="en-US" sz="1400" b="1" kern="0" spc="300" dirty="0">
                <a:solidFill>
                  <a:srgbClr val="E89B2D"/>
                </a:solidFill>
                <a:latin typeface="Calibri" pitchFamily="34" charset="0"/>
                <a:ea typeface="Calibri" pitchFamily="34" charset="-122"/>
                <a:cs typeface="Calibri" pitchFamily="34" charset="-120"/>
              </a:rPr>
              <a:t>COMP454 </a:t>
            </a:r>
            <a:r>
              <a:rPr lang="en-US" sz="1400" b="1" kern="0" spc="300">
                <a:solidFill>
                  <a:srgbClr val="E89B2D"/>
                </a:solidFill>
                <a:latin typeface="Calibri" pitchFamily="34" charset="0"/>
                <a:ea typeface="Calibri" pitchFamily="34" charset="-122"/>
                <a:cs typeface="Calibri" pitchFamily="34" charset="-120"/>
              </a:rPr>
              <a:t>· Chapter </a:t>
            </a:r>
            <a:r>
              <a:rPr lang="en-US" sz="1400" b="1" kern="0" spc="300" dirty="0">
                <a:solidFill>
                  <a:srgbClr val="E89B2D"/>
                </a:solidFill>
                <a:latin typeface="Calibri" pitchFamily="34" charset="0"/>
                <a:ea typeface="Calibri" pitchFamily="34" charset="-122"/>
                <a:cs typeface="Calibri" pitchFamily="34" charset="-120"/>
              </a:rPr>
              <a:t>2</a:t>
            </a:r>
            <a:endParaRPr lang="en-US" sz="1400" dirty="0"/>
          </a:p>
        </p:txBody>
      </p:sp>
      <p:sp>
        <p:nvSpPr>
          <p:cNvPr id="3" name="Text 1"/>
          <p:cNvSpPr txBox="1"/>
          <p:nvPr/>
        </p:nvSpPr>
        <p:spPr>
          <a:xfrm>
            <a:off x="640080" y="1645920"/>
            <a:ext cx="6766560" cy="173736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Dimensional Modelling &amp; OLAP</a:t>
            </a:r>
            <a:endParaRPr lang="en-US" sz="4600" dirty="0"/>
          </a:p>
        </p:txBody>
      </p:sp>
      <p:sp>
        <p:nvSpPr>
          <p:cNvPr id="4" name="Text 2"/>
          <p:cNvSpPr txBox="1"/>
          <p:nvPr/>
        </p:nvSpPr>
        <p:spPr>
          <a:xfrm>
            <a:off x="640080" y="3429000"/>
            <a:ext cx="6309360" cy="822960"/>
          </a:xfrm>
          <a:prstGeom prst="rect">
            <a:avLst/>
          </a:prstGeom>
          <a:noFill/>
          <a:ln/>
        </p:spPr>
        <p:txBody>
          <a:bodyPr wrap="square" lIns="0" tIns="0" rIns="0" bIns="0" rtlCol="0" anchor="t"/>
          <a:lstStyle/>
          <a:p>
            <a:pPr marL="0" indent="0">
              <a:buNone/>
            </a:pPr>
            <a:r>
              <a:rPr lang="en-US" sz="2000" dirty="0">
                <a:solidFill>
                  <a:srgbClr val="D5DEE7"/>
                </a:solidFill>
                <a:latin typeface="Calibri" pitchFamily="34" charset="0"/>
                <a:ea typeface="Calibri" pitchFamily="34" charset="-122"/>
                <a:cs typeface="Calibri" pitchFamily="34" charset="-120"/>
              </a:rPr>
              <a:t>Designing the SmartRetail star schema — and analysing it the OLAP way in Databricks</a:t>
            </a:r>
            <a:endParaRPr lang="en-US" sz="2000" dirty="0"/>
          </a:p>
        </p:txBody>
      </p:sp>
      <p:sp>
        <p:nvSpPr>
          <p:cNvPr id="6" name="Shape 4"/>
          <p:cNvSpPr/>
          <p:nvPr/>
        </p:nvSpPr>
        <p:spPr>
          <a:xfrm>
            <a:off x="8595360" y="1737360"/>
            <a:ext cx="1051560" cy="1783080"/>
          </a:xfrm>
          <a:prstGeom prst="line">
            <a:avLst/>
          </a:prstGeom>
          <a:noFill/>
          <a:ln w="19050">
            <a:solidFill>
              <a:srgbClr val="8FA3B8"/>
            </a:solidFill>
            <a:prstDash val="solid"/>
          </a:ln>
        </p:spPr>
        <p:txBody>
          <a:bodyPr/>
          <a:lstStyle/>
          <a:p>
            <a:endParaRPr lang="en-US"/>
          </a:p>
        </p:txBody>
      </p:sp>
      <p:sp>
        <p:nvSpPr>
          <p:cNvPr id="7" name="Shape 5"/>
          <p:cNvSpPr/>
          <p:nvPr/>
        </p:nvSpPr>
        <p:spPr>
          <a:xfrm flipH="1">
            <a:off x="9646920" y="1737360"/>
            <a:ext cx="1051560" cy="1783080"/>
          </a:xfrm>
          <a:prstGeom prst="line">
            <a:avLst/>
          </a:prstGeom>
          <a:noFill/>
          <a:ln w="19050">
            <a:solidFill>
              <a:srgbClr val="8FA3B8"/>
            </a:solidFill>
            <a:prstDash val="solid"/>
          </a:ln>
        </p:spPr>
        <p:txBody>
          <a:bodyPr/>
          <a:lstStyle/>
          <a:p>
            <a:endParaRPr lang="en-US"/>
          </a:p>
        </p:txBody>
      </p:sp>
      <p:sp>
        <p:nvSpPr>
          <p:cNvPr id="8" name="Shape 6"/>
          <p:cNvSpPr/>
          <p:nvPr/>
        </p:nvSpPr>
        <p:spPr>
          <a:xfrm flipH="1">
            <a:off x="8595360" y="3520440"/>
            <a:ext cx="1051560" cy="1325880"/>
          </a:xfrm>
          <a:prstGeom prst="line">
            <a:avLst/>
          </a:prstGeom>
          <a:noFill/>
          <a:ln w="19050">
            <a:solidFill>
              <a:srgbClr val="8FA3B8"/>
            </a:solidFill>
            <a:prstDash val="solid"/>
          </a:ln>
        </p:spPr>
        <p:txBody>
          <a:bodyPr/>
          <a:lstStyle/>
          <a:p>
            <a:endParaRPr lang="en-US"/>
          </a:p>
        </p:txBody>
      </p:sp>
      <p:sp>
        <p:nvSpPr>
          <p:cNvPr id="9" name="Shape 7"/>
          <p:cNvSpPr/>
          <p:nvPr/>
        </p:nvSpPr>
        <p:spPr>
          <a:xfrm>
            <a:off x="9646920" y="3520440"/>
            <a:ext cx="1051560" cy="1325880"/>
          </a:xfrm>
          <a:prstGeom prst="line">
            <a:avLst/>
          </a:prstGeom>
          <a:noFill/>
          <a:ln w="19050">
            <a:solidFill>
              <a:srgbClr val="8FA3B8"/>
            </a:solidFill>
            <a:prstDash val="solid"/>
          </a:ln>
        </p:spPr>
        <p:txBody>
          <a:bodyPr/>
          <a:lstStyle/>
          <a:p>
            <a:endParaRPr lang="en-US"/>
          </a:p>
        </p:txBody>
      </p:sp>
      <p:sp>
        <p:nvSpPr>
          <p:cNvPr id="10" name="Shape 8"/>
          <p:cNvSpPr/>
          <p:nvPr/>
        </p:nvSpPr>
        <p:spPr>
          <a:xfrm>
            <a:off x="7955280" y="1463040"/>
            <a:ext cx="1280160" cy="548640"/>
          </a:xfrm>
          <a:prstGeom prst="roundRect">
            <a:avLst>
              <a:gd name="adj" fmla="val 16667"/>
            </a:avLst>
          </a:prstGeom>
          <a:solidFill>
            <a:srgbClr val="2F6DB5"/>
          </a:solidFill>
          <a:ln w="9525">
            <a:solidFill>
              <a:srgbClr val="2F6DB5"/>
            </a:solidFill>
            <a:prstDash val="solid"/>
          </a:ln>
        </p:spPr>
        <p:txBody>
          <a:bodyPr/>
          <a:lstStyle/>
          <a:p>
            <a:endParaRPr lang="en-US"/>
          </a:p>
        </p:txBody>
      </p:sp>
      <p:sp>
        <p:nvSpPr>
          <p:cNvPr id="11" name="Text 9"/>
          <p:cNvSpPr txBox="1"/>
          <p:nvPr/>
        </p:nvSpPr>
        <p:spPr>
          <a:xfrm>
            <a:off x="7955280" y="1463040"/>
            <a:ext cx="128016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dim_date</a:t>
            </a:r>
            <a:endParaRPr lang="en-US" sz="1200" dirty="0"/>
          </a:p>
        </p:txBody>
      </p:sp>
      <p:sp>
        <p:nvSpPr>
          <p:cNvPr id="12" name="Shape 10"/>
          <p:cNvSpPr/>
          <p:nvPr/>
        </p:nvSpPr>
        <p:spPr>
          <a:xfrm>
            <a:off x="10058400" y="1463040"/>
            <a:ext cx="1280160" cy="548640"/>
          </a:xfrm>
          <a:prstGeom prst="roundRect">
            <a:avLst>
              <a:gd name="adj" fmla="val 16667"/>
            </a:avLst>
          </a:prstGeom>
          <a:solidFill>
            <a:srgbClr val="2F6DB5"/>
          </a:solidFill>
          <a:ln w="9525">
            <a:solidFill>
              <a:srgbClr val="2F6DB5"/>
            </a:solidFill>
            <a:prstDash val="solid"/>
          </a:ln>
        </p:spPr>
        <p:txBody>
          <a:bodyPr/>
          <a:lstStyle/>
          <a:p>
            <a:endParaRPr lang="en-US"/>
          </a:p>
        </p:txBody>
      </p:sp>
      <p:sp>
        <p:nvSpPr>
          <p:cNvPr id="13" name="Text 11"/>
          <p:cNvSpPr txBox="1"/>
          <p:nvPr/>
        </p:nvSpPr>
        <p:spPr>
          <a:xfrm>
            <a:off x="10058400" y="1463040"/>
            <a:ext cx="128016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dim_product</a:t>
            </a:r>
            <a:endParaRPr lang="en-US" sz="1200" dirty="0"/>
          </a:p>
        </p:txBody>
      </p:sp>
      <p:sp>
        <p:nvSpPr>
          <p:cNvPr id="14" name="Shape 12"/>
          <p:cNvSpPr/>
          <p:nvPr/>
        </p:nvSpPr>
        <p:spPr>
          <a:xfrm>
            <a:off x="7955280" y="4572000"/>
            <a:ext cx="1280160" cy="548640"/>
          </a:xfrm>
          <a:prstGeom prst="roundRect">
            <a:avLst>
              <a:gd name="adj" fmla="val 16667"/>
            </a:avLst>
          </a:prstGeom>
          <a:solidFill>
            <a:srgbClr val="2F6DB5"/>
          </a:solidFill>
          <a:ln w="9525">
            <a:solidFill>
              <a:srgbClr val="2F6DB5"/>
            </a:solidFill>
            <a:prstDash val="solid"/>
          </a:ln>
        </p:spPr>
        <p:txBody>
          <a:bodyPr/>
          <a:lstStyle/>
          <a:p>
            <a:endParaRPr lang="en-US"/>
          </a:p>
        </p:txBody>
      </p:sp>
      <p:sp>
        <p:nvSpPr>
          <p:cNvPr id="15" name="Text 13"/>
          <p:cNvSpPr txBox="1"/>
          <p:nvPr/>
        </p:nvSpPr>
        <p:spPr>
          <a:xfrm>
            <a:off x="7955280" y="4572000"/>
            <a:ext cx="128016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dim_customer</a:t>
            </a:r>
            <a:endParaRPr lang="en-US" sz="1200" dirty="0"/>
          </a:p>
        </p:txBody>
      </p:sp>
      <p:sp>
        <p:nvSpPr>
          <p:cNvPr id="16" name="Shape 14"/>
          <p:cNvSpPr/>
          <p:nvPr/>
        </p:nvSpPr>
        <p:spPr>
          <a:xfrm>
            <a:off x="10058400" y="4572000"/>
            <a:ext cx="1280160" cy="548640"/>
          </a:xfrm>
          <a:prstGeom prst="roundRect">
            <a:avLst>
              <a:gd name="adj" fmla="val 16667"/>
            </a:avLst>
          </a:prstGeom>
          <a:solidFill>
            <a:srgbClr val="2F6DB5"/>
          </a:solidFill>
          <a:ln w="9525">
            <a:solidFill>
              <a:srgbClr val="2F6DB5"/>
            </a:solidFill>
            <a:prstDash val="solid"/>
          </a:ln>
        </p:spPr>
        <p:txBody>
          <a:bodyPr/>
          <a:lstStyle/>
          <a:p>
            <a:endParaRPr lang="en-US"/>
          </a:p>
        </p:txBody>
      </p:sp>
      <p:sp>
        <p:nvSpPr>
          <p:cNvPr id="17" name="Text 15"/>
          <p:cNvSpPr txBox="1"/>
          <p:nvPr/>
        </p:nvSpPr>
        <p:spPr>
          <a:xfrm>
            <a:off x="10058400" y="4572000"/>
            <a:ext cx="128016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dim_store</a:t>
            </a:r>
            <a:endParaRPr lang="en-US" sz="1200" dirty="0"/>
          </a:p>
        </p:txBody>
      </p:sp>
      <p:sp>
        <p:nvSpPr>
          <p:cNvPr id="18" name="Shape 16"/>
          <p:cNvSpPr/>
          <p:nvPr/>
        </p:nvSpPr>
        <p:spPr>
          <a:xfrm>
            <a:off x="8869680" y="3246120"/>
            <a:ext cx="1554480" cy="640080"/>
          </a:xfrm>
          <a:prstGeom prst="roundRect">
            <a:avLst>
              <a:gd name="adj" fmla="val 14286"/>
            </a:avLst>
          </a:prstGeom>
          <a:solidFill>
            <a:srgbClr val="C8414F"/>
          </a:solidFill>
          <a:ln w="9525">
            <a:solidFill>
              <a:srgbClr val="C8414F"/>
            </a:solidFill>
            <a:prstDash val="solid"/>
          </a:ln>
        </p:spPr>
        <p:txBody>
          <a:bodyPr/>
          <a:lstStyle/>
          <a:p>
            <a:endParaRPr lang="en-US"/>
          </a:p>
        </p:txBody>
      </p:sp>
      <p:sp>
        <p:nvSpPr>
          <p:cNvPr id="19" name="Text 17"/>
          <p:cNvSpPr txBox="1"/>
          <p:nvPr/>
        </p:nvSpPr>
        <p:spPr>
          <a:xfrm>
            <a:off x="8869680" y="3246120"/>
            <a:ext cx="15544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fact_sales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COURSE MAP</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Where Lecture 2 fits in the course</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INTRO</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5090008" cy="3886200"/>
          </a:xfrm>
          <a:prstGeom prst="roundRect">
            <a:avLst>
              <a:gd name="adj" fmla="val 1412"/>
            </a:avLst>
          </a:prstGeom>
          <a:solidFill>
            <a:srgbClr val="E2F1F0"/>
          </a:solidFill>
          <a:ln w="9525">
            <a:solidFill>
              <a:srgbClr val="E2F1F0"/>
            </a:solidFill>
            <a:prstDash val="solid"/>
          </a:ln>
        </p:spPr>
        <p:txBody>
          <a:bodyPr/>
          <a:lstStyle/>
          <a:p>
            <a:endParaRPr lang="en-US"/>
          </a:p>
        </p:txBody>
      </p:sp>
      <p:sp>
        <p:nvSpPr>
          <p:cNvPr id="9" name="Text 6"/>
          <p:cNvSpPr txBox="1"/>
          <p:nvPr/>
        </p:nvSpPr>
        <p:spPr>
          <a:xfrm>
            <a:off x="777240" y="1783080"/>
            <a:ext cx="4632808" cy="365760"/>
          </a:xfrm>
          <a:prstGeom prst="rect">
            <a:avLst/>
          </a:prstGeom>
          <a:noFill/>
          <a:ln/>
        </p:spPr>
        <p:txBody>
          <a:bodyPr wrap="square" lIns="0" tIns="0" rIns="0" bIns="0" rtlCol="0" anchor="t"/>
          <a:lstStyle/>
          <a:p>
            <a:pPr marL="0" indent="0">
              <a:buNone/>
            </a:pPr>
            <a:r>
              <a:rPr lang="en-US" sz="1600" b="1" dirty="0">
                <a:solidFill>
                  <a:srgbClr val="0E7C7B"/>
                </a:solidFill>
                <a:latin typeface="Calibri" pitchFamily="34" charset="0"/>
                <a:ea typeface="Calibri" pitchFamily="34" charset="-122"/>
                <a:cs typeface="Calibri" pitchFamily="34" charset="-120"/>
              </a:rPr>
              <a:t>Data warehousing half</a:t>
            </a:r>
            <a:endParaRPr lang="en-US" sz="1600" dirty="0"/>
          </a:p>
        </p:txBody>
      </p:sp>
      <p:sp>
        <p:nvSpPr>
          <p:cNvPr id="10" name="Shape 7"/>
          <p:cNvSpPr/>
          <p:nvPr/>
        </p:nvSpPr>
        <p:spPr>
          <a:xfrm>
            <a:off x="777240" y="2240280"/>
            <a:ext cx="4632808" cy="932688"/>
          </a:xfrm>
          <a:prstGeom prst="roundRect">
            <a:avLst>
              <a:gd name="adj" fmla="val 7843"/>
            </a:avLst>
          </a:prstGeom>
          <a:solidFill>
            <a:srgbClr val="FFFFFF"/>
          </a:solidFill>
          <a:ln w="12700">
            <a:solidFill>
              <a:srgbClr val="0E7C7B"/>
            </a:solidFill>
            <a:prstDash val="solid"/>
          </a:ln>
        </p:spPr>
        <p:txBody>
          <a:bodyPr/>
          <a:lstStyle/>
          <a:p>
            <a:endParaRPr lang="en-US"/>
          </a:p>
        </p:txBody>
      </p:sp>
      <p:sp>
        <p:nvSpPr>
          <p:cNvPr id="11" name="Text 8"/>
          <p:cNvSpPr txBox="1"/>
          <p:nvPr/>
        </p:nvSpPr>
        <p:spPr>
          <a:xfrm>
            <a:off x="960120" y="2240280"/>
            <a:ext cx="4267048" cy="932688"/>
          </a:xfrm>
          <a:prstGeom prst="rect">
            <a:avLst/>
          </a:prstGeom>
          <a:noFill/>
          <a:ln/>
        </p:spPr>
        <p:txBody>
          <a:bodyPr wrap="square" lIns="0" tIns="0" rIns="0" bIns="0"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L1  </a:t>
            </a:r>
            <a:r>
              <a:rPr lang="en-US" sz="1400" b="1" dirty="0">
                <a:solidFill>
                  <a:srgbClr val="12263A"/>
                </a:solidFill>
                <a:latin typeface="Calibri" pitchFamily="34" charset="0"/>
                <a:ea typeface="Calibri" pitchFamily="34" charset="-122"/>
                <a:cs typeface="Calibri" pitchFamily="34" charset="-120"/>
              </a:rPr>
              <a:t>Course map &amp; Databricks platform</a:t>
            </a:r>
            <a:endParaRPr lang="en-US" sz="1400" dirty="0"/>
          </a:p>
          <a:p>
            <a:pPr marL="0" indent="0">
              <a:buNone/>
            </a:pPr>
            <a:r>
              <a:rPr lang="en-US" sz="1150" dirty="0">
                <a:solidFill>
                  <a:srgbClr val="5B6B7B"/>
                </a:solidFill>
                <a:latin typeface="Calibri" pitchFamily="34" charset="0"/>
                <a:ea typeface="Calibri" pitchFamily="34" charset="-122"/>
                <a:cs typeface="Calibri" pitchFamily="34" charset="-120"/>
              </a:rPr>
              <a:t>lakehouse, Unity Catalog, Delta; first look at schema and ETL</a:t>
            </a:r>
            <a:endParaRPr lang="en-US" sz="1400" dirty="0"/>
          </a:p>
        </p:txBody>
      </p:sp>
      <p:sp>
        <p:nvSpPr>
          <p:cNvPr id="12" name="Shape 9"/>
          <p:cNvSpPr/>
          <p:nvPr/>
        </p:nvSpPr>
        <p:spPr>
          <a:xfrm>
            <a:off x="777240" y="3319272"/>
            <a:ext cx="4632808" cy="932688"/>
          </a:xfrm>
          <a:prstGeom prst="roundRect">
            <a:avLst>
              <a:gd name="adj" fmla="val 7843"/>
            </a:avLst>
          </a:prstGeom>
          <a:solidFill>
            <a:srgbClr val="FFFFFF"/>
          </a:solidFill>
          <a:ln w="31750">
            <a:solidFill>
              <a:srgbClr val="E89B2D"/>
            </a:solidFill>
            <a:prstDash val="solid"/>
          </a:ln>
        </p:spPr>
        <p:txBody>
          <a:bodyPr/>
          <a:lstStyle/>
          <a:p>
            <a:endParaRPr lang="en-US"/>
          </a:p>
        </p:txBody>
      </p:sp>
      <p:sp>
        <p:nvSpPr>
          <p:cNvPr id="13" name="Text 10"/>
          <p:cNvSpPr txBox="1"/>
          <p:nvPr/>
        </p:nvSpPr>
        <p:spPr>
          <a:xfrm>
            <a:off x="960120" y="3319272"/>
            <a:ext cx="4267048" cy="932688"/>
          </a:xfrm>
          <a:prstGeom prst="rect">
            <a:avLst/>
          </a:prstGeom>
          <a:noFill/>
          <a:ln/>
        </p:spPr>
        <p:txBody>
          <a:bodyPr wrap="square" lIns="0" tIns="0" rIns="0" bIns="0"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L2  </a:t>
            </a:r>
            <a:r>
              <a:rPr lang="en-US" sz="1400" b="1" dirty="0">
                <a:solidFill>
                  <a:srgbClr val="12263A"/>
                </a:solidFill>
                <a:latin typeface="Calibri" pitchFamily="34" charset="0"/>
                <a:ea typeface="Calibri" pitchFamily="34" charset="-122"/>
                <a:cs typeface="Calibri" pitchFamily="34" charset="-120"/>
              </a:rPr>
              <a:t>Dimensional modelling &amp; OLAP</a:t>
            </a:r>
            <a:endParaRPr lang="en-US" sz="1400" dirty="0"/>
          </a:p>
          <a:p>
            <a:pPr marL="0" indent="0">
              <a:buNone/>
            </a:pPr>
            <a:r>
              <a:rPr lang="en-US" sz="1150" dirty="0">
                <a:solidFill>
                  <a:srgbClr val="5B6B7B"/>
                </a:solidFill>
                <a:latin typeface="Calibri" pitchFamily="34" charset="0"/>
                <a:ea typeface="Calibri" pitchFamily="34" charset="-122"/>
                <a:cs typeface="Calibri" pitchFamily="34" charset="-120"/>
              </a:rPr>
              <a:t>design the SmartRetail star; analyse it the OLAP way</a:t>
            </a:r>
            <a:endParaRPr lang="en-US" sz="1400" dirty="0"/>
          </a:p>
        </p:txBody>
      </p:sp>
      <p:sp>
        <p:nvSpPr>
          <p:cNvPr id="14" name="Shape 11"/>
          <p:cNvSpPr/>
          <p:nvPr/>
        </p:nvSpPr>
        <p:spPr>
          <a:xfrm>
            <a:off x="4038448" y="3182112"/>
            <a:ext cx="1234440" cy="274320"/>
          </a:xfrm>
          <a:prstGeom prst="roundRect">
            <a:avLst>
              <a:gd name="adj" fmla="val 50000"/>
            </a:avLst>
          </a:prstGeom>
          <a:solidFill>
            <a:srgbClr val="E89B2D"/>
          </a:solidFill>
          <a:ln w="9525">
            <a:solidFill>
              <a:srgbClr val="E89B2D"/>
            </a:solidFill>
            <a:prstDash val="solid"/>
          </a:ln>
        </p:spPr>
        <p:txBody>
          <a:bodyPr/>
          <a:lstStyle/>
          <a:p>
            <a:endParaRPr lang="en-US"/>
          </a:p>
        </p:txBody>
      </p:sp>
      <p:sp>
        <p:nvSpPr>
          <p:cNvPr id="15" name="Text 12"/>
          <p:cNvSpPr txBox="1"/>
          <p:nvPr/>
        </p:nvSpPr>
        <p:spPr>
          <a:xfrm>
            <a:off x="4038448" y="3182112"/>
            <a:ext cx="12344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YOU ARE HERE</a:t>
            </a:r>
            <a:endParaRPr lang="en-US" sz="900" dirty="0"/>
          </a:p>
        </p:txBody>
      </p:sp>
      <p:sp>
        <p:nvSpPr>
          <p:cNvPr id="16" name="Shape 13"/>
          <p:cNvSpPr/>
          <p:nvPr/>
        </p:nvSpPr>
        <p:spPr>
          <a:xfrm>
            <a:off x="777240" y="4398264"/>
            <a:ext cx="4632808" cy="932688"/>
          </a:xfrm>
          <a:prstGeom prst="roundRect">
            <a:avLst>
              <a:gd name="adj" fmla="val 7843"/>
            </a:avLst>
          </a:prstGeom>
          <a:solidFill>
            <a:srgbClr val="FFFFFF"/>
          </a:solidFill>
          <a:ln w="12700">
            <a:solidFill>
              <a:srgbClr val="0E7C7B"/>
            </a:solidFill>
            <a:prstDash val="solid"/>
          </a:ln>
        </p:spPr>
        <p:txBody>
          <a:bodyPr/>
          <a:lstStyle/>
          <a:p>
            <a:endParaRPr lang="en-US"/>
          </a:p>
        </p:txBody>
      </p:sp>
      <p:sp>
        <p:nvSpPr>
          <p:cNvPr id="17" name="Text 14"/>
          <p:cNvSpPr txBox="1"/>
          <p:nvPr/>
        </p:nvSpPr>
        <p:spPr>
          <a:xfrm>
            <a:off x="960120" y="4398264"/>
            <a:ext cx="4267048" cy="932688"/>
          </a:xfrm>
          <a:prstGeom prst="rect">
            <a:avLst/>
          </a:prstGeom>
          <a:noFill/>
          <a:ln/>
        </p:spPr>
        <p:txBody>
          <a:bodyPr wrap="square" lIns="0" tIns="0" rIns="0" bIns="0"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L3  </a:t>
            </a:r>
            <a:r>
              <a:rPr lang="en-US" sz="1400" b="1" dirty="0">
                <a:solidFill>
                  <a:srgbClr val="12263A"/>
                </a:solidFill>
                <a:latin typeface="Calibri" pitchFamily="34" charset="0"/>
                <a:ea typeface="Calibri" pitchFamily="34" charset="-122"/>
                <a:cs typeface="Calibri" pitchFamily="34" charset="-120"/>
              </a:rPr>
              <a:t>ETL / ELT in Databricks</a:t>
            </a:r>
            <a:endParaRPr lang="en-US" sz="1400" dirty="0"/>
          </a:p>
          <a:p>
            <a:pPr marL="0" indent="0">
              <a:buNone/>
            </a:pPr>
            <a:r>
              <a:rPr lang="en-US" sz="1150" dirty="0">
                <a:solidFill>
                  <a:srgbClr val="5B6B7B"/>
                </a:solidFill>
                <a:latin typeface="Calibri" pitchFamily="34" charset="0"/>
                <a:ea typeface="Calibri" pitchFamily="34" charset="-122"/>
                <a:cs typeface="Calibri" pitchFamily="34" charset="-120"/>
              </a:rPr>
              <a:t>build Bronze → Silver → Gold to fill this design</a:t>
            </a:r>
            <a:endParaRPr lang="en-US" sz="1400" dirty="0"/>
          </a:p>
        </p:txBody>
      </p:sp>
      <p:sp>
        <p:nvSpPr>
          <p:cNvPr id="18" name="Shape 15"/>
          <p:cNvSpPr/>
          <p:nvPr/>
        </p:nvSpPr>
        <p:spPr>
          <a:xfrm>
            <a:off x="6553048" y="1691640"/>
            <a:ext cx="5090008" cy="3886200"/>
          </a:xfrm>
          <a:prstGeom prst="roundRect">
            <a:avLst>
              <a:gd name="adj" fmla="val 1412"/>
            </a:avLst>
          </a:prstGeom>
          <a:solidFill>
            <a:srgbClr val="ECE9F7"/>
          </a:solidFill>
          <a:ln w="9525">
            <a:solidFill>
              <a:srgbClr val="ECE9F7"/>
            </a:solidFill>
            <a:prstDash val="solid"/>
          </a:ln>
        </p:spPr>
        <p:txBody>
          <a:bodyPr/>
          <a:lstStyle/>
          <a:p>
            <a:endParaRPr lang="en-US"/>
          </a:p>
        </p:txBody>
      </p:sp>
      <p:sp>
        <p:nvSpPr>
          <p:cNvPr id="19" name="Text 16"/>
          <p:cNvSpPr txBox="1"/>
          <p:nvPr/>
        </p:nvSpPr>
        <p:spPr>
          <a:xfrm>
            <a:off x="6781648" y="1783080"/>
            <a:ext cx="4632808" cy="365760"/>
          </a:xfrm>
          <a:prstGeom prst="rect">
            <a:avLst/>
          </a:prstGeom>
          <a:noFill/>
          <a:ln/>
        </p:spPr>
        <p:txBody>
          <a:bodyPr wrap="square" lIns="0" tIns="0" rIns="0" bIns="0" rtlCol="0" anchor="t"/>
          <a:lstStyle/>
          <a:p>
            <a:pPr marL="0" indent="0">
              <a:buNone/>
            </a:pPr>
            <a:r>
              <a:rPr lang="en-US" sz="1600" b="1" dirty="0">
                <a:solidFill>
                  <a:srgbClr val="5B4BA6"/>
                </a:solidFill>
                <a:latin typeface="Calibri" pitchFamily="34" charset="0"/>
                <a:ea typeface="Calibri" pitchFamily="34" charset="-122"/>
                <a:cs typeface="Calibri" pitchFamily="34" charset="-120"/>
              </a:rPr>
              <a:t>Data mining half</a:t>
            </a:r>
            <a:endParaRPr lang="en-US" sz="1600" dirty="0"/>
          </a:p>
        </p:txBody>
      </p:sp>
      <p:sp>
        <p:nvSpPr>
          <p:cNvPr id="20" name="Shape 17"/>
          <p:cNvSpPr/>
          <p:nvPr/>
        </p:nvSpPr>
        <p:spPr>
          <a:xfrm>
            <a:off x="6781648" y="2240280"/>
            <a:ext cx="4632808" cy="932688"/>
          </a:xfrm>
          <a:prstGeom prst="roundRect">
            <a:avLst>
              <a:gd name="adj" fmla="val 7843"/>
            </a:avLst>
          </a:prstGeom>
          <a:solidFill>
            <a:srgbClr val="FFFFFF"/>
          </a:solidFill>
          <a:ln w="12700">
            <a:solidFill>
              <a:srgbClr val="5B4BA6"/>
            </a:solidFill>
            <a:prstDash val="solid"/>
          </a:ln>
        </p:spPr>
        <p:txBody>
          <a:bodyPr/>
          <a:lstStyle/>
          <a:p>
            <a:endParaRPr lang="en-US"/>
          </a:p>
        </p:txBody>
      </p:sp>
      <p:sp>
        <p:nvSpPr>
          <p:cNvPr id="21" name="Text 18"/>
          <p:cNvSpPr txBox="1"/>
          <p:nvPr/>
        </p:nvSpPr>
        <p:spPr>
          <a:xfrm>
            <a:off x="6964528" y="2240280"/>
            <a:ext cx="4267048" cy="932688"/>
          </a:xfrm>
          <a:prstGeom prst="rect">
            <a:avLst/>
          </a:prstGeom>
          <a:noFill/>
          <a:ln/>
        </p:spPr>
        <p:txBody>
          <a:bodyPr wrap="square" lIns="0" tIns="0" rIns="0" bIns="0" rtlCol="0" anchor="ctr"/>
          <a:lstStyle/>
          <a:p>
            <a:pPr marL="0" indent="0">
              <a:buNone/>
            </a:pPr>
            <a:r>
              <a:rPr lang="en-US" sz="1400" b="1" dirty="0">
                <a:solidFill>
                  <a:srgbClr val="5B4BA6"/>
                </a:solidFill>
                <a:latin typeface="Calibri" pitchFamily="34" charset="0"/>
                <a:ea typeface="Calibri" pitchFamily="34" charset="-122"/>
                <a:cs typeface="Calibri" pitchFamily="34" charset="-120"/>
              </a:rPr>
              <a:t>L4  </a:t>
            </a:r>
            <a:r>
              <a:rPr lang="en-US" sz="1400" b="1" dirty="0">
                <a:solidFill>
                  <a:srgbClr val="12263A"/>
                </a:solidFill>
                <a:latin typeface="Calibri" pitchFamily="34" charset="0"/>
                <a:ea typeface="Calibri" pitchFamily="34" charset="-122"/>
                <a:cs typeface="Calibri" pitchFamily="34" charset="-120"/>
              </a:rPr>
              <a:t>From warehouse to mining datasets</a:t>
            </a:r>
            <a:endParaRPr lang="en-US" sz="1400" dirty="0"/>
          </a:p>
          <a:p>
            <a:pPr marL="0" indent="0">
              <a:buNone/>
            </a:pPr>
            <a:r>
              <a:rPr lang="en-US" sz="1150" dirty="0">
                <a:solidFill>
                  <a:srgbClr val="5B6B7B"/>
                </a:solidFill>
                <a:latin typeface="Calibri" pitchFamily="34" charset="0"/>
                <a:ea typeface="Calibri" pitchFamily="34" charset="-122"/>
                <a:cs typeface="Calibri" pitchFamily="34" charset="-120"/>
              </a:rPr>
              <a:t>feature marts, preprocessing, time-based splits, MLflow</a:t>
            </a:r>
            <a:endParaRPr lang="en-US" sz="1400" dirty="0"/>
          </a:p>
        </p:txBody>
      </p:sp>
      <p:sp>
        <p:nvSpPr>
          <p:cNvPr id="22" name="Shape 19"/>
          <p:cNvSpPr/>
          <p:nvPr/>
        </p:nvSpPr>
        <p:spPr>
          <a:xfrm>
            <a:off x="6781648" y="3319272"/>
            <a:ext cx="4632808" cy="932688"/>
          </a:xfrm>
          <a:prstGeom prst="roundRect">
            <a:avLst>
              <a:gd name="adj" fmla="val 7843"/>
            </a:avLst>
          </a:prstGeom>
          <a:solidFill>
            <a:srgbClr val="FFFFFF"/>
          </a:solidFill>
          <a:ln w="12700">
            <a:solidFill>
              <a:srgbClr val="5B4BA6"/>
            </a:solidFill>
            <a:prstDash val="solid"/>
          </a:ln>
        </p:spPr>
        <p:txBody>
          <a:bodyPr/>
          <a:lstStyle/>
          <a:p>
            <a:endParaRPr lang="en-US"/>
          </a:p>
        </p:txBody>
      </p:sp>
      <p:sp>
        <p:nvSpPr>
          <p:cNvPr id="23" name="Text 20"/>
          <p:cNvSpPr txBox="1"/>
          <p:nvPr/>
        </p:nvSpPr>
        <p:spPr>
          <a:xfrm>
            <a:off x="6964528" y="3319272"/>
            <a:ext cx="4267048" cy="932688"/>
          </a:xfrm>
          <a:prstGeom prst="rect">
            <a:avLst/>
          </a:prstGeom>
          <a:noFill/>
          <a:ln/>
        </p:spPr>
        <p:txBody>
          <a:bodyPr wrap="square" lIns="0" tIns="0" rIns="0" bIns="0" rtlCol="0" anchor="ctr"/>
          <a:lstStyle/>
          <a:p>
            <a:pPr marL="0" indent="0">
              <a:buNone/>
            </a:pPr>
            <a:r>
              <a:rPr lang="en-US" sz="1400" b="1" dirty="0">
                <a:solidFill>
                  <a:srgbClr val="5B4BA6"/>
                </a:solidFill>
                <a:latin typeface="Calibri" pitchFamily="34" charset="0"/>
                <a:ea typeface="Calibri" pitchFamily="34" charset="-122"/>
                <a:cs typeface="Calibri" pitchFamily="34" charset="-120"/>
              </a:rPr>
              <a:t>L5+  </a:t>
            </a:r>
            <a:r>
              <a:rPr lang="en-US" sz="1400" b="1" dirty="0">
                <a:solidFill>
                  <a:srgbClr val="12263A"/>
                </a:solidFill>
                <a:latin typeface="Calibri" pitchFamily="34" charset="0"/>
                <a:ea typeface="Calibri" pitchFamily="34" charset="-122"/>
                <a:cs typeface="Calibri" pitchFamily="34" charset="-120"/>
              </a:rPr>
              <a:t>One lecture per mining technique</a:t>
            </a:r>
            <a:endParaRPr lang="en-US" sz="1400" dirty="0"/>
          </a:p>
          <a:p>
            <a:pPr marL="0" indent="0">
              <a:buNone/>
            </a:pPr>
            <a:r>
              <a:rPr lang="en-US" sz="1150" dirty="0">
                <a:solidFill>
                  <a:srgbClr val="5B6B7B"/>
                </a:solidFill>
                <a:latin typeface="Calibri" pitchFamily="34" charset="0"/>
                <a:ea typeface="Calibri" pitchFamily="34" charset="-122"/>
                <a:cs typeface="Calibri" pitchFamily="34" charset="-120"/>
              </a:rPr>
              <a:t>e.g. association rules, classification, clustering</a:t>
            </a:r>
            <a:endParaRPr lang="en-US" sz="1400" dirty="0"/>
          </a:p>
        </p:txBody>
      </p:sp>
      <p:sp>
        <p:nvSpPr>
          <p:cNvPr id="24" name="Shape 21"/>
          <p:cNvSpPr/>
          <p:nvPr/>
        </p:nvSpPr>
        <p:spPr>
          <a:xfrm>
            <a:off x="6781648" y="4398264"/>
            <a:ext cx="4632808" cy="932688"/>
          </a:xfrm>
          <a:prstGeom prst="roundRect">
            <a:avLst>
              <a:gd name="adj" fmla="val 7843"/>
            </a:avLst>
          </a:prstGeom>
          <a:solidFill>
            <a:srgbClr val="FFFFFF"/>
          </a:solidFill>
          <a:ln w="12700">
            <a:solidFill>
              <a:srgbClr val="5B4BA6"/>
            </a:solidFill>
            <a:prstDash val="solid"/>
          </a:ln>
        </p:spPr>
        <p:txBody>
          <a:bodyPr/>
          <a:lstStyle/>
          <a:p>
            <a:endParaRPr lang="en-US"/>
          </a:p>
        </p:txBody>
      </p:sp>
      <p:sp>
        <p:nvSpPr>
          <p:cNvPr id="25" name="Text 22"/>
          <p:cNvSpPr txBox="1"/>
          <p:nvPr/>
        </p:nvSpPr>
        <p:spPr>
          <a:xfrm>
            <a:off x="6964528" y="4398264"/>
            <a:ext cx="4267048" cy="932688"/>
          </a:xfrm>
          <a:prstGeom prst="rect">
            <a:avLst/>
          </a:prstGeom>
          <a:noFill/>
          <a:ln/>
        </p:spPr>
        <p:txBody>
          <a:bodyPr wrap="square" lIns="0" tIns="0" rIns="0" bIns="0" rtlCol="0" anchor="ctr"/>
          <a:lstStyle/>
          <a:p>
            <a:pPr marL="0" indent="0">
              <a:buNone/>
            </a:pPr>
            <a:r>
              <a:rPr lang="en-US" sz="1400" b="1" dirty="0">
                <a:solidFill>
                  <a:srgbClr val="5B4BA6"/>
                </a:solidFill>
                <a:latin typeface="Calibri" pitchFamily="34" charset="0"/>
                <a:ea typeface="Calibri" pitchFamily="34" charset="-122"/>
                <a:cs typeface="Calibri" pitchFamily="34" charset="-120"/>
              </a:rPr>
              <a:t>Labs  </a:t>
            </a:r>
            <a:r>
              <a:rPr lang="en-US" sz="1400" b="1" dirty="0">
                <a:solidFill>
                  <a:srgbClr val="12263A"/>
                </a:solidFill>
                <a:latin typeface="Calibri" pitchFamily="34" charset="0"/>
                <a:ea typeface="Calibri" pitchFamily="34" charset="-122"/>
                <a:cs typeface="Calibri" pitchFamily="34" charset="-120"/>
              </a:rPr>
              <a:t>Every lab starts from SmartRetail Gold</a:t>
            </a:r>
            <a:endParaRPr lang="en-US" sz="1400" dirty="0"/>
          </a:p>
          <a:p>
            <a:pPr marL="0" indent="0">
              <a:buNone/>
            </a:pPr>
            <a:r>
              <a:rPr lang="en-US" sz="1150" dirty="0">
                <a:solidFill>
                  <a:srgbClr val="5B6B7B"/>
                </a:solidFill>
                <a:latin typeface="Calibri" pitchFamily="34" charset="0"/>
                <a:ea typeface="Calibri" pitchFamily="34" charset="-122"/>
                <a:cs typeface="Calibri" pitchFamily="34" charset="-120"/>
              </a:rPr>
              <a:t>no disconnected toy datasets</a:t>
            </a:r>
            <a:endParaRPr lang="en-US" sz="1400" dirty="0"/>
          </a:p>
        </p:txBody>
      </p:sp>
      <p:sp>
        <p:nvSpPr>
          <p:cNvPr id="26" name="Shape 23"/>
          <p:cNvSpPr/>
          <p:nvPr/>
        </p:nvSpPr>
        <p:spPr>
          <a:xfrm>
            <a:off x="5730088" y="3611880"/>
            <a:ext cx="731520" cy="914"/>
          </a:xfrm>
          <a:prstGeom prst="line">
            <a:avLst/>
          </a:prstGeom>
          <a:noFill/>
          <a:ln w="31750">
            <a:solidFill>
              <a:srgbClr val="12263A"/>
            </a:solidFill>
            <a:prstDash val="solid"/>
            <a:tailEnd type="triangle"/>
          </a:ln>
        </p:spPr>
        <p:txBody>
          <a:bodyPr/>
          <a:lstStyle/>
          <a:p>
            <a:endParaRPr lang="en-US"/>
          </a:p>
        </p:txBody>
      </p:sp>
      <p:sp>
        <p:nvSpPr>
          <p:cNvPr id="27" name="Text 24"/>
          <p:cNvSpPr txBox="1"/>
          <p:nvPr/>
        </p:nvSpPr>
        <p:spPr>
          <a:xfrm>
            <a:off x="5620360" y="3703320"/>
            <a:ext cx="950976" cy="731520"/>
          </a:xfrm>
          <a:prstGeom prst="rect">
            <a:avLst/>
          </a:prstGeom>
          <a:noFill/>
          <a:ln/>
        </p:spPr>
        <p:txBody>
          <a:bodyPr wrap="square" lIns="0" tIns="0" rIns="0" bIns="0" rtlCol="0" anchor="t"/>
          <a:lstStyle/>
          <a:p>
            <a:pPr marL="0" indent="0" algn="ctr">
              <a:buNone/>
            </a:pPr>
            <a:r>
              <a:rPr lang="en-US" sz="950" i="1" dirty="0">
                <a:solidFill>
                  <a:srgbClr val="12263A"/>
                </a:solidFill>
                <a:latin typeface="Calibri" pitchFamily="34" charset="0"/>
                <a:ea typeface="Calibri" pitchFamily="34" charset="-122"/>
                <a:cs typeface="Calibri" pitchFamily="34" charset="-120"/>
              </a:rPr>
              <a:t>Gold star + feature marts</a:t>
            </a:r>
            <a:endParaRPr lang="en-US" sz="950" dirty="0"/>
          </a:p>
        </p:txBody>
      </p:sp>
      <p:sp>
        <p:nvSpPr>
          <p:cNvPr id="28" name="Shape 25"/>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29" name="Shape 26"/>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30"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31" name="Text 27"/>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Design the Gold layer first (today), then build the pipeline that fills it (Lecture 3) — target-first thinking.</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What you should be able to do after this lecture</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INTRO</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45920"/>
            <a:ext cx="3515258" cy="1847088"/>
          </a:xfrm>
          <a:prstGeom prst="roundRect">
            <a:avLst>
              <a:gd name="adj" fmla="val 3960"/>
            </a:avLst>
          </a:prstGeom>
          <a:solidFill>
            <a:srgbClr val="F3F6F9"/>
          </a:solidFill>
          <a:ln w="9525">
            <a:solidFill>
              <a:srgbClr val="F3F6F9"/>
            </a:solidFill>
            <a:prstDash val="solid"/>
          </a:ln>
        </p:spPr>
        <p:txBody>
          <a:bodyPr/>
          <a:lstStyle/>
          <a:p>
            <a:endParaRPr lang="en-US"/>
          </a:p>
        </p:txBody>
      </p:sp>
      <p:sp>
        <p:nvSpPr>
          <p:cNvPr id="9" name="Shape 6"/>
          <p:cNvSpPr/>
          <p:nvPr/>
        </p:nvSpPr>
        <p:spPr>
          <a:xfrm>
            <a:off x="731520" y="1828800"/>
            <a:ext cx="402336" cy="402336"/>
          </a:xfrm>
          <a:prstGeom prst="ellipse">
            <a:avLst/>
          </a:prstGeom>
          <a:solidFill>
            <a:srgbClr val="2F6DB5"/>
          </a:solidFill>
          <a:ln w="12700">
            <a:solidFill>
              <a:srgbClr val="2F6DB5"/>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836127" y="1933407"/>
            <a:ext cx="193121" cy="193121"/>
          </a:xfrm>
          <a:prstGeom prst="rect">
            <a:avLst/>
          </a:prstGeom>
        </p:spPr>
      </p:pic>
      <p:sp>
        <p:nvSpPr>
          <p:cNvPr id="11" name="Text 7"/>
          <p:cNvSpPr txBox="1"/>
          <p:nvPr/>
        </p:nvSpPr>
        <p:spPr>
          <a:xfrm>
            <a:off x="1261872" y="182880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Design a star schema</a:t>
            </a:r>
            <a:endParaRPr lang="en-US" sz="1550" dirty="0"/>
          </a:p>
        </p:txBody>
      </p:sp>
      <p:sp>
        <p:nvSpPr>
          <p:cNvPr id="12" name="Text 8"/>
          <p:cNvSpPr txBox="1"/>
          <p:nvPr/>
        </p:nvSpPr>
        <p:spPr>
          <a:xfrm>
            <a:off x="731520" y="2340864"/>
            <a:ext cx="3149498" cy="969264"/>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Apply the 4-step method: business process, grain, dimensions, facts.</a:t>
            </a:r>
            <a:endParaRPr lang="en-US" sz="1350" dirty="0"/>
          </a:p>
        </p:txBody>
      </p:sp>
      <p:sp>
        <p:nvSpPr>
          <p:cNvPr id="13" name="Shape 9"/>
          <p:cNvSpPr/>
          <p:nvPr/>
        </p:nvSpPr>
        <p:spPr>
          <a:xfrm>
            <a:off x="4338218" y="1645920"/>
            <a:ext cx="3515258" cy="1847088"/>
          </a:xfrm>
          <a:prstGeom prst="roundRect">
            <a:avLst>
              <a:gd name="adj" fmla="val 3960"/>
            </a:avLst>
          </a:prstGeom>
          <a:solidFill>
            <a:srgbClr val="F3F6F9"/>
          </a:solidFill>
          <a:ln w="9525">
            <a:solidFill>
              <a:srgbClr val="F3F6F9"/>
            </a:solidFill>
            <a:prstDash val="solid"/>
          </a:ln>
        </p:spPr>
        <p:txBody>
          <a:bodyPr/>
          <a:lstStyle/>
          <a:p>
            <a:endParaRPr lang="en-US"/>
          </a:p>
        </p:txBody>
      </p:sp>
      <p:sp>
        <p:nvSpPr>
          <p:cNvPr id="14" name="Shape 10"/>
          <p:cNvSpPr/>
          <p:nvPr/>
        </p:nvSpPr>
        <p:spPr>
          <a:xfrm>
            <a:off x="4521098" y="1828800"/>
            <a:ext cx="402336" cy="402336"/>
          </a:xfrm>
          <a:prstGeom prst="ellipse">
            <a:avLst/>
          </a:prstGeom>
          <a:solidFill>
            <a:srgbClr val="C8414F"/>
          </a:solidFill>
          <a:ln w="12700">
            <a:solidFill>
              <a:srgbClr val="C8414F"/>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625706" y="1933407"/>
            <a:ext cx="193121" cy="193121"/>
          </a:xfrm>
          <a:prstGeom prst="rect">
            <a:avLst/>
          </a:prstGeom>
        </p:spPr>
      </p:pic>
      <p:sp>
        <p:nvSpPr>
          <p:cNvPr id="16" name="Text 11"/>
          <p:cNvSpPr txBox="1"/>
          <p:nvPr/>
        </p:nvSpPr>
        <p:spPr>
          <a:xfrm>
            <a:off x="5051450" y="182880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Choose facts &amp; measures</a:t>
            </a:r>
            <a:endParaRPr lang="en-US" sz="1550" dirty="0"/>
          </a:p>
        </p:txBody>
      </p:sp>
      <p:sp>
        <p:nvSpPr>
          <p:cNvPr id="17" name="Text 12"/>
          <p:cNvSpPr txBox="1"/>
          <p:nvPr/>
        </p:nvSpPr>
        <p:spPr>
          <a:xfrm>
            <a:off x="4521098" y="2340864"/>
            <a:ext cx="3149498" cy="969264"/>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Pick the right fact-table type and handle additive, semi-additive and non-additive measures.</a:t>
            </a:r>
            <a:endParaRPr lang="en-US" sz="1350" dirty="0"/>
          </a:p>
        </p:txBody>
      </p:sp>
      <p:sp>
        <p:nvSpPr>
          <p:cNvPr id="18" name="Shape 13"/>
          <p:cNvSpPr/>
          <p:nvPr/>
        </p:nvSpPr>
        <p:spPr>
          <a:xfrm>
            <a:off x="8127797" y="1645920"/>
            <a:ext cx="3515258" cy="1847088"/>
          </a:xfrm>
          <a:prstGeom prst="roundRect">
            <a:avLst>
              <a:gd name="adj" fmla="val 3960"/>
            </a:avLst>
          </a:prstGeom>
          <a:solidFill>
            <a:srgbClr val="F3F6F9"/>
          </a:solidFill>
          <a:ln w="9525">
            <a:solidFill>
              <a:srgbClr val="F3F6F9"/>
            </a:solidFill>
            <a:prstDash val="solid"/>
          </a:ln>
        </p:spPr>
        <p:txBody>
          <a:bodyPr/>
          <a:lstStyle/>
          <a:p>
            <a:endParaRPr lang="en-US"/>
          </a:p>
        </p:txBody>
      </p:sp>
      <p:sp>
        <p:nvSpPr>
          <p:cNvPr id="19" name="Shape 14"/>
          <p:cNvSpPr/>
          <p:nvPr/>
        </p:nvSpPr>
        <p:spPr>
          <a:xfrm>
            <a:off x="8310677" y="1828800"/>
            <a:ext cx="402336" cy="402336"/>
          </a:xfrm>
          <a:prstGeom prst="ellipse">
            <a:avLst/>
          </a:prstGeom>
          <a:solidFill>
            <a:srgbClr val="0E7C7B"/>
          </a:solidFill>
          <a:ln w="12700">
            <a:solidFill>
              <a:srgbClr val="0E7C7B"/>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415284" y="1933407"/>
            <a:ext cx="193121" cy="193121"/>
          </a:xfrm>
          <a:prstGeom prst="rect">
            <a:avLst/>
          </a:prstGeom>
        </p:spPr>
      </p:pic>
      <p:sp>
        <p:nvSpPr>
          <p:cNvPr id="21" name="Text 15"/>
          <p:cNvSpPr txBox="1"/>
          <p:nvPr/>
        </p:nvSpPr>
        <p:spPr>
          <a:xfrm>
            <a:off x="8841029" y="182880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Handle dimensions &amp; history</a:t>
            </a:r>
            <a:endParaRPr lang="en-US" sz="1550" dirty="0"/>
          </a:p>
        </p:txBody>
      </p:sp>
      <p:sp>
        <p:nvSpPr>
          <p:cNvPr id="22" name="Text 16"/>
          <p:cNvSpPr txBox="1"/>
          <p:nvPr/>
        </p:nvSpPr>
        <p:spPr>
          <a:xfrm>
            <a:off x="8310677" y="2340864"/>
            <a:ext cx="3149498" cy="969264"/>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Use date, role-playing, degenerate and junk dimensions; choose an SCD type.</a:t>
            </a:r>
            <a:endParaRPr lang="en-US" sz="1350" dirty="0"/>
          </a:p>
        </p:txBody>
      </p:sp>
      <p:sp>
        <p:nvSpPr>
          <p:cNvPr id="23" name="Shape 17"/>
          <p:cNvSpPr/>
          <p:nvPr/>
        </p:nvSpPr>
        <p:spPr>
          <a:xfrm>
            <a:off x="548640" y="3721608"/>
            <a:ext cx="3515258" cy="1847088"/>
          </a:xfrm>
          <a:prstGeom prst="roundRect">
            <a:avLst>
              <a:gd name="adj" fmla="val 3960"/>
            </a:avLst>
          </a:prstGeom>
          <a:solidFill>
            <a:srgbClr val="F3F6F9"/>
          </a:solidFill>
          <a:ln w="9525">
            <a:solidFill>
              <a:srgbClr val="F3F6F9"/>
            </a:solidFill>
            <a:prstDash val="solid"/>
          </a:ln>
        </p:spPr>
        <p:txBody>
          <a:bodyPr/>
          <a:lstStyle/>
          <a:p>
            <a:endParaRPr lang="en-US"/>
          </a:p>
        </p:txBody>
      </p:sp>
      <p:sp>
        <p:nvSpPr>
          <p:cNvPr id="24" name="Shape 18"/>
          <p:cNvSpPr/>
          <p:nvPr/>
        </p:nvSpPr>
        <p:spPr>
          <a:xfrm>
            <a:off x="731520" y="3904488"/>
            <a:ext cx="402336" cy="402336"/>
          </a:xfrm>
          <a:prstGeom prst="ellipse">
            <a:avLst/>
          </a:prstGeom>
          <a:solidFill>
            <a:srgbClr val="A8622F"/>
          </a:solidFill>
          <a:ln w="12700">
            <a:solidFill>
              <a:srgbClr val="A8622F"/>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836127" y="4009095"/>
            <a:ext cx="193121" cy="193121"/>
          </a:xfrm>
          <a:prstGeom prst="rect">
            <a:avLst/>
          </a:prstGeom>
        </p:spPr>
      </p:pic>
      <p:sp>
        <p:nvSpPr>
          <p:cNvPr id="26" name="Text 19"/>
          <p:cNvSpPr txBox="1"/>
          <p:nvPr/>
        </p:nvSpPr>
        <p:spPr>
          <a:xfrm>
            <a:off x="1261872" y="3904488"/>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Build it in Databricks</a:t>
            </a:r>
            <a:endParaRPr lang="en-US" sz="1550" dirty="0"/>
          </a:p>
        </p:txBody>
      </p:sp>
      <p:sp>
        <p:nvSpPr>
          <p:cNvPr id="27" name="Text 20"/>
          <p:cNvSpPr txBox="1"/>
          <p:nvPr/>
        </p:nvSpPr>
        <p:spPr>
          <a:xfrm>
            <a:off x="731520" y="4416552"/>
            <a:ext cx="3149498" cy="969264"/>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Create Delta tables with identity keys, constraints and clustering in Unity Catalog.</a:t>
            </a:r>
            <a:endParaRPr lang="en-US" sz="1350" dirty="0"/>
          </a:p>
        </p:txBody>
      </p:sp>
      <p:sp>
        <p:nvSpPr>
          <p:cNvPr id="28" name="Shape 21"/>
          <p:cNvSpPr/>
          <p:nvPr/>
        </p:nvSpPr>
        <p:spPr>
          <a:xfrm>
            <a:off x="4338218" y="3721608"/>
            <a:ext cx="3515258" cy="1847088"/>
          </a:xfrm>
          <a:prstGeom prst="roundRect">
            <a:avLst>
              <a:gd name="adj" fmla="val 3960"/>
            </a:avLst>
          </a:prstGeom>
          <a:solidFill>
            <a:srgbClr val="F3F6F9"/>
          </a:solidFill>
          <a:ln w="9525">
            <a:solidFill>
              <a:srgbClr val="F3F6F9"/>
            </a:solidFill>
            <a:prstDash val="solid"/>
          </a:ln>
        </p:spPr>
        <p:txBody>
          <a:bodyPr/>
          <a:lstStyle/>
          <a:p>
            <a:endParaRPr lang="en-US"/>
          </a:p>
        </p:txBody>
      </p:sp>
      <p:sp>
        <p:nvSpPr>
          <p:cNvPr id="29" name="Shape 22"/>
          <p:cNvSpPr/>
          <p:nvPr/>
        </p:nvSpPr>
        <p:spPr>
          <a:xfrm>
            <a:off x="4521098" y="3904488"/>
            <a:ext cx="402336" cy="402336"/>
          </a:xfrm>
          <a:prstGeom prst="ellipse">
            <a:avLst/>
          </a:prstGeom>
          <a:solidFill>
            <a:srgbClr val="5B4BA6"/>
          </a:solidFill>
          <a:ln w="12700">
            <a:solidFill>
              <a:srgbClr val="5B4BA6"/>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4625706" y="4009095"/>
            <a:ext cx="193121" cy="193121"/>
          </a:xfrm>
          <a:prstGeom prst="rect">
            <a:avLst/>
          </a:prstGeom>
        </p:spPr>
      </p:pic>
      <p:sp>
        <p:nvSpPr>
          <p:cNvPr id="31" name="Text 23"/>
          <p:cNvSpPr txBox="1"/>
          <p:nvPr/>
        </p:nvSpPr>
        <p:spPr>
          <a:xfrm>
            <a:off x="5051450" y="3904488"/>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Analyse the OLAP way</a:t>
            </a:r>
            <a:endParaRPr lang="en-US" sz="1550" dirty="0"/>
          </a:p>
        </p:txBody>
      </p:sp>
      <p:sp>
        <p:nvSpPr>
          <p:cNvPr id="32" name="Text 24"/>
          <p:cNvSpPr txBox="1"/>
          <p:nvPr/>
        </p:nvSpPr>
        <p:spPr>
          <a:xfrm>
            <a:off x="4521098" y="4416552"/>
            <a:ext cx="3149498" cy="969264"/>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Express roll-up, drill-down, slice, dice and pivot in SQL, including ROLLUP / CUBE.</a:t>
            </a:r>
            <a:endParaRPr lang="en-US" sz="1350" dirty="0"/>
          </a:p>
        </p:txBody>
      </p:sp>
      <p:sp>
        <p:nvSpPr>
          <p:cNvPr id="33" name="Shape 25"/>
          <p:cNvSpPr/>
          <p:nvPr/>
        </p:nvSpPr>
        <p:spPr>
          <a:xfrm>
            <a:off x="8127797" y="3721608"/>
            <a:ext cx="3515258" cy="1847088"/>
          </a:xfrm>
          <a:prstGeom prst="roundRect">
            <a:avLst>
              <a:gd name="adj" fmla="val 3960"/>
            </a:avLst>
          </a:prstGeom>
          <a:solidFill>
            <a:srgbClr val="F3F6F9"/>
          </a:solidFill>
          <a:ln w="9525">
            <a:solidFill>
              <a:srgbClr val="F3F6F9"/>
            </a:solidFill>
            <a:prstDash val="solid"/>
          </a:ln>
        </p:spPr>
        <p:txBody>
          <a:bodyPr/>
          <a:lstStyle/>
          <a:p>
            <a:endParaRPr lang="en-US"/>
          </a:p>
        </p:txBody>
      </p:sp>
      <p:sp>
        <p:nvSpPr>
          <p:cNvPr id="34" name="Shape 26"/>
          <p:cNvSpPr/>
          <p:nvPr/>
        </p:nvSpPr>
        <p:spPr>
          <a:xfrm>
            <a:off x="8310677" y="3904488"/>
            <a:ext cx="402336" cy="402336"/>
          </a:xfrm>
          <a:prstGeom prst="ellipse">
            <a:avLst/>
          </a:prstGeom>
          <a:solidFill>
            <a:srgbClr val="E89B2D"/>
          </a:solidFill>
          <a:ln w="12700">
            <a:solidFill>
              <a:srgbClr val="E89B2D"/>
            </a:solidFill>
            <a:prstDash val="solid"/>
          </a:ln>
        </p:spPr>
        <p:txBody>
          <a:bodyPr/>
          <a:lstStyle/>
          <a:p>
            <a:endParaRPr lang="en-US"/>
          </a:p>
        </p:txBody>
      </p:sp>
      <p:pic>
        <p:nvPicPr>
          <p:cNvPr id="35" name="Image 5" descr="preencoded.png"/>
          <p:cNvPicPr>
            <a:picLocks noChangeAspect="1"/>
          </p:cNvPicPr>
          <p:nvPr/>
        </p:nvPicPr>
        <p:blipFill>
          <a:blip r:embed="rId8"/>
          <a:stretch>
            <a:fillRect/>
          </a:stretch>
        </p:blipFill>
        <p:spPr>
          <a:xfrm>
            <a:off x="8415284" y="4009095"/>
            <a:ext cx="193121" cy="193121"/>
          </a:xfrm>
          <a:prstGeom prst="rect">
            <a:avLst/>
          </a:prstGeom>
        </p:spPr>
      </p:pic>
      <p:sp>
        <p:nvSpPr>
          <p:cNvPr id="36" name="Text 27"/>
          <p:cNvSpPr txBox="1"/>
          <p:nvPr/>
        </p:nvSpPr>
        <p:spPr>
          <a:xfrm>
            <a:off x="8841029" y="3904488"/>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Serve it fast</a:t>
            </a:r>
            <a:endParaRPr lang="en-US" sz="1550" dirty="0"/>
          </a:p>
        </p:txBody>
      </p:sp>
      <p:sp>
        <p:nvSpPr>
          <p:cNvPr id="37" name="Text 28"/>
          <p:cNvSpPr txBox="1"/>
          <p:nvPr/>
        </p:nvSpPr>
        <p:spPr>
          <a:xfrm>
            <a:off x="8310677" y="4416552"/>
            <a:ext cx="3149498" cy="969264"/>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Use materialized views, metric views, dashboards and Genie for self-service analysis.</a:t>
            </a:r>
            <a:endParaRPr lang="en-US" sz="1350" dirty="0"/>
          </a:p>
        </p:txBody>
      </p:sp>
      <p:sp>
        <p:nvSpPr>
          <p:cNvPr id="38" name="Shape 29"/>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39" name="Shape 30"/>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40" name="Image 6" descr="preencoded.png"/>
          <p:cNvPicPr>
            <a:picLocks noChangeAspect="1"/>
          </p:cNvPicPr>
          <p:nvPr/>
        </p:nvPicPr>
        <p:blipFill>
          <a:blip r:embed="rId9"/>
          <a:stretch>
            <a:fillRect/>
          </a:stretch>
        </p:blipFill>
        <p:spPr>
          <a:xfrm>
            <a:off x="790042" y="5956402"/>
            <a:ext cx="175565" cy="175565"/>
          </a:xfrm>
          <a:prstGeom prst="rect">
            <a:avLst/>
          </a:prstGeom>
        </p:spPr>
      </p:pic>
      <p:sp>
        <p:nvSpPr>
          <p:cNvPr id="41" name="Text 31"/>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Part A: design the warehouse so analysis is simple and correct. Part B: analyse it the OLAP way on Databricks.</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63A"/>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4572000" cy="365760"/>
          </a:xfrm>
          <a:prstGeom prst="rect">
            <a:avLst/>
          </a:prstGeom>
          <a:noFill/>
          <a:ln/>
        </p:spPr>
        <p:txBody>
          <a:bodyPr wrap="square" lIns="0" tIns="0" rIns="0" bIns="0" rtlCol="0" anchor="t"/>
          <a:lstStyle/>
          <a:p>
            <a:pPr marL="0" indent="0">
              <a:buNone/>
            </a:pPr>
            <a:r>
              <a:rPr lang="en-US" sz="1400" b="1" kern="0" spc="300" dirty="0">
                <a:solidFill>
                  <a:srgbClr val="E89B2D"/>
                </a:solidFill>
                <a:latin typeface="Calibri" pitchFamily="34" charset="0"/>
                <a:ea typeface="Calibri" pitchFamily="34" charset="-122"/>
                <a:cs typeface="Calibri" pitchFamily="34" charset="-120"/>
              </a:rPr>
              <a:t>PART A</a:t>
            </a:r>
            <a:endParaRPr lang="en-US" sz="1400" dirty="0"/>
          </a:p>
        </p:txBody>
      </p:sp>
      <p:sp>
        <p:nvSpPr>
          <p:cNvPr id="3" name="Text 1"/>
          <p:cNvSpPr txBox="1"/>
          <p:nvPr/>
        </p:nvSpPr>
        <p:spPr>
          <a:xfrm>
            <a:off x="548640" y="1417320"/>
            <a:ext cx="3200400" cy="1463040"/>
          </a:xfrm>
          <a:prstGeom prst="rect">
            <a:avLst/>
          </a:prstGeom>
          <a:noFill/>
          <a:ln/>
        </p:spPr>
        <p:txBody>
          <a:bodyPr wrap="square" lIns="0" tIns="0" rIns="0" bIns="0" rtlCol="0" anchor="t"/>
          <a:lstStyle/>
          <a:p>
            <a:pPr marL="0" indent="0">
              <a:buNone/>
            </a:pPr>
            <a:r>
              <a:rPr lang="en-US" sz="11000" b="1" dirty="0">
                <a:solidFill>
                  <a:srgbClr val="E89B2D"/>
                </a:solidFill>
                <a:latin typeface="Cambria" pitchFamily="34" charset="0"/>
                <a:ea typeface="Cambria" pitchFamily="34" charset="-122"/>
                <a:cs typeface="Cambria" pitchFamily="34" charset="-120"/>
              </a:rPr>
              <a:t>A</a:t>
            </a:r>
            <a:endParaRPr lang="en-US" sz="11000" dirty="0"/>
          </a:p>
        </p:txBody>
      </p:sp>
      <p:sp>
        <p:nvSpPr>
          <p:cNvPr id="4" name="Text 2"/>
          <p:cNvSpPr txBox="1"/>
          <p:nvPr/>
        </p:nvSpPr>
        <p:spPr>
          <a:xfrm>
            <a:off x="640080" y="3063240"/>
            <a:ext cx="60350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Dimensional Modelling</a:t>
            </a:r>
            <a:endParaRPr lang="en-US" sz="3600" dirty="0"/>
          </a:p>
        </p:txBody>
      </p:sp>
      <p:sp>
        <p:nvSpPr>
          <p:cNvPr id="5" name="Text 3"/>
          <p:cNvSpPr txBox="1"/>
          <p:nvPr/>
        </p:nvSpPr>
        <p:spPr>
          <a:xfrm>
            <a:off x="640080" y="4434840"/>
            <a:ext cx="5760720" cy="914400"/>
          </a:xfrm>
          <a:prstGeom prst="rect">
            <a:avLst/>
          </a:prstGeom>
          <a:noFill/>
          <a:ln/>
        </p:spPr>
        <p:txBody>
          <a:bodyPr wrap="square" lIns="0" tIns="0" rIns="0" bIns="0" rtlCol="0" anchor="t"/>
          <a:lstStyle/>
          <a:p>
            <a:pPr marL="0" indent="0">
              <a:buNone/>
            </a:pPr>
            <a:r>
              <a:rPr lang="en-US" sz="1600" dirty="0">
                <a:solidFill>
                  <a:srgbClr val="B9C6D3"/>
                </a:solidFill>
                <a:latin typeface="Calibri" pitchFamily="34" charset="0"/>
                <a:ea typeface="Calibri" pitchFamily="34" charset="-122"/>
                <a:cs typeface="Calibri" pitchFamily="34" charset="-120"/>
              </a:rPr>
              <a:t>From business questions to a star schema you can build as Delta tables in Unity Catalog.</a:t>
            </a:r>
            <a:endParaRPr lang="en-US" sz="1600" dirty="0"/>
          </a:p>
        </p:txBody>
      </p:sp>
      <p:sp>
        <p:nvSpPr>
          <p:cNvPr id="6" name="Shape 4"/>
          <p:cNvSpPr/>
          <p:nvPr/>
        </p:nvSpPr>
        <p:spPr>
          <a:xfrm>
            <a:off x="6903720" y="1188720"/>
            <a:ext cx="4754880" cy="4480560"/>
          </a:xfrm>
          <a:prstGeom prst="roundRect">
            <a:avLst>
              <a:gd name="adj" fmla="val 1224"/>
            </a:avLst>
          </a:prstGeom>
          <a:solidFill>
            <a:srgbClr val="1C3754"/>
          </a:solidFill>
          <a:ln w="9525">
            <a:solidFill>
              <a:srgbClr val="1C3754"/>
            </a:solidFill>
            <a:prstDash val="solid"/>
          </a:ln>
        </p:spPr>
        <p:txBody>
          <a:bodyPr/>
          <a:lstStyle/>
          <a:p>
            <a:endParaRPr lang="en-US"/>
          </a:p>
        </p:txBody>
      </p:sp>
      <p:sp>
        <p:nvSpPr>
          <p:cNvPr id="7" name="Text 5"/>
          <p:cNvSpPr txBox="1"/>
          <p:nvPr/>
        </p:nvSpPr>
        <p:spPr>
          <a:xfrm>
            <a:off x="7223760" y="1463040"/>
            <a:ext cx="4206240" cy="274320"/>
          </a:xfrm>
          <a:prstGeom prst="rect">
            <a:avLst/>
          </a:prstGeom>
          <a:noFill/>
          <a:ln/>
        </p:spPr>
        <p:txBody>
          <a:bodyPr wrap="square" lIns="0" tIns="0" rIns="0" bIns="0" rtlCol="0" anchor="t"/>
          <a:lstStyle/>
          <a:p>
            <a:pPr marL="0" indent="0">
              <a:buNone/>
            </a:pPr>
            <a:r>
              <a:rPr lang="en-US" sz="1100" b="1" kern="0" spc="150" dirty="0">
                <a:solidFill>
                  <a:srgbClr val="E89B2D"/>
                </a:solidFill>
                <a:latin typeface="Calibri" pitchFamily="34" charset="0"/>
                <a:ea typeface="Calibri" pitchFamily="34" charset="-122"/>
                <a:cs typeface="Calibri" pitchFamily="34" charset="-120"/>
              </a:rPr>
              <a:t>QUESTIONS THIS PART ANSWERS</a:t>
            </a:r>
            <a:endParaRPr lang="en-US" sz="1100" dirty="0"/>
          </a:p>
        </p:txBody>
      </p:sp>
      <p:sp>
        <p:nvSpPr>
          <p:cNvPr id="8" name="Shape 6"/>
          <p:cNvSpPr/>
          <p:nvPr/>
        </p:nvSpPr>
        <p:spPr>
          <a:xfrm>
            <a:off x="7223760" y="1938528"/>
            <a:ext cx="329184" cy="329184"/>
          </a:xfrm>
          <a:prstGeom prst="ellipse">
            <a:avLst/>
          </a:prstGeom>
          <a:solidFill>
            <a:srgbClr val="0E7C7B"/>
          </a:solidFill>
          <a:ln w="12700">
            <a:solidFill>
              <a:srgbClr val="0E7C7B"/>
            </a:solidFill>
            <a:prstDash val="solid"/>
          </a:ln>
        </p:spPr>
        <p:txBody>
          <a:bodyPr/>
          <a:lstStyle/>
          <a:p>
            <a:endParaRPr lang="en-US"/>
          </a:p>
        </p:txBody>
      </p:sp>
      <p:sp>
        <p:nvSpPr>
          <p:cNvPr id="9" name="Text 7"/>
          <p:cNvSpPr txBox="1"/>
          <p:nvPr/>
        </p:nvSpPr>
        <p:spPr>
          <a:xfrm>
            <a:off x="7223760" y="19385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7726680" y="1920240"/>
            <a:ext cx="3657600" cy="82296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Why model the Gold layer dimensionally?</a:t>
            </a:r>
            <a:endParaRPr lang="en-US" sz="1450" dirty="0"/>
          </a:p>
        </p:txBody>
      </p:sp>
      <p:sp>
        <p:nvSpPr>
          <p:cNvPr id="11" name="Shape 9"/>
          <p:cNvSpPr/>
          <p:nvPr/>
        </p:nvSpPr>
        <p:spPr>
          <a:xfrm>
            <a:off x="7223760" y="2834640"/>
            <a:ext cx="329184" cy="329184"/>
          </a:xfrm>
          <a:prstGeom prst="ellipse">
            <a:avLst/>
          </a:prstGeom>
          <a:solidFill>
            <a:srgbClr val="0E7C7B"/>
          </a:solidFill>
          <a:ln w="12700">
            <a:solidFill>
              <a:srgbClr val="0E7C7B"/>
            </a:solidFill>
            <a:prstDash val="solid"/>
          </a:ln>
        </p:spPr>
        <p:txBody>
          <a:bodyPr/>
          <a:lstStyle/>
          <a:p>
            <a:endParaRPr lang="en-US"/>
          </a:p>
        </p:txBody>
      </p:sp>
      <p:sp>
        <p:nvSpPr>
          <p:cNvPr id="12" name="Text 10"/>
          <p:cNvSpPr txBox="1"/>
          <p:nvPr/>
        </p:nvSpPr>
        <p:spPr>
          <a:xfrm>
            <a:off x="7223760" y="283464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7726680" y="2816352"/>
            <a:ext cx="3657600" cy="82296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How do I declare grain and choose facts, measures and dimensions?</a:t>
            </a:r>
            <a:endParaRPr lang="en-US" sz="1450" dirty="0"/>
          </a:p>
        </p:txBody>
      </p:sp>
      <p:sp>
        <p:nvSpPr>
          <p:cNvPr id="14" name="Shape 12"/>
          <p:cNvSpPr/>
          <p:nvPr/>
        </p:nvSpPr>
        <p:spPr>
          <a:xfrm>
            <a:off x="7223760" y="3730752"/>
            <a:ext cx="329184" cy="329184"/>
          </a:xfrm>
          <a:prstGeom prst="ellipse">
            <a:avLst/>
          </a:prstGeom>
          <a:solidFill>
            <a:srgbClr val="0E7C7B"/>
          </a:solidFill>
          <a:ln w="12700">
            <a:solidFill>
              <a:srgbClr val="0E7C7B"/>
            </a:solidFill>
            <a:prstDash val="solid"/>
          </a:ln>
        </p:spPr>
        <p:txBody>
          <a:bodyPr/>
          <a:lstStyle/>
          <a:p>
            <a:endParaRPr lang="en-US"/>
          </a:p>
        </p:txBody>
      </p:sp>
      <p:sp>
        <p:nvSpPr>
          <p:cNvPr id="15" name="Text 13"/>
          <p:cNvSpPr txBox="1"/>
          <p:nvPr/>
        </p:nvSpPr>
        <p:spPr>
          <a:xfrm>
            <a:off x="7223760" y="373075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7726680" y="3712464"/>
            <a:ext cx="3657600" cy="82296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Which special dimensions and SCD types will I meet?</a:t>
            </a:r>
            <a:endParaRPr lang="en-US" sz="1450" dirty="0"/>
          </a:p>
        </p:txBody>
      </p:sp>
      <p:sp>
        <p:nvSpPr>
          <p:cNvPr id="17" name="Shape 15"/>
          <p:cNvSpPr/>
          <p:nvPr/>
        </p:nvSpPr>
        <p:spPr>
          <a:xfrm>
            <a:off x="7223760" y="4626864"/>
            <a:ext cx="329184" cy="329184"/>
          </a:xfrm>
          <a:prstGeom prst="ellipse">
            <a:avLst/>
          </a:prstGeom>
          <a:solidFill>
            <a:srgbClr val="0E7C7B"/>
          </a:solidFill>
          <a:ln w="12700">
            <a:solidFill>
              <a:srgbClr val="0E7C7B"/>
            </a:solidFill>
            <a:prstDash val="solid"/>
          </a:ln>
        </p:spPr>
        <p:txBody>
          <a:bodyPr/>
          <a:lstStyle/>
          <a:p>
            <a:endParaRPr lang="en-US"/>
          </a:p>
        </p:txBody>
      </p:sp>
      <p:sp>
        <p:nvSpPr>
          <p:cNvPr id="18" name="Text 16"/>
          <p:cNvSpPr txBox="1"/>
          <p:nvPr/>
        </p:nvSpPr>
        <p:spPr>
          <a:xfrm>
            <a:off x="7223760" y="462686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txBox="1"/>
          <p:nvPr/>
        </p:nvSpPr>
        <p:spPr>
          <a:xfrm>
            <a:off x="7726680" y="4608576"/>
            <a:ext cx="3657600" cy="82296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How do I build the star in Databricks?</a:t>
            </a:r>
            <a:endParaRPr lang="en-US" sz="14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8FA3B8"/>
                </a:solidFill>
                <a:latin typeface="Calibri"/>
                <a:ea typeface="Calibri"/>
                <a:cs typeface="Calibri"/>
              </a:defRPr>
            </a:lvl1pPr>
          </a:lstStyle>
          <a:p>
            <a:pPr algn="r"/>
            <a:r>
              <a:rPr sz="850">
                <a:solidFill>
                  <a:srgbClr val="5D6C7B"/>
                </a:solidFill>
                <a:latin typeface="Aptos"/>
              </a:rPr>
              <a:t>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CHOOSING A MODELLING APPROACH</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Why the Gold layer is modelled dimensionally</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3063240"/>
        </p:xfrm>
        <a:graphic>
          <a:graphicData uri="http://schemas.openxmlformats.org/drawingml/2006/table">
            <a:tbl>
              <a:tblPr/>
              <a:tblGrid>
                <a:gridCol w="21031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044952">
                  <a:extLst>
                    <a:ext uri="{9D8B030D-6E8A-4147-A177-3AD203B41FA5}">
                      <a16:colId xmlns:a16="http://schemas.microsoft.com/office/drawing/2014/main" val="20003"/>
                    </a:ext>
                  </a:extLst>
                </a:gridCol>
              </a:tblGrid>
              <a:tr h="411480">
                <a:tc>
                  <a:txBody>
                    <a:bodyPr/>
                    <a:lstStyle/>
                    <a:p>
                      <a:pPr marL="0" indent="0">
                        <a:buNone/>
                      </a:pP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Third normal form (3NF)</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Data Vault</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Dimensional (star)</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594360">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Goal</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No redundancy; safe updates</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Auditable integration of many sources</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Simple, fast analysis</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Structure</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Many narrow related tables</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Hubs (keys), links (relationships), satellites (history)</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Facts surrounded by denormalised dimensions</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685800">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Queries</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Many joins; hard for analysts</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Complex; usually not queried by analysts directly</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Few one-hop joins; BI-friendly</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Typical medallion layer</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Source systems / Silver</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Silver (raw vault)</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50" b="1" dirty="0">
                          <a:solidFill>
                            <a:srgbClr val="0E7C7B"/>
                          </a:solidFill>
                          <a:latin typeface="Calibri" pitchFamily="34" charset="0"/>
                          <a:ea typeface="Calibri" pitchFamily="34" charset="-122"/>
                          <a:cs typeface="Calibri" pitchFamily="34" charset="-120"/>
                        </a:rPr>
                        <a:t>Gold  ← this course</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4"/>
                  </a:ext>
                </a:extLst>
              </a:tr>
            </a:tbl>
          </a:graphicData>
        </a:graphic>
      </p:graphicFrame>
      <p:sp>
        <p:nvSpPr>
          <p:cNvPr id="9" name="Shape 5"/>
          <p:cNvSpPr/>
          <p:nvPr/>
        </p:nvSpPr>
        <p:spPr>
          <a:xfrm>
            <a:off x="548640" y="4892040"/>
            <a:ext cx="11094415" cy="685800"/>
          </a:xfrm>
          <a:prstGeom prst="roundRect">
            <a:avLst>
              <a:gd name="adj" fmla="val 10667"/>
            </a:avLst>
          </a:prstGeom>
          <a:solidFill>
            <a:srgbClr val="F3F6F9"/>
          </a:solidFill>
          <a:ln w="9525">
            <a:solidFill>
              <a:srgbClr val="F3F6F9"/>
            </a:solidFill>
            <a:prstDash val="solid"/>
          </a:ln>
        </p:spPr>
        <p:txBody>
          <a:bodyPr/>
          <a:lstStyle/>
          <a:p>
            <a:endParaRPr lang="en-US"/>
          </a:p>
        </p:txBody>
      </p:sp>
      <p:sp>
        <p:nvSpPr>
          <p:cNvPr id="10" name="Text 6"/>
          <p:cNvSpPr txBox="1"/>
          <p:nvPr/>
        </p:nvSpPr>
        <p:spPr>
          <a:xfrm>
            <a:off x="777240" y="4892040"/>
            <a:ext cx="10637215" cy="685800"/>
          </a:xfrm>
          <a:prstGeom prst="rect">
            <a:avLst/>
          </a:prstGeom>
          <a:noFill/>
          <a:ln/>
        </p:spPr>
        <p:txBody>
          <a:bodyPr wrap="square" lIns="0" tIns="0" rIns="0" bIns="0" rtlCol="0" anchor="ctr"/>
          <a:lstStyle/>
          <a:p>
            <a:pPr marL="0" indent="0">
              <a:buNone/>
            </a:pPr>
            <a:r>
              <a:rPr lang="en-US" sz="1350" b="1" dirty="0">
                <a:solidFill>
                  <a:srgbClr val="12263A"/>
                </a:solidFill>
                <a:latin typeface="Calibri" pitchFamily="34" charset="0"/>
                <a:ea typeface="Calibri" pitchFamily="34" charset="-122"/>
                <a:cs typeface="Calibri" pitchFamily="34" charset="-120"/>
              </a:rPr>
              <a:t>Medallion does not replace modelling: </a:t>
            </a:r>
            <a:r>
              <a:rPr lang="en-US" sz="1350" dirty="0">
                <a:solidFill>
                  <a:srgbClr val="1F2A37"/>
                </a:solidFill>
                <a:latin typeface="Calibri" pitchFamily="34" charset="0"/>
                <a:ea typeface="Calibri" pitchFamily="34" charset="-122"/>
                <a:cs typeface="Calibri" pitchFamily="34" charset="-120"/>
              </a:rPr>
              <a:t>Bronze/Silver/Gold describe data quality; the dimensional model describes the shape of the Gold tables.</a:t>
            </a:r>
            <a:endParaRPr lang="en-US" sz="1350" dirty="0"/>
          </a:p>
        </p:txBody>
      </p:sp>
      <p:sp>
        <p:nvSpPr>
          <p:cNvPr id="11" name="Shape 7"/>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12" name="Shape 8"/>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13"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14" name="Text 9"/>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Normalise to integrate and update safely; go dimensional where people and dashboards ask questions — the Gold layer.</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MODELLING VOCABULARY</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From real-world entities to warehouse tables</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3246120" cy="1645920"/>
          </a:xfrm>
          <a:prstGeom prst="roundRect">
            <a:avLst>
              <a:gd name="adj" fmla="val 4444"/>
            </a:avLst>
          </a:prstGeom>
          <a:solidFill>
            <a:srgbClr val="F3F6F9"/>
          </a:solidFill>
          <a:ln w="9525">
            <a:solidFill>
              <a:srgbClr val="F3F6F9"/>
            </a:solidFill>
            <a:prstDash val="solid"/>
          </a:ln>
        </p:spPr>
        <p:txBody>
          <a:bodyPr/>
          <a:lstStyle/>
          <a:p>
            <a:endParaRPr lang="en-US"/>
          </a:p>
        </p:txBody>
      </p:sp>
      <p:sp>
        <p:nvSpPr>
          <p:cNvPr id="9" name="Shape 6"/>
          <p:cNvSpPr/>
          <p:nvPr/>
        </p:nvSpPr>
        <p:spPr>
          <a:xfrm>
            <a:off x="731520" y="1874520"/>
            <a:ext cx="402336" cy="402336"/>
          </a:xfrm>
          <a:prstGeom prst="ellipse">
            <a:avLst/>
          </a:prstGeom>
          <a:solidFill>
            <a:srgbClr val="2F6DB5"/>
          </a:solidFill>
          <a:ln w="12700">
            <a:solidFill>
              <a:srgbClr val="2F6DB5"/>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836127" y="1979127"/>
            <a:ext cx="193121" cy="193121"/>
          </a:xfrm>
          <a:prstGeom prst="rect">
            <a:avLst/>
          </a:prstGeom>
        </p:spPr>
      </p:pic>
      <p:sp>
        <p:nvSpPr>
          <p:cNvPr id="11" name="Text 7"/>
          <p:cNvSpPr txBox="1"/>
          <p:nvPr/>
        </p:nvSpPr>
        <p:spPr>
          <a:xfrm>
            <a:off x="1261872" y="1874520"/>
            <a:ext cx="2350008"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Entity</a:t>
            </a:r>
            <a:endParaRPr lang="en-US" sz="1550" dirty="0"/>
          </a:p>
        </p:txBody>
      </p:sp>
      <p:sp>
        <p:nvSpPr>
          <p:cNvPr id="12" name="Text 8"/>
          <p:cNvSpPr txBox="1"/>
          <p:nvPr/>
        </p:nvSpPr>
        <p:spPr>
          <a:xfrm>
            <a:off x="731520" y="2386584"/>
            <a:ext cx="2880360" cy="768096"/>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A real-world thing we want to record.</a:t>
            </a:r>
            <a:endParaRPr lang="en-US" sz="1350" dirty="0"/>
          </a:p>
          <a:p>
            <a:pPr marL="0" indent="0">
              <a:spcAft>
                <a:spcPts val="400"/>
              </a:spcAft>
              <a:buNone/>
            </a:pPr>
            <a:r>
              <a:rPr lang="en-US" sz="1350" i="1" dirty="0">
                <a:solidFill>
                  <a:srgbClr val="5B6B7B"/>
                </a:solidFill>
                <a:latin typeface="Calibri" pitchFamily="34" charset="0"/>
                <a:ea typeface="Calibri" pitchFamily="34" charset="-122"/>
                <a:cs typeface="Calibri" pitchFamily="34" charset="-120"/>
              </a:rPr>
              <a:t>Example: Customer</a:t>
            </a:r>
            <a:endParaRPr lang="en-US" sz="1350" dirty="0"/>
          </a:p>
        </p:txBody>
      </p:sp>
      <p:sp>
        <p:nvSpPr>
          <p:cNvPr id="13" name="Shape 9"/>
          <p:cNvSpPr/>
          <p:nvPr/>
        </p:nvSpPr>
        <p:spPr>
          <a:xfrm>
            <a:off x="2171700" y="3401568"/>
            <a:ext cx="914" cy="365760"/>
          </a:xfrm>
          <a:prstGeom prst="line">
            <a:avLst/>
          </a:prstGeom>
          <a:noFill/>
          <a:ln w="25400">
            <a:solidFill>
              <a:srgbClr val="5B6B7B"/>
            </a:solidFill>
            <a:prstDash val="solid"/>
            <a:tailEnd type="triangle"/>
          </a:ln>
        </p:spPr>
        <p:txBody>
          <a:bodyPr/>
          <a:lstStyle/>
          <a:p>
            <a:endParaRPr lang="en-US"/>
          </a:p>
        </p:txBody>
      </p:sp>
      <p:sp>
        <p:nvSpPr>
          <p:cNvPr id="14" name="Shape 10"/>
          <p:cNvSpPr/>
          <p:nvPr/>
        </p:nvSpPr>
        <p:spPr>
          <a:xfrm>
            <a:off x="548640" y="3840480"/>
            <a:ext cx="3246120" cy="914400"/>
          </a:xfrm>
          <a:prstGeom prst="roundRect">
            <a:avLst>
              <a:gd name="adj" fmla="val 8000"/>
            </a:avLst>
          </a:prstGeom>
          <a:solidFill>
            <a:srgbClr val="12263A"/>
          </a:solidFill>
          <a:ln w="9525">
            <a:solidFill>
              <a:srgbClr val="12263A"/>
            </a:solidFill>
            <a:prstDash val="solid"/>
          </a:ln>
        </p:spPr>
        <p:txBody>
          <a:bodyPr/>
          <a:lstStyle/>
          <a:p>
            <a:endParaRPr lang="en-US"/>
          </a:p>
        </p:txBody>
      </p:sp>
      <p:sp>
        <p:nvSpPr>
          <p:cNvPr id="15" name="Text 11"/>
          <p:cNvSpPr txBox="1"/>
          <p:nvPr/>
        </p:nvSpPr>
        <p:spPr>
          <a:xfrm>
            <a:off x="548640" y="3840480"/>
            <a:ext cx="3246120" cy="914400"/>
          </a:xfrm>
          <a:prstGeom prst="rect">
            <a:avLst/>
          </a:prstGeom>
          <a:noFill/>
          <a:ln/>
        </p:spPr>
        <p:txBody>
          <a:bodyPr wrap="square" lIns="0" tIns="0" rIns="0" bIns="0" rtlCol="0" anchor="ctr"/>
          <a:lstStyle/>
          <a:p>
            <a:pPr marL="0" indent="0" algn="ctr">
              <a:buNone/>
            </a:pPr>
            <a:r>
              <a:rPr lang="en-US" sz="1100" kern="0" spc="100" dirty="0">
                <a:solidFill>
                  <a:srgbClr val="A9BACB"/>
                </a:solidFill>
                <a:latin typeface="Calibri" pitchFamily="34" charset="0"/>
                <a:ea typeface="Calibri" pitchFamily="34" charset="-122"/>
                <a:cs typeface="Calibri" pitchFamily="34" charset="-120"/>
              </a:rPr>
              <a:t>becomes TABLE</a:t>
            </a:r>
            <a:endParaRPr lang="en-US" sz="1400" dirty="0"/>
          </a:p>
          <a:p>
            <a:pPr marL="0" indent="0" algn="ctr">
              <a:buNone/>
            </a:pPr>
            <a:r>
              <a:rPr lang="en-US" sz="1500" b="1" dirty="0">
                <a:solidFill>
                  <a:srgbClr val="FFFFFF"/>
                </a:solidFill>
                <a:latin typeface="Courier New" pitchFamily="34" charset="0"/>
                <a:ea typeface="Courier New" pitchFamily="34" charset="-122"/>
                <a:cs typeface="Courier New" pitchFamily="34" charset="-120"/>
              </a:rPr>
              <a:t>dim_customer</a:t>
            </a:r>
            <a:endParaRPr lang="en-US" sz="1400" dirty="0"/>
          </a:p>
        </p:txBody>
      </p:sp>
      <p:sp>
        <p:nvSpPr>
          <p:cNvPr id="16" name="Shape 12"/>
          <p:cNvSpPr/>
          <p:nvPr/>
        </p:nvSpPr>
        <p:spPr>
          <a:xfrm>
            <a:off x="4472788" y="1691640"/>
            <a:ext cx="3246120" cy="1645920"/>
          </a:xfrm>
          <a:prstGeom prst="roundRect">
            <a:avLst>
              <a:gd name="adj" fmla="val 4444"/>
            </a:avLst>
          </a:prstGeom>
          <a:solidFill>
            <a:srgbClr val="F3F6F9"/>
          </a:solidFill>
          <a:ln w="9525">
            <a:solidFill>
              <a:srgbClr val="F3F6F9"/>
            </a:solidFill>
            <a:prstDash val="solid"/>
          </a:ln>
        </p:spPr>
        <p:txBody>
          <a:bodyPr/>
          <a:lstStyle/>
          <a:p>
            <a:endParaRPr lang="en-US"/>
          </a:p>
        </p:txBody>
      </p:sp>
      <p:sp>
        <p:nvSpPr>
          <p:cNvPr id="17" name="Shape 13"/>
          <p:cNvSpPr/>
          <p:nvPr/>
        </p:nvSpPr>
        <p:spPr>
          <a:xfrm>
            <a:off x="4655668" y="1874520"/>
            <a:ext cx="402336" cy="402336"/>
          </a:xfrm>
          <a:prstGeom prst="ellipse">
            <a:avLst/>
          </a:prstGeom>
          <a:solidFill>
            <a:srgbClr val="0E7C7B"/>
          </a:solidFill>
          <a:ln w="12700">
            <a:solidFill>
              <a:srgbClr val="0E7C7B"/>
            </a:solidFill>
            <a:prstDash val="solid"/>
          </a:ln>
        </p:spPr>
        <p:txBody>
          <a:bodyPr/>
          <a:lstStyle/>
          <a:p>
            <a:endParaRPr lang="en-US"/>
          </a:p>
        </p:txBody>
      </p:sp>
      <p:pic>
        <p:nvPicPr>
          <p:cNvPr id="18" name="Image 1" descr="preencoded.png"/>
          <p:cNvPicPr>
            <a:picLocks noChangeAspect="1"/>
          </p:cNvPicPr>
          <p:nvPr/>
        </p:nvPicPr>
        <p:blipFill>
          <a:blip r:embed="rId4"/>
          <a:stretch>
            <a:fillRect/>
          </a:stretch>
        </p:blipFill>
        <p:spPr>
          <a:xfrm>
            <a:off x="4760275" y="1979127"/>
            <a:ext cx="193121" cy="193121"/>
          </a:xfrm>
          <a:prstGeom prst="rect">
            <a:avLst/>
          </a:prstGeom>
        </p:spPr>
      </p:pic>
      <p:sp>
        <p:nvSpPr>
          <p:cNvPr id="19" name="Text 14"/>
          <p:cNvSpPr txBox="1"/>
          <p:nvPr/>
        </p:nvSpPr>
        <p:spPr>
          <a:xfrm>
            <a:off x="5186020" y="1874520"/>
            <a:ext cx="2350008"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Attributes</a:t>
            </a:r>
            <a:endParaRPr lang="en-US" sz="1550" dirty="0"/>
          </a:p>
        </p:txBody>
      </p:sp>
      <p:sp>
        <p:nvSpPr>
          <p:cNvPr id="20" name="Text 15"/>
          <p:cNvSpPr txBox="1"/>
          <p:nvPr/>
        </p:nvSpPr>
        <p:spPr>
          <a:xfrm>
            <a:off x="4655668" y="2386584"/>
            <a:ext cx="2880360" cy="768096"/>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Characteristics that describe it.</a:t>
            </a:r>
            <a:endParaRPr lang="en-US" sz="1350" dirty="0"/>
          </a:p>
          <a:p>
            <a:pPr marL="0" indent="0">
              <a:spcAft>
                <a:spcPts val="400"/>
              </a:spcAft>
              <a:buNone/>
            </a:pPr>
            <a:r>
              <a:rPr lang="en-US" sz="1350" i="1" dirty="0">
                <a:solidFill>
                  <a:srgbClr val="5B6B7B"/>
                </a:solidFill>
                <a:latin typeface="Calibri" pitchFamily="34" charset="0"/>
                <a:ea typeface="Calibri" pitchFamily="34" charset="-122"/>
                <a:cs typeface="Calibri" pitchFamily="34" charset="-120"/>
              </a:rPr>
              <a:t>Example: Name, City, Segment</a:t>
            </a:r>
            <a:endParaRPr lang="en-US" sz="1350" dirty="0"/>
          </a:p>
        </p:txBody>
      </p:sp>
      <p:sp>
        <p:nvSpPr>
          <p:cNvPr id="21" name="Shape 16"/>
          <p:cNvSpPr/>
          <p:nvPr/>
        </p:nvSpPr>
        <p:spPr>
          <a:xfrm>
            <a:off x="6095848" y="3401568"/>
            <a:ext cx="914" cy="365760"/>
          </a:xfrm>
          <a:prstGeom prst="line">
            <a:avLst/>
          </a:prstGeom>
          <a:noFill/>
          <a:ln w="25400">
            <a:solidFill>
              <a:srgbClr val="5B6B7B"/>
            </a:solidFill>
            <a:prstDash val="solid"/>
            <a:tailEnd type="triangle"/>
          </a:ln>
        </p:spPr>
        <p:txBody>
          <a:bodyPr/>
          <a:lstStyle/>
          <a:p>
            <a:endParaRPr lang="en-US"/>
          </a:p>
        </p:txBody>
      </p:sp>
      <p:sp>
        <p:nvSpPr>
          <p:cNvPr id="22" name="Shape 17"/>
          <p:cNvSpPr/>
          <p:nvPr/>
        </p:nvSpPr>
        <p:spPr>
          <a:xfrm>
            <a:off x="4472788" y="3840480"/>
            <a:ext cx="3246120" cy="914400"/>
          </a:xfrm>
          <a:prstGeom prst="roundRect">
            <a:avLst>
              <a:gd name="adj" fmla="val 8000"/>
            </a:avLst>
          </a:prstGeom>
          <a:solidFill>
            <a:srgbClr val="12263A"/>
          </a:solidFill>
          <a:ln w="9525">
            <a:solidFill>
              <a:srgbClr val="12263A"/>
            </a:solidFill>
            <a:prstDash val="solid"/>
          </a:ln>
        </p:spPr>
        <p:txBody>
          <a:bodyPr/>
          <a:lstStyle/>
          <a:p>
            <a:endParaRPr lang="en-US"/>
          </a:p>
        </p:txBody>
      </p:sp>
      <p:sp>
        <p:nvSpPr>
          <p:cNvPr id="23" name="Text 18"/>
          <p:cNvSpPr txBox="1"/>
          <p:nvPr/>
        </p:nvSpPr>
        <p:spPr>
          <a:xfrm>
            <a:off x="4472788" y="3840480"/>
            <a:ext cx="3246120" cy="914400"/>
          </a:xfrm>
          <a:prstGeom prst="rect">
            <a:avLst/>
          </a:prstGeom>
          <a:noFill/>
          <a:ln/>
        </p:spPr>
        <p:txBody>
          <a:bodyPr wrap="square" lIns="0" tIns="0" rIns="0" bIns="0" rtlCol="0" anchor="ctr"/>
          <a:lstStyle/>
          <a:p>
            <a:pPr marL="0" indent="0" algn="ctr">
              <a:buNone/>
            </a:pPr>
            <a:r>
              <a:rPr lang="en-US" sz="1100" kern="0" spc="100" dirty="0">
                <a:solidFill>
                  <a:srgbClr val="A9BACB"/>
                </a:solidFill>
                <a:latin typeface="Calibri" pitchFamily="34" charset="0"/>
                <a:ea typeface="Calibri" pitchFamily="34" charset="-122"/>
                <a:cs typeface="Calibri" pitchFamily="34" charset="-120"/>
              </a:rPr>
              <a:t>becomes COLUMNS</a:t>
            </a:r>
            <a:endParaRPr lang="en-US" sz="1400" dirty="0"/>
          </a:p>
          <a:p>
            <a:pPr marL="0" indent="0" algn="ctr">
              <a:buNone/>
            </a:pPr>
            <a:r>
              <a:rPr lang="en-US" sz="1500" b="1" dirty="0">
                <a:solidFill>
                  <a:srgbClr val="FFFFFF"/>
                </a:solidFill>
                <a:latin typeface="Courier New" pitchFamily="34" charset="0"/>
                <a:ea typeface="Courier New" pitchFamily="34" charset="-122"/>
                <a:cs typeface="Courier New" pitchFamily="34" charset="-120"/>
              </a:rPr>
              <a:t>name, city, segment</a:t>
            </a:r>
            <a:endParaRPr lang="en-US" sz="1400" dirty="0"/>
          </a:p>
        </p:txBody>
      </p:sp>
      <p:sp>
        <p:nvSpPr>
          <p:cNvPr id="24" name="Shape 19"/>
          <p:cNvSpPr/>
          <p:nvPr/>
        </p:nvSpPr>
        <p:spPr>
          <a:xfrm>
            <a:off x="8396935" y="1691640"/>
            <a:ext cx="3246120" cy="1645920"/>
          </a:xfrm>
          <a:prstGeom prst="roundRect">
            <a:avLst>
              <a:gd name="adj" fmla="val 4444"/>
            </a:avLst>
          </a:prstGeom>
          <a:solidFill>
            <a:srgbClr val="F3F6F9"/>
          </a:solidFill>
          <a:ln w="9525">
            <a:solidFill>
              <a:srgbClr val="F3F6F9"/>
            </a:solidFill>
            <a:prstDash val="solid"/>
          </a:ln>
        </p:spPr>
        <p:txBody>
          <a:bodyPr/>
          <a:lstStyle/>
          <a:p>
            <a:endParaRPr lang="en-US"/>
          </a:p>
        </p:txBody>
      </p:sp>
      <p:sp>
        <p:nvSpPr>
          <p:cNvPr id="25" name="Shape 20"/>
          <p:cNvSpPr/>
          <p:nvPr/>
        </p:nvSpPr>
        <p:spPr>
          <a:xfrm>
            <a:off x="8579815" y="1874520"/>
            <a:ext cx="402336" cy="402336"/>
          </a:xfrm>
          <a:prstGeom prst="ellipse">
            <a:avLst/>
          </a:prstGeom>
          <a:solidFill>
            <a:srgbClr val="E89B2D"/>
          </a:solidFill>
          <a:ln w="12700">
            <a:solidFill>
              <a:srgbClr val="E89B2D"/>
            </a:solidFill>
            <a:prstDash val="solid"/>
          </a:ln>
        </p:spPr>
        <p:txBody>
          <a:bodyPr/>
          <a:lstStyle/>
          <a:p>
            <a:endParaRPr lang="en-US"/>
          </a:p>
        </p:txBody>
      </p:sp>
      <p:pic>
        <p:nvPicPr>
          <p:cNvPr id="26" name="Image 2" descr="preencoded.png"/>
          <p:cNvPicPr>
            <a:picLocks noChangeAspect="1"/>
          </p:cNvPicPr>
          <p:nvPr/>
        </p:nvPicPr>
        <p:blipFill>
          <a:blip r:embed="rId5"/>
          <a:stretch>
            <a:fillRect/>
          </a:stretch>
        </p:blipFill>
        <p:spPr>
          <a:xfrm>
            <a:off x="8684423" y="1979127"/>
            <a:ext cx="193121" cy="193121"/>
          </a:xfrm>
          <a:prstGeom prst="rect">
            <a:avLst/>
          </a:prstGeom>
        </p:spPr>
      </p:pic>
      <p:sp>
        <p:nvSpPr>
          <p:cNvPr id="27" name="Text 21"/>
          <p:cNvSpPr txBox="1"/>
          <p:nvPr/>
        </p:nvSpPr>
        <p:spPr>
          <a:xfrm>
            <a:off x="9110167" y="1874520"/>
            <a:ext cx="2350008"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Identifier</a:t>
            </a:r>
            <a:endParaRPr lang="en-US" sz="1550" dirty="0"/>
          </a:p>
        </p:txBody>
      </p:sp>
      <p:sp>
        <p:nvSpPr>
          <p:cNvPr id="28" name="Text 22"/>
          <p:cNvSpPr txBox="1"/>
          <p:nvPr/>
        </p:nvSpPr>
        <p:spPr>
          <a:xfrm>
            <a:off x="8579815" y="2386584"/>
            <a:ext cx="2880360" cy="768096"/>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A value that uniquely identifies one instance.</a:t>
            </a:r>
            <a:endParaRPr lang="en-US" sz="1350" dirty="0"/>
          </a:p>
          <a:p>
            <a:pPr marL="0" indent="0">
              <a:spcAft>
                <a:spcPts val="400"/>
              </a:spcAft>
              <a:buNone/>
            </a:pPr>
            <a:r>
              <a:rPr lang="en-US" sz="1350" i="1" dirty="0">
                <a:solidFill>
                  <a:srgbClr val="5B6B7B"/>
                </a:solidFill>
                <a:latin typeface="Calibri" pitchFamily="34" charset="0"/>
                <a:ea typeface="Calibri" pitchFamily="34" charset="-122"/>
                <a:cs typeface="Calibri" pitchFamily="34" charset="-120"/>
              </a:rPr>
              <a:t>Example: CustomerID</a:t>
            </a:r>
            <a:endParaRPr lang="en-US" sz="1350" dirty="0"/>
          </a:p>
        </p:txBody>
      </p:sp>
      <p:sp>
        <p:nvSpPr>
          <p:cNvPr id="29" name="Shape 23"/>
          <p:cNvSpPr/>
          <p:nvPr/>
        </p:nvSpPr>
        <p:spPr>
          <a:xfrm>
            <a:off x="10019995" y="3401568"/>
            <a:ext cx="914" cy="365760"/>
          </a:xfrm>
          <a:prstGeom prst="line">
            <a:avLst/>
          </a:prstGeom>
          <a:noFill/>
          <a:ln w="25400">
            <a:solidFill>
              <a:srgbClr val="5B6B7B"/>
            </a:solidFill>
            <a:prstDash val="solid"/>
            <a:tailEnd type="triangle"/>
          </a:ln>
        </p:spPr>
        <p:txBody>
          <a:bodyPr/>
          <a:lstStyle/>
          <a:p>
            <a:endParaRPr lang="en-US"/>
          </a:p>
        </p:txBody>
      </p:sp>
      <p:sp>
        <p:nvSpPr>
          <p:cNvPr id="30" name="Shape 24"/>
          <p:cNvSpPr/>
          <p:nvPr/>
        </p:nvSpPr>
        <p:spPr>
          <a:xfrm>
            <a:off x="8396935" y="3840480"/>
            <a:ext cx="3246120" cy="914400"/>
          </a:xfrm>
          <a:prstGeom prst="roundRect">
            <a:avLst>
              <a:gd name="adj" fmla="val 8000"/>
            </a:avLst>
          </a:prstGeom>
          <a:solidFill>
            <a:srgbClr val="12263A"/>
          </a:solidFill>
          <a:ln w="9525">
            <a:solidFill>
              <a:srgbClr val="12263A"/>
            </a:solidFill>
            <a:prstDash val="solid"/>
          </a:ln>
        </p:spPr>
        <p:txBody>
          <a:bodyPr/>
          <a:lstStyle/>
          <a:p>
            <a:endParaRPr lang="en-US"/>
          </a:p>
        </p:txBody>
      </p:sp>
      <p:sp>
        <p:nvSpPr>
          <p:cNvPr id="31" name="Text 25"/>
          <p:cNvSpPr txBox="1"/>
          <p:nvPr/>
        </p:nvSpPr>
        <p:spPr>
          <a:xfrm>
            <a:off x="8396935" y="3840480"/>
            <a:ext cx="3246120" cy="914400"/>
          </a:xfrm>
          <a:prstGeom prst="rect">
            <a:avLst/>
          </a:prstGeom>
          <a:noFill/>
          <a:ln/>
        </p:spPr>
        <p:txBody>
          <a:bodyPr wrap="square" lIns="0" tIns="0" rIns="0" bIns="0" rtlCol="0" anchor="ctr"/>
          <a:lstStyle/>
          <a:p>
            <a:pPr marL="0" indent="0" algn="ctr">
              <a:buNone/>
            </a:pPr>
            <a:r>
              <a:rPr lang="en-US" sz="1100" kern="0" spc="100" dirty="0">
                <a:solidFill>
                  <a:srgbClr val="A9BACB"/>
                </a:solidFill>
                <a:latin typeface="Calibri" pitchFamily="34" charset="0"/>
                <a:ea typeface="Calibri" pitchFamily="34" charset="-122"/>
                <a:cs typeface="Calibri" pitchFamily="34" charset="-120"/>
              </a:rPr>
              <a:t>becomes KEY</a:t>
            </a:r>
            <a:endParaRPr lang="en-US" sz="1400" dirty="0"/>
          </a:p>
          <a:p>
            <a:pPr marL="0" indent="0" algn="ctr">
              <a:buNone/>
            </a:pPr>
            <a:r>
              <a:rPr lang="en-US" sz="1500" b="1" dirty="0">
                <a:solidFill>
                  <a:srgbClr val="FFFFFF"/>
                </a:solidFill>
                <a:latin typeface="Courier New" pitchFamily="34" charset="0"/>
                <a:ea typeface="Courier New" pitchFamily="34" charset="-122"/>
                <a:cs typeface="Courier New" pitchFamily="34" charset="-120"/>
              </a:rPr>
              <a:t>customer_key</a:t>
            </a:r>
            <a:endParaRPr lang="en-US" sz="1400" dirty="0"/>
          </a:p>
        </p:txBody>
      </p:sp>
      <p:sp>
        <p:nvSpPr>
          <p:cNvPr id="32" name="Text 26"/>
          <p:cNvSpPr txBox="1"/>
          <p:nvPr/>
        </p:nvSpPr>
        <p:spPr>
          <a:xfrm>
            <a:off x="548640" y="4983480"/>
            <a:ext cx="11094415" cy="411480"/>
          </a:xfrm>
          <a:prstGeom prst="rect">
            <a:avLst/>
          </a:prstGeom>
          <a:noFill/>
          <a:ln/>
        </p:spPr>
        <p:txBody>
          <a:bodyPr wrap="square" lIns="0" tIns="0" rIns="0" bIns="0" rtlCol="0" anchor="t"/>
          <a:lstStyle/>
          <a:p>
            <a:pPr marL="0" indent="0" algn="ctr">
              <a:buNone/>
            </a:pPr>
            <a:r>
              <a:rPr lang="en-US" sz="1300" i="1" dirty="0">
                <a:solidFill>
                  <a:srgbClr val="5B6B7B"/>
                </a:solidFill>
                <a:latin typeface="Calibri" pitchFamily="34" charset="0"/>
                <a:ea typeface="Calibri" pitchFamily="34" charset="-122"/>
                <a:cs typeface="Calibri" pitchFamily="34" charset="-120"/>
              </a:rPr>
              <a:t>One example row:   customer_key = 881  ·  name = “Aisha Rahman”  ·  city = “Brisbane”  ·  segment = “Consumer”</a:t>
            </a:r>
            <a:endParaRPr lang="en-US" sz="1300" dirty="0"/>
          </a:p>
        </p:txBody>
      </p:sp>
      <p:sp>
        <p:nvSpPr>
          <p:cNvPr id="33" name="Shape 27"/>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34" name="Shape 28"/>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35" name="Image 3" descr="preencoded.png"/>
          <p:cNvPicPr>
            <a:picLocks noChangeAspect="1"/>
          </p:cNvPicPr>
          <p:nvPr/>
        </p:nvPicPr>
        <p:blipFill>
          <a:blip r:embed="rId6"/>
          <a:stretch>
            <a:fillRect/>
          </a:stretch>
        </p:blipFill>
        <p:spPr>
          <a:xfrm>
            <a:off x="790042" y="5956402"/>
            <a:ext cx="175565" cy="175565"/>
          </a:xfrm>
          <a:prstGeom prst="rect">
            <a:avLst/>
          </a:prstGeom>
        </p:spPr>
      </p:pic>
      <p:sp>
        <p:nvSpPr>
          <p:cNvPr id="36" name="Text 29"/>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Entity → table, attribute → column, identifier → key: dimensional design starts from ordinary ER thinking.</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PRIMARY, FOREIGN AND SURROGATE KEYS</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Keys are the join paths that make analysis possible</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828800"/>
            <a:ext cx="3017520" cy="2139696"/>
          </a:xfrm>
          <a:prstGeom prst="roundRect">
            <a:avLst>
              <a:gd name="adj" fmla="val 2564"/>
            </a:avLst>
          </a:prstGeom>
          <a:solidFill>
            <a:srgbClr val="FFFFFF"/>
          </a:solidFill>
          <a:ln w="15875">
            <a:solidFill>
              <a:srgbClr val="C8414F"/>
            </a:solidFill>
            <a:prstDash val="solid"/>
          </a:ln>
        </p:spPr>
        <p:txBody>
          <a:bodyPr/>
          <a:lstStyle/>
          <a:p>
            <a:endParaRPr lang="en-US"/>
          </a:p>
        </p:txBody>
      </p:sp>
      <p:sp>
        <p:nvSpPr>
          <p:cNvPr id="9" name="Shape 6"/>
          <p:cNvSpPr/>
          <p:nvPr/>
        </p:nvSpPr>
        <p:spPr>
          <a:xfrm>
            <a:off x="548640" y="1828800"/>
            <a:ext cx="3017520" cy="384048"/>
          </a:xfrm>
          <a:prstGeom prst="roundRect">
            <a:avLst>
              <a:gd name="adj" fmla="val 14286"/>
            </a:avLst>
          </a:prstGeom>
          <a:solidFill>
            <a:srgbClr val="C8414F"/>
          </a:solidFill>
          <a:ln w="9525">
            <a:solidFill>
              <a:srgbClr val="C8414F"/>
            </a:solidFill>
            <a:prstDash val="solid"/>
          </a:ln>
        </p:spPr>
        <p:txBody>
          <a:bodyPr/>
          <a:lstStyle/>
          <a:p>
            <a:endParaRPr lang="en-US"/>
          </a:p>
        </p:txBody>
      </p:sp>
      <p:sp>
        <p:nvSpPr>
          <p:cNvPr id="10" name="Text 7"/>
          <p:cNvSpPr txBox="1"/>
          <p:nvPr/>
        </p:nvSpPr>
        <p:spPr>
          <a:xfrm>
            <a:off x="548640" y="1828800"/>
            <a:ext cx="30175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fact_sales</a:t>
            </a:r>
            <a:endParaRPr lang="en-US" sz="1300" dirty="0"/>
          </a:p>
        </p:txBody>
      </p:sp>
      <p:sp>
        <p:nvSpPr>
          <p:cNvPr id="11" name="Text 8"/>
          <p:cNvSpPr txBox="1"/>
          <p:nvPr/>
        </p:nvSpPr>
        <p:spPr>
          <a:xfrm>
            <a:off x="658368" y="2267712"/>
            <a:ext cx="2834640" cy="1691640"/>
          </a:xfrm>
          <a:prstGeom prst="rect">
            <a:avLst/>
          </a:prstGeom>
          <a:noFill/>
          <a:ln/>
        </p:spPr>
        <p:txBody>
          <a:bodyPr wrap="square" lIns="0" tIns="0" rIns="0" bIns="0" rtlCol="0" anchor="t"/>
          <a:lstStyle/>
          <a:p>
            <a:pPr marL="0" indent="0">
              <a:lnSpc>
                <a:spcPct val="95000"/>
              </a:lnSpc>
              <a:buNone/>
            </a:pPr>
            <a:r>
              <a:rPr lang="en-US" sz="1200" dirty="0">
                <a:solidFill>
                  <a:srgbClr val="1F2A37"/>
                </a:solidFill>
                <a:latin typeface="Calibri" pitchFamily="34" charset="0"/>
                <a:ea typeface="Calibri" pitchFamily="34" charset="-122"/>
                <a:cs typeface="Calibri" pitchFamily="34" charset="-120"/>
              </a:rPr>
              <a:t>order_id</a:t>
            </a:r>
            <a:endParaRPr lang="en-US" sz="1200" dirty="0"/>
          </a:p>
          <a:p>
            <a:pPr marL="0" indent="0">
              <a:lnSpc>
                <a:spcPct val="95000"/>
              </a:lnSpc>
              <a:buNone/>
            </a:pPr>
            <a:r>
              <a:rPr lang="en-US" sz="1200" b="1" dirty="0">
                <a:solidFill>
                  <a:srgbClr val="C8414F"/>
                </a:solidFill>
                <a:latin typeface="Calibri" pitchFamily="34" charset="0"/>
                <a:ea typeface="Calibri" pitchFamily="34" charset="-122"/>
                <a:cs typeface="Calibri" pitchFamily="34" charset="-120"/>
              </a:rPr>
              <a:t>date_key (FK)</a:t>
            </a:r>
            <a:endParaRPr lang="en-US" sz="1200" dirty="0"/>
          </a:p>
          <a:p>
            <a:pPr marL="0" indent="0">
              <a:lnSpc>
                <a:spcPct val="95000"/>
              </a:lnSpc>
              <a:buNone/>
            </a:pPr>
            <a:r>
              <a:rPr lang="en-US" sz="1200" b="1" dirty="0">
                <a:solidFill>
                  <a:srgbClr val="C8414F"/>
                </a:solidFill>
                <a:latin typeface="Calibri" pitchFamily="34" charset="0"/>
                <a:ea typeface="Calibri" pitchFamily="34" charset="-122"/>
                <a:cs typeface="Calibri" pitchFamily="34" charset="-120"/>
              </a:rPr>
              <a:t>product_key (FK)</a:t>
            </a:r>
            <a:endParaRPr lang="en-US" sz="1200" dirty="0"/>
          </a:p>
          <a:p>
            <a:pPr marL="0" indent="0">
              <a:lnSpc>
                <a:spcPct val="95000"/>
              </a:lnSpc>
              <a:buNone/>
            </a:pPr>
            <a:r>
              <a:rPr lang="en-US" sz="1200" b="1" dirty="0">
                <a:solidFill>
                  <a:srgbClr val="C8414F"/>
                </a:solidFill>
                <a:latin typeface="Calibri" pitchFamily="34" charset="0"/>
                <a:ea typeface="Calibri" pitchFamily="34" charset="-122"/>
                <a:cs typeface="Calibri" pitchFamily="34" charset="-120"/>
              </a:rPr>
              <a:t>customer_key (FK)</a:t>
            </a:r>
            <a:endParaRPr lang="en-US" sz="1200" dirty="0"/>
          </a:p>
          <a:p>
            <a:pPr marL="0" indent="0">
              <a:lnSpc>
                <a:spcPct val="95000"/>
              </a:lnSpc>
              <a:buNone/>
            </a:pPr>
            <a:r>
              <a:rPr lang="en-US" sz="1200" dirty="0">
                <a:solidFill>
                  <a:srgbClr val="1F2A37"/>
                </a:solidFill>
                <a:latin typeface="Calibri" pitchFamily="34" charset="0"/>
                <a:ea typeface="Calibri" pitchFamily="34" charset="-122"/>
                <a:cs typeface="Calibri" pitchFamily="34" charset="-120"/>
              </a:rPr>
              <a:t>quantity</a:t>
            </a:r>
            <a:endParaRPr lang="en-US" sz="1200" dirty="0"/>
          </a:p>
          <a:p>
            <a:pPr marL="0" indent="0">
              <a:lnSpc>
                <a:spcPct val="95000"/>
              </a:lnSpc>
              <a:buNone/>
            </a:pPr>
            <a:r>
              <a:rPr lang="en-US" sz="1200" dirty="0">
                <a:solidFill>
                  <a:srgbClr val="1F2A37"/>
                </a:solidFill>
                <a:latin typeface="Calibri" pitchFamily="34" charset="0"/>
                <a:ea typeface="Calibri" pitchFamily="34" charset="-122"/>
                <a:cs typeface="Calibri" pitchFamily="34" charset="-120"/>
              </a:rPr>
              <a:t>sales_amount</a:t>
            </a:r>
            <a:endParaRPr lang="en-US" sz="1200" dirty="0"/>
          </a:p>
        </p:txBody>
      </p:sp>
      <p:sp>
        <p:nvSpPr>
          <p:cNvPr id="12" name="Shape 9"/>
          <p:cNvSpPr/>
          <p:nvPr/>
        </p:nvSpPr>
        <p:spPr>
          <a:xfrm>
            <a:off x="5120640" y="1828800"/>
            <a:ext cx="3017520" cy="1865376"/>
          </a:xfrm>
          <a:prstGeom prst="roundRect">
            <a:avLst>
              <a:gd name="adj" fmla="val 2941"/>
            </a:avLst>
          </a:prstGeom>
          <a:solidFill>
            <a:srgbClr val="FFFFFF"/>
          </a:solidFill>
          <a:ln w="15875">
            <a:solidFill>
              <a:srgbClr val="2F6DB5"/>
            </a:solidFill>
            <a:prstDash val="solid"/>
          </a:ln>
        </p:spPr>
        <p:txBody>
          <a:bodyPr/>
          <a:lstStyle/>
          <a:p>
            <a:endParaRPr lang="en-US"/>
          </a:p>
        </p:txBody>
      </p:sp>
      <p:sp>
        <p:nvSpPr>
          <p:cNvPr id="13" name="Shape 10"/>
          <p:cNvSpPr/>
          <p:nvPr/>
        </p:nvSpPr>
        <p:spPr>
          <a:xfrm>
            <a:off x="5120640" y="1828800"/>
            <a:ext cx="3017520" cy="384048"/>
          </a:xfrm>
          <a:prstGeom prst="roundRect">
            <a:avLst>
              <a:gd name="adj" fmla="val 14286"/>
            </a:avLst>
          </a:prstGeom>
          <a:solidFill>
            <a:srgbClr val="2F6DB5"/>
          </a:solidFill>
          <a:ln w="9525">
            <a:solidFill>
              <a:srgbClr val="2F6DB5"/>
            </a:solidFill>
            <a:prstDash val="solid"/>
          </a:ln>
        </p:spPr>
        <p:txBody>
          <a:bodyPr/>
          <a:lstStyle/>
          <a:p>
            <a:endParaRPr lang="en-US"/>
          </a:p>
        </p:txBody>
      </p:sp>
      <p:sp>
        <p:nvSpPr>
          <p:cNvPr id="14" name="Text 11"/>
          <p:cNvSpPr txBox="1"/>
          <p:nvPr/>
        </p:nvSpPr>
        <p:spPr>
          <a:xfrm>
            <a:off x="5120640" y="1828800"/>
            <a:ext cx="30175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dim_product</a:t>
            </a:r>
            <a:endParaRPr lang="en-US" sz="1300" dirty="0"/>
          </a:p>
        </p:txBody>
      </p:sp>
      <p:sp>
        <p:nvSpPr>
          <p:cNvPr id="15" name="Text 12"/>
          <p:cNvSpPr txBox="1"/>
          <p:nvPr/>
        </p:nvSpPr>
        <p:spPr>
          <a:xfrm>
            <a:off x="5230368" y="2267712"/>
            <a:ext cx="2834640" cy="1417320"/>
          </a:xfrm>
          <a:prstGeom prst="rect">
            <a:avLst/>
          </a:prstGeom>
          <a:noFill/>
          <a:ln/>
        </p:spPr>
        <p:txBody>
          <a:bodyPr wrap="square" lIns="0" tIns="0" rIns="0" bIns="0" rtlCol="0" anchor="t"/>
          <a:lstStyle/>
          <a:p>
            <a:pPr marL="0" indent="0">
              <a:lnSpc>
                <a:spcPct val="95000"/>
              </a:lnSpc>
              <a:buNone/>
            </a:pPr>
            <a:r>
              <a:rPr lang="en-US" sz="1200" b="1" dirty="0">
                <a:solidFill>
                  <a:srgbClr val="2F6DB5"/>
                </a:solidFill>
                <a:latin typeface="Calibri" pitchFamily="34" charset="0"/>
                <a:ea typeface="Calibri" pitchFamily="34" charset="-122"/>
                <a:cs typeface="Calibri" pitchFamily="34" charset="-120"/>
              </a:rPr>
              <a:t>product_key (PK)</a:t>
            </a:r>
            <a:endParaRPr lang="en-US" sz="1200" dirty="0"/>
          </a:p>
          <a:p>
            <a:pPr marL="0" indent="0">
              <a:lnSpc>
                <a:spcPct val="95000"/>
              </a:lnSpc>
              <a:buNone/>
            </a:pPr>
            <a:r>
              <a:rPr lang="en-US" sz="1200" dirty="0">
                <a:solidFill>
                  <a:srgbClr val="1F2A37"/>
                </a:solidFill>
                <a:latin typeface="Calibri" pitchFamily="34" charset="0"/>
                <a:ea typeface="Calibri" pitchFamily="34" charset="-122"/>
                <a:cs typeface="Calibri" pitchFamily="34" charset="-120"/>
              </a:rPr>
              <a:t>product_id  (natural key)</a:t>
            </a:r>
            <a:endParaRPr lang="en-US" sz="1200" dirty="0"/>
          </a:p>
          <a:p>
            <a:pPr marL="0" indent="0">
              <a:lnSpc>
                <a:spcPct val="95000"/>
              </a:lnSpc>
              <a:buNone/>
            </a:pPr>
            <a:r>
              <a:rPr lang="en-US" sz="1200" dirty="0">
                <a:solidFill>
                  <a:srgbClr val="1F2A37"/>
                </a:solidFill>
                <a:latin typeface="Calibri" pitchFamily="34" charset="0"/>
                <a:ea typeface="Calibri" pitchFamily="34" charset="-122"/>
                <a:cs typeface="Calibri" pitchFamily="34" charset="-120"/>
              </a:rPr>
              <a:t>product_name</a:t>
            </a:r>
            <a:endParaRPr lang="en-US" sz="1200" dirty="0"/>
          </a:p>
          <a:p>
            <a:pPr marL="0" indent="0">
              <a:lnSpc>
                <a:spcPct val="95000"/>
              </a:lnSpc>
              <a:buNone/>
            </a:pPr>
            <a:r>
              <a:rPr lang="en-US" sz="1200" dirty="0">
                <a:solidFill>
                  <a:srgbClr val="1F2A37"/>
                </a:solidFill>
                <a:latin typeface="Calibri" pitchFamily="34" charset="0"/>
                <a:ea typeface="Calibri" pitchFamily="34" charset="-122"/>
                <a:cs typeface="Calibri" pitchFamily="34" charset="-120"/>
              </a:rPr>
              <a:t>category</a:t>
            </a:r>
            <a:endParaRPr lang="en-US" sz="1200" dirty="0"/>
          </a:p>
          <a:p>
            <a:pPr marL="0" indent="0">
              <a:lnSpc>
                <a:spcPct val="95000"/>
              </a:lnSpc>
              <a:buNone/>
            </a:pPr>
            <a:r>
              <a:rPr lang="en-US" sz="1200" dirty="0">
                <a:solidFill>
                  <a:srgbClr val="1F2A37"/>
                </a:solidFill>
                <a:latin typeface="Calibri" pitchFamily="34" charset="0"/>
                <a:ea typeface="Calibri" pitchFamily="34" charset="-122"/>
                <a:cs typeface="Calibri" pitchFamily="34" charset="-120"/>
              </a:rPr>
              <a:t>unit_price</a:t>
            </a:r>
            <a:endParaRPr lang="en-US" sz="1200" dirty="0"/>
          </a:p>
        </p:txBody>
      </p:sp>
      <p:sp>
        <p:nvSpPr>
          <p:cNvPr id="16" name="Shape 13"/>
          <p:cNvSpPr/>
          <p:nvPr/>
        </p:nvSpPr>
        <p:spPr>
          <a:xfrm flipV="1">
            <a:off x="3611880" y="2432304"/>
            <a:ext cx="1463040" cy="310896"/>
          </a:xfrm>
          <a:prstGeom prst="line">
            <a:avLst/>
          </a:prstGeom>
          <a:noFill/>
          <a:ln w="25400">
            <a:solidFill>
              <a:srgbClr val="12263A"/>
            </a:solidFill>
            <a:prstDash val="solid"/>
            <a:tailEnd type="triangle"/>
          </a:ln>
        </p:spPr>
        <p:txBody>
          <a:bodyPr/>
          <a:lstStyle/>
          <a:p>
            <a:endParaRPr lang="en-US"/>
          </a:p>
        </p:txBody>
      </p:sp>
      <p:sp>
        <p:nvSpPr>
          <p:cNvPr id="17" name="Text 14"/>
          <p:cNvSpPr txBox="1"/>
          <p:nvPr/>
        </p:nvSpPr>
        <p:spPr>
          <a:xfrm>
            <a:off x="3566160" y="2834640"/>
            <a:ext cx="1645920" cy="274320"/>
          </a:xfrm>
          <a:prstGeom prst="rect">
            <a:avLst/>
          </a:prstGeom>
          <a:noFill/>
          <a:ln/>
        </p:spPr>
        <p:txBody>
          <a:bodyPr wrap="square" lIns="0" tIns="0" rIns="0" bIns="0" rtlCol="0" anchor="t"/>
          <a:lstStyle/>
          <a:p>
            <a:pPr marL="0" indent="0" algn="ctr">
              <a:buNone/>
            </a:pPr>
            <a:r>
              <a:rPr lang="en-US" sz="1100" b="1" dirty="0">
                <a:solidFill>
                  <a:srgbClr val="12263A"/>
                </a:solidFill>
                <a:latin typeface="Calibri" pitchFamily="34" charset="0"/>
                <a:ea typeface="Calibri" pitchFamily="34" charset="-122"/>
                <a:cs typeface="Calibri" pitchFamily="34" charset="-120"/>
              </a:rPr>
              <a:t>JOIN ON product_key</a:t>
            </a:r>
            <a:endParaRPr lang="en-US" sz="1100" dirty="0"/>
          </a:p>
        </p:txBody>
      </p:sp>
      <p:sp>
        <p:nvSpPr>
          <p:cNvPr id="18" name="Shape 15"/>
          <p:cNvSpPr/>
          <p:nvPr/>
        </p:nvSpPr>
        <p:spPr>
          <a:xfrm>
            <a:off x="548640" y="4160520"/>
            <a:ext cx="7589520" cy="1371600"/>
          </a:xfrm>
          <a:prstGeom prst="roundRect">
            <a:avLst>
              <a:gd name="adj" fmla="val 4000"/>
            </a:avLst>
          </a:prstGeom>
          <a:solidFill>
            <a:srgbClr val="0F1E2E"/>
          </a:solidFill>
          <a:ln w="9525">
            <a:solidFill>
              <a:srgbClr val="0F1E2E"/>
            </a:solidFill>
            <a:prstDash val="solid"/>
          </a:ln>
        </p:spPr>
        <p:txBody>
          <a:bodyPr/>
          <a:lstStyle/>
          <a:p>
            <a:endParaRPr lang="en-US"/>
          </a:p>
        </p:txBody>
      </p:sp>
      <p:sp>
        <p:nvSpPr>
          <p:cNvPr id="19" name="Text 16"/>
          <p:cNvSpPr txBox="1"/>
          <p:nvPr/>
        </p:nvSpPr>
        <p:spPr>
          <a:xfrm>
            <a:off x="749808" y="4325112"/>
            <a:ext cx="7223760" cy="1097280"/>
          </a:xfrm>
          <a:prstGeom prst="rect">
            <a:avLst/>
          </a:prstGeom>
          <a:noFill/>
          <a:ln/>
        </p:spPr>
        <p:txBody>
          <a:bodyPr wrap="square" lIns="0" tIns="0" rIns="0" bIns="0" rtlCol="0" anchor="t"/>
          <a:lstStyle/>
          <a:p>
            <a:pPr marL="0" indent="0">
              <a:lnSpc>
                <a:spcPct val="105000"/>
              </a:lnSpc>
              <a:buNone/>
            </a:pPr>
            <a:r>
              <a:rPr lang="en-US" sz="1050" i="1" dirty="0">
                <a:solidFill>
                  <a:srgbClr val="8CC7B0"/>
                </a:solidFill>
                <a:latin typeface="Courier New" pitchFamily="34" charset="0"/>
                <a:ea typeface="Courier New" pitchFamily="34" charset="-122"/>
                <a:cs typeface="Courier New" pitchFamily="34" charset="-120"/>
              </a:rPr>
              <a:t>-- Delta can generate surrogate keys automatically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CREATE TABLE gold.dim_product (</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product_key BIGINT GENERATED BY DEFAULT AS IDENTITY, -- surrogate PK</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product_id  STRING,                               -- natural key from source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product_name STRING, category STRING, unit_price DECIMAL(10,2));</a:t>
            </a:r>
            <a:endParaRPr lang="en-US" sz="1050" dirty="0"/>
          </a:p>
        </p:txBody>
      </p:sp>
      <p:sp>
        <p:nvSpPr>
          <p:cNvPr id="20" name="Text 17"/>
          <p:cNvSpPr txBox="1"/>
          <p:nvPr/>
        </p:nvSpPr>
        <p:spPr>
          <a:xfrm>
            <a:off x="8458200" y="1828800"/>
            <a:ext cx="3184855" cy="822960"/>
          </a:xfrm>
          <a:prstGeom prst="rect">
            <a:avLst/>
          </a:prstGeom>
          <a:noFill/>
          <a:ln/>
        </p:spPr>
        <p:txBody>
          <a:bodyPr wrap="square" lIns="0" tIns="0" rIns="0" bIns="0" rtlCol="0" anchor="t"/>
          <a:lstStyle/>
          <a:p>
            <a:pPr marL="0" indent="0">
              <a:buNone/>
            </a:pPr>
            <a:r>
              <a:rPr lang="en-US" sz="1250" b="1" dirty="0">
                <a:solidFill>
                  <a:srgbClr val="12263A"/>
                </a:solidFill>
                <a:latin typeface="Calibri" pitchFamily="34" charset="0"/>
                <a:ea typeface="Calibri" pitchFamily="34" charset="-122"/>
                <a:cs typeface="Calibri" pitchFamily="34" charset="-120"/>
              </a:rPr>
              <a:t>Primary key (PK)</a:t>
            </a:r>
            <a:endParaRPr lang="en-US" sz="1250" dirty="0"/>
          </a:p>
          <a:p>
            <a:pPr marL="0" indent="0">
              <a:buNone/>
            </a:pPr>
            <a:r>
              <a:rPr lang="en-US" sz="1250" dirty="0">
                <a:solidFill>
                  <a:srgbClr val="1F2A37"/>
                </a:solidFill>
                <a:latin typeface="Calibri" pitchFamily="34" charset="0"/>
                <a:ea typeface="Calibri" pitchFamily="34" charset="-122"/>
                <a:cs typeface="Calibri" pitchFamily="34" charset="-120"/>
              </a:rPr>
              <a:t>Uniquely identifies one row of a dimension, e.g. dim_product.product_key.</a:t>
            </a:r>
            <a:endParaRPr lang="en-US" sz="1250" dirty="0"/>
          </a:p>
        </p:txBody>
      </p:sp>
      <p:sp>
        <p:nvSpPr>
          <p:cNvPr id="21" name="Text 18"/>
          <p:cNvSpPr txBox="1"/>
          <p:nvPr/>
        </p:nvSpPr>
        <p:spPr>
          <a:xfrm>
            <a:off x="8458200" y="2697480"/>
            <a:ext cx="3184855" cy="822960"/>
          </a:xfrm>
          <a:prstGeom prst="rect">
            <a:avLst/>
          </a:prstGeom>
          <a:noFill/>
          <a:ln/>
        </p:spPr>
        <p:txBody>
          <a:bodyPr wrap="square" lIns="0" tIns="0" rIns="0" bIns="0" rtlCol="0" anchor="t"/>
          <a:lstStyle/>
          <a:p>
            <a:pPr marL="0" indent="0">
              <a:buNone/>
            </a:pPr>
            <a:r>
              <a:rPr lang="en-US" sz="1250" b="1" dirty="0">
                <a:solidFill>
                  <a:srgbClr val="12263A"/>
                </a:solidFill>
                <a:latin typeface="Calibri" pitchFamily="34" charset="0"/>
                <a:ea typeface="Calibri" pitchFamily="34" charset="-122"/>
                <a:cs typeface="Calibri" pitchFamily="34" charset="-120"/>
              </a:rPr>
              <a:t>Foreign key (FK)</a:t>
            </a:r>
            <a:endParaRPr lang="en-US" sz="1250" dirty="0"/>
          </a:p>
          <a:p>
            <a:pPr marL="0" indent="0">
              <a:buNone/>
            </a:pPr>
            <a:r>
              <a:rPr lang="en-US" sz="1250" dirty="0">
                <a:solidFill>
                  <a:srgbClr val="1F2A37"/>
                </a:solidFill>
                <a:latin typeface="Calibri" pitchFamily="34" charset="0"/>
                <a:ea typeface="Calibri" pitchFamily="34" charset="-122"/>
                <a:cs typeface="Calibri" pitchFamily="34" charset="-120"/>
              </a:rPr>
              <a:t>A fact column that points to a dimension’s PK, e.g. fact_sales.product_key.</a:t>
            </a:r>
            <a:endParaRPr lang="en-US" sz="1250" dirty="0"/>
          </a:p>
        </p:txBody>
      </p:sp>
      <p:sp>
        <p:nvSpPr>
          <p:cNvPr id="22" name="Text 19"/>
          <p:cNvSpPr txBox="1"/>
          <p:nvPr/>
        </p:nvSpPr>
        <p:spPr>
          <a:xfrm>
            <a:off x="8458200" y="3566160"/>
            <a:ext cx="3184855" cy="822960"/>
          </a:xfrm>
          <a:prstGeom prst="rect">
            <a:avLst/>
          </a:prstGeom>
          <a:noFill/>
          <a:ln/>
        </p:spPr>
        <p:txBody>
          <a:bodyPr wrap="square" lIns="0" tIns="0" rIns="0" bIns="0" rtlCol="0" anchor="t"/>
          <a:lstStyle/>
          <a:p>
            <a:pPr marL="0" indent="0">
              <a:buNone/>
            </a:pPr>
            <a:r>
              <a:rPr lang="en-US" sz="1250" b="1" dirty="0">
                <a:solidFill>
                  <a:srgbClr val="12263A"/>
                </a:solidFill>
                <a:latin typeface="Calibri" pitchFamily="34" charset="0"/>
                <a:ea typeface="Calibri" pitchFamily="34" charset="-122"/>
                <a:cs typeface="Calibri" pitchFamily="34" charset="-120"/>
              </a:rPr>
              <a:t>Natural key</a:t>
            </a:r>
            <a:endParaRPr lang="en-US" sz="1250" dirty="0"/>
          </a:p>
          <a:p>
            <a:pPr marL="0" indent="0">
              <a:buNone/>
            </a:pPr>
            <a:r>
              <a:rPr lang="en-US" sz="1250" dirty="0">
                <a:solidFill>
                  <a:srgbClr val="1F2A37"/>
                </a:solidFill>
                <a:latin typeface="Calibri" pitchFamily="34" charset="0"/>
                <a:ea typeface="Calibri" pitchFamily="34" charset="-122"/>
                <a:cs typeface="Calibri" pitchFamily="34" charset="-120"/>
              </a:rPr>
              <a:t>The ID used by the source system, e.g. “P-0037”.</a:t>
            </a:r>
            <a:endParaRPr lang="en-US" sz="1250" dirty="0"/>
          </a:p>
        </p:txBody>
      </p:sp>
      <p:sp>
        <p:nvSpPr>
          <p:cNvPr id="23" name="Text 20"/>
          <p:cNvSpPr txBox="1"/>
          <p:nvPr/>
        </p:nvSpPr>
        <p:spPr>
          <a:xfrm>
            <a:off x="8458200" y="4297680"/>
            <a:ext cx="3184855" cy="1280160"/>
          </a:xfrm>
          <a:prstGeom prst="rect">
            <a:avLst/>
          </a:prstGeom>
          <a:noFill/>
          <a:ln/>
        </p:spPr>
        <p:txBody>
          <a:bodyPr wrap="square" lIns="0" tIns="0" rIns="0" bIns="0" rtlCol="0" anchor="t"/>
          <a:lstStyle/>
          <a:p>
            <a:pPr marL="0" indent="0">
              <a:buNone/>
            </a:pPr>
            <a:r>
              <a:rPr lang="en-US" sz="1250" b="1" dirty="0">
                <a:solidFill>
                  <a:srgbClr val="12263A"/>
                </a:solidFill>
                <a:latin typeface="Calibri" pitchFamily="34" charset="0"/>
                <a:ea typeface="Calibri" pitchFamily="34" charset="-122"/>
                <a:cs typeface="Calibri" pitchFamily="34" charset="-120"/>
              </a:rPr>
              <a:t>Surrogate key</a:t>
            </a:r>
            <a:endParaRPr lang="en-US" sz="1250" dirty="0"/>
          </a:p>
          <a:p>
            <a:pPr marL="0" indent="0">
              <a:buNone/>
            </a:pPr>
            <a:r>
              <a:rPr lang="en-US" sz="1250" dirty="0">
                <a:solidFill>
                  <a:srgbClr val="1F2A37"/>
                </a:solidFill>
                <a:latin typeface="Calibri" pitchFamily="34" charset="0"/>
                <a:ea typeface="Calibri" pitchFamily="34" charset="-122"/>
                <a:cs typeface="Calibri" pitchFamily="34" charset="-120"/>
              </a:rPr>
              <a:t>An integer created by the warehouse. Stable if source codes change, merges sources, allows history (SCD 2), fast joins.</a:t>
            </a:r>
            <a:endParaRPr lang="en-US" sz="1250" dirty="0"/>
          </a:p>
        </p:txBody>
      </p:sp>
      <p:sp>
        <p:nvSpPr>
          <p:cNvPr id="24" name="Shape 21"/>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25" name="Shape 22"/>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26"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27" name="Text 23"/>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Facts hold foreign keys, dimensions hold primary keys — and in a warehouse those keys are usually surrogate integers.</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DIMENSIONAL FOUNDATIONS</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Fact tables, dimension tables and grain</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3515258" cy="3840480"/>
          </a:xfrm>
          <a:prstGeom prst="roundRect">
            <a:avLst>
              <a:gd name="adj" fmla="val 2081"/>
            </a:avLst>
          </a:prstGeom>
          <a:solidFill>
            <a:srgbClr val="F3F6F9"/>
          </a:solidFill>
          <a:ln w="9525">
            <a:solidFill>
              <a:srgbClr val="F3F6F9"/>
            </a:solidFill>
            <a:prstDash val="solid"/>
          </a:ln>
        </p:spPr>
        <p:txBody>
          <a:bodyPr/>
          <a:lstStyle/>
          <a:p>
            <a:endParaRPr lang="en-US"/>
          </a:p>
        </p:txBody>
      </p:sp>
      <p:sp>
        <p:nvSpPr>
          <p:cNvPr id="9" name="Shape 6"/>
          <p:cNvSpPr/>
          <p:nvPr/>
        </p:nvSpPr>
        <p:spPr>
          <a:xfrm>
            <a:off x="731520" y="1874520"/>
            <a:ext cx="402336" cy="402336"/>
          </a:xfrm>
          <a:prstGeom prst="ellipse">
            <a:avLst/>
          </a:prstGeom>
          <a:solidFill>
            <a:srgbClr val="C8414F"/>
          </a:solidFill>
          <a:ln w="12700">
            <a:solidFill>
              <a:srgbClr val="C8414F"/>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836127" y="1979127"/>
            <a:ext cx="193121" cy="193121"/>
          </a:xfrm>
          <a:prstGeom prst="rect">
            <a:avLst/>
          </a:prstGeom>
        </p:spPr>
      </p:pic>
      <p:sp>
        <p:nvSpPr>
          <p:cNvPr id="11" name="Text 7"/>
          <p:cNvSpPr txBox="1"/>
          <p:nvPr/>
        </p:nvSpPr>
        <p:spPr>
          <a:xfrm>
            <a:off x="1261872" y="187452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Fact table</a:t>
            </a:r>
            <a:endParaRPr lang="en-US" sz="1550" dirty="0"/>
          </a:p>
        </p:txBody>
      </p:sp>
      <p:sp>
        <p:nvSpPr>
          <p:cNvPr id="12" name="Text 8"/>
          <p:cNvSpPr txBox="1"/>
          <p:nvPr/>
        </p:nvSpPr>
        <p:spPr>
          <a:xfrm>
            <a:off x="731520" y="2386584"/>
            <a:ext cx="3149498" cy="2962656"/>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Records a measurable business event (a sale, a payment, a shipment).</a:t>
            </a:r>
            <a:endParaRPr lang="en-US" sz="135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50" dirty="0"/>
          </a:p>
          <a:p>
            <a:pPr marL="0" indent="0">
              <a:spcAft>
                <a:spcPts val="400"/>
              </a:spcAft>
              <a:buNone/>
            </a:pPr>
            <a:r>
              <a:rPr lang="en-US" sz="1350" b="1" dirty="0">
                <a:solidFill>
                  <a:srgbClr val="1F2A37"/>
                </a:solidFill>
                <a:latin typeface="Calibri" pitchFamily="34" charset="0"/>
                <a:ea typeface="Calibri" pitchFamily="34" charset="-122"/>
                <a:cs typeface="Calibri" pitchFamily="34" charset="-120"/>
              </a:rPr>
              <a:t>Contains: </a:t>
            </a:r>
            <a:r>
              <a:rPr lang="en-US" sz="1350" dirty="0">
                <a:solidFill>
                  <a:srgbClr val="1F2A37"/>
                </a:solidFill>
                <a:latin typeface="Calibri" pitchFamily="34" charset="0"/>
                <a:ea typeface="Calibri" pitchFamily="34" charset="-122"/>
                <a:cs typeface="Calibri" pitchFamily="34" charset="-120"/>
              </a:rPr>
              <a:t>numeric measures + foreign keys to dimensions.</a:t>
            </a:r>
            <a:endParaRPr lang="en-US" sz="135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50" dirty="0"/>
          </a:p>
          <a:p>
            <a:pPr marL="0" indent="0">
              <a:spcAft>
                <a:spcPts val="400"/>
              </a:spcAft>
              <a:buNone/>
            </a:pPr>
            <a:r>
              <a:rPr lang="en-US" sz="1350" b="1" dirty="0">
                <a:solidFill>
                  <a:srgbClr val="1F2A37"/>
                </a:solidFill>
                <a:latin typeface="Calibri" pitchFamily="34" charset="0"/>
                <a:ea typeface="Calibri" pitchFamily="34" charset="-122"/>
                <a:cs typeface="Calibri" pitchFamily="34" charset="-120"/>
              </a:rPr>
              <a:t>Examples: </a:t>
            </a:r>
            <a:r>
              <a:rPr lang="en-US" sz="1350" i="1" dirty="0">
                <a:solidFill>
                  <a:srgbClr val="1F2A37"/>
                </a:solidFill>
                <a:latin typeface="Calibri" pitchFamily="34" charset="0"/>
                <a:ea typeface="Calibri" pitchFamily="34" charset="-122"/>
                <a:cs typeface="Calibri" pitchFamily="34" charset="-120"/>
              </a:rPr>
              <a:t>quantity, sales_amount, discount</a:t>
            </a:r>
            <a:endParaRPr lang="en-US" sz="135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50" dirty="0"/>
          </a:p>
          <a:p>
            <a:pPr marL="0" indent="0">
              <a:spcAft>
                <a:spcPts val="400"/>
              </a:spcAft>
              <a:buNone/>
            </a:pPr>
            <a:r>
              <a:rPr lang="en-US" sz="1350" b="1" dirty="0">
                <a:solidFill>
                  <a:srgbClr val="1F2A37"/>
                </a:solidFill>
                <a:latin typeface="Calibri" pitchFamily="34" charset="0"/>
                <a:ea typeface="Calibri" pitchFamily="34" charset="-122"/>
                <a:cs typeface="Calibri" pitchFamily="34" charset="-120"/>
              </a:rPr>
              <a:t>Shape: </a:t>
            </a:r>
            <a:r>
              <a:rPr lang="en-US" sz="1350" dirty="0">
                <a:solidFill>
                  <a:srgbClr val="1F2A37"/>
                </a:solidFill>
                <a:latin typeface="Calibri" pitchFamily="34" charset="0"/>
                <a:ea typeface="Calibri" pitchFamily="34" charset="-122"/>
                <a:cs typeface="Calibri" pitchFamily="34" charset="-120"/>
              </a:rPr>
              <a:t>long and narrow — millions of rows.</a:t>
            </a:r>
            <a:endParaRPr lang="en-US" sz="1350" dirty="0"/>
          </a:p>
        </p:txBody>
      </p:sp>
      <p:sp>
        <p:nvSpPr>
          <p:cNvPr id="13" name="Shape 9"/>
          <p:cNvSpPr/>
          <p:nvPr/>
        </p:nvSpPr>
        <p:spPr>
          <a:xfrm>
            <a:off x="4338218" y="1691640"/>
            <a:ext cx="3515258" cy="3840480"/>
          </a:xfrm>
          <a:prstGeom prst="roundRect">
            <a:avLst>
              <a:gd name="adj" fmla="val 2081"/>
            </a:avLst>
          </a:prstGeom>
          <a:solidFill>
            <a:srgbClr val="F3F6F9"/>
          </a:solidFill>
          <a:ln w="9525">
            <a:solidFill>
              <a:srgbClr val="F3F6F9"/>
            </a:solidFill>
            <a:prstDash val="solid"/>
          </a:ln>
        </p:spPr>
        <p:txBody>
          <a:bodyPr/>
          <a:lstStyle/>
          <a:p>
            <a:endParaRPr lang="en-US"/>
          </a:p>
        </p:txBody>
      </p:sp>
      <p:sp>
        <p:nvSpPr>
          <p:cNvPr id="14" name="Shape 10"/>
          <p:cNvSpPr/>
          <p:nvPr/>
        </p:nvSpPr>
        <p:spPr>
          <a:xfrm>
            <a:off x="4521098" y="1874520"/>
            <a:ext cx="402336" cy="402336"/>
          </a:xfrm>
          <a:prstGeom prst="ellipse">
            <a:avLst/>
          </a:prstGeom>
          <a:solidFill>
            <a:srgbClr val="2F6DB5"/>
          </a:solidFill>
          <a:ln w="12700">
            <a:solidFill>
              <a:srgbClr val="2F6DB5"/>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625706" y="1979127"/>
            <a:ext cx="193121" cy="193121"/>
          </a:xfrm>
          <a:prstGeom prst="rect">
            <a:avLst/>
          </a:prstGeom>
        </p:spPr>
      </p:pic>
      <p:sp>
        <p:nvSpPr>
          <p:cNvPr id="16" name="Text 11"/>
          <p:cNvSpPr txBox="1"/>
          <p:nvPr/>
        </p:nvSpPr>
        <p:spPr>
          <a:xfrm>
            <a:off x="5051450" y="187452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Dimension tables</a:t>
            </a:r>
            <a:endParaRPr lang="en-US" sz="1550" dirty="0"/>
          </a:p>
        </p:txBody>
      </p:sp>
      <p:sp>
        <p:nvSpPr>
          <p:cNvPr id="17" name="Text 12"/>
          <p:cNvSpPr txBox="1"/>
          <p:nvPr/>
        </p:nvSpPr>
        <p:spPr>
          <a:xfrm>
            <a:off x="4521098" y="2386584"/>
            <a:ext cx="3149498" cy="2962656"/>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Describe the context of each event: who, what, where, when.</a:t>
            </a:r>
            <a:endParaRPr lang="en-US" sz="135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50" dirty="0"/>
          </a:p>
          <a:p>
            <a:pPr marL="0" indent="0">
              <a:spcAft>
                <a:spcPts val="400"/>
              </a:spcAft>
              <a:buNone/>
            </a:pPr>
            <a:r>
              <a:rPr lang="en-US" sz="1350" b="1" dirty="0">
                <a:solidFill>
                  <a:srgbClr val="1F2A37"/>
                </a:solidFill>
                <a:latin typeface="Calibri" pitchFamily="34" charset="0"/>
                <a:ea typeface="Calibri" pitchFamily="34" charset="-122"/>
                <a:cs typeface="Calibri" pitchFamily="34" charset="-120"/>
              </a:rPr>
              <a:t>Used to: </a:t>
            </a:r>
            <a:r>
              <a:rPr lang="en-US" sz="1350" dirty="0">
                <a:solidFill>
                  <a:srgbClr val="1F2A37"/>
                </a:solidFill>
                <a:latin typeface="Calibri" pitchFamily="34" charset="0"/>
                <a:ea typeface="Calibri" pitchFamily="34" charset="-122"/>
                <a:cs typeface="Calibri" pitchFamily="34" charset="-120"/>
              </a:rPr>
              <a:t>filter, group, label and slice the measures.</a:t>
            </a:r>
            <a:endParaRPr lang="en-US" sz="135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50" dirty="0"/>
          </a:p>
          <a:p>
            <a:pPr marL="0" indent="0">
              <a:spcAft>
                <a:spcPts val="400"/>
              </a:spcAft>
              <a:buNone/>
            </a:pPr>
            <a:r>
              <a:rPr lang="en-US" sz="1350" b="1" dirty="0">
                <a:solidFill>
                  <a:srgbClr val="1F2A37"/>
                </a:solidFill>
                <a:latin typeface="Calibri" pitchFamily="34" charset="0"/>
                <a:ea typeface="Calibri" pitchFamily="34" charset="-122"/>
                <a:cs typeface="Calibri" pitchFamily="34" charset="-120"/>
              </a:rPr>
              <a:t>Examples: </a:t>
            </a:r>
            <a:r>
              <a:rPr lang="en-US" sz="1350" i="1" dirty="0">
                <a:solidFill>
                  <a:srgbClr val="1F2A37"/>
                </a:solidFill>
                <a:latin typeface="Calibri" pitchFamily="34" charset="0"/>
                <a:ea typeface="Calibri" pitchFamily="34" charset="-122"/>
                <a:cs typeface="Calibri" pitchFamily="34" charset="-120"/>
              </a:rPr>
              <a:t>dim_date, dim_product, dim_customer, dim_store</a:t>
            </a:r>
            <a:endParaRPr lang="en-US" sz="135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50" dirty="0"/>
          </a:p>
          <a:p>
            <a:pPr marL="0" indent="0">
              <a:spcAft>
                <a:spcPts val="400"/>
              </a:spcAft>
              <a:buNone/>
            </a:pPr>
            <a:r>
              <a:rPr lang="en-US" sz="1350" b="1" dirty="0">
                <a:solidFill>
                  <a:srgbClr val="1F2A37"/>
                </a:solidFill>
                <a:latin typeface="Calibri" pitchFamily="34" charset="0"/>
                <a:ea typeface="Calibri" pitchFamily="34" charset="-122"/>
                <a:cs typeface="Calibri" pitchFamily="34" charset="-120"/>
              </a:rPr>
              <a:t>Shape: </a:t>
            </a:r>
            <a:r>
              <a:rPr lang="en-US" sz="1350" dirty="0">
                <a:solidFill>
                  <a:srgbClr val="1F2A37"/>
                </a:solidFill>
                <a:latin typeface="Calibri" pitchFamily="34" charset="0"/>
                <a:ea typeface="Calibri" pitchFamily="34" charset="-122"/>
                <a:cs typeface="Calibri" pitchFamily="34" charset="-120"/>
              </a:rPr>
              <a:t>short and wide — many descriptive columns.</a:t>
            </a:r>
            <a:endParaRPr lang="en-US" sz="1350" dirty="0"/>
          </a:p>
        </p:txBody>
      </p:sp>
      <p:sp>
        <p:nvSpPr>
          <p:cNvPr id="18" name="Shape 13"/>
          <p:cNvSpPr/>
          <p:nvPr/>
        </p:nvSpPr>
        <p:spPr>
          <a:xfrm>
            <a:off x="8127797" y="1691640"/>
            <a:ext cx="3515258" cy="3840480"/>
          </a:xfrm>
          <a:prstGeom prst="roundRect">
            <a:avLst>
              <a:gd name="adj" fmla="val 2081"/>
            </a:avLst>
          </a:prstGeom>
          <a:solidFill>
            <a:srgbClr val="FCF0DC"/>
          </a:solidFill>
          <a:ln w="9525">
            <a:solidFill>
              <a:srgbClr val="FCF0DC"/>
            </a:solidFill>
            <a:prstDash val="solid"/>
          </a:ln>
        </p:spPr>
        <p:txBody>
          <a:bodyPr/>
          <a:lstStyle/>
          <a:p>
            <a:endParaRPr lang="en-US"/>
          </a:p>
        </p:txBody>
      </p:sp>
      <p:sp>
        <p:nvSpPr>
          <p:cNvPr id="19" name="Shape 14"/>
          <p:cNvSpPr/>
          <p:nvPr/>
        </p:nvSpPr>
        <p:spPr>
          <a:xfrm>
            <a:off x="8310677" y="1874520"/>
            <a:ext cx="402336" cy="402336"/>
          </a:xfrm>
          <a:prstGeom prst="ellipse">
            <a:avLst/>
          </a:prstGeom>
          <a:solidFill>
            <a:srgbClr val="E89B2D"/>
          </a:solidFill>
          <a:ln w="12700">
            <a:solidFill>
              <a:srgbClr val="E89B2D"/>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415284" y="1979127"/>
            <a:ext cx="193121" cy="193121"/>
          </a:xfrm>
          <a:prstGeom prst="rect">
            <a:avLst/>
          </a:prstGeom>
        </p:spPr>
      </p:pic>
      <p:sp>
        <p:nvSpPr>
          <p:cNvPr id="21" name="Text 15"/>
          <p:cNvSpPr txBox="1"/>
          <p:nvPr/>
        </p:nvSpPr>
        <p:spPr>
          <a:xfrm>
            <a:off x="8841029" y="187452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Grain</a:t>
            </a:r>
            <a:endParaRPr lang="en-US" sz="1550" dirty="0"/>
          </a:p>
        </p:txBody>
      </p:sp>
      <p:sp>
        <p:nvSpPr>
          <p:cNvPr id="22" name="Text 16"/>
          <p:cNvSpPr txBox="1"/>
          <p:nvPr/>
        </p:nvSpPr>
        <p:spPr>
          <a:xfrm>
            <a:off x="8310677" y="2386584"/>
            <a:ext cx="3149498" cy="2962656"/>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States exactly what ONE fact row represents.</a:t>
            </a:r>
            <a:endParaRPr lang="en-US" sz="135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50" dirty="0"/>
          </a:p>
          <a:p>
            <a:pPr marL="0" indent="0">
              <a:spcAft>
                <a:spcPts val="400"/>
              </a:spcAft>
              <a:buNone/>
            </a:pPr>
            <a:r>
              <a:rPr lang="en-US" sz="1350" b="1" dirty="0">
                <a:solidFill>
                  <a:srgbClr val="1F2A37"/>
                </a:solidFill>
                <a:latin typeface="Calibri" pitchFamily="34" charset="0"/>
                <a:ea typeface="Calibri" pitchFamily="34" charset="-122"/>
                <a:cs typeface="Calibri" pitchFamily="34" charset="-120"/>
              </a:rPr>
              <a:t>Example: </a:t>
            </a:r>
            <a:r>
              <a:rPr lang="en-US" sz="1350" i="1" dirty="0">
                <a:solidFill>
                  <a:srgbClr val="1F2A37"/>
                </a:solidFill>
                <a:latin typeface="Calibri" pitchFamily="34" charset="0"/>
                <a:ea typeface="Calibri" pitchFamily="34" charset="-122"/>
                <a:cs typeface="Calibri" pitchFamily="34" charset="-120"/>
              </a:rPr>
              <a:t>“one product line within one customer order”.</a:t>
            </a:r>
            <a:endParaRPr lang="en-US" sz="135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50" dirty="0"/>
          </a:p>
          <a:p>
            <a:pPr marL="0" indent="0">
              <a:spcAft>
                <a:spcPts val="400"/>
              </a:spcAft>
              <a:buNone/>
            </a:pPr>
            <a:r>
              <a:rPr lang="en-US" sz="1350" b="1" dirty="0">
                <a:solidFill>
                  <a:srgbClr val="1F2A37"/>
                </a:solidFill>
                <a:latin typeface="Calibri" pitchFamily="34" charset="0"/>
                <a:ea typeface="Calibri" pitchFamily="34" charset="-122"/>
                <a:cs typeface="Calibri" pitchFamily="34" charset="-120"/>
              </a:rPr>
              <a:t>Why it matters: </a:t>
            </a:r>
            <a:r>
              <a:rPr lang="en-US" sz="1350" dirty="0">
                <a:solidFill>
                  <a:srgbClr val="1F2A37"/>
                </a:solidFill>
                <a:latin typeface="Calibri" pitchFamily="34" charset="0"/>
                <a:ea typeface="Calibri" pitchFamily="34" charset="-122"/>
                <a:cs typeface="Calibri" pitchFamily="34" charset="-120"/>
              </a:rPr>
              <a:t>every measure and dimension must be true at this level. Mixing grains causes double counting and unreliable models.</a:t>
            </a:r>
            <a:endParaRPr lang="en-US" sz="1350" dirty="0"/>
          </a:p>
        </p:txBody>
      </p:sp>
      <p:sp>
        <p:nvSpPr>
          <p:cNvPr id="23" name="Shape 17"/>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24" name="Shape 18"/>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790042" y="5956402"/>
            <a:ext cx="175565" cy="175565"/>
          </a:xfrm>
          <a:prstGeom prst="rect">
            <a:avLst/>
          </a:prstGeom>
        </p:spPr>
      </p:pic>
      <p:sp>
        <p:nvSpPr>
          <p:cNvPr id="26" name="Text 19"/>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Measures live in facts; meaning lives in dimensions; the grain says what one fact row means.</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DESIGN METHOD</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Four steps to design a star schema (Kimball method)</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Text 5"/>
          <p:cNvSpPr txBox="1"/>
          <p:nvPr/>
        </p:nvSpPr>
        <p:spPr>
          <a:xfrm>
            <a:off x="1234440" y="1645920"/>
            <a:ext cx="4572000" cy="274320"/>
          </a:xfrm>
          <a:prstGeom prst="rect">
            <a:avLst/>
          </a:prstGeom>
          <a:noFill/>
          <a:ln/>
        </p:spPr>
        <p:txBody>
          <a:bodyPr wrap="square" lIns="0" tIns="0" rIns="0" bIns="0" rtlCol="0" anchor="t"/>
          <a:lstStyle/>
          <a:p>
            <a:pPr marL="0" indent="0">
              <a:buNone/>
            </a:pPr>
            <a:r>
              <a:rPr lang="en-US" sz="1200" b="1" dirty="0">
                <a:solidFill>
                  <a:srgbClr val="5B6B7B"/>
                </a:solidFill>
                <a:latin typeface="Calibri" pitchFamily="34" charset="0"/>
                <a:ea typeface="Calibri" pitchFamily="34" charset="-122"/>
                <a:cs typeface="Calibri" pitchFamily="34" charset="-120"/>
              </a:rPr>
              <a:t>Step</a:t>
            </a:r>
            <a:endParaRPr lang="en-US" sz="1200" dirty="0"/>
          </a:p>
        </p:txBody>
      </p:sp>
      <p:sp>
        <p:nvSpPr>
          <p:cNvPr id="9" name="Text 6"/>
          <p:cNvSpPr txBox="1"/>
          <p:nvPr/>
        </p:nvSpPr>
        <p:spPr>
          <a:xfrm>
            <a:off x="7498080" y="1645920"/>
            <a:ext cx="3657600" cy="274320"/>
          </a:xfrm>
          <a:prstGeom prst="rect">
            <a:avLst/>
          </a:prstGeom>
          <a:noFill/>
          <a:ln/>
        </p:spPr>
        <p:txBody>
          <a:bodyPr wrap="square" lIns="0" tIns="0" rIns="0" bIns="0" rtlCol="0" anchor="t"/>
          <a:lstStyle/>
          <a:p>
            <a:pPr marL="0" indent="0">
              <a:buNone/>
            </a:pPr>
            <a:r>
              <a:rPr lang="en-US" sz="1200" b="1" dirty="0">
                <a:solidFill>
                  <a:srgbClr val="5B6B7B"/>
                </a:solidFill>
                <a:latin typeface="Calibri" pitchFamily="34" charset="0"/>
                <a:ea typeface="Calibri" pitchFamily="34" charset="-122"/>
                <a:cs typeface="Calibri" pitchFamily="34" charset="-120"/>
              </a:rPr>
              <a:t>SmartRetail answer</a:t>
            </a:r>
            <a:endParaRPr lang="en-US" sz="1200" dirty="0"/>
          </a:p>
        </p:txBody>
      </p:sp>
      <p:sp>
        <p:nvSpPr>
          <p:cNvPr id="10" name="Shape 7"/>
          <p:cNvSpPr/>
          <p:nvPr/>
        </p:nvSpPr>
        <p:spPr>
          <a:xfrm>
            <a:off x="548640" y="2075688"/>
            <a:ext cx="512064" cy="512064"/>
          </a:xfrm>
          <a:prstGeom prst="ellipse">
            <a:avLst/>
          </a:prstGeom>
          <a:solidFill>
            <a:srgbClr val="0E7C7B"/>
          </a:solidFill>
          <a:ln w="12700">
            <a:solidFill>
              <a:srgbClr val="0E7C7B"/>
            </a:solidFill>
            <a:prstDash val="solid"/>
          </a:ln>
        </p:spPr>
        <p:txBody>
          <a:bodyPr/>
          <a:lstStyle/>
          <a:p>
            <a:endParaRPr lang="en-US"/>
          </a:p>
        </p:txBody>
      </p:sp>
      <p:sp>
        <p:nvSpPr>
          <p:cNvPr id="11" name="Text 8"/>
          <p:cNvSpPr txBox="1"/>
          <p:nvPr/>
        </p:nvSpPr>
        <p:spPr>
          <a:xfrm>
            <a:off x="548640" y="207568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hape 9"/>
          <p:cNvSpPr/>
          <p:nvPr/>
        </p:nvSpPr>
        <p:spPr>
          <a:xfrm>
            <a:off x="1234440" y="1965960"/>
            <a:ext cx="5989320" cy="749808"/>
          </a:xfrm>
          <a:prstGeom prst="roundRect">
            <a:avLst>
              <a:gd name="adj" fmla="val 9756"/>
            </a:avLst>
          </a:prstGeom>
          <a:solidFill>
            <a:srgbClr val="F3F6F9"/>
          </a:solidFill>
          <a:ln w="9525">
            <a:solidFill>
              <a:srgbClr val="F3F6F9"/>
            </a:solidFill>
            <a:prstDash val="solid"/>
          </a:ln>
        </p:spPr>
        <p:txBody>
          <a:bodyPr/>
          <a:lstStyle/>
          <a:p>
            <a:endParaRPr lang="en-US"/>
          </a:p>
        </p:txBody>
      </p:sp>
      <p:sp>
        <p:nvSpPr>
          <p:cNvPr id="13" name="Text 10"/>
          <p:cNvSpPr txBox="1"/>
          <p:nvPr/>
        </p:nvSpPr>
        <p:spPr>
          <a:xfrm>
            <a:off x="1417320" y="1965960"/>
            <a:ext cx="5669280" cy="749808"/>
          </a:xfrm>
          <a:prstGeom prst="rect">
            <a:avLst/>
          </a:prstGeom>
          <a:noFill/>
          <a:ln/>
        </p:spPr>
        <p:txBody>
          <a:bodyPr wrap="square" lIns="0" tIns="0" rIns="0" bIns="0" rtlCol="0" anchor="ctr"/>
          <a:lstStyle/>
          <a:p>
            <a:pPr marL="0" indent="0">
              <a:buNone/>
            </a:pPr>
            <a:r>
              <a:rPr lang="en-US" sz="1500" b="1" dirty="0">
                <a:solidFill>
                  <a:srgbClr val="12263A"/>
                </a:solidFill>
                <a:latin typeface="Calibri" pitchFamily="34" charset="0"/>
                <a:ea typeface="Calibri" pitchFamily="34" charset="-122"/>
                <a:cs typeface="Calibri" pitchFamily="34" charset="-120"/>
              </a:rPr>
              <a:t>Choose the business process</a:t>
            </a:r>
            <a:endParaRPr lang="en-US" sz="1250" dirty="0"/>
          </a:p>
          <a:p>
            <a:pPr marL="0" indent="0">
              <a:buNone/>
            </a:pPr>
            <a:r>
              <a:rPr lang="en-US" sz="1250" dirty="0">
                <a:solidFill>
                  <a:srgbClr val="5B6B7B"/>
                </a:solidFill>
                <a:latin typeface="Calibri" pitchFamily="34" charset="0"/>
                <a:ea typeface="Calibri" pitchFamily="34" charset="-122"/>
                <a:cs typeface="Calibri" pitchFamily="34" charset="-120"/>
              </a:rPr>
              <a:t>Which event do we measure?</a:t>
            </a:r>
            <a:endParaRPr lang="en-US" sz="1250" dirty="0"/>
          </a:p>
        </p:txBody>
      </p:sp>
      <p:sp>
        <p:nvSpPr>
          <p:cNvPr id="14" name="Shape 11"/>
          <p:cNvSpPr/>
          <p:nvPr/>
        </p:nvSpPr>
        <p:spPr>
          <a:xfrm>
            <a:off x="7269480" y="2340864"/>
            <a:ext cx="182880" cy="914"/>
          </a:xfrm>
          <a:prstGeom prst="line">
            <a:avLst/>
          </a:prstGeom>
          <a:noFill/>
          <a:ln w="19050">
            <a:solidFill>
              <a:srgbClr val="5B6B7B"/>
            </a:solidFill>
            <a:prstDash val="solid"/>
            <a:tailEnd type="triangle"/>
          </a:ln>
        </p:spPr>
        <p:txBody>
          <a:bodyPr/>
          <a:lstStyle/>
          <a:p>
            <a:endParaRPr lang="en-US"/>
          </a:p>
        </p:txBody>
      </p:sp>
      <p:sp>
        <p:nvSpPr>
          <p:cNvPr id="15" name="Shape 12"/>
          <p:cNvSpPr/>
          <p:nvPr/>
        </p:nvSpPr>
        <p:spPr>
          <a:xfrm>
            <a:off x="7498080" y="1965960"/>
            <a:ext cx="4144975" cy="749808"/>
          </a:xfrm>
          <a:prstGeom prst="roundRect">
            <a:avLst>
              <a:gd name="adj" fmla="val 9756"/>
            </a:avLst>
          </a:prstGeom>
          <a:solidFill>
            <a:srgbClr val="E2F1F0"/>
          </a:solidFill>
          <a:ln w="9525">
            <a:solidFill>
              <a:srgbClr val="E2F1F0"/>
            </a:solidFill>
            <a:prstDash val="solid"/>
          </a:ln>
        </p:spPr>
        <p:txBody>
          <a:bodyPr/>
          <a:lstStyle/>
          <a:p>
            <a:endParaRPr lang="en-US"/>
          </a:p>
        </p:txBody>
      </p:sp>
      <p:sp>
        <p:nvSpPr>
          <p:cNvPr id="16" name="Text 13"/>
          <p:cNvSpPr txBox="1"/>
          <p:nvPr/>
        </p:nvSpPr>
        <p:spPr>
          <a:xfrm>
            <a:off x="7680960" y="1965960"/>
            <a:ext cx="3779215" cy="749808"/>
          </a:xfrm>
          <a:prstGeom prst="rect">
            <a:avLst/>
          </a:prstGeom>
          <a:noFill/>
          <a:ln/>
        </p:spPr>
        <p:txBody>
          <a:bodyPr wrap="square" lIns="0" tIns="0" rIns="0" bIns="0"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Retail sales at the checkout / web shop</a:t>
            </a:r>
            <a:endParaRPr lang="en-US" sz="1400" dirty="0"/>
          </a:p>
        </p:txBody>
      </p:sp>
      <p:sp>
        <p:nvSpPr>
          <p:cNvPr id="17" name="Shape 14"/>
          <p:cNvSpPr/>
          <p:nvPr/>
        </p:nvSpPr>
        <p:spPr>
          <a:xfrm>
            <a:off x="548640" y="2990088"/>
            <a:ext cx="512064" cy="512064"/>
          </a:xfrm>
          <a:prstGeom prst="ellipse">
            <a:avLst/>
          </a:prstGeom>
          <a:solidFill>
            <a:srgbClr val="0E7C7B"/>
          </a:solidFill>
          <a:ln w="12700">
            <a:solidFill>
              <a:srgbClr val="0E7C7B"/>
            </a:solidFill>
            <a:prstDash val="solid"/>
          </a:ln>
        </p:spPr>
        <p:txBody>
          <a:bodyPr/>
          <a:lstStyle/>
          <a:p>
            <a:endParaRPr lang="en-US"/>
          </a:p>
        </p:txBody>
      </p:sp>
      <p:sp>
        <p:nvSpPr>
          <p:cNvPr id="18" name="Text 15"/>
          <p:cNvSpPr txBox="1"/>
          <p:nvPr/>
        </p:nvSpPr>
        <p:spPr>
          <a:xfrm>
            <a:off x="548640" y="299008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9" name="Shape 16"/>
          <p:cNvSpPr/>
          <p:nvPr/>
        </p:nvSpPr>
        <p:spPr>
          <a:xfrm>
            <a:off x="1234440" y="2880360"/>
            <a:ext cx="5989320" cy="749808"/>
          </a:xfrm>
          <a:prstGeom prst="roundRect">
            <a:avLst>
              <a:gd name="adj" fmla="val 9756"/>
            </a:avLst>
          </a:prstGeom>
          <a:solidFill>
            <a:srgbClr val="F3F6F9"/>
          </a:solidFill>
          <a:ln w="9525">
            <a:solidFill>
              <a:srgbClr val="F3F6F9"/>
            </a:solidFill>
            <a:prstDash val="solid"/>
          </a:ln>
        </p:spPr>
        <p:txBody>
          <a:bodyPr/>
          <a:lstStyle/>
          <a:p>
            <a:endParaRPr lang="en-US"/>
          </a:p>
        </p:txBody>
      </p:sp>
      <p:sp>
        <p:nvSpPr>
          <p:cNvPr id="20" name="Text 17"/>
          <p:cNvSpPr txBox="1"/>
          <p:nvPr/>
        </p:nvSpPr>
        <p:spPr>
          <a:xfrm>
            <a:off x="1417320" y="2880360"/>
            <a:ext cx="5669280" cy="749808"/>
          </a:xfrm>
          <a:prstGeom prst="rect">
            <a:avLst/>
          </a:prstGeom>
          <a:noFill/>
          <a:ln/>
        </p:spPr>
        <p:txBody>
          <a:bodyPr wrap="square" lIns="0" tIns="0" rIns="0" bIns="0" rtlCol="0" anchor="ctr"/>
          <a:lstStyle/>
          <a:p>
            <a:pPr marL="0" indent="0">
              <a:buNone/>
            </a:pPr>
            <a:r>
              <a:rPr lang="en-US" sz="1500" b="1" dirty="0">
                <a:solidFill>
                  <a:srgbClr val="12263A"/>
                </a:solidFill>
                <a:latin typeface="Calibri" pitchFamily="34" charset="0"/>
                <a:ea typeface="Calibri" pitchFamily="34" charset="-122"/>
                <a:cs typeface="Calibri" pitchFamily="34" charset="-120"/>
              </a:rPr>
              <a:t>Declare the grain</a:t>
            </a:r>
            <a:endParaRPr lang="en-US" sz="1250" dirty="0"/>
          </a:p>
          <a:p>
            <a:pPr marL="0" indent="0">
              <a:buNone/>
            </a:pPr>
            <a:r>
              <a:rPr lang="en-US" sz="1250" dirty="0">
                <a:solidFill>
                  <a:srgbClr val="5B6B7B"/>
                </a:solidFill>
                <a:latin typeface="Calibri" pitchFamily="34" charset="0"/>
                <a:ea typeface="Calibri" pitchFamily="34" charset="-122"/>
                <a:cs typeface="Calibri" pitchFamily="34" charset="-120"/>
              </a:rPr>
              <a:t>What does one fact row mean?</a:t>
            </a:r>
            <a:endParaRPr lang="en-US" sz="1250" dirty="0"/>
          </a:p>
        </p:txBody>
      </p:sp>
      <p:sp>
        <p:nvSpPr>
          <p:cNvPr id="21" name="Shape 18"/>
          <p:cNvSpPr/>
          <p:nvPr/>
        </p:nvSpPr>
        <p:spPr>
          <a:xfrm>
            <a:off x="7269480" y="3255264"/>
            <a:ext cx="182880" cy="914"/>
          </a:xfrm>
          <a:prstGeom prst="line">
            <a:avLst/>
          </a:prstGeom>
          <a:noFill/>
          <a:ln w="19050">
            <a:solidFill>
              <a:srgbClr val="5B6B7B"/>
            </a:solidFill>
            <a:prstDash val="solid"/>
            <a:tailEnd type="triangle"/>
          </a:ln>
        </p:spPr>
        <p:txBody>
          <a:bodyPr/>
          <a:lstStyle/>
          <a:p>
            <a:endParaRPr lang="en-US"/>
          </a:p>
        </p:txBody>
      </p:sp>
      <p:sp>
        <p:nvSpPr>
          <p:cNvPr id="22" name="Shape 19"/>
          <p:cNvSpPr/>
          <p:nvPr/>
        </p:nvSpPr>
        <p:spPr>
          <a:xfrm>
            <a:off x="7498080" y="2880360"/>
            <a:ext cx="4144975" cy="749808"/>
          </a:xfrm>
          <a:prstGeom prst="roundRect">
            <a:avLst>
              <a:gd name="adj" fmla="val 9756"/>
            </a:avLst>
          </a:prstGeom>
          <a:solidFill>
            <a:srgbClr val="E2F1F0"/>
          </a:solidFill>
          <a:ln w="9525">
            <a:solidFill>
              <a:srgbClr val="E2F1F0"/>
            </a:solidFill>
            <a:prstDash val="solid"/>
          </a:ln>
        </p:spPr>
        <p:txBody>
          <a:bodyPr/>
          <a:lstStyle/>
          <a:p>
            <a:endParaRPr lang="en-US"/>
          </a:p>
        </p:txBody>
      </p:sp>
      <p:sp>
        <p:nvSpPr>
          <p:cNvPr id="23" name="Text 20"/>
          <p:cNvSpPr txBox="1"/>
          <p:nvPr/>
        </p:nvSpPr>
        <p:spPr>
          <a:xfrm>
            <a:off x="7680960" y="2880360"/>
            <a:ext cx="3779215" cy="749808"/>
          </a:xfrm>
          <a:prstGeom prst="rect">
            <a:avLst/>
          </a:prstGeom>
          <a:noFill/>
          <a:ln/>
        </p:spPr>
        <p:txBody>
          <a:bodyPr wrap="square" lIns="0" tIns="0" rIns="0" bIns="0"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One product line on one customer order</a:t>
            </a:r>
            <a:endParaRPr lang="en-US" sz="1400" dirty="0"/>
          </a:p>
        </p:txBody>
      </p:sp>
      <p:sp>
        <p:nvSpPr>
          <p:cNvPr id="24" name="Shape 21"/>
          <p:cNvSpPr/>
          <p:nvPr/>
        </p:nvSpPr>
        <p:spPr>
          <a:xfrm>
            <a:off x="548640" y="3904488"/>
            <a:ext cx="512064" cy="512064"/>
          </a:xfrm>
          <a:prstGeom prst="ellipse">
            <a:avLst/>
          </a:prstGeom>
          <a:solidFill>
            <a:srgbClr val="0E7C7B"/>
          </a:solidFill>
          <a:ln w="12700">
            <a:solidFill>
              <a:srgbClr val="0E7C7B"/>
            </a:solidFill>
            <a:prstDash val="solid"/>
          </a:ln>
        </p:spPr>
        <p:txBody>
          <a:bodyPr/>
          <a:lstStyle/>
          <a:p>
            <a:endParaRPr lang="en-US"/>
          </a:p>
        </p:txBody>
      </p:sp>
      <p:sp>
        <p:nvSpPr>
          <p:cNvPr id="25" name="Text 22"/>
          <p:cNvSpPr txBox="1"/>
          <p:nvPr/>
        </p:nvSpPr>
        <p:spPr>
          <a:xfrm>
            <a:off x="548640" y="390448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6" name="Shape 23"/>
          <p:cNvSpPr/>
          <p:nvPr/>
        </p:nvSpPr>
        <p:spPr>
          <a:xfrm>
            <a:off x="1234440" y="3794760"/>
            <a:ext cx="5989320" cy="749808"/>
          </a:xfrm>
          <a:prstGeom prst="roundRect">
            <a:avLst>
              <a:gd name="adj" fmla="val 9756"/>
            </a:avLst>
          </a:prstGeom>
          <a:solidFill>
            <a:srgbClr val="F3F6F9"/>
          </a:solidFill>
          <a:ln w="9525">
            <a:solidFill>
              <a:srgbClr val="F3F6F9"/>
            </a:solidFill>
            <a:prstDash val="solid"/>
          </a:ln>
        </p:spPr>
        <p:txBody>
          <a:bodyPr/>
          <a:lstStyle/>
          <a:p>
            <a:endParaRPr lang="en-US"/>
          </a:p>
        </p:txBody>
      </p:sp>
      <p:sp>
        <p:nvSpPr>
          <p:cNvPr id="27" name="Text 24"/>
          <p:cNvSpPr txBox="1"/>
          <p:nvPr/>
        </p:nvSpPr>
        <p:spPr>
          <a:xfrm>
            <a:off x="1417320" y="3794760"/>
            <a:ext cx="5669280" cy="749808"/>
          </a:xfrm>
          <a:prstGeom prst="rect">
            <a:avLst/>
          </a:prstGeom>
          <a:noFill/>
          <a:ln/>
        </p:spPr>
        <p:txBody>
          <a:bodyPr wrap="square" lIns="0" tIns="0" rIns="0" bIns="0" rtlCol="0" anchor="ctr"/>
          <a:lstStyle/>
          <a:p>
            <a:pPr marL="0" indent="0">
              <a:buNone/>
            </a:pPr>
            <a:r>
              <a:rPr lang="en-US" sz="1500" b="1" dirty="0">
                <a:solidFill>
                  <a:srgbClr val="12263A"/>
                </a:solidFill>
                <a:latin typeface="Calibri" pitchFamily="34" charset="0"/>
                <a:ea typeface="Calibri" pitchFamily="34" charset="-122"/>
                <a:cs typeface="Calibri" pitchFamily="34" charset="-120"/>
              </a:rPr>
              <a:t>Identify the dimensions</a:t>
            </a:r>
            <a:endParaRPr lang="en-US" sz="1250" dirty="0"/>
          </a:p>
          <a:p>
            <a:pPr marL="0" indent="0">
              <a:buNone/>
            </a:pPr>
            <a:r>
              <a:rPr lang="en-US" sz="1250" dirty="0">
                <a:solidFill>
                  <a:srgbClr val="5B6B7B"/>
                </a:solidFill>
                <a:latin typeface="Calibri" pitchFamily="34" charset="0"/>
                <a:ea typeface="Calibri" pitchFamily="34" charset="-122"/>
                <a:cs typeface="Calibri" pitchFamily="34" charset="-120"/>
              </a:rPr>
              <a:t>How will people describe and filter the facts?</a:t>
            </a:r>
            <a:endParaRPr lang="en-US" sz="1250" dirty="0"/>
          </a:p>
        </p:txBody>
      </p:sp>
      <p:sp>
        <p:nvSpPr>
          <p:cNvPr id="28" name="Shape 25"/>
          <p:cNvSpPr/>
          <p:nvPr/>
        </p:nvSpPr>
        <p:spPr>
          <a:xfrm>
            <a:off x="7269480" y="4169664"/>
            <a:ext cx="182880" cy="914"/>
          </a:xfrm>
          <a:prstGeom prst="line">
            <a:avLst/>
          </a:prstGeom>
          <a:noFill/>
          <a:ln w="19050">
            <a:solidFill>
              <a:srgbClr val="5B6B7B"/>
            </a:solidFill>
            <a:prstDash val="solid"/>
            <a:tailEnd type="triangle"/>
          </a:ln>
        </p:spPr>
        <p:txBody>
          <a:bodyPr/>
          <a:lstStyle/>
          <a:p>
            <a:endParaRPr lang="en-US"/>
          </a:p>
        </p:txBody>
      </p:sp>
      <p:sp>
        <p:nvSpPr>
          <p:cNvPr id="29" name="Shape 26"/>
          <p:cNvSpPr/>
          <p:nvPr/>
        </p:nvSpPr>
        <p:spPr>
          <a:xfrm>
            <a:off x="7498080" y="3794760"/>
            <a:ext cx="4144975" cy="749808"/>
          </a:xfrm>
          <a:prstGeom prst="roundRect">
            <a:avLst>
              <a:gd name="adj" fmla="val 9756"/>
            </a:avLst>
          </a:prstGeom>
          <a:solidFill>
            <a:srgbClr val="E2F1F0"/>
          </a:solidFill>
          <a:ln w="9525">
            <a:solidFill>
              <a:srgbClr val="E2F1F0"/>
            </a:solidFill>
            <a:prstDash val="solid"/>
          </a:ln>
        </p:spPr>
        <p:txBody>
          <a:bodyPr/>
          <a:lstStyle/>
          <a:p>
            <a:endParaRPr lang="en-US"/>
          </a:p>
        </p:txBody>
      </p:sp>
      <p:sp>
        <p:nvSpPr>
          <p:cNvPr id="30" name="Text 27"/>
          <p:cNvSpPr txBox="1"/>
          <p:nvPr/>
        </p:nvSpPr>
        <p:spPr>
          <a:xfrm>
            <a:off x="7680960" y="3794760"/>
            <a:ext cx="3779215" cy="749808"/>
          </a:xfrm>
          <a:prstGeom prst="rect">
            <a:avLst/>
          </a:prstGeom>
          <a:noFill/>
          <a:ln/>
        </p:spPr>
        <p:txBody>
          <a:bodyPr wrap="square" lIns="0" tIns="0" rIns="0" bIns="0"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Date, Product, Customer, Store (+ order_id)</a:t>
            </a:r>
            <a:endParaRPr lang="en-US" sz="1400" dirty="0"/>
          </a:p>
        </p:txBody>
      </p:sp>
      <p:sp>
        <p:nvSpPr>
          <p:cNvPr id="31" name="Shape 28"/>
          <p:cNvSpPr/>
          <p:nvPr/>
        </p:nvSpPr>
        <p:spPr>
          <a:xfrm>
            <a:off x="548640" y="4818888"/>
            <a:ext cx="512064" cy="512064"/>
          </a:xfrm>
          <a:prstGeom prst="ellipse">
            <a:avLst/>
          </a:prstGeom>
          <a:solidFill>
            <a:srgbClr val="0E7C7B"/>
          </a:solidFill>
          <a:ln w="12700">
            <a:solidFill>
              <a:srgbClr val="0E7C7B"/>
            </a:solidFill>
            <a:prstDash val="solid"/>
          </a:ln>
        </p:spPr>
        <p:txBody>
          <a:bodyPr/>
          <a:lstStyle/>
          <a:p>
            <a:endParaRPr lang="en-US"/>
          </a:p>
        </p:txBody>
      </p:sp>
      <p:sp>
        <p:nvSpPr>
          <p:cNvPr id="32" name="Text 29"/>
          <p:cNvSpPr txBox="1"/>
          <p:nvPr/>
        </p:nvSpPr>
        <p:spPr>
          <a:xfrm>
            <a:off x="548640" y="481888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3" name="Shape 30"/>
          <p:cNvSpPr/>
          <p:nvPr/>
        </p:nvSpPr>
        <p:spPr>
          <a:xfrm>
            <a:off x="1234440" y="4709160"/>
            <a:ext cx="5989320" cy="749808"/>
          </a:xfrm>
          <a:prstGeom prst="roundRect">
            <a:avLst>
              <a:gd name="adj" fmla="val 9756"/>
            </a:avLst>
          </a:prstGeom>
          <a:solidFill>
            <a:srgbClr val="F3F6F9"/>
          </a:solidFill>
          <a:ln w="9525">
            <a:solidFill>
              <a:srgbClr val="F3F6F9"/>
            </a:solidFill>
            <a:prstDash val="solid"/>
          </a:ln>
        </p:spPr>
        <p:txBody>
          <a:bodyPr/>
          <a:lstStyle/>
          <a:p>
            <a:endParaRPr lang="en-US"/>
          </a:p>
        </p:txBody>
      </p:sp>
      <p:sp>
        <p:nvSpPr>
          <p:cNvPr id="34" name="Text 31"/>
          <p:cNvSpPr txBox="1"/>
          <p:nvPr/>
        </p:nvSpPr>
        <p:spPr>
          <a:xfrm>
            <a:off x="1417320" y="4709160"/>
            <a:ext cx="5669280" cy="749808"/>
          </a:xfrm>
          <a:prstGeom prst="rect">
            <a:avLst/>
          </a:prstGeom>
          <a:noFill/>
          <a:ln/>
        </p:spPr>
        <p:txBody>
          <a:bodyPr wrap="square" lIns="0" tIns="0" rIns="0" bIns="0" rtlCol="0" anchor="ctr"/>
          <a:lstStyle/>
          <a:p>
            <a:pPr marL="0" indent="0">
              <a:buNone/>
            </a:pPr>
            <a:r>
              <a:rPr lang="en-US" sz="1500" b="1" dirty="0">
                <a:solidFill>
                  <a:srgbClr val="12263A"/>
                </a:solidFill>
                <a:latin typeface="Calibri" pitchFamily="34" charset="0"/>
                <a:ea typeface="Calibri" pitchFamily="34" charset="-122"/>
                <a:cs typeface="Calibri" pitchFamily="34" charset="-120"/>
              </a:rPr>
              <a:t>Identify the facts</a:t>
            </a:r>
            <a:endParaRPr lang="en-US" sz="1250" dirty="0"/>
          </a:p>
          <a:p>
            <a:pPr marL="0" indent="0">
              <a:buNone/>
            </a:pPr>
            <a:r>
              <a:rPr lang="en-US" sz="1250" dirty="0">
                <a:solidFill>
                  <a:srgbClr val="5B6B7B"/>
                </a:solidFill>
                <a:latin typeface="Calibri" pitchFamily="34" charset="0"/>
                <a:ea typeface="Calibri" pitchFamily="34" charset="-122"/>
                <a:cs typeface="Calibri" pitchFamily="34" charset="-120"/>
              </a:rPr>
              <a:t>Which numbers are true at that grain?</a:t>
            </a:r>
            <a:endParaRPr lang="en-US" sz="1250" dirty="0"/>
          </a:p>
        </p:txBody>
      </p:sp>
      <p:sp>
        <p:nvSpPr>
          <p:cNvPr id="35" name="Shape 32"/>
          <p:cNvSpPr/>
          <p:nvPr/>
        </p:nvSpPr>
        <p:spPr>
          <a:xfrm>
            <a:off x="7269480" y="5084064"/>
            <a:ext cx="182880" cy="914"/>
          </a:xfrm>
          <a:prstGeom prst="line">
            <a:avLst/>
          </a:prstGeom>
          <a:noFill/>
          <a:ln w="19050">
            <a:solidFill>
              <a:srgbClr val="5B6B7B"/>
            </a:solidFill>
            <a:prstDash val="solid"/>
            <a:tailEnd type="triangle"/>
          </a:ln>
        </p:spPr>
        <p:txBody>
          <a:bodyPr/>
          <a:lstStyle/>
          <a:p>
            <a:endParaRPr lang="en-US"/>
          </a:p>
        </p:txBody>
      </p:sp>
      <p:sp>
        <p:nvSpPr>
          <p:cNvPr id="36" name="Shape 33"/>
          <p:cNvSpPr/>
          <p:nvPr/>
        </p:nvSpPr>
        <p:spPr>
          <a:xfrm>
            <a:off x="7498080" y="4709160"/>
            <a:ext cx="4144975" cy="749808"/>
          </a:xfrm>
          <a:prstGeom prst="roundRect">
            <a:avLst>
              <a:gd name="adj" fmla="val 9756"/>
            </a:avLst>
          </a:prstGeom>
          <a:solidFill>
            <a:srgbClr val="E2F1F0"/>
          </a:solidFill>
          <a:ln w="9525">
            <a:solidFill>
              <a:srgbClr val="E2F1F0"/>
            </a:solidFill>
            <a:prstDash val="solid"/>
          </a:ln>
        </p:spPr>
        <p:txBody>
          <a:bodyPr/>
          <a:lstStyle/>
          <a:p>
            <a:endParaRPr lang="en-US"/>
          </a:p>
        </p:txBody>
      </p:sp>
      <p:sp>
        <p:nvSpPr>
          <p:cNvPr id="37" name="Text 34"/>
          <p:cNvSpPr txBox="1"/>
          <p:nvPr/>
        </p:nvSpPr>
        <p:spPr>
          <a:xfrm>
            <a:off x="7680960" y="4709160"/>
            <a:ext cx="3779215" cy="749808"/>
          </a:xfrm>
          <a:prstGeom prst="rect">
            <a:avLst/>
          </a:prstGeom>
          <a:noFill/>
          <a:ln/>
        </p:spPr>
        <p:txBody>
          <a:bodyPr wrap="square" lIns="0" tIns="0" rIns="0" bIns="0"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quantity, unit_price, discount, sales_amount</a:t>
            </a:r>
            <a:endParaRPr lang="en-US" sz="1400" dirty="0"/>
          </a:p>
        </p:txBody>
      </p:sp>
      <p:sp>
        <p:nvSpPr>
          <p:cNvPr id="38" name="Shape 35"/>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39" name="Shape 36"/>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40"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41" name="Text 37"/>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Declare the grain before choosing anything else: every dimension and fact must be true at that grain.</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WORKED EXAMPLE: GRAIN</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Mixing grains silently double-counts</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Text 5"/>
          <p:cNvSpPr txBox="1"/>
          <p:nvPr/>
        </p:nvSpPr>
        <p:spPr>
          <a:xfrm>
            <a:off x="548640" y="1645920"/>
            <a:ext cx="11094415" cy="320040"/>
          </a:xfrm>
          <a:prstGeom prst="rect">
            <a:avLst/>
          </a:prstGeom>
          <a:noFill/>
          <a:ln/>
        </p:spPr>
        <p:txBody>
          <a:bodyPr wrap="square" lIns="0" tIns="0" rIns="0" bIns="0" rtlCol="0" anchor="t"/>
          <a:lstStyle/>
          <a:p>
            <a:pPr marL="0" indent="0">
              <a:buNone/>
            </a:pPr>
            <a:r>
              <a:rPr lang="en-US" sz="1400" dirty="0">
                <a:solidFill>
                  <a:srgbClr val="12263A"/>
                </a:solidFill>
                <a:latin typeface="Calibri" pitchFamily="34" charset="0"/>
                <a:ea typeface="Calibri" pitchFamily="34" charset="-122"/>
                <a:cs typeface="Calibri" pitchFamily="34" charset="-120"/>
              </a:rPr>
              <a:t>fact_sales at grain “one product line per order” — with an order-level fee copied onto each line:</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7315200" cy="2008632"/>
        </p:xfrm>
        <a:graphic>
          <a:graphicData uri="http://schemas.openxmlformats.org/drawingml/2006/table">
            <a:tbl>
              <a:tblPr/>
              <a:tblGrid>
                <a:gridCol w="10058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order_id</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line_no</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product</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quantity</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sales_amount</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shipping_fee (order-level!)</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5001</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Laptop 14"</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1200.00</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b="1" dirty="0">
                          <a:solidFill>
                            <a:srgbClr val="C8414F"/>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BE6E8"/>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5001</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Wireless Mouse</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70.00</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b="1" dirty="0">
                          <a:solidFill>
                            <a:srgbClr val="C8414F"/>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BE6E8"/>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5001</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Keyboard</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80.00</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b="1" dirty="0">
                          <a:solidFill>
                            <a:srgbClr val="C8414F"/>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BE6E8"/>
                    </a:solidFill>
                  </a:tcPr>
                </a:tc>
                <a:extLst>
                  <a:ext uri="{0D108BD9-81ED-4DB2-BD59-A6C34878D82A}">
                    <a16:rowId xmlns:a16="http://schemas.microsoft.com/office/drawing/2014/main" val="10003"/>
                  </a:ext>
                </a:extLst>
              </a:tr>
              <a:tr h="384048">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5002</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27" Monitor</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450.00</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b="1" dirty="0">
                          <a:solidFill>
                            <a:srgbClr val="C8414F"/>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BE6E8"/>
                    </a:solidFill>
                  </a:tcPr>
                </a:tc>
                <a:extLst>
                  <a:ext uri="{0D108BD9-81ED-4DB2-BD59-A6C34878D82A}">
                    <a16:rowId xmlns:a16="http://schemas.microsoft.com/office/drawing/2014/main" val="10004"/>
                  </a:ext>
                </a:extLst>
              </a:tr>
            </a:tbl>
          </a:graphicData>
        </a:graphic>
      </p:graphicFrame>
      <p:sp>
        <p:nvSpPr>
          <p:cNvPr id="10" name="Shape 6"/>
          <p:cNvSpPr/>
          <p:nvPr/>
        </p:nvSpPr>
        <p:spPr>
          <a:xfrm>
            <a:off x="548640" y="4160520"/>
            <a:ext cx="7315200" cy="1371600"/>
          </a:xfrm>
          <a:prstGeom prst="roundRect">
            <a:avLst>
              <a:gd name="adj" fmla="val 4000"/>
            </a:avLst>
          </a:prstGeom>
          <a:solidFill>
            <a:srgbClr val="0F1E2E"/>
          </a:solidFill>
          <a:ln w="9525">
            <a:solidFill>
              <a:srgbClr val="0F1E2E"/>
            </a:solidFill>
            <a:prstDash val="solid"/>
          </a:ln>
        </p:spPr>
        <p:txBody>
          <a:bodyPr/>
          <a:lstStyle/>
          <a:p>
            <a:endParaRPr lang="en-US"/>
          </a:p>
        </p:txBody>
      </p:sp>
      <p:sp>
        <p:nvSpPr>
          <p:cNvPr id="7" name="Text 7"/>
          <p:cNvSpPr txBox="1"/>
          <p:nvPr/>
        </p:nvSpPr>
        <p:spPr>
          <a:xfrm>
            <a:off x="749808" y="4325112"/>
            <a:ext cx="6949440" cy="1097280"/>
          </a:xfrm>
          <a:prstGeom prst="rect">
            <a:avLst/>
          </a:prstGeom>
          <a:noFill/>
          <a:ln/>
        </p:spPr>
        <p:txBody>
          <a:bodyPr wrap="square" lIns="0" tIns="0" rIns="0" bIns="0" rtlCol="0" anchor="t"/>
          <a:lstStyle/>
          <a:p>
            <a:pPr marL="0" indent="0">
              <a:lnSpc>
                <a:spcPct val="105000"/>
              </a:lnSpc>
              <a:buNone/>
            </a:pPr>
            <a:r>
              <a:rPr lang="en-US" sz="1200" dirty="0">
                <a:solidFill>
                  <a:srgbClr val="E6EDF3"/>
                </a:solidFill>
                <a:latin typeface="Courier New" pitchFamily="34" charset="0"/>
                <a:ea typeface="Courier New" pitchFamily="34" charset="-122"/>
                <a:cs typeface="Courier New" pitchFamily="34" charset="-120"/>
              </a:rPr>
              <a:t>SELECT order_id, SUM(shipping_fee) AS shipping</a:t>
            </a:r>
            <a:endParaRPr lang="en-US" sz="1200" dirty="0"/>
          </a:p>
          <a:p>
            <a:pPr marL="0" indent="0">
              <a:lnSpc>
                <a:spcPct val="105000"/>
              </a:lnSpc>
              <a:buNone/>
            </a:pPr>
            <a:r>
              <a:rPr lang="en-US" sz="1200" dirty="0">
                <a:solidFill>
                  <a:srgbClr val="E6EDF3"/>
                </a:solidFill>
                <a:latin typeface="Courier New" pitchFamily="34" charset="0"/>
                <a:ea typeface="Courier New" pitchFamily="34" charset="-122"/>
                <a:cs typeface="Courier New" pitchFamily="34" charset="-120"/>
              </a:rPr>
              <a:t>FROM   gold.fact_sales GROUP BY order_id;</a:t>
            </a:r>
            <a:endParaRPr lang="en-US" sz="1200" dirty="0"/>
          </a:p>
          <a:p>
            <a:pPr marL="0" indent="0">
              <a:lnSpc>
                <a:spcPct val="105000"/>
              </a:lnSpc>
              <a:buNone/>
            </a:pPr>
            <a:r>
              <a:rPr lang="en-US" sz="1200" i="1" dirty="0">
                <a:solidFill>
                  <a:srgbClr val="8CC7B0"/>
                </a:solidFill>
                <a:latin typeface="Courier New" pitchFamily="34" charset="0"/>
                <a:ea typeface="Courier New" pitchFamily="34" charset="-122"/>
                <a:cs typeface="Courier New" pitchFamily="34" charset="-120"/>
              </a:rPr>
              <a:t>-- 5001 → 30.00   (true value: 10.00)  ✗ double counted</a:t>
            </a:r>
            <a:endParaRPr lang="en-US" sz="1200" dirty="0"/>
          </a:p>
        </p:txBody>
      </p:sp>
      <p:sp>
        <p:nvSpPr>
          <p:cNvPr id="12" name="Shape 8"/>
          <p:cNvSpPr/>
          <p:nvPr/>
        </p:nvSpPr>
        <p:spPr>
          <a:xfrm>
            <a:off x="8183880" y="1645920"/>
            <a:ext cx="3459175" cy="1828800"/>
          </a:xfrm>
          <a:prstGeom prst="roundRect">
            <a:avLst>
              <a:gd name="adj" fmla="val 4000"/>
            </a:avLst>
          </a:prstGeom>
          <a:solidFill>
            <a:srgbClr val="FBE6E8"/>
          </a:solidFill>
          <a:ln w="9525">
            <a:solidFill>
              <a:srgbClr val="FBE6E8"/>
            </a:solidFill>
            <a:prstDash val="solid"/>
          </a:ln>
        </p:spPr>
        <p:txBody>
          <a:bodyPr/>
          <a:lstStyle/>
          <a:p>
            <a:endParaRPr lang="en-US"/>
          </a:p>
        </p:txBody>
      </p:sp>
      <p:sp>
        <p:nvSpPr>
          <p:cNvPr id="13" name="Shape 9"/>
          <p:cNvSpPr/>
          <p:nvPr/>
        </p:nvSpPr>
        <p:spPr>
          <a:xfrm>
            <a:off x="8366760" y="1828800"/>
            <a:ext cx="402336" cy="402336"/>
          </a:xfrm>
          <a:prstGeom prst="ellipse">
            <a:avLst/>
          </a:prstGeom>
          <a:solidFill>
            <a:srgbClr val="C8414F"/>
          </a:solidFill>
          <a:ln w="12700">
            <a:solidFill>
              <a:srgbClr val="C8414F"/>
            </a:solidFill>
            <a:prstDash val="solid"/>
          </a:ln>
        </p:spPr>
        <p:txBody>
          <a:bodyPr/>
          <a:lstStyle/>
          <a:p>
            <a:endParaRPr lang="en-US"/>
          </a:p>
        </p:txBody>
      </p:sp>
      <p:pic>
        <p:nvPicPr>
          <p:cNvPr id="14" name="Image 0" descr="preencoded.png"/>
          <p:cNvPicPr>
            <a:picLocks noChangeAspect="1"/>
          </p:cNvPicPr>
          <p:nvPr/>
        </p:nvPicPr>
        <p:blipFill>
          <a:blip r:embed="rId3"/>
          <a:stretch>
            <a:fillRect/>
          </a:stretch>
        </p:blipFill>
        <p:spPr>
          <a:xfrm>
            <a:off x="8471367" y="1933407"/>
            <a:ext cx="193121" cy="193121"/>
          </a:xfrm>
          <a:prstGeom prst="rect">
            <a:avLst/>
          </a:prstGeom>
        </p:spPr>
      </p:pic>
      <p:sp>
        <p:nvSpPr>
          <p:cNvPr id="15" name="Text 10"/>
          <p:cNvSpPr txBox="1"/>
          <p:nvPr/>
        </p:nvSpPr>
        <p:spPr>
          <a:xfrm>
            <a:off x="8897112" y="1828800"/>
            <a:ext cx="2563063"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The problem</a:t>
            </a:r>
            <a:endParaRPr lang="en-US" sz="1550" dirty="0"/>
          </a:p>
        </p:txBody>
      </p:sp>
      <p:sp>
        <p:nvSpPr>
          <p:cNvPr id="16" name="Text 11"/>
          <p:cNvSpPr txBox="1"/>
          <p:nvPr/>
        </p:nvSpPr>
        <p:spPr>
          <a:xfrm>
            <a:off x="8366760" y="2340864"/>
            <a:ext cx="3093415" cy="9509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Shipping is charged once per order, but the table stores one row per line. Summing it counts the fee three times.</a:t>
            </a:r>
            <a:endParaRPr lang="en-US" sz="1300" dirty="0"/>
          </a:p>
        </p:txBody>
      </p:sp>
      <p:sp>
        <p:nvSpPr>
          <p:cNvPr id="17" name="Shape 12"/>
          <p:cNvSpPr/>
          <p:nvPr/>
        </p:nvSpPr>
        <p:spPr>
          <a:xfrm>
            <a:off x="8183880" y="3657600"/>
            <a:ext cx="3459175" cy="1874520"/>
          </a:xfrm>
          <a:prstGeom prst="roundRect">
            <a:avLst>
              <a:gd name="adj" fmla="val 3902"/>
            </a:avLst>
          </a:prstGeom>
          <a:solidFill>
            <a:srgbClr val="E2F1F0"/>
          </a:solidFill>
          <a:ln w="9525">
            <a:solidFill>
              <a:srgbClr val="E2F1F0"/>
            </a:solidFill>
            <a:prstDash val="solid"/>
          </a:ln>
        </p:spPr>
        <p:txBody>
          <a:bodyPr/>
          <a:lstStyle/>
          <a:p>
            <a:endParaRPr lang="en-US"/>
          </a:p>
        </p:txBody>
      </p:sp>
      <p:sp>
        <p:nvSpPr>
          <p:cNvPr id="18" name="Shape 13"/>
          <p:cNvSpPr/>
          <p:nvPr/>
        </p:nvSpPr>
        <p:spPr>
          <a:xfrm>
            <a:off x="8366760" y="3840480"/>
            <a:ext cx="402336" cy="402336"/>
          </a:xfrm>
          <a:prstGeom prst="ellipse">
            <a:avLst/>
          </a:prstGeom>
          <a:solidFill>
            <a:srgbClr val="0E7C7B"/>
          </a:solidFill>
          <a:ln w="12700">
            <a:solidFill>
              <a:srgbClr val="0E7C7B"/>
            </a:solidFill>
            <a:prstDash val="solid"/>
          </a:ln>
        </p:spPr>
        <p:txBody>
          <a:bodyPr/>
          <a:lstStyle/>
          <a:p>
            <a:endParaRPr lang="en-US"/>
          </a:p>
        </p:txBody>
      </p:sp>
      <p:pic>
        <p:nvPicPr>
          <p:cNvPr id="19" name="Image 1" descr="preencoded.png"/>
          <p:cNvPicPr>
            <a:picLocks noChangeAspect="1"/>
          </p:cNvPicPr>
          <p:nvPr/>
        </p:nvPicPr>
        <p:blipFill>
          <a:blip r:embed="rId4"/>
          <a:stretch>
            <a:fillRect/>
          </a:stretch>
        </p:blipFill>
        <p:spPr>
          <a:xfrm>
            <a:off x="8471367" y="3945087"/>
            <a:ext cx="193121" cy="193121"/>
          </a:xfrm>
          <a:prstGeom prst="rect">
            <a:avLst/>
          </a:prstGeom>
        </p:spPr>
      </p:pic>
      <p:sp>
        <p:nvSpPr>
          <p:cNvPr id="20" name="Text 14"/>
          <p:cNvSpPr txBox="1"/>
          <p:nvPr/>
        </p:nvSpPr>
        <p:spPr>
          <a:xfrm>
            <a:off x="8897112" y="3840480"/>
            <a:ext cx="2563063"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Two correct fixes</a:t>
            </a:r>
            <a:endParaRPr lang="en-US" sz="1550" dirty="0"/>
          </a:p>
        </p:txBody>
      </p:sp>
      <p:sp>
        <p:nvSpPr>
          <p:cNvPr id="21" name="Text 15"/>
          <p:cNvSpPr txBox="1"/>
          <p:nvPr/>
        </p:nvSpPr>
        <p:spPr>
          <a:xfrm>
            <a:off x="8366760" y="4352544"/>
            <a:ext cx="3093415" cy="996696"/>
          </a:xfrm>
          <a:prstGeom prst="rect">
            <a:avLst/>
          </a:prstGeom>
          <a:noFill/>
          <a:ln/>
        </p:spPr>
        <p:txBody>
          <a:bodyPr wrap="square" lIns="0" tIns="0" rIns="0" bIns="0" rtlCol="0" anchor="t"/>
          <a:lstStyle/>
          <a:p>
            <a:pPr marL="165100" indent="-165100">
              <a:spcAft>
                <a:spcPts val="400"/>
              </a:spcAft>
              <a:buSzPct val="100000"/>
              <a:buChar char="•"/>
            </a:pPr>
            <a:r>
              <a:rPr lang="en-US" sz="1300" dirty="0">
                <a:solidFill>
                  <a:srgbClr val="1F2A37"/>
                </a:solidFill>
                <a:latin typeface="Calibri" pitchFamily="34" charset="0"/>
                <a:ea typeface="Calibri" pitchFamily="34" charset="-122"/>
                <a:cs typeface="Calibri" pitchFamily="34" charset="-120"/>
              </a:rPr>
              <a:t>Store order-level measures in an order-grain fact table (fact_order).</a:t>
            </a:r>
            <a:endParaRPr lang="en-US" sz="1300" dirty="0"/>
          </a:p>
          <a:p>
            <a:pPr marL="165100" indent="-165100">
              <a:spcAft>
                <a:spcPts val="400"/>
              </a:spcAft>
              <a:buSzPct val="100000"/>
              <a:buChar char="•"/>
            </a:pPr>
            <a:r>
              <a:rPr lang="en-US" sz="1300" dirty="0">
                <a:solidFill>
                  <a:srgbClr val="1F2A37"/>
                </a:solidFill>
                <a:latin typeface="Calibri" pitchFamily="34" charset="0"/>
                <a:ea typeface="Calibri" pitchFamily="34" charset="-122"/>
                <a:cs typeface="Calibri" pitchFamily="34" charset="-120"/>
              </a:rPr>
              <a:t>Or allocate the fee across lines so the lines sum to $10.</a:t>
            </a:r>
            <a:endParaRPr lang="en-US" sz="1300" dirty="0"/>
          </a:p>
        </p:txBody>
      </p:sp>
      <p:sp>
        <p:nvSpPr>
          <p:cNvPr id="22" name="Shape 16"/>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23" name="Shape 17"/>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24" name="Image 2" descr="preencoded.png"/>
          <p:cNvPicPr>
            <a:picLocks noChangeAspect="1"/>
          </p:cNvPicPr>
          <p:nvPr/>
        </p:nvPicPr>
        <p:blipFill>
          <a:blip r:embed="rId5"/>
          <a:stretch>
            <a:fillRect/>
          </a:stretch>
        </p:blipFill>
        <p:spPr>
          <a:xfrm>
            <a:off x="790042" y="5956402"/>
            <a:ext cx="175565" cy="175565"/>
          </a:xfrm>
          <a:prstGeom prst="rect">
            <a:avLst/>
          </a:prstGeom>
        </p:spPr>
      </p:pic>
      <p:sp>
        <p:nvSpPr>
          <p:cNvPr id="25" name="Text 18"/>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A measure belongs in a fact table only if it is true at that table’s grain — otherwise SUM() lies without any error.</a:t>
            </a:r>
            <a:endParaRPr lang="en-US" sz="1400" dirty="0"/>
          </a:p>
        </p:txBody>
      </p:sp>
      <p:sp>
        <p:nvSpPr>
          <p:cNvPr id="9"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TYPES OF FACT TABLE</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Three kinds of fact table — plus the factless one</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2602154" cy="3886200"/>
          </a:xfrm>
          <a:prstGeom prst="roundRect">
            <a:avLst>
              <a:gd name="adj" fmla="val 2811"/>
            </a:avLst>
          </a:prstGeom>
          <a:solidFill>
            <a:srgbClr val="F3F6F9"/>
          </a:solidFill>
          <a:ln w="9525">
            <a:solidFill>
              <a:srgbClr val="F3F6F9"/>
            </a:solidFill>
            <a:prstDash val="solid"/>
          </a:ln>
        </p:spPr>
        <p:txBody>
          <a:bodyPr/>
          <a:lstStyle/>
          <a:p>
            <a:endParaRPr lang="en-US"/>
          </a:p>
        </p:txBody>
      </p:sp>
      <p:sp>
        <p:nvSpPr>
          <p:cNvPr id="9" name="Shape 6"/>
          <p:cNvSpPr/>
          <p:nvPr/>
        </p:nvSpPr>
        <p:spPr>
          <a:xfrm>
            <a:off x="731520" y="1874520"/>
            <a:ext cx="402336" cy="402336"/>
          </a:xfrm>
          <a:prstGeom prst="ellipse">
            <a:avLst/>
          </a:prstGeom>
          <a:solidFill>
            <a:srgbClr val="C8414F"/>
          </a:solidFill>
          <a:ln w="12700">
            <a:solidFill>
              <a:srgbClr val="C8414F"/>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836127" y="1979127"/>
            <a:ext cx="193121" cy="193121"/>
          </a:xfrm>
          <a:prstGeom prst="rect">
            <a:avLst/>
          </a:prstGeom>
        </p:spPr>
      </p:pic>
      <p:sp>
        <p:nvSpPr>
          <p:cNvPr id="11" name="Text 7"/>
          <p:cNvSpPr txBox="1"/>
          <p:nvPr/>
        </p:nvSpPr>
        <p:spPr>
          <a:xfrm>
            <a:off x="1261872" y="1874520"/>
            <a:ext cx="1706042"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Transaction</a:t>
            </a:r>
            <a:endParaRPr lang="en-US" sz="1550" dirty="0"/>
          </a:p>
        </p:txBody>
      </p:sp>
      <p:sp>
        <p:nvSpPr>
          <p:cNvPr id="12" name="Text 8"/>
          <p:cNvSpPr txBox="1"/>
          <p:nvPr/>
        </p:nvSpPr>
        <p:spPr>
          <a:xfrm>
            <a:off x="731520" y="2386584"/>
            <a:ext cx="2236394" cy="30083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One row per event, at the finest grain.</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C8414F"/>
                </a:solidFill>
                <a:latin typeface="Calibri" pitchFamily="34" charset="0"/>
                <a:ea typeface="Calibri" pitchFamily="34" charset="-122"/>
                <a:cs typeface="Calibri" pitchFamily="34" charset="-120"/>
              </a:rPr>
              <a:t>SmartRetail: </a:t>
            </a:r>
            <a:r>
              <a:rPr lang="en-US" sz="1300" i="1" dirty="0">
                <a:solidFill>
                  <a:srgbClr val="1F2A37"/>
                </a:solidFill>
                <a:latin typeface="Calibri" pitchFamily="34" charset="0"/>
                <a:ea typeface="Calibri" pitchFamily="34" charset="-122"/>
                <a:cs typeface="Calibri" pitchFamily="34" charset="-120"/>
              </a:rPr>
              <a:t>fact_sales: one row per order line</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1F2A37"/>
                </a:solidFill>
                <a:latin typeface="Calibri" pitchFamily="34" charset="0"/>
                <a:ea typeface="Calibri" pitchFamily="34" charset="-122"/>
                <a:cs typeface="Calibri" pitchFamily="34" charset="-120"/>
              </a:rPr>
              <a:t>Behaviour: </a:t>
            </a:r>
            <a:r>
              <a:rPr lang="en-US" sz="1300" dirty="0">
                <a:solidFill>
                  <a:srgbClr val="1F2A37"/>
                </a:solidFill>
                <a:latin typeface="Calibri" pitchFamily="34" charset="0"/>
                <a:ea typeface="Calibri" pitchFamily="34" charset="-122"/>
                <a:cs typeface="Calibri" pitchFamily="34" charset="-120"/>
              </a:rPr>
              <a:t>Row inserted once; never updated</a:t>
            </a:r>
            <a:endParaRPr lang="en-US" sz="1300" dirty="0"/>
          </a:p>
        </p:txBody>
      </p:sp>
      <p:sp>
        <p:nvSpPr>
          <p:cNvPr id="13" name="Shape 9"/>
          <p:cNvSpPr/>
          <p:nvPr/>
        </p:nvSpPr>
        <p:spPr>
          <a:xfrm>
            <a:off x="3379394" y="1691640"/>
            <a:ext cx="2602154" cy="3886200"/>
          </a:xfrm>
          <a:prstGeom prst="roundRect">
            <a:avLst>
              <a:gd name="adj" fmla="val 2811"/>
            </a:avLst>
          </a:prstGeom>
          <a:solidFill>
            <a:srgbClr val="F3F6F9"/>
          </a:solidFill>
          <a:ln w="9525">
            <a:solidFill>
              <a:srgbClr val="F3F6F9"/>
            </a:solidFill>
            <a:prstDash val="solid"/>
          </a:ln>
        </p:spPr>
        <p:txBody>
          <a:bodyPr/>
          <a:lstStyle/>
          <a:p>
            <a:endParaRPr lang="en-US"/>
          </a:p>
        </p:txBody>
      </p:sp>
      <p:sp>
        <p:nvSpPr>
          <p:cNvPr id="14" name="Shape 10"/>
          <p:cNvSpPr/>
          <p:nvPr/>
        </p:nvSpPr>
        <p:spPr>
          <a:xfrm>
            <a:off x="3562274" y="1874520"/>
            <a:ext cx="402336" cy="402336"/>
          </a:xfrm>
          <a:prstGeom prst="ellipse">
            <a:avLst/>
          </a:prstGeom>
          <a:solidFill>
            <a:srgbClr val="2F6DB5"/>
          </a:solidFill>
          <a:ln w="12700">
            <a:solidFill>
              <a:srgbClr val="2F6DB5"/>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3666881" y="1979127"/>
            <a:ext cx="193121" cy="193121"/>
          </a:xfrm>
          <a:prstGeom prst="rect">
            <a:avLst/>
          </a:prstGeom>
        </p:spPr>
      </p:pic>
      <p:sp>
        <p:nvSpPr>
          <p:cNvPr id="16" name="Text 11"/>
          <p:cNvSpPr txBox="1"/>
          <p:nvPr/>
        </p:nvSpPr>
        <p:spPr>
          <a:xfrm>
            <a:off x="4092626" y="1874520"/>
            <a:ext cx="1706042"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Periodic snapshot</a:t>
            </a:r>
            <a:endParaRPr lang="en-US" sz="1550" dirty="0"/>
          </a:p>
        </p:txBody>
      </p:sp>
      <p:sp>
        <p:nvSpPr>
          <p:cNvPr id="17" name="Text 12"/>
          <p:cNvSpPr txBox="1"/>
          <p:nvPr/>
        </p:nvSpPr>
        <p:spPr>
          <a:xfrm>
            <a:off x="3562274" y="2386584"/>
            <a:ext cx="2236394" cy="30083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The state of something at regular intervals.</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2F6DB5"/>
                </a:solidFill>
                <a:latin typeface="Calibri" pitchFamily="34" charset="0"/>
                <a:ea typeface="Calibri" pitchFamily="34" charset="-122"/>
                <a:cs typeface="Calibri" pitchFamily="34" charset="-120"/>
              </a:rPr>
              <a:t>SmartRetail: </a:t>
            </a:r>
            <a:r>
              <a:rPr lang="en-US" sz="1300" i="1" dirty="0">
                <a:solidFill>
                  <a:srgbClr val="1F2A37"/>
                </a:solidFill>
                <a:latin typeface="Calibri" pitchFamily="34" charset="0"/>
                <a:ea typeface="Calibri" pitchFamily="34" charset="-122"/>
                <a:cs typeface="Calibri" pitchFamily="34" charset="-120"/>
              </a:rPr>
              <a:t>fact_inventory_daily: stock per product × store × day</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1F2A37"/>
                </a:solidFill>
                <a:latin typeface="Calibri" pitchFamily="34" charset="0"/>
                <a:ea typeface="Calibri" pitchFamily="34" charset="-122"/>
                <a:cs typeface="Calibri" pitchFamily="34" charset="-120"/>
              </a:rPr>
              <a:t>Behaviour: </a:t>
            </a:r>
            <a:r>
              <a:rPr lang="en-US" sz="1300" dirty="0">
                <a:solidFill>
                  <a:srgbClr val="1F2A37"/>
                </a:solidFill>
                <a:latin typeface="Calibri" pitchFamily="34" charset="0"/>
                <a:ea typeface="Calibri" pitchFamily="34" charset="-122"/>
                <a:cs typeface="Calibri" pitchFamily="34" charset="-120"/>
              </a:rPr>
              <a:t>One row per period even if nothing changed</a:t>
            </a:r>
            <a:endParaRPr lang="en-US" sz="1300" dirty="0"/>
          </a:p>
        </p:txBody>
      </p:sp>
      <p:sp>
        <p:nvSpPr>
          <p:cNvPr id="18" name="Shape 13"/>
          <p:cNvSpPr/>
          <p:nvPr/>
        </p:nvSpPr>
        <p:spPr>
          <a:xfrm>
            <a:off x="6210148" y="1691640"/>
            <a:ext cx="2602154" cy="3886200"/>
          </a:xfrm>
          <a:prstGeom prst="roundRect">
            <a:avLst>
              <a:gd name="adj" fmla="val 2811"/>
            </a:avLst>
          </a:prstGeom>
          <a:solidFill>
            <a:srgbClr val="F3F6F9"/>
          </a:solidFill>
          <a:ln w="9525">
            <a:solidFill>
              <a:srgbClr val="F3F6F9"/>
            </a:solidFill>
            <a:prstDash val="solid"/>
          </a:ln>
        </p:spPr>
        <p:txBody>
          <a:bodyPr/>
          <a:lstStyle/>
          <a:p>
            <a:endParaRPr lang="en-US"/>
          </a:p>
        </p:txBody>
      </p:sp>
      <p:sp>
        <p:nvSpPr>
          <p:cNvPr id="19" name="Shape 14"/>
          <p:cNvSpPr/>
          <p:nvPr/>
        </p:nvSpPr>
        <p:spPr>
          <a:xfrm>
            <a:off x="6393028" y="1874520"/>
            <a:ext cx="402336" cy="402336"/>
          </a:xfrm>
          <a:prstGeom prst="ellipse">
            <a:avLst/>
          </a:prstGeom>
          <a:solidFill>
            <a:srgbClr val="0E7C7B"/>
          </a:solidFill>
          <a:ln w="12700">
            <a:solidFill>
              <a:srgbClr val="0E7C7B"/>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6497635" y="1979127"/>
            <a:ext cx="193121" cy="193121"/>
          </a:xfrm>
          <a:prstGeom prst="rect">
            <a:avLst/>
          </a:prstGeom>
        </p:spPr>
      </p:pic>
      <p:sp>
        <p:nvSpPr>
          <p:cNvPr id="21" name="Text 15"/>
          <p:cNvSpPr txBox="1"/>
          <p:nvPr/>
        </p:nvSpPr>
        <p:spPr>
          <a:xfrm>
            <a:off x="6923380" y="1874520"/>
            <a:ext cx="1706042"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Accumulating snapshot</a:t>
            </a:r>
            <a:endParaRPr lang="en-US" sz="1550" dirty="0"/>
          </a:p>
        </p:txBody>
      </p:sp>
      <p:sp>
        <p:nvSpPr>
          <p:cNvPr id="22" name="Text 16"/>
          <p:cNvSpPr txBox="1"/>
          <p:nvPr/>
        </p:nvSpPr>
        <p:spPr>
          <a:xfrm>
            <a:off x="6393028" y="2386584"/>
            <a:ext cx="2236394" cy="30083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One row per process instance, updated at each milestone.</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0E7C7B"/>
                </a:solidFill>
                <a:latin typeface="Calibri" pitchFamily="34" charset="0"/>
                <a:ea typeface="Calibri" pitchFamily="34" charset="-122"/>
                <a:cs typeface="Calibri" pitchFamily="34" charset="-120"/>
              </a:rPr>
              <a:t>SmartRetail: </a:t>
            </a:r>
            <a:r>
              <a:rPr lang="en-US" sz="1300" i="1" dirty="0">
                <a:solidFill>
                  <a:srgbClr val="1F2A37"/>
                </a:solidFill>
                <a:latin typeface="Calibri" pitchFamily="34" charset="0"/>
                <a:ea typeface="Calibri" pitchFamily="34" charset="-122"/>
                <a:cs typeface="Calibri" pitchFamily="34" charset="-120"/>
              </a:rPr>
              <a:t>fact_order_pipeline: placed → paid → shipped → delivered dates</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1F2A37"/>
                </a:solidFill>
                <a:latin typeface="Calibri" pitchFamily="34" charset="0"/>
                <a:ea typeface="Calibri" pitchFamily="34" charset="-122"/>
                <a:cs typeface="Calibri" pitchFamily="34" charset="-120"/>
              </a:rPr>
              <a:t>Behaviour: </a:t>
            </a:r>
            <a:r>
              <a:rPr lang="en-US" sz="1300" dirty="0">
                <a:solidFill>
                  <a:srgbClr val="1F2A37"/>
                </a:solidFill>
                <a:latin typeface="Calibri" pitchFamily="34" charset="0"/>
                <a:ea typeface="Calibri" pitchFamily="34" charset="-122"/>
                <a:cs typeface="Calibri" pitchFamily="34" charset="-120"/>
              </a:rPr>
              <a:t>Row is updated (MERGE) as milestones occur</a:t>
            </a:r>
            <a:endParaRPr lang="en-US" sz="1300" dirty="0"/>
          </a:p>
        </p:txBody>
      </p:sp>
      <p:sp>
        <p:nvSpPr>
          <p:cNvPr id="23" name="Shape 17"/>
          <p:cNvSpPr/>
          <p:nvPr/>
        </p:nvSpPr>
        <p:spPr>
          <a:xfrm>
            <a:off x="9040901" y="1691640"/>
            <a:ext cx="2602154" cy="3886200"/>
          </a:xfrm>
          <a:prstGeom prst="roundRect">
            <a:avLst>
              <a:gd name="adj" fmla="val 2811"/>
            </a:avLst>
          </a:prstGeom>
          <a:solidFill>
            <a:srgbClr val="F3F6F9"/>
          </a:solidFill>
          <a:ln w="9525">
            <a:solidFill>
              <a:srgbClr val="F3F6F9"/>
            </a:solidFill>
            <a:prstDash val="solid"/>
          </a:ln>
        </p:spPr>
        <p:txBody>
          <a:bodyPr/>
          <a:lstStyle/>
          <a:p>
            <a:endParaRPr lang="en-US"/>
          </a:p>
        </p:txBody>
      </p:sp>
      <p:sp>
        <p:nvSpPr>
          <p:cNvPr id="24" name="Shape 18"/>
          <p:cNvSpPr/>
          <p:nvPr/>
        </p:nvSpPr>
        <p:spPr>
          <a:xfrm>
            <a:off x="9223781" y="1874520"/>
            <a:ext cx="402336" cy="402336"/>
          </a:xfrm>
          <a:prstGeom prst="ellipse">
            <a:avLst/>
          </a:prstGeom>
          <a:solidFill>
            <a:srgbClr val="5B4BA6"/>
          </a:solidFill>
          <a:ln w="12700">
            <a:solidFill>
              <a:srgbClr val="5B4BA6"/>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28389" y="1979127"/>
            <a:ext cx="193121" cy="193121"/>
          </a:xfrm>
          <a:prstGeom prst="rect">
            <a:avLst/>
          </a:prstGeom>
        </p:spPr>
      </p:pic>
      <p:sp>
        <p:nvSpPr>
          <p:cNvPr id="26" name="Text 19"/>
          <p:cNvSpPr txBox="1"/>
          <p:nvPr/>
        </p:nvSpPr>
        <p:spPr>
          <a:xfrm>
            <a:off x="9754133" y="1874520"/>
            <a:ext cx="1706042"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Factless</a:t>
            </a:r>
            <a:endParaRPr lang="en-US" sz="1550" dirty="0"/>
          </a:p>
        </p:txBody>
      </p:sp>
      <p:sp>
        <p:nvSpPr>
          <p:cNvPr id="27" name="Text 20"/>
          <p:cNvSpPr txBox="1"/>
          <p:nvPr/>
        </p:nvSpPr>
        <p:spPr>
          <a:xfrm>
            <a:off x="9223781" y="2386584"/>
            <a:ext cx="2236394" cy="30083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Records that something happened or applied — no measures.</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5B4BA6"/>
                </a:solidFill>
                <a:latin typeface="Calibri" pitchFamily="34" charset="0"/>
                <a:ea typeface="Calibri" pitchFamily="34" charset="-122"/>
                <a:cs typeface="Calibri" pitchFamily="34" charset="-120"/>
              </a:rPr>
              <a:t>SmartRetail: </a:t>
            </a:r>
            <a:r>
              <a:rPr lang="en-US" sz="1300" i="1" dirty="0">
                <a:solidFill>
                  <a:srgbClr val="1F2A37"/>
                </a:solidFill>
                <a:latin typeface="Calibri" pitchFamily="34" charset="0"/>
                <a:ea typeface="Calibri" pitchFamily="34" charset="-122"/>
                <a:cs typeface="Calibri" pitchFamily="34" charset="-120"/>
              </a:rPr>
              <a:t>fact_promotion_coverage: product × store × day on promotion</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1F2A37"/>
                </a:solidFill>
                <a:latin typeface="Calibri" pitchFamily="34" charset="0"/>
                <a:ea typeface="Calibri" pitchFamily="34" charset="-122"/>
                <a:cs typeface="Calibri" pitchFamily="34" charset="-120"/>
              </a:rPr>
              <a:t>Behaviour: </a:t>
            </a:r>
            <a:r>
              <a:rPr lang="en-US" sz="1300" dirty="0">
                <a:solidFill>
                  <a:srgbClr val="1F2A37"/>
                </a:solidFill>
                <a:latin typeface="Calibri" pitchFamily="34" charset="0"/>
                <a:ea typeface="Calibri" pitchFamily="34" charset="-122"/>
                <a:cs typeface="Calibri" pitchFamily="34" charset="-120"/>
              </a:rPr>
              <a:t>Analyse with COUNT(*)</a:t>
            </a:r>
            <a:endParaRPr lang="en-US" sz="1300" dirty="0"/>
          </a:p>
        </p:txBody>
      </p:sp>
      <p:sp>
        <p:nvSpPr>
          <p:cNvPr id="28" name="Shape 21"/>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29" name="Shape 22"/>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790042" y="5956402"/>
            <a:ext cx="175565" cy="175565"/>
          </a:xfrm>
          <a:prstGeom prst="rect">
            <a:avLst/>
          </a:prstGeom>
        </p:spPr>
      </p:pic>
      <p:sp>
        <p:nvSpPr>
          <p:cNvPr id="31" name="Text 23"/>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Ask “events, states or a process?” — the answer picks the fact-table type, and the type fixes the grain.</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MEASURES</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Not every measure can simply be summed</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3515258" cy="2194560"/>
          </a:xfrm>
          <a:prstGeom prst="roundRect">
            <a:avLst>
              <a:gd name="adj" fmla="val 3333"/>
            </a:avLst>
          </a:prstGeom>
          <a:solidFill>
            <a:srgbClr val="F3F6F9"/>
          </a:solidFill>
          <a:ln w="9525">
            <a:solidFill>
              <a:srgbClr val="F3F6F9"/>
            </a:solidFill>
            <a:prstDash val="solid"/>
          </a:ln>
        </p:spPr>
        <p:txBody>
          <a:bodyPr/>
          <a:lstStyle/>
          <a:p>
            <a:endParaRPr lang="en-US"/>
          </a:p>
        </p:txBody>
      </p:sp>
      <p:sp>
        <p:nvSpPr>
          <p:cNvPr id="9" name="Shape 6"/>
          <p:cNvSpPr/>
          <p:nvPr/>
        </p:nvSpPr>
        <p:spPr>
          <a:xfrm>
            <a:off x="731520" y="1874520"/>
            <a:ext cx="402336" cy="402336"/>
          </a:xfrm>
          <a:prstGeom prst="ellipse">
            <a:avLst/>
          </a:prstGeom>
          <a:solidFill>
            <a:srgbClr val="0E7C7B"/>
          </a:solidFill>
          <a:ln w="12700">
            <a:solidFill>
              <a:srgbClr val="0E7C7B"/>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836127" y="1979127"/>
            <a:ext cx="193121" cy="193121"/>
          </a:xfrm>
          <a:prstGeom prst="rect">
            <a:avLst/>
          </a:prstGeom>
        </p:spPr>
      </p:pic>
      <p:sp>
        <p:nvSpPr>
          <p:cNvPr id="11" name="Text 7"/>
          <p:cNvSpPr txBox="1"/>
          <p:nvPr/>
        </p:nvSpPr>
        <p:spPr>
          <a:xfrm>
            <a:off x="1261872" y="187452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Additive</a:t>
            </a:r>
            <a:endParaRPr lang="en-US" sz="1550" dirty="0"/>
          </a:p>
        </p:txBody>
      </p:sp>
      <p:sp>
        <p:nvSpPr>
          <p:cNvPr id="12" name="Text 8"/>
          <p:cNvSpPr txBox="1"/>
          <p:nvPr/>
        </p:nvSpPr>
        <p:spPr>
          <a:xfrm>
            <a:off x="731520" y="2386584"/>
            <a:ext cx="3149498" cy="1316736"/>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Sum across every dimension.</a:t>
            </a:r>
            <a:endParaRPr lang="en-US" sz="1350" dirty="0"/>
          </a:p>
          <a:p>
            <a:pPr marL="0" indent="0">
              <a:spcAft>
                <a:spcPts val="400"/>
              </a:spcAft>
              <a:buNone/>
            </a:pPr>
            <a:r>
              <a:rPr lang="en-US" sz="1350" i="1" dirty="0">
                <a:solidFill>
                  <a:srgbClr val="5B6B7B"/>
                </a:solidFill>
                <a:latin typeface="Calibri" pitchFamily="34" charset="0"/>
                <a:ea typeface="Calibri" pitchFamily="34" charset="-122"/>
                <a:cs typeface="Calibri" pitchFamily="34" charset="-120"/>
              </a:rPr>
              <a:t>e.g. sales_amount, quantity</a:t>
            </a:r>
            <a:endParaRPr lang="en-US" sz="1350" dirty="0"/>
          </a:p>
          <a:p>
            <a:pPr marL="0" indent="0">
              <a:spcAft>
                <a:spcPts val="400"/>
              </a:spcAft>
              <a:buNone/>
            </a:pPr>
            <a:r>
              <a:rPr lang="en-US" sz="1350" b="1" dirty="0">
                <a:solidFill>
                  <a:srgbClr val="0E7C7B"/>
                </a:solidFill>
                <a:latin typeface="Calibri" pitchFamily="34" charset="0"/>
                <a:ea typeface="Calibri" pitchFamily="34" charset="-122"/>
                <a:cs typeface="Calibri" pitchFamily="34" charset="-120"/>
              </a:rPr>
              <a:t>→ SUM(sales_amount)</a:t>
            </a:r>
            <a:endParaRPr lang="en-US" sz="1350" dirty="0"/>
          </a:p>
        </p:txBody>
      </p:sp>
      <p:sp>
        <p:nvSpPr>
          <p:cNvPr id="13" name="Shape 9"/>
          <p:cNvSpPr/>
          <p:nvPr/>
        </p:nvSpPr>
        <p:spPr>
          <a:xfrm>
            <a:off x="4338218" y="1691640"/>
            <a:ext cx="3515258" cy="2194560"/>
          </a:xfrm>
          <a:prstGeom prst="roundRect">
            <a:avLst>
              <a:gd name="adj" fmla="val 3333"/>
            </a:avLst>
          </a:prstGeom>
          <a:solidFill>
            <a:srgbClr val="F3F6F9"/>
          </a:solidFill>
          <a:ln w="9525">
            <a:solidFill>
              <a:srgbClr val="F3F6F9"/>
            </a:solidFill>
            <a:prstDash val="solid"/>
          </a:ln>
        </p:spPr>
        <p:txBody>
          <a:bodyPr/>
          <a:lstStyle/>
          <a:p>
            <a:endParaRPr lang="en-US"/>
          </a:p>
        </p:txBody>
      </p:sp>
      <p:sp>
        <p:nvSpPr>
          <p:cNvPr id="14" name="Shape 10"/>
          <p:cNvSpPr/>
          <p:nvPr/>
        </p:nvSpPr>
        <p:spPr>
          <a:xfrm>
            <a:off x="4521098" y="1874520"/>
            <a:ext cx="402336" cy="402336"/>
          </a:xfrm>
          <a:prstGeom prst="ellipse">
            <a:avLst/>
          </a:prstGeom>
          <a:solidFill>
            <a:srgbClr val="E89B2D"/>
          </a:solidFill>
          <a:ln w="12700">
            <a:solidFill>
              <a:srgbClr val="E89B2D"/>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625706" y="1979127"/>
            <a:ext cx="193121" cy="193121"/>
          </a:xfrm>
          <a:prstGeom prst="rect">
            <a:avLst/>
          </a:prstGeom>
        </p:spPr>
      </p:pic>
      <p:sp>
        <p:nvSpPr>
          <p:cNvPr id="16" name="Text 11"/>
          <p:cNvSpPr txBox="1"/>
          <p:nvPr/>
        </p:nvSpPr>
        <p:spPr>
          <a:xfrm>
            <a:off x="5051450" y="187452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Semi-additive</a:t>
            </a:r>
            <a:endParaRPr lang="en-US" sz="1550" dirty="0"/>
          </a:p>
        </p:txBody>
      </p:sp>
      <p:sp>
        <p:nvSpPr>
          <p:cNvPr id="17" name="Text 12"/>
          <p:cNvSpPr txBox="1"/>
          <p:nvPr/>
        </p:nvSpPr>
        <p:spPr>
          <a:xfrm>
            <a:off x="4521098" y="2386584"/>
            <a:ext cx="3149498" cy="1316736"/>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Sum across some dimensions, not across time.</a:t>
            </a:r>
            <a:endParaRPr lang="en-US" sz="1350" dirty="0"/>
          </a:p>
          <a:p>
            <a:pPr marL="0" indent="0">
              <a:spcAft>
                <a:spcPts val="400"/>
              </a:spcAft>
              <a:buNone/>
            </a:pPr>
            <a:r>
              <a:rPr lang="en-US" sz="1350" i="1" dirty="0">
                <a:solidFill>
                  <a:srgbClr val="5B6B7B"/>
                </a:solidFill>
                <a:latin typeface="Calibri" pitchFamily="34" charset="0"/>
                <a:ea typeface="Calibri" pitchFamily="34" charset="-122"/>
                <a:cs typeface="Calibri" pitchFamily="34" charset="-120"/>
              </a:rPr>
              <a:t>e.g. stock_on_hand, account balance</a:t>
            </a:r>
            <a:endParaRPr lang="en-US" sz="1350" dirty="0"/>
          </a:p>
          <a:p>
            <a:pPr marL="0" indent="0">
              <a:spcAft>
                <a:spcPts val="400"/>
              </a:spcAft>
              <a:buNone/>
            </a:pPr>
            <a:r>
              <a:rPr lang="en-US" sz="1350" b="1" dirty="0">
                <a:solidFill>
                  <a:srgbClr val="E89B2D"/>
                </a:solidFill>
                <a:latin typeface="Calibri" pitchFamily="34" charset="0"/>
                <a:ea typeface="Calibri" pitchFamily="34" charset="-122"/>
                <a:cs typeface="Calibri" pitchFamily="34" charset="-120"/>
              </a:rPr>
              <a:t>→ Across stores: SUM · across days: last value or AVG</a:t>
            </a:r>
            <a:endParaRPr lang="en-US" sz="1350" dirty="0"/>
          </a:p>
        </p:txBody>
      </p:sp>
      <p:sp>
        <p:nvSpPr>
          <p:cNvPr id="18" name="Shape 13"/>
          <p:cNvSpPr/>
          <p:nvPr/>
        </p:nvSpPr>
        <p:spPr>
          <a:xfrm>
            <a:off x="8127797" y="1691640"/>
            <a:ext cx="3515258" cy="2194560"/>
          </a:xfrm>
          <a:prstGeom prst="roundRect">
            <a:avLst>
              <a:gd name="adj" fmla="val 3333"/>
            </a:avLst>
          </a:prstGeom>
          <a:solidFill>
            <a:srgbClr val="F3F6F9"/>
          </a:solidFill>
          <a:ln w="9525">
            <a:solidFill>
              <a:srgbClr val="F3F6F9"/>
            </a:solidFill>
            <a:prstDash val="solid"/>
          </a:ln>
        </p:spPr>
        <p:txBody>
          <a:bodyPr/>
          <a:lstStyle/>
          <a:p>
            <a:endParaRPr lang="en-US"/>
          </a:p>
        </p:txBody>
      </p:sp>
      <p:sp>
        <p:nvSpPr>
          <p:cNvPr id="19" name="Shape 14"/>
          <p:cNvSpPr/>
          <p:nvPr/>
        </p:nvSpPr>
        <p:spPr>
          <a:xfrm>
            <a:off x="8310677" y="1874520"/>
            <a:ext cx="402336" cy="402336"/>
          </a:xfrm>
          <a:prstGeom prst="ellipse">
            <a:avLst/>
          </a:prstGeom>
          <a:solidFill>
            <a:srgbClr val="C8414F"/>
          </a:solidFill>
          <a:ln w="12700">
            <a:solidFill>
              <a:srgbClr val="C8414F"/>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415284" y="1979127"/>
            <a:ext cx="193121" cy="193121"/>
          </a:xfrm>
          <a:prstGeom prst="rect">
            <a:avLst/>
          </a:prstGeom>
        </p:spPr>
      </p:pic>
      <p:sp>
        <p:nvSpPr>
          <p:cNvPr id="21" name="Text 15"/>
          <p:cNvSpPr txBox="1"/>
          <p:nvPr/>
        </p:nvSpPr>
        <p:spPr>
          <a:xfrm>
            <a:off x="8841029" y="187452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Non-additive</a:t>
            </a:r>
            <a:endParaRPr lang="en-US" sz="1550" dirty="0"/>
          </a:p>
        </p:txBody>
      </p:sp>
      <p:sp>
        <p:nvSpPr>
          <p:cNvPr id="22" name="Text 16"/>
          <p:cNvSpPr txBox="1"/>
          <p:nvPr/>
        </p:nvSpPr>
        <p:spPr>
          <a:xfrm>
            <a:off x="8310677" y="2386584"/>
            <a:ext cx="3149498" cy="1316736"/>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Never sum; recompute from components.</a:t>
            </a:r>
            <a:endParaRPr lang="en-US" sz="1350" dirty="0"/>
          </a:p>
          <a:p>
            <a:pPr marL="0" indent="0">
              <a:spcAft>
                <a:spcPts val="400"/>
              </a:spcAft>
              <a:buNone/>
            </a:pPr>
            <a:r>
              <a:rPr lang="en-US" sz="1350" i="1" dirty="0">
                <a:solidFill>
                  <a:srgbClr val="5B6B7B"/>
                </a:solidFill>
                <a:latin typeface="Calibri" pitchFamily="34" charset="0"/>
                <a:ea typeface="Calibri" pitchFamily="34" charset="-122"/>
                <a:cs typeface="Calibri" pitchFamily="34" charset="-120"/>
              </a:rPr>
              <a:t>e.g. unit_price, margin %, conversion rate</a:t>
            </a:r>
            <a:endParaRPr lang="en-US" sz="1350" dirty="0"/>
          </a:p>
          <a:p>
            <a:pPr marL="0" indent="0">
              <a:spcAft>
                <a:spcPts val="400"/>
              </a:spcAft>
              <a:buNone/>
            </a:pPr>
            <a:r>
              <a:rPr lang="en-US" sz="1350" b="1" dirty="0">
                <a:solidFill>
                  <a:srgbClr val="C8414F"/>
                </a:solidFill>
                <a:latin typeface="Calibri" pitchFamily="34" charset="0"/>
                <a:ea typeface="Calibri" pitchFamily="34" charset="-122"/>
                <a:cs typeface="Calibri" pitchFamily="34" charset="-120"/>
              </a:rPr>
              <a:t>→ SUM(profit) / SUM(revenue)</a:t>
            </a:r>
            <a:endParaRPr lang="en-US" sz="1350" dirty="0"/>
          </a:p>
        </p:txBody>
      </p:sp>
      <p:sp>
        <p:nvSpPr>
          <p:cNvPr id="23" name="Text 17"/>
          <p:cNvSpPr txBox="1"/>
          <p:nvPr/>
        </p:nvSpPr>
        <p:spPr>
          <a:xfrm>
            <a:off x="548640" y="4023360"/>
            <a:ext cx="5486400" cy="320040"/>
          </a:xfrm>
          <a:prstGeom prst="rect">
            <a:avLst/>
          </a:prstGeom>
          <a:noFill/>
          <a:ln/>
        </p:spPr>
        <p:txBody>
          <a:bodyPr wrap="square" lIns="0" tIns="0" rIns="0" bIns="0" rtlCol="0" anchor="t"/>
          <a:lstStyle/>
          <a:p>
            <a:pPr marL="0" indent="0">
              <a:buNone/>
            </a:pPr>
            <a:r>
              <a:rPr lang="en-US" sz="1350" b="1" dirty="0">
                <a:solidFill>
                  <a:srgbClr val="C8414F"/>
                </a:solidFill>
                <a:latin typeface="Calibri" pitchFamily="34" charset="0"/>
                <a:ea typeface="Calibri" pitchFamily="34" charset="-122"/>
                <a:cs typeface="Calibri" pitchFamily="34" charset="-120"/>
              </a:rPr>
              <a:t>Common mistake — averaging row-level percentages:</a:t>
            </a:r>
            <a:endParaRPr lang="en-US" sz="1350" dirty="0"/>
          </a:p>
        </p:txBody>
      </p:sp>
      <p:sp>
        <p:nvSpPr>
          <p:cNvPr id="24" name="Shape 18"/>
          <p:cNvSpPr/>
          <p:nvPr/>
        </p:nvSpPr>
        <p:spPr>
          <a:xfrm>
            <a:off x="548640" y="4389120"/>
            <a:ext cx="5943600" cy="1188720"/>
          </a:xfrm>
          <a:prstGeom prst="roundRect">
            <a:avLst>
              <a:gd name="adj" fmla="val 4615"/>
            </a:avLst>
          </a:prstGeom>
          <a:solidFill>
            <a:srgbClr val="0F1E2E"/>
          </a:solidFill>
          <a:ln w="9525">
            <a:solidFill>
              <a:srgbClr val="0F1E2E"/>
            </a:solidFill>
            <a:prstDash val="solid"/>
          </a:ln>
        </p:spPr>
        <p:txBody>
          <a:bodyPr/>
          <a:lstStyle/>
          <a:p>
            <a:endParaRPr lang="en-US"/>
          </a:p>
        </p:txBody>
      </p:sp>
      <p:sp>
        <p:nvSpPr>
          <p:cNvPr id="25" name="Text 19"/>
          <p:cNvSpPr txBox="1"/>
          <p:nvPr/>
        </p:nvSpPr>
        <p:spPr>
          <a:xfrm>
            <a:off x="749808" y="4553712"/>
            <a:ext cx="5577840" cy="914400"/>
          </a:xfrm>
          <a:prstGeom prst="rect">
            <a:avLst/>
          </a:prstGeom>
          <a:noFill/>
          <a:ln/>
        </p:spPr>
        <p:txBody>
          <a:bodyPr wrap="square" lIns="0" tIns="0" rIns="0" bIns="0" rtlCol="0" anchor="t"/>
          <a:lstStyle/>
          <a:p>
            <a:pPr marL="0" indent="0">
              <a:lnSpc>
                <a:spcPct val="105000"/>
              </a:lnSpc>
              <a:buNone/>
            </a:pPr>
            <a:r>
              <a:rPr lang="en-US" sz="1050" i="1" dirty="0">
                <a:solidFill>
                  <a:srgbClr val="8CC7B0"/>
                </a:solidFill>
                <a:latin typeface="Courier New" pitchFamily="34" charset="0"/>
                <a:ea typeface="Courier New" pitchFamily="34" charset="-122"/>
                <a:cs typeface="Courier New" pitchFamily="34" charset="-120"/>
              </a:rPr>
              <a:t>-- WRONG: every order line weighs the same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SELECT AVG(margin_pct) FROM gold.fact_sales;</a:t>
            </a:r>
            <a:endParaRPr lang="en-US" sz="1050" dirty="0"/>
          </a:p>
          <a:p>
            <a:pPr marL="0" indent="0">
              <a:lnSpc>
                <a:spcPct val="105000"/>
              </a:lnSpc>
              <a:buNone/>
            </a:pPr>
            <a:r>
              <a:rPr lang="en-US" sz="1050" i="1" dirty="0">
                <a:solidFill>
                  <a:srgbClr val="8CC7B0"/>
                </a:solidFill>
                <a:latin typeface="Courier New" pitchFamily="34" charset="0"/>
                <a:ea typeface="Courier New" pitchFamily="34" charset="-122"/>
                <a:cs typeface="Courier New" pitchFamily="34" charset="-120"/>
              </a:rPr>
              <a:t>-- RIGHT: aggregate the components, then divide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SELECT SUM(profit) / SUM(sales_amount) FROM gold.fact_sales;</a:t>
            </a:r>
            <a:endParaRPr lang="en-US" sz="1050" dirty="0"/>
          </a:p>
        </p:txBody>
      </p:sp>
      <p:sp>
        <p:nvSpPr>
          <p:cNvPr id="26" name="Shape 20"/>
          <p:cNvSpPr/>
          <p:nvPr/>
        </p:nvSpPr>
        <p:spPr>
          <a:xfrm>
            <a:off x="6766560" y="4023360"/>
            <a:ext cx="4876495" cy="1554480"/>
          </a:xfrm>
          <a:prstGeom prst="roundRect">
            <a:avLst>
              <a:gd name="adj" fmla="val 4706"/>
            </a:avLst>
          </a:prstGeom>
          <a:solidFill>
            <a:srgbClr val="F3F6F9"/>
          </a:solidFill>
          <a:ln w="9525">
            <a:solidFill>
              <a:srgbClr val="F3F6F9"/>
            </a:solidFill>
            <a:prstDash val="solid"/>
          </a:ln>
        </p:spPr>
        <p:txBody>
          <a:bodyPr/>
          <a:lstStyle/>
          <a:p>
            <a:endParaRPr lang="en-US"/>
          </a:p>
        </p:txBody>
      </p:sp>
      <p:sp>
        <p:nvSpPr>
          <p:cNvPr id="27" name="Text 21"/>
          <p:cNvSpPr txBox="1"/>
          <p:nvPr/>
        </p:nvSpPr>
        <p:spPr>
          <a:xfrm>
            <a:off x="6949440" y="4023360"/>
            <a:ext cx="4510735" cy="1554480"/>
          </a:xfrm>
          <a:prstGeom prst="rect">
            <a:avLst/>
          </a:prstGeom>
          <a:noFill/>
          <a:ln/>
        </p:spPr>
        <p:txBody>
          <a:bodyPr wrap="square" lIns="0" tIns="0" rIns="0" bIns="0" rtlCol="0" anchor="ctr"/>
          <a:lstStyle/>
          <a:p>
            <a:pPr marL="0" indent="0">
              <a:buNone/>
            </a:pPr>
            <a:r>
              <a:rPr lang="en-US" sz="1300" b="1" dirty="0">
                <a:solidFill>
                  <a:srgbClr val="12263A"/>
                </a:solidFill>
                <a:latin typeface="Calibri" pitchFamily="34" charset="0"/>
                <a:ea typeface="Calibri" pitchFamily="34" charset="-122"/>
                <a:cs typeface="Calibri" pitchFamily="34" charset="-120"/>
              </a:rPr>
              <a:t>Why it matters: </a:t>
            </a:r>
            <a:r>
              <a:rPr lang="en-US" sz="1300" dirty="0">
                <a:solidFill>
                  <a:srgbClr val="1F2A37"/>
                </a:solidFill>
                <a:latin typeface="Calibri" pitchFamily="34" charset="0"/>
                <a:ea typeface="Calibri" pitchFamily="34" charset="-122"/>
                <a:cs typeface="Calibri" pitchFamily="34" charset="-120"/>
              </a:rPr>
              <a:t>a $5 accessory with 60% margin and a $1,200 laptop with 10% margin average to 35%, but the true margin on $1,205 of sales is about 10.2%.</a:t>
            </a:r>
            <a:endParaRPr lang="en-US" sz="1300" dirty="0"/>
          </a:p>
        </p:txBody>
      </p:sp>
      <p:sp>
        <p:nvSpPr>
          <p:cNvPr id="28" name="Shape 22"/>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29" name="Shape 23"/>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30" name="Image 3" descr="preencoded.png"/>
          <p:cNvPicPr>
            <a:picLocks noChangeAspect="1"/>
          </p:cNvPicPr>
          <p:nvPr/>
        </p:nvPicPr>
        <p:blipFill>
          <a:blip r:embed="rId6"/>
          <a:stretch>
            <a:fillRect/>
          </a:stretch>
        </p:blipFill>
        <p:spPr>
          <a:xfrm>
            <a:off x="790042" y="5956402"/>
            <a:ext cx="175565" cy="175565"/>
          </a:xfrm>
          <a:prstGeom prst="rect">
            <a:avLst/>
          </a:prstGeom>
        </p:spPr>
      </p:pic>
      <p:sp>
        <p:nvSpPr>
          <p:cNvPr id="31" name="Text 24"/>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Store additive components in facts; compute ratios after aggregation, and treat balances over time with care.</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THE MOST IMPORTANT DIMENSION</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The date dimension — generated, not loaded</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6675120" cy="3520440"/>
          </a:xfrm>
          <a:prstGeom prst="roundRect">
            <a:avLst>
              <a:gd name="adj" fmla="val 1558"/>
            </a:avLst>
          </a:prstGeom>
          <a:solidFill>
            <a:srgbClr val="0F1E2E"/>
          </a:solidFill>
          <a:ln w="9525">
            <a:solidFill>
              <a:srgbClr val="0F1E2E"/>
            </a:solidFill>
            <a:prstDash val="solid"/>
          </a:ln>
        </p:spPr>
        <p:txBody>
          <a:bodyPr/>
          <a:lstStyle/>
          <a:p>
            <a:endParaRPr lang="en-US"/>
          </a:p>
        </p:txBody>
      </p:sp>
      <p:sp>
        <p:nvSpPr>
          <p:cNvPr id="9" name="Text 6"/>
          <p:cNvSpPr txBox="1"/>
          <p:nvPr/>
        </p:nvSpPr>
        <p:spPr>
          <a:xfrm>
            <a:off x="6035040" y="178308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10" name="Text 7"/>
          <p:cNvSpPr txBox="1"/>
          <p:nvPr/>
        </p:nvSpPr>
        <p:spPr>
          <a:xfrm>
            <a:off x="749808" y="1984248"/>
            <a:ext cx="6309360" cy="3136392"/>
          </a:xfrm>
          <a:prstGeom prst="rect">
            <a:avLst/>
          </a:prstGeom>
          <a:noFill/>
          <a:ln/>
        </p:spPr>
        <p:txBody>
          <a:bodyPr wrap="square" lIns="0" tIns="0" rIns="0" bIns="0" rtlCol="0" anchor="t"/>
          <a:lstStyle/>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CREATE OR REPLACE TABLE gold.dim_date AS</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SELECT CAST(date_format(d, 'yyyyMMdd') AS INT) AS date_key,</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       d                          AS full_date,</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       year(d)                    AS year,</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       quarter(d)                 AS quarter,</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       month(d)                   AS month,</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       date_format(d, 'MMMM')     AS month_name,</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       date_format(d, 'EEEE')     AS day_name,</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       dayofweek(d) IN (1, 7)     AS is_weekend  -- 1=Sun, 7=Sat</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FROM (SELECT explode(sequence(DATE'2023-01-01',</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                              DATE'2027-12-31',</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                              INTERVAL 1 DAY)) AS d);</a:t>
            </a:r>
            <a:endParaRPr lang="en-US" sz="1100" dirty="0"/>
          </a:p>
        </p:txBody>
      </p:sp>
      <p:sp>
        <p:nvSpPr>
          <p:cNvPr id="11" name="Text 8"/>
          <p:cNvSpPr txBox="1"/>
          <p:nvPr/>
        </p:nvSpPr>
        <p:spPr>
          <a:xfrm>
            <a:off x="7498080" y="1691640"/>
            <a:ext cx="4144975" cy="804672"/>
          </a:xfrm>
          <a:prstGeom prst="rect">
            <a:avLst/>
          </a:prstGeom>
          <a:noFill/>
          <a:ln/>
        </p:spPr>
        <p:txBody>
          <a:bodyPr wrap="square" lIns="0" tIns="0" rIns="0" bIns="0" rtlCol="0" anchor="t"/>
          <a:lstStyle/>
          <a:p>
            <a:pPr marL="0" indent="0">
              <a:buNone/>
            </a:pPr>
            <a:r>
              <a:rPr lang="en-US" sz="1350" b="1" dirty="0">
                <a:solidFill>
                  <a:srgbClr val="12263A"/>
                </a:solidFill>
                <a:latin typeface="Calibri" pitchFamily="34" charset="0"/>
                <a:ea typeface="Calibri" pitchFamily="34" charset="-122"/>
                <a:cs typeface="Calibri" pitchFamily="34" charset="-120"/>
              </a:rPr>
              <a:t>One row per day</a:t>
            </a:r>
            <a:endParaRPr lang="en-US" sz="1350" dirty="0"/>
          </a:p>
          <a:p>
            <a:pPr marL="0" indent="0">
              <a:buNone/>
            </a:pPr>
            <a:r>
              <a:rPr lang="en-US" sz="1350" dirty="0">
                <a:solidFill>
                  <a:srgbClr val="1F2A37"/>
                </a:solidFill>
                <a:latin typeface="Calibri" pitchFamily="34" charset="0"/>
                <a:ea typeface="Calibri" pitchFamily="34" charset="-122"/>
                <a:cs typeface="Calibri" pitchFamily="34" charset="-120"/>
              </a:rPr>
              <a:t>about 1,826 rows for five years — tiny.</a:t>
            </a:r>
            <a:endParaRPr lang="en-US" sz="1350" dirty="0"/>
          </a:p>
        </p:txBody>
      </p:sp>
      <p:sp>
        <p:nvSpPr>
          <p:cNvPr id="12" name="Text 9"/>
          <p:cNvSpPr txBox="1"/>
          <p:nvPr/>
        </p:nvSpPr>
        <p:spPr>
          <a:xfrm>
            <a:off x="7498080" y="2560320"/>
            <a:ext cx="4144975" cy="804672"/>
          </a:xfrm>
          <a:prstGeom prst="rect">
            <a:avLst/>
          </a:prstGeom>
          <a:noFill/>
          <a:ln/>
        </p:spPr>
        <p:txBody>
          <a:bodyPr wrap="square" lIns="0" tIns="0" rIns="0" bIns="0" rtlCol="0" anchor="t"/>
          <a:lstStyle/>
          <a:p>
            <a:pPr marL="0" indent="0">
              <a:buNone/>
            </a:pPr>
            <a:r>
              <a:rPr lang="en-US" sz="1350" b="1" dirty="0">
                <a:solidFill>
                  <a:srgbClr val="12263A"/>
                </a:solidFill>
                <a:latin typeface="Calibri" pitchFamily="34" charset="0"/>
                <a:ea typeface="Calibri" pitchFamily="34" charset="-122"/>
                <a:cs typeface="Calibri" pitchFamily="34" charset="-120"/>
              </a:rPr>
              <a:t>Pre-computed attributes</a:t>
            </a:r>
            <a:endParaRPr lang="en-US" sz="1350" dirty="0"/>
          </a:p>
          <a:p>
            <a:pPr marL="0" indent="0">
              <a:buNone/>
            </a:pPr>
            <a:r>
              <a:rPr lang="en-US" sz="1350" dirty="0">
                <a:solidFill>
                  <a:srgbClr val="1F2A37"/>
                </a:solidFill>
                <a:latin typeface="Calibri" pitchFamily="34" charset="0"/>
                <a:ea typeface="Calibri" pitchFamily="34" charset="-122"/>
                <a:cs typeface="Calibri" pitchFamily="34" charset="-120"/>
              </a:rPr>
              <a:t>no date functions needed in every query.</a:t>
            </a:r>
            <a:endParaRPr lang="en-US" sz="1350" dirty="0"/>
          </a:p>
        </p:txBody>
      </p:sp>
      <p:sp>
        <p:nvSpPr>
          <p:cNvPr id="13" name="Text 10"/>
          <p:cNvSpPr txBox="1"/>
          <p:nvPr/>
        </p:nvSpPr>
        <p:spPr>
          <a:xfrm>
            <a:off x="7498080" y="3429000"/>
            <a:ext cx="4144975" cy="804672"/>
          </a:xfrm>
          <a:prstGeom prst="rect">
            <a:avLst/>
          </a:prstGeom>
          <a:noFill/>
          <a:ln/>
        </p:spPr>
        <p:txBody>
          <a:bodyPr wrap="square" lIns="0" tIns="0" rIns="0" bIns="0" rtlCol="0" anchor="t"/>
          <a:lstStyle/>
          <a:p>
            <a:pPr marL="0" indent="0">
              <a:buNone/>
            </a:pPr>
            <a:r>
              <a:rPr lang="en-US" sz="1350" b="1" dirty="0">
                <a:solidFill>
                  <a:srgbClr val="12263A"/>
                </a:solidFill>
                <a:latin typeface="Calibri" pitchFamily="34" charset="0"/>
                <a:ea typeface="Calibri" pitchFamily="34" charset="-122"/>
                <a:cs typeface="Calibri" pitchFamily="34" charset="-120"/>
              </a:rPr>
              <a:t>Smart key yyyyMMdd</a:t>
            </a:r>
            <a:endParaRPr lang="en-US" sz="1350" dirty="0"/>
          </a:p>
          <a:p>
            <a:pPr marL="0" indent="0">
              <a:buNone/>
            </a:pPr>
            <a:r>
              <a:rPr lang="en-US" sz="1350" dirty="0">
                <a:solidFill>
                  <a:srgbClr val="1F2A37"/>
                </a:solidFill>
                <a:latin typeface="Calibri" pitchFamily="34" charset="0"/>
                <a:ea typeface="Calibri" pitchFamily="34" charset="-122"/>
                <a:cs typeface="Calibri" pitchFamily="34" charset="-120"/>
              </a:rPr>
              <a:t>20260103 is readable and sorts correctly.</a:t>
            </a:r>
            <a:endParaRPr lang="en-US" sz="1350" dirty="0"/>
          </a:p>
        </p:txBody>
      </p:sp>
      <p:sp>
        <p:nvSpPr>
          <p:cNvPr id="14" name="Text 11"/>
          <p:cNvSpPr txBox="1"/>
          <p:nvPr/>
        </p:nvSpPr>
        <p:spPr>
          <a:xfrm>
            <a:off x="7498080" y="4297680"/>
            <a:ext cx="4144975" cy="804672"/>
          </a:xfrm>
          <a:prstGeom prst="rect">
            <a:avLst/>
          </a:prstGeom>
          <a:noFill/>
          <a:ln/>
        </p:spPr>
        <p:txBody>
          <a:bodyPr wrap="square" lIns="0" tIns="0" rIns="0" bIns="0" rtlCol="0" anchor="t"/>
          <a:lstStyle/>
          <a:p>
            <a:pPr marL="0" indent="0">
              <a:buNone/>
            </a:pPr>
            <a:r>
              <a:rPr lang="en-US" sz="1350" b="1" dirty="0">
                <a:solidFill>
                  <a:srgbClr val="12263A"/>
                </a:solidFill>
                <a:latin typeface="Calibri" pitchFamily="34" charset="0"/>
                <a:ea typeface="Calibri" pitchFamily="34" charset="-122"/>
                <a:cs typeface="Calibri" pitchFamily="34" charset="-120"/>
              </a:rPr>
              <a:t>Add what the business uses</a:t>
            </a:r>
            <a:endParaRPr lang="en-US" sz="1350" dirty="0"/>
          </a:p>
          <a:p>
            <a:pPr marL="0" indent="0">
              <a:buNone/>
            </a:pPr>
            <a:r>
              <a:rPr lang="en-US" sz="1350" dirty="0">
                <a:solidFill>
                  <a:srgbClr val="1F2A37"/>
                </a:solidFill>
                <a:latin typeface="Calibri" pitchFamily="34" charset="0"/>
                <a:ea typeface="Calibri" pitchFamily="34" charset="-122"/>
                <a:cs typeface="Calibri" pitchFamily="34" charset="-120"/>
              </a:rPr>
              <a:t>fiscal quarter, public holidays, school terms.</a:t>
            </a:r>
            <a:endParaRPr lang="en-US" sz="1350" dirty="0"/>
          </a:p>
        </p:txBody>
      </p:sp>
      <p:sp>
        <p:nvSpPr>
          <p:cNvPr id="15" name="Text 12"/>
          <p:cNvSpPr txBox="1"/>
          <p:nvPr/>
        </p:nvSpPr>
        <p:spPr>
          <a:xfrm>
            <a:off x="548640" y="5303520"/>
            <a:ext cx="6675120" cy="320040"/>
          </a:xfrm>
          <a:prstGeom prst="rect">
            <a:avLst/>
          </a:prstGeom>
          <a:noFill/>
          <a:ln/>
        </p:spPr>
        <p:txBody>
          <a:bodyPr wrap="square" lIns="0" tIns="0" rIns="0" bIns="0" rtlCol="0" anchor="t"/>
          <a:lstStyle/>
          <a:p>
            <a:pPr marL="0" indent="0">
              <a:buNone/>
            </a:pPr>
            <a:r>
              <a:rPr lang="en-US" sz="1200" i="1" dirty="0">
                <a:solidFill>
                  <a:srgbClr val="5B6B7B"/>
                </a:solidFill>
                <a:latin typeface="Calibri" pitchFamily="34" charset="0"/>
                <a:ea typeface="Calibri" pitchFamily="34" charset="-122"/>
                <a:cs typeface="Calibri" pitchFamily="34" charset="-120"/>
              </a:rPr>
              <a:t>The same table serves every fact and every hierarchy: day → month → quarter → year.</a:t>
            </a:r>
            <a:endParaRPr lang="en-US" sz="1200" dirty="0"/>
          </a:p>
        </p:txBody>
      </p:sp>
      <p:sp>
        <p:nvSpPr>
          <p:cNvPr id="16" name="Shape 13"/>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17" name="Shape 14"/>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18"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19" name="Text 15"/>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Generate dim_date once, cover the whole range, and give analysts every calendar attribute they will group by.</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14</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DIMENSION PATTERNS</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Role-playing, degenerate and junk dimensions</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3515258" cy="1874520"/>
          </a:xfrm>
          <a:prstGeom prst="roundRect">
            <a:avLst>
              <a:gd name="adj" fmla="val 3902"/>
            </a:avLst>
          </a:prstGeom>
          <a:solidFill>
            <a:srgbClr val="F3F6F9"/>
          </a:solidFill>
          <a:ln w="9525">
            <a:solidFill>
              <a:srgbClr val="F3F6F9"/>
            </a:solidFill>
            <a:prstDash val="solid"/>
          </a:ln>
        </p:spPr>
        <p:txBody>
          <a:bodyPr/>
          <a:lstStyle/>
          <a:p>
            <a:endParaRPr lang="en-US"/>
          </a:p>
        </p:txBody>
      </p:sp>
      <p:sp>
        <p:nvSpPr>
          <p:cNvPr id="9" name="Shape 6"/>
          <p:cNvSpPr/>
          <p:nvPr/>
        </p:nvSpPr>
        <p:spPr>
          <a:xfrm>
            <a:off x="731520" y="1874520"/>
            <a:ext cx="402336" cy="402336"/>
          </a:xfrm>
          <a:prstGeom prst="ellipse">
            <a:avLst/>
          </a:prstGeom>
          <a:solidFill>
            <a:srgbClr val="2F6DB5"/>
          </a:solidFill>
          <a:ln w="12700">
            <a:solidFill>
              <a:srgbClr val="2F6DB5"/>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836127" y="1979127"/>
            <a:ext cx="193121" cy="193121"/>
          </a:xfrm>
          <a:prstGeom prst="rect">
            <a:avLst/>
          </a:prstGeom>
        </p:spPr>
      </p:pic>
      <p:sp>
        <p:nvSpPr>
          <p:cNvPr id="11" name="Text 7"/>
          <p:cNvSpPr txBox="1"/>
          <p:nvPr/>
        </p:nvSpPr>
        <p:spPr>
          <a:xfrm>
            <a:off x="1261872" y="187452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Role-playing</a:t>
            </a:r>
            <a:endParaRPr lang="en-US" sz="1550" dirty="0"/>
          </a:p>
        </p:txBody>
      </p:sp>
      <p:sp>
        <p:nvSpPr>
          <p:cNvPr id="12" name="Text 8"/>
          <p:cNvSpPr txBox="1"/>
          <p:nvPr/>
        </p:nvSpPr>
        <p:spPr>
          <a:xfrm>
            <a:off x="731520" y="2386584"/>
            <a:ext cx="3149498" cy="99669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One dimension used in several roles. dim_date plays order date and ship date in the same fact.</a:t>
            </a:r>
            <a:endParaRPr lang="en-US" sz="1300" dirty="0"/>
          </a:p>
        </p:txBody>
      </p:sp>
      <p:sp>
        <p:nvSpPr>
          <p:cNvPr id="13" name="Shape 9"/>
          <p:cNvSpPr/>
          <p:nvPr/>
        </p:nvSpPr>
        <p:spPr>
          <a:xfrm>
            <a:off x="4338218" y="1691640"/>
            <a:ext cx="3515258" cy="1874520"/>
          </a:xfrm>
          <a:prstGeom prst="roundRect">
            <a:avLst>
              <a:gd name="adj" fmla="val 3902"/>
            </a:avLst>
          </a:prstGeom>
          <a:solidFill>
            <a:srgbClr val="F3F6F9"/>
          </a:solidFill>
          <a:ln w="9525">
            <a:solidFill>
              <a:srgbClr val="F3F6F9"/>
            </a:solidFill>
            <a:prstDash val="solid"/>
          </a:ln>
        </p:spPr>
        <p:txBody>
          <a:bodyPr/>
          <a:lstStyle/>
          <a:p>
            <a:endParaRPr lang="en-US"/>
          </a:p>
        </p:txBody>
      </p:sp>
      <p:sp>
        <p:nvSpPr>
          <p:cNvPr id="14" name="Shape 10"/>
          <p:cNvSpPr/>
          <p:nvPr/>
        </p:nvSpPr>
        <p:spPr>
          <a:xfrm>
            <a:off x="4521098" y="1874520"/>
            <a:ext cx="402336" cy="402336"/>
          </a:xfrm>
          <a:prstGeom prst="ellipse">
            <a:avLst/>
          </a:prstGeom>
          <a:solidFill>
            <a:srgbClr val="E89B2D"/>
          </a:solidFill>
          <a:ln w="12700">
            <a:solidFill>
              <a:srgbClr val="E89B2D"/>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625706" y="1979127"/>
            <a:ext cx="193121" cy="193121"/>
          </a:xfrm>
          <a:prstGeom prst="rect">
            <a:avLst/>
          </a:prstGeom>
        </p:spPr>
      </p:pic>
      <p:sp>
        <p:nvSpPr>
          <p:cNvPr id="16" name="Text 11"/>
          <p:cNvSpPr txBox="1"/>
          <p:nvPr/>
        </p:nvSpPr>
        <p:spPr>
          <a:xfrm>
            <a:off x="5051450" y="187452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Degenerate</a:t>
            </a:r>
            <a:endParaRPr lang="en-US" sz="1550" dirty="0"/>
          </a:p>
        </p:txBody>
      </p:sp>
      <p:sp>
        <p:nvSpPr>
          <p:cNvPr id="17" name="Text 12"/>
          <p:cNvSpPr txBox="1"/>
          <p:nvPr/>
        </p:nvSpPr>
        <p:spPr>
          <a:xfrm>
            <a:off x="4521098" y="2386584"/>
            <a:ext cx="3149498" cy="99669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A key in the fact with no dimension table: order_id. Groups order lines into baskets.</a:t>
            </a:r>
            <a:endParaRPr lang="en-US" sz="1300" dirty="0"/>
          </a:p>
        </p:txBody>
      </p:sp>
      <p:sp>
        <p:nvSpPr>
          <p:cNvPr id="18" name="Shape 13"/>
          <p:cNvSpPr/>
          <p:nvPr/>
        </p:nvSpPr>
        <p:spPr>
          <a:xfrm>
            <a:off x="8127797" y="1691640"/>
            <a:ext cx="3515258" cy="1874520"/>
          </a:xfrm>
          <a:prstGeom prst="roundRect">
            <a:avLst>
              <a:gd name="adj" fmla="val 3902"/>
            </a:avLst>
          </a:prstGeom>
          <a:solidFill>
            <a:srgbClr val="F3F6F9"/>
          </a:solidFill>
          <a:ln w="9525">
            <a:solidFill>
              <a:srgbClr val="F3F6F9"/>
            </a:solidFill>
            <a:prstDash val="solid"/>
          </a:ln>
        </p:spPr>
        <p:txBody>
          <a:bodyPr/>
          <a:lstStyle/>
          <a:p>
            <a:endParaRPr lang="en-US"/>
          </a:p>
        </p:txBody>
      </p:sp>
      <p:sp>
        <p:nvSpPr>
          <p:cNvPr id="19" name="Shape 14"/>
          <p:cNvSpPr/>
          <p:nvPr/>
        </p:nvSpPr>
        <p:spPr>
          <a:xfrm>
            <a:off x="8310677" y="1874520"/>
            <a:ext cx="402336" cy="402336"/>
          </a:xfrm>
          <a:prstGeom prst="ellipse">
            <a:avLst/>
          </a:prstGeom>
          <a:solidFill>
            <a:srgbClr val="5B4BA6"/>
          </a:solidFill>
          <a:ln w="12700">
            <a:solidFill>
              <a:srgbClr val="5B4BA6"/>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415284" y="1979127"/>
            <a:ext cx="193121" cy="193121"/>
          </a:xfrm>
          <a:prstGeom prst="rect">
            <a:avLst/>
          </a:prstGeom>
        </p:spPr>
      </p:pic>
      <p:sp>
        <p:nvSpPr>
          <p:cNvPr id="21" name="Text 15"/>
          <p:cNvSpPr txBox="1"/>
          <p:nvPr/>
        </p:nvSpPr>
        <p:spPr>
          <a:xfrm>
            <a:off x="8841029" y="187452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Junk</a:t>
            </a:r>
            <a:endParaRPr lang="en-US" sz="1550" dirty="0"/>
          </a:p>
        </p:txBody>
      </p:sp>
      <p:sp>
        <p:nvSpPr>
          <p:cNvPr id="22" name="Text 16"/>
          <p:cNvSpPr txBox="1"/>
          <p:nvPr/>
        </p:nvSpPr>
        <p:spPr>
          <a:xfrm>
            <a:off x="8310677" y="2386584"/>
            <a:ext cx="3149498" cy="99669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Low-cardinality flags bundled into one small dimension: channel × payment type × promo flag.</a:t>
            </a:r>
            <a:endParaRPr lang="en-US" sz="1300" dirty="0"/>
          </a:p>
        </p:txBody>
      </p:sp>
      <p:sp>
        <p:nvSpPr>
          <p:cNvPr id="23" name="Shape 17"/>
          <p:cNvSpPr/>
          <p:nvPr/>
        </p:nvSpPr>
        <p:spPr>
          <a:xfrm>
            <a:off x="548640" y="3749040"/>
            <a:ext cx="7304837" cy="1828800"/>
          </a:xfrm>
          <a:prstGeom prst="roundRect">
            <a:avLst>
              <a:gd name="adj" fmla="val 3000"/>
            </a:avLst>
          </a:prstGeom>
          <a:solidFill>
            <a:srgbClr val="0F1E2E"/>
          </a:solidFill>
          <a:ln w="9525">
            <a:solidFill>
              <a:srgbClr val="0F1E2E"/>
            </a:solidFill>
            <a:prstDash val="solid"/>
          </a:ln>
        </p:spPr>
        <p:txBody>
          <a:bodyPr/>
          <a:lstStyle/>
          <a:p>
            <a:endParaRPr lang="en-US"/>
          </a:p>
        </p:txBody>
      </p:sp>
      <p:sp>
        <p:nvSpPr>
          <p:cNvPr id="24" name="Text 18"/>
          <p:cNvSpPr txBox="1"/>
          <p:nvPr/>
        </p:nvSpPr>
        <p:spPr>
          <a:xfrm>
            <a:off x="6664757" y="384048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25" name="Text 19"/>
          <p:cNvSpPr txBox="1"/>
          <p:nvPr/>
        </p:nvSpPr>
        <p:spPr>
          <a:xfrm>
            <a:off x="749808" y="4041648"/>
            <a:ext cx="6939077" cy="1444752"/>
          </a:xfrm>
          <a:prstGeom prst="rect">
            <a:avLst/>
          </a:prstGeom>
          <a:noFill/>
          <a:ln/>
        </p:spPr>
        <p:txBody>
          <a:bodyPr wrap="square" lIns="0" tIns="0" rIns="0" bIns="0" rtlCol="0" anchor="t"/>
          <a:lstStyle/>
          <a:p>
            <a:pPr marL="0" indent="0">
              <a:lnSpc>
                <a:spcPct val="105000"/>
              </a:lnSpc>
              <a:buNone/>
            </a:pPr>
            <a:r>
              <a:rPr lang="en-US" sz="1050" i="1" dirty="0">
                <a:solidFill>
                  <a:srgbClr val="8CC7B0"/>
                </a:solidFill>
                <a:latin typeface="Courier New" pitchFamily="34" charset="0"/>
                <a:ea typeface="Courier New" pitchFamily="34" charset="-122"/>
                <a:cs typeface="Courier New" pitchFamily="34" charset="-120"/>
              </a:rPr>
              <a:t>-- Role-playing: join dim_date twice, with different aliases</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SELECT od.month_name AS order_month, sd.month_name AS ship_month,</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COUNT(DISTINCT f.order_id) AS orders   -- degenerate 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FROM   gold.fact_sales f</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gold.dim_date od ON f.order_date_key = od.date_key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gold.dim_date sd ON f.ship_date_key  = sd.date_key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GROUP  BY od.month_name, sd.month_name;</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27797" y="3749040"/>
          <a:ext cx="3515258" cy="1463040"/>
        </p:xfrm>
        <a:graphic>
          <a:graphicData uri="http://schemas.openxmlformats.org/drawingml/2006/table">
            <a:tbl>
              <a:tblPr/>
              <a:tblGrid>
                <a:gridCol w="100584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26338">
                  <a:extLst>
                    <a:ext uri="{9D8B030D-6E8A-4147-A177-3AD203B41FA5}">
                      <a16:colId xmlns:a16="http://schemas.microsoft.com/office/drawing/2014/main" val="20003"/>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profile_key</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5B4BA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channel</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5B4BA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payment</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5B4BA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promo</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5B4BA6"/>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web</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card</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web</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card</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store</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cash</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7" name="Text 20"/>
          <p:cNvSpPr txBox="1"/>
          <p:nvPr/>
        </p:nvSpPr>
        <p:spPr>
          <a:xfrm>
            <a:off x="8127797" y="5257800"/>
            <a:ext cx="3515258" cy="274320"/>
          </a:xfrm>
          <a:prstGeom prst="rect">
            <a:avLst/>
          </a:prstGeom>
          <a:noFill/>
          <a:ln/>
        </p:spPr>
        <p:txBody>
          <a:bodyPr wrap="square" lIns="0" tIns="0" rIns="0" bIns="0" rtlCol="0" anchor="t"/>
          <a:lstStyle/>
          <a:p>
            <a:pPr marL="0" indent="0">
              <a:buNone/>
            </a:pPr>
            <a:r>
              <a:rPr lang="en-US" sz="1100" i="1" dirty="0">
                <a:solidFill>
                  <a:srgbClr val="5B6B7B"/>
                </a:solidFill>
                <a:latin typeface="Calibri" pitchFamily="34" charset="0"/>
                <a:ea typeface="Calibri" pitchFamily="34" charset="-122"/>
                <a:cs typeface="Calibri" pitchFamily="34" charset="-120"/>
              </a:rPr>
              <a:t>dim_order_profile (junk)</a:t>
            </a:r>
            <a:endParaRPr lang="en-US" sz="1100" dirty="0"/>
          </a:p>
        </p:txBody>
      </p:sp>
      <p:sp>
        <p:nvSpPr>
          <p:cNvPr id="28" name="Shape 21"/>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29" name="Shape 22"/>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30" name="Image 3" descr="preencoded.png"/>
          <p:cNvPicPr>
            <a:picLocks noChangeAspect="1"/>
          </p:cNvPicPr>
          <p:nvPr/>
        </p:nvPicPr>
        <p:blipFill>
          <a:blip r:embed="rId6"/>
          <a:stretch>
            <a:fillRect/>
          </a:stretch>
        </p:blipFill>
        <p:spPr>
          <a:xfrm>
            <a:off x="790042" y="5956402"/>
            <a:ext cx="175565" cy="175565"/>
          </a:xfrm>
          <a:prstGeom prst="rect">
            <a:avLst/>
          </a:prstGeom>
        </p:spPr>
      </p:pic>
      <p:sp>
        <p:nvSpPr>
          <p:cNvPr id="31" name="Text 23"/>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Reuse one dimension in many roles, keep bare IDs in the fact, and bundle stray flags — the star stays small and clear.</a:t>
            </a:r>
            <a:endParaRPr lang="en-US" sz="1400" dirty="0"/>
          </a:p>
        </p:txBody>
      </p:sp>
      <p:sp>
        <p:nvSpPr>
          <p:cNvPr id="26"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15</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HIERARCHIES</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Hierarchies live inside dimensions — and set the zoom levels</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Text 5"/>
          <p:cNvSpPr txBox="1"/>
          <p:nvPr/>
        </p:nvSpPr>
        <p:spPr>
          <a:xfrm>
            <a:off x="548640" y="1691640"/>
            <a:ext cx="2377440" cy="320040"/>
          </a:xfrm>
          <a:prstGeom prst="rect">
            <a:avLst/>
          </a:prstGeom>
          <a:noFill/>
          <a:ln/>
        </p:spPr>
        <p:txBody>
          <a:bodyPr wrap="square" lIns="0" tIns="0" rIns="0" bIns="0" rtlCol="0" anchor="t"/>
          <a:lstStyle/>
          <a:p>
            <a:pPr marL="0" indent="0" algn="ctr">
              <a:buNone/>
            </a:pPr>
            <a:r>
              <a:rPr lang="en-US" sz="1400" b="1" dirty="0">
                <a:solidFill>
                  <a:srgbClr val="0E7C7B"/>
                </a:solidFill>
                <a:latin typeface="Courier New" pitchFamily="34" charset="0"/>
                <a:ea typeface="Courier New" pitchFamily="34" charset="-122"/>
                <a:cs typeface="Courier New" pitchFamily="34" charset="-120"/>
              </a:rPr>
              <a:t>dim_date</a:t>
            </a:r>
            <a:endParaRPr lang="en-US" sz="1400" dirty="0"/>
          </a:p>
        </p:txBody>
      </p:sp>
      <p:sp>
        <p:nvSpPr>
          <p:cNvPr id="9" name="Shape 6"/>
          <p:cNvSpPr/>
          <p:nvPr/>
        </p:nvSpPr>
        <p:spPr>
          <a:xfrm>
            <a:off x="548640" y="2103120"/>
            <a:ext cx="2377440" cy="548640"/>
          </a:xfrm>
          <a:prstGeom prst="roundRect">
            <a:avLst>
              <a:gd name="adj" fmla="val 16667"/>
            </a:avLst>
          </a:prstGeom>
          <a:solidFill>
            <a:srgbClr val="F3F6F9"/>
          </a:solidFill>
          <a:ln w="9525">
            <a:solidFill>
              <a:srgbClr val="0E7C7B"/>
            </a:solidFill>
            <a:prstDash val="solid"/>
          </a:ln>
        </p:spPr>
        <p:txBody>
          <a:bodyPr/>
          <a:lstStyle/>
          <a:p>
            <a:endParaRPr lang="en-US"/>
          </a:p>
        </p:txBody>
      </p:sp>
      <p:sp>
        <p:nvSpPr>
          <p:cNvPr id="10" name="Text 7"/>
          <p:cNvSpPr txBox="1"/>
          <p:nvPr/>
        </p:nvSpPr>
        <p:spPr>
          <a:xfrm>
            <a:off x="548640" y="2103120"/>
            <a:ext cx="2377440" cy="548640"/>
          </a:xfrm>
          <a:prstGeom prst="rect">
            <a:avLst/>
          </a:prstGeom>
          <a:noFill/>
          <a:ln/>
        </p:spPr>
        <p:txBody>
          <a:bodyPr wrap="square" lIns="0" tIns="0" rIns="0" bIns="0" rtlCol="0" anchor="ctr"/>
          <a:lstStyle/>
          <a:p>
            <a:pPr marL="0" indent="0" algn="ctr">
              <a:buNone/>
            </a:pPr>
            <a:r>
              <a:rPr lang="en-US" sz="1400" b="1" dirty="0">
                <a:solidFill>
                  <a:srgbClr val="12263A"/>
                </a:solidFill>
                <a:latin typeface="Calibri" pitchFamily="34" charset="0"/>
                <a:ea typeface="Calibri" pitchFamily="34" charset="-122"/>
                <a:cs typeface="Calibri" pitchFamily="34" charset="-120"/>
              </a:rPr>
              <a:t>year</a:t>
            </a:r>
            <a:endParaRPr lang="en-US" sz="1400" dirty="0"/>
          </a:p>
        </p:txBody>
      </p:sp>
      <p:sp>
        <p:nvSpPr>
          <p:cNvPr id="11" name="Shape 8"/>
          <p:cNvSpPr/>
          <p:nvPr/>
        </p:nvSpPr>
        <p:spPr>
          <a:xfrm>
            <a:off x="1737360" y="2670048"/>
            <a:ext cx="914" cy="146304"/>
          </a:xfrm>
          <a:prstGeom prst="line">
            <a:avLst/>
          </a:prstGeom>
          <a:noFill/>
          <a:ln w="15875">
            <a:solidFill>
              <a:srgbClr val="5B6B7B"/>
            </a:solidFill>
            <a:prstDash val="solid"/>
            <a:tailEnd type="triangle"/>
          </a:ln>
        </p:spPr>
        <p:txBody>
          <a:bodyPr/>
          <a:lstStyle/>
          <a:p>
            <a:endParaRPr lang="en-US"/>
          </a:p>
        </p:txBody>
      </p:sp>
      <p:sp>
        <p:nvSpPr>
          <p:cNvPr id="12" name="Shape 9"/>
          <p:cNvSpPr/>
          <p:nvPr/>
        </p:nvSpPr>
        <p:spPr>
          <a:xfrm>
            <a:off x="658368" y="2834640"/>
            <a:ext cx="2157984" cy="548640"/>
          </a:xfrm>
          <a:prstGeom prst="roundRect">
            <a:avLst>
              <a:gd name="adj" fmla="val 16667"/>
            </a:avLst>
          </a:prstGeom>
          <a:solidFill>
            <a:srgbClr val="F3F6F9"/>
          </a:solidFill>
          <a:ln w="9525">
            <a:solidFill>
              <a:srgbClr val="0E7C7B"/>
            </a:solidFill>
            <a:prstDash val="solid"/>
          </a:ln>
        </p:spPr>
        <p:txBody>
          <a:bodyPr/>
          <a:lstStyle/>
          <a:p>
            <a:endParaRPr lang="en-US"/>
          </a:p>
        </p:txBody>
      </p:sp>
      <p:sp>
        <p:nvSpPr>
          <p:cNvPr id="13" name="Text 10"/>
          <p:cNvSpPr txBox="1"/>
          <p:nvPr/>
        </p:nvSpPr>
        <p:spPr>
          <a:xfrm>
            <a:off x="548640" y="2834640"/>
            <a:ext cx="2377440" cy="548640"/>
          </a:xfrm>
          <a:prstGeom prst="rect">
            <a:avLst/>
          </a:prstGeom>
          <a:noFill/>
          <a:ln/>
        </p:spPr>
        <p:txBody>
          <a:bodyPr wrap="square" lIns="0" tIns="0" rIns="0" bIns="0" rtlCol="0" anchor="ctr"/>
          <a:lstStyle/>
          <a:p>
            <a:pPr marL="0" indent="0" algn="ctr">
              <a:buNone/>
            </a:pPr>
            <a:r>
              <a:rPr lang="en-US" sz="1400" b="1" dirty="0">
                <a:solidFill>
                  <a:srgbClr val="12263A"/>
                </a:solidFill>
                <a:latin typeface="Calibri" pitchFamily="34" charset="0"/>
                <a:ea typeface="Calibri" pitchFamily="34" charset="-122"/>
                <a:cs typeface="Calibri" pitchFamily="34" charset="-120"/>
              </a:rPr>
              <a:t>quarter</a:t>
            </a:r>
            <a:endParaRPr lang="en-US" sz="1400" dirty="0"/>
          </a:p>
        </p:txBody>
      </p:sp>
      <p:sp>
        <p:nvSpPr>
          <p:cNvPr id="14" name="Shape 11"/>
          <p:cNvSpPr/>
          <p:nvPr/>
        </p:nvSpPr>
        <p:spPr>
          <a:xfrm>
            <a:off x="1737360" y="3401568"/>
            <a:ext cx="914" cy="146304"/>
          </a:xfrm>
          <a:prstGeom prst="line">
            <a:avLst/>
          </a:prstGeom>
          <a:noFill/>
          <a:ln w="15875">
            <a:solidFill>
              <a:srgbClr val="5B6B7B"/>
            </a:solidFill>
            <a:prstDash val="solid"/>
            <a:tailEnd type="triangle"/>
          </a:ln>
        </p:spPr>
        <p:txBody>
          <a:bodyPr/>
          <a:lstStyle/>
          <a:p>
            <a:endParaRPr lang="en-US"/>
          </a:p>
        </p:txBody>
      </p:sp>
      <p:sp>
        <p:nvSpPr>
          <p:cNvPr id="15" name="Shape 12"/>
          <p:cNvSpPr/>
          <p:nvPr/>
        </p:nvSpPr>
        <p:spPr>
          <a:xfrm>
            <a:off x="768096" y="3566160"/>
            <a:ext cx="1938528" cy="548640"/>
          </a:xfrm>
          <a:prstGeom prst="roundRect">
            <a:avLst>
              <a:gd name="adj" fmla="val 16667"/>
            </a:avLst>
          </a:prstGeom>
          <a:solidFill>
            <a:srgbClr val="F3F6F9"/>
          </a:solidFill>
          <a:ln w="9525">
            <a:solidFill>
              <a:srgbClr val="0E7C7B"/>
            </a:solidFill>
            <a:prstDash val="solid"/>
          </a:ln>
        </p:spPr>
        <p:txBody>
          <a:bodyPr/>
          <a:lstStyle/>
          <a:p>
            <a:endParaRPr lang="en-US"/>
          </a:p>
        </p:txBody>
      </p:sp>
      <p:sp>
        <p:nvSpPr>
          <p:cNvPr id="16" name="Text 13"/>
          <p:cNvSpPr txBox="1"/>
          <p:nvPr/>
        </p:nvSpPr>
        <p:spPr>
          <a:xfrm>
            <a:off x="548640" y="3566160"/>
            <a:ext cx="2377440" cy="548640"/>
          </a:xfrm>
          <a:prstGeom prst="rect">
            <a:avLst/>
          </a:prstGeom>
          <a:noFill/>
          <a:ln/>
        </p:spPr>
        <p:txBody>
          <a:bodyPr wrap="square" lIns="0" tIns="0" rIns="0" bIns="0" rtlCol="0" anchor="ctr"/>
          <a:lstStyle/>
          <a:p>
            <a:pPr marL="0" indent="0" algn="ctr">
              <a:buNone/>
            </a:pPr>
            <a:r>
              <a:rPr lang="en-US" sz="1400" b="1" dirty="0">
                <a:solidFill>
                  <a:srgbClr val="12263A"/>
                </a:solidFill>
                <a:latin typeface="Calibri" pitchFamily="34" charset="0"/>
                <a:ea typeface="Calibri" pitchFamily="34" charset="-122"/>
                <a:cs typeface="Calibri" pitchFamily="34" charset="-120"/>
              </a:rPr>
              <a:t>month</a:t>
            </a:r>
            <a:endParaRPr lang="en-US" sz="1400" dirty="0"/>
          </a:p>
        </p:txBody>
      </p:sp>
      <p:sp>
        <p:nvSpPr>
          <p:cNvPr id="17" name="Shape 14"/>
          <p:cNvSpPr/>
          <p:nvPr/>
        </p:nvSpPr>
        <p:spPr>
          <a:xfrm>
            <a:off x="1737360" y="4133088"/>
            <a:ext cx="914" cy="146304"/>
          </a:xfrm>
          <a:prstGeom prst="line">
            <a:avLst/>
          </a:prstGeom>
          <a:noFill/>
          <a:ln w="15875">
            <a:solidFill>
              <a:srgbClr val="5B6B7B"/>
            </a:solidFill>
            <a:prstDash val="solid"/>
            <a:tailEnd type="triangle"/>
          </a:ln>
        </p:spPr>
        <p:txBody>
          <a:bodyPr/>
          <a:lstStyle/>
          <a:p>
            <a:endParaRPr lang="en-US"/>
          </a:p>
        </p:txBody>
      </p:sp>
      <p:sp>
        <p:nvSpPr>
          <p:cNvPr id="18" name="Shape 15"/>
          <p:cNvSpPr/>
          <p:nvPr/>
        </p:nvSpPr>
        <p:spPr>
          <a:xfrm>
            <a:off x="877824" y="4297680"/>
            <a:ext cx="1719072" cy="548640"/>
          </a:xfrm>
          <a:prstGeom prst="roundRect">
            <a:avLst>
              <a:gd name="adj" fmla="val 16667"/>
            </a:avLst>
          </a:prstGeom>
          <a:solidFill>
            <a:srgbClr val="0E7C7B"/>
          </a:solidFill>
          <a:ln w="9525">
            <a:solidFill>
              <a:srgbClr val="0E7C7B"/>
            </a:solidFill>
            <a:prstDash val="solid"/>
          </a:ln>
        </p:spPr>
        <p:txBody>
          <a:bodyPr/>
          <a:lstStyle/>
          <a:p>
            <a:endParaRPr lang="en-US"/>
          </a:p>
        </p:txBody>
      </p:sp>
      <p:sp>
        <p:nvSpPr>
          <p:cNvPr id="19" name="Text 16"/>
          <p:cNvSpPr txBox="1"/>
          <p:nvPr/>
        </p:nvSpPr>
        <p:spPr>
          <a:xfrm>
            <a:off x="548640" y="4297680"/>
            <a:ext cx="23774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day</a:t>
            </a:r>
            <a:endParaRPr lang="en-US" sz="1400" dirty="0"/>
          </a:p>
        </p:txBody>
      </p:sp>
      <p:sp>
        <p:nvSpPr>
          <p:cNvPr id="20" name="Text 17"/>
          <p:cNvSpPr txBox="1"/>
          <p:nvPr/>
        </p:nvSpPr>
        <p:spPr>
          <a:xfrm>
            <a:off x="3246120" y="1691640"/>
            <a:ext cx="2377440" cy="320040"/>
          </a:xfrm>
          <a:prstGeom prst="rect">
            <a:avLst/>
          </a:prstGeom>
          <a:noFill/>
          <a:ln/>
        </p:spPr>
        <p:txBody>
          <a:bodyPr wrap="square" lIns="0" tIns="0" rIns="0" bIns="0" rtlCol="0" anchor="t"/>
          <a:lstStyle/>
          <a:p>
            <a:pPr marL="0" indent="0" algn="ctr">
              <a:buNone/>
            </a:pPr>
            <a:r>
              <a:rPr lang="en-US" sz="1400" b="1" dirty="0">
                <a:solidFill>
                  <a:srgbClr val="2F6DB5"/>
                </a:solidFill>
                <a:latin typeface="Courier New" pitchFamily="34" charset="0"/>
                <a:ea typeface="Courier New" pitchFamily="34" charset="-122"/>
                <a:cs typeface="Courier New" pitchFamily="34" charset="-120"/>
              </a:rPr>
              <a:t>dim_product</a:t>
            </a:r>
            <a:endParaRPr lang="en-US" sz="1400" dirty="0"/>
          </a:p>
        </p:txBody>
      </p:sp>
      <p:sp>
        <p:nvSpPr>
          <p:cNvPr id="21" name="Shape 18"/>
          <p:cNvSpPr/>
          <p:nvPr/>
        </p:nvSpPr>
        <p:spPr>
          <a:xfrm>
            <a:off x="3246120" y="2103120"/>
            <a:ext cx="2377440" cy="548640"/>
          </a:xfrm>
          <a:prstGeom prst="roundRect">
            <a:avLst>
              <a:gd name="adj" fmla="val 16667"/>
            </a:avLst>
          </a:prstGeom>
          <a:solidFill>
            <a:srgbClr val="F3F6F9"/>
          </a:solidFill>
          <a:ln w="9525">
            <a:solidFill>
              <a:srgbClr val="2F6DB5"/>
            </a:solidFill>
            <a:prstDash val="solid"/>
          </a:ln>
        </p:spPr>
        <p:txBody>
          <a:bodyPr/>
          <a:lstStyle/>
          <a:p>
            <a:endParaRPr lang="en-US"/>
          </a:p>
        </p:txBody>
      </p:sp>
      <p:sp>
        <p:nvSpPr>
          <p:cNvPr id="22" name="Text 19"/>
          <p:cNvSpPr txBox="1"/>
          <p:nvPr/>
        </p:nvSpPr>
        <p:spPr>
          <a:xfrm>
            <a:off x="3246120" y="2103120"/>
            <a:ext cx="2377440" cy="548640"/>
          </a:xfrm>
          <a:prstGeom prst="rect">
            <a:avLst/>
          </a:prstGeom>
          <a:noFill/>
          <a:ln/>
        </p:spPr>
        <p:txBody>
          <a:bodyPr wrap="square" lIns="0" tIns="0" rIns="0" bIns="0" rtlCol="0" anchor="ctr"/>
          <a:lstStyle/>
          <a:p>
            <a:pPr marL="0" indent="0" algn="ctr">
              <a:buNone/>
            </a:pPr>
            <a:r>
              <a:rPr lang="en-US" sz="1400" b="1" dirty="0">
                <a:solidFill>
                  <a:srgbClr val="12263A"/>
                </a:solidFill>
                <a:latin typeface="Calibri" pitchFamily="34" charset="0"/>
                <a:ea typeface="Calibri" pitchFamily="34" charset="-122"/>
                <a:cs typeface="Calibri" pitchFamily="34" charset="-120"/>
              </a:rPr>
              <a:t>department</a:t>
            </a:r>
            <a:endParaRPr lang="en-US" sz="1400" dirty="0"/>
          </a:p>
        </p:txBody>
      </p:sp>
      <p:sp>
        <p:nvSpPr>
          <p:cNvPr id="23" name="Shape 20"/>
          <p:cNvSpPr/>
          <p:nvPr/>
        </p:nvSpPr>
        <p:spPr>
          <a:xfrm>
            <a:off x="4434840" y="2670048"/>
            <a:ext cx="914" cy="146304"/>
          </a:xfrm>
          <a:prstGeom prst="line">
            <a:avLst/>
          </a:prstGeom>
          <a:noFill/>
          <a:ln w="15875">
            <a:solidFill>
              <a:srgbClr val="5B6B7B"/>
            </a:solidFill>
            <a:prstDash val="solid"/>
            <a:tailEnd type="triangle"/>
          </a:ln>
        </p:spPr>
        <p:txBody>
          <a:bodyPr/>
          <a:lstStyle/>
          <a:p>
            <a:endParaRPr lang="en-US"/>
          </a:p>
        </p:txBody>
      </p:sp>
      <p:sp>
        <p:nvSpPr>
          <p:cNvPr id="24" name="Shape 21"/>
          <p:cNvSpPr/>
          <p:nvPr/>
        </p:nvSpPr>
        <p:spPr>
          <a:xfrm>
            <a:off x="3355848" y="2834640"/>
            <a:ext cx="2157984" cy="548640"/>
          </a:xfrm>
          <a:prstGeom prst="roundRect">
            <a:avLst>
              <a:gd name="adj" fmla="val 16667"/>
            </a:avLst>
          </a:prstGeom>
          <a:solidFill>
            <a:srgbClr val="F3F6F9"/>
          </a:solidFill>
          <a:ln w="9525">
            <a:solidFill>
              <a:srgbClr val="2F6DB5"/>
            </a:solidFill>
            <a:prstDash val="solid"/>
          </a:ln>
        </p:spPr>
        <p:txBody>
          <a:bodyPr/>
          <a:lstStyle/>
          <a:p>
            <a:endParaRPr lang="en-US"/>
          </a:p>
        </p:txBody>
      </p:sp>
      <p:sp>
        <p:nvSpPr>
          <p:cNvPr id="25" name="Text 22"/>
          <p:cNvSpPr txBox="1"/>
          <p:nvPr/>
        </p:nvSpPr>
        <p:spPr>
          <a:xfrm>
            <a:off x="3246120" y="2834640"/>
            <a:ext cx="2377440" cy="548640"/>
          </a:xfrm>
          <a:prstGeom prst="rect">
            <a:avLst/>
          </a:prstGeom>
          <a:noFill/>
          <a:ln/>
        </p:spPr>
        <p:txBody>
          <a:bodyPr wrap="square" lIns="0" tIns="0" rIns="0" bIns="0" rtlCol="0" anchor="ctr"/>
          <a:lstStyle/>
          <a:p>
            <a:pPr marL="0" indent="0" algn="ctr">
              <a:buNone/>
            </a:pPr>
            <a:r>
              <a:rPr lang="en-US" sz="1400" b="1" dirty="0">
                <a:solidFill>
                  <a:srgbClr val="12263A"/>
                </a:solidFill>
                <a:latin typeface="Calibri" pitchFamily="34" charset="0"/>
                <a:ea typeface="Calibri" pitchFamily="34" charset="-122"/>
                <a:cs typeface="Calibri" pitchFamily="34" charset="-120"/>
              </a:rPr>
              <a:t>category</a:t>
            </a:r>
            <a:endParaRPr lang="en-US" sz="1400" dirty="0"/>
          </a:p>
        </p:txBody>
      </p:sp>
      <p:sp>
        <p:nvSpPr>
          <p:cNvPr id="26" name="Shape 23"/>
          <p:cNvSpPr/>
          <p:nvPr/>
        </p:nvSpPr>
        <p:spPr>
          <a:xfrm>
            <a:off x="4434840" y="3401568"/>
            <a:ext cx="914" cy="146304"/>
          </a:xfrm>
          <a:prstGeom prst="line">
            <a:avLst/>
          </a:prstGeom>
          <a:noFill/>
          <a:ln w="15875">
            <a:solidFill>
              <a:srgbClr val="5B6B7B"/>
            </a:solidFill>
            <a:prstDash val="solid"/>
            <a:tailEnd type="triangle"/>
          </a:ln>
        </p:spPr>
        <p:txBody>
          <a:bodyPr/>
          <a:lstStyle/>
          <a:p>
            <a:endParaRPr lang="en-US"/>
          </a:p>
        </p:txBody>
      </p:sp>
      <p:sp>
        <p:nvSpPr>
          <p:cNvPr id="27" name="Shape 24"/>
          <p:cNvSpPr/>
          <p:nvPr/>
        </p:nvSpPr>
        <p:spPr>
          <a:xfrm>
            <a:off x="3465576" y="3566160"/>
            <a:ext cx="1938528" cy="548640"/>
          </a:xfrm>
          <a:prstGeom prst="roundRect">
            <a:avLst>
              <a:gd name="adj" fmla="val 16667"/>
            </a:avLst>
          </a:prstGeom>
          <a:solidFill>
            <a:srgbClr val="2F6DB5"/>
          </a:solidFill>
          <a:ln w="9525">
            <a:solidFill>
              <a:srgbClr val="2F6DB5"/>
            </a:solidFill>
            <a:prstDash val="solid"/>
          </a:ln>
        </p:spPr>
        <p:txBody>
          <a:bodyPr/>
          <a:lstStyle/>
          <a:p>
            <a:endParaRPr lang="en-US"/>
          </a:p>
        </p:txBody>
      </p:sp>
      <p:sp>
        <p:nvSpPr>
          <p:cNvPr id="28" name="Text 25"/>
          <p:cNvSpPr txBox="1"/>
          <p:nvPr/>
        </p:nvSpPr>
        <p:spPr>
          <a:xfrm>
            <a:off x="3246120" y="3566160"/>
            <a:ext cx="23774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product</a:t>
            </a:r>
            <a:endParaRPr lang="en-US" sz="1400" dirty="0"/>
          </a:p>
        </p:txBody>
      </p:sp>
      <p:sp>
        <p:nvSpPr>
          <p:cNvPr id="29" name="Text 26"/>
          <p:cNvSpPr txBox="1"/>
          <p:nvPr/>
        </p:nvSpPr>
        <p:spPr>
          <a:xfrm>
            <a:off x="5943600" y="1691640"/>
            <a:ext cx="2377440" cy="320040"/>
          </a:xfrm>
          <a:prstGeom prst="rect">
            <a:avLst/>
          </a:prstGeom>
          <a:noFill/>
          <a:ln/>
        </p:spPr>
        <p:txBody>
          <a:bodyPr wrap="square" lIns="0" tIns="0" rIns="0" bIns="0" rtlCol="0" anchor="t"/>
          <a:lstStyle/>
          <a:p>
            <a:pPr marL="0" indent="0" algn="ctr">
              <a:buNone/>
            </a:pPr>
            <a:r>
              <a:rPr lang="en-US" sz="1400" b="1" dirty="0">
                <a:solidFill>
                  <a:srgbClr val="A8622F"/>
                </a:solidFill>
                <a:latin typeface="Courier New" pitchFamily="34" charset="0"/>
                <a:ea typeface="Courier New" pitchFamily="34" charset="-122"/>
                <a:cs typeface="Courier New" pitchFamily="34" charset="-120"/>
              </a:rPr>
              <a:t>dim_store</a:t>
            </a:r>
            <a:endParaRPr lang="en-US" sz="1400" dirty="0"/>
          </a:p>
        </p:txBody>
      </p:sp>
      <p:sp>
        <p:nvSpPr>
          <p:cNvPr id="30" name="Shape 27"/>
          <p:cNvSpPr/>
          <p:nvPr/>
        </p:nvSpPr>
        <p:spPr>
          <a:xfrm>
            <a:off x="5943600" y="2103120"/>
            <a:ext cx="2377440" cy="548640"/>
          </a:xfrm>
          <a:prstGeom prst="roundRect">
            <a:avLst>
              <a:gd name="adj" fmla="val 16667"/>
            </a:avLst>
          </a:prstGeom>
          <a:solidFill>
            <a:srgbClr val="F3F6F9"/>
          </a:solidFill>
          <a:ln w="9525">
            <a:solidFill>
              <a:srgbClr val="A8622F"/>
            </a:solidFill>
            <a:prstDash val="solid"/>
          </a:ln>
        </p:spPr>
        <p:txBody>
          <a:bodyPr/>
          <a:lstStyle/>
          <a:p>
            <a:endParaRPr lang="en-US"/>
          </a:p>
        </p:txBody>
      </p:sp>
      <p:sp>
        <p:nvSpPr>
          <p:cNvPr id="31" name="Text 28"/>
          <p:cNvSpPr txBox="1"/>
          <p:nvPr/>
        </p:nvSpPr>
        <p:spPr>
          <a:xfrm>
            <a:off x="5943600" y="2103120"/>
            <a:ext cx="2377440" cy="548640"/>
          </a:xfrm>
          <a:prstGeom prst="rect">
            <a:avLst/>
          </a:prstGeom>
          <a:noFill/>
          <a:ln/>
        </p:spPr>
        <p:txBody>
          <a:bodyPr wrap="square" lIns="0" tIns="0" rIns="0" bIns="0" rtlCol="0" anchor="ctr"/>
          <a:lstStyle/>
          <a:p>
            <a:pPr marL="0" indent="0" algn="ctr">
              <a:buNone/>
            </a:pPr>
            <a:r>
              <a:rPr lang="en-US" sz="1400" b="1" dirty="0">
                <a:solidFill>
                  <a:srgbClr val="12263A"/>
                </a:solidFill>
                <a:latin typeface="Calibri" pitchFamily="34" charset="0"/>
                <a:ea typeface="Calibri" pitchFamily="34" charset="-122"/>
                <a:cs typeface="Calibri" pitchFamily="34" charset="-120"/>
              </a:rPr>
              <a:t>region</a:t>
            </a:r>
            <a:endParaRPr lang="en-US" sz="1400" dirty="0"/>
          </a:p>
        </p:txBody>
      </p:sp>
      <p:sp>
        <p:nvSpPr>
          <p:cNvPr id="32" name="Shape 29"/>
          <p:cNvSpPr/>
          <p:nvPr/>
        </p:nvSpPr>
        <p:spPr>
          <a:xfrm>
            <a:off x="7132320" y="2670048"/>
            <a:ext cx="914" cy="146304"/>
          </a:xfrm>
          <a:prstGeom prst="line">
            <a:avLst/>
          </a:prstGeom>
          <a:noFill/>
          <a:ln w="15875">
            <a:solidFill>
              <a:srgbClr val="5B6B7B"/>
            </a:solidFill>
            <a:prstDash val="solid"/>
            <a:tailEnd type="triangle"/>
          </a:ln>
        </p:spPr>
        <p:txBody>
          <a:bodyPr/>
          <a:lstStyle/>
          <a:p>
            <a:endParaRPr lang="en-US"/>
          </a:p>
        </p:txBody>
      </p:sp>
      <p:sp>
        <p:nvSpPr>
          <p:cNvPr id="33" name="Shape 30"/>
          <p:cNvSpPr/>
          <p:nvPr/>
        </p:nvSpPr>
        <p:spPr>
          <a:xfrm>
            <a:off x="6053328" y="2834640"/>
            <a:ext cx="2157984" cy="548640"/>
          </a:xfrm>
          <a:prstGeom prst="roundRect">
            <a:avLst>
              <a:gd name="adj" fmla="val 16667"/>
            </a:avLst>
          </a:prstGeom>
          <a:solidFill>
            <a:srgbClr val="F3F6F9"/>
          </a:solidFill>
          <a:ln w="9525">
            <a:solidFill>
              <a:srgbClr val="A8622F"/>
            </a:solidFill>
            <a:prstDash val="solid"/>
          </a:ln>
        </p:spPr>
        <p:txBody>
          <a:bodyPr/>
          <a:lstStyle/>
          <a:p>
            <a:endParaRPr lang="en-US"/>
          </a:p>
        </p:txBody>
      </p:sp>
      <p:sp>
        <p:nvSpPr>
          <p:cNvPr id="34" name="Text 31"/>
          <p:cNvSpPr txBox="1"/>
          <p:nvPr/>
        </p:nvSpPr>
        <p:spPr>
          <a:xfrm>
            <a:off x="5943600" y="2834640"/>
            <a:ext cx="2377440" cy="548640"/>
          </a:xfrm>
          <a:prstGeom prst="rect">
            <a:avLst/>
          </a:prstGeom>
          <a:noFill/>
          <a:ln/>
        </p:spPr>
        <p:txBody>
          <a:bodyPr wrap="square" lIns="0" tIns="0" rIns="0" bIns="0" rtlCol="0" anchor="ctr"/>
          <a:lstStyle/>
          <a:p>
            <a:pPr marL="0" indent="0" algn="ctr">
              <a:buNone/>
            </a:pPr>
            <a:r>
              <a:rPr lang="en-US" sz="1400" b="1" dirty="0">
                <a:solidFill>
                  <a:srgbClr val="12263A"/>
                </a:solidFill>
                <a:latin typeface="Calibri" pitchFamily="34" charset="0"/>
                <a:ea typeface="Calibri" pitchFamily="34" charset="-122"/>
                <a:cs typeface="Calibri" pitchFamily="34" charset="-120"/>
              </a:rPr>
              <a:t>city</a:t>
            </a:r>
            <a:endParaRPr lang="en-US" sz="1400" dirty="0"/>
          </a:p>
        </p:txBody>
      </p:sp>
      <p:sp>
        <p:nvSpPr>
          <p:cNvPr id="35" name="Shape 32"/>
          <p:cNvSpPr/>
          <p:nvPr/>
        </p:nvSpPr>
        <p:spPr>
          <a:xfrm>
            <a:off x="7132320" y="3401568"/>
            <a:ext cx="914" cy="146304"/>
          </a:xfrm>
          <a:prstGeom prst="line">
            <a:avLst/>
          </a:prstGeom>
          <a:noFill/>
          <a:ln w="15875">
            <a:solidFill>
              <a:srgbClr val="5B6B7B"/>
            </a:solidFill>
            <a:prstDash val="solid"/>
            <a:tailEnd type="triangle"/>
          </a:ln>
        </p:spPr>
        <p:txBody>
          <a:bodyPr/>
          <a:lstStyle/>
          <a:p>
            <a:endParaRPr lang="en-US"/>
          </a:p>
        </p:txBody>
      </p:sp>
      <p:sp>
        <p:nvSpPr>
          <p:cNvPr id="36" name="Shape 33"/>
          <p:cNvSpPr/>
          <p:nvPr/>
        </p:nvSpPr>
        <p:spPr>
          <a:xfrm>
            <a:off x="6163056" y="3566160"/>
            <a:ext cx="1938528" cy="548640"/>
          </a:xfrm>
          <a:prstGeom prst="roundRect">
            <a:avLst>
              <a:gd name="adj" fmla="val 16667"/>
            </a:avLst>
          </a:prstGeom>
          <a:solidFill>
            <a:srgbClr val="A8622F"/>
          </a:solidFill>
          <a:ln w="9525">
            <a:solidFill>
              <a:srgbClr val="A8622F"/>
            </a:solidFill>
            <a:prstDash val="solid"/>
          </a:ln>
        </p:spPr>
        <p:txBody>
          <a:bodyPr/>
          <a:lstStyle/>
          <a:p>
            <a:endParaRPr lang="en-US"/>
          </a:p>
        </p:txBody>
      </p:sp>
      <p:sp>
        <p:nvSpPr>
          <p:cNvPr id="37" name="Text 34"/>
          <p:cNvSpPr txBox="1"/>
          <p:nvPr/>
        </p:nvSpPr>
        <p:spPr>
          <a:xfrm>
            <a:off x="5943600" y="3566160"/>
            <a:ext cx="23774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store</a:t>
            </a:r>
            <a:endParaRPr lang="en-US" sz="1400" dirty="0"/>
          </a:p>
        </p:txBody>
      </p:sp>
      <p:sp>
        <p:nvSpPr>
          <p:cNvPr id="38" name="Text 35"/>
          <p:cNvSpPr txBox="1"/>
          <p:nvPr/>
        </p:nvSpPr>
        <p:spPr>
          <a:xfrm>
            <a:off x="548640" y="5120640"/>
            <a:ext cx="7772400" cy="320040"/>
          </a:xfrm>
          <a:prstGeom prst="rect">
            <a:avLst/>
          </a:prstGeom>
          <a:noFill/>
          <a:ln/>
        </p:spPr>
        <p:txBody>
          <a:bodyPr wrap="square" lIns="0" tIns="0" rIns="0" bIns="0" rtlCol="0" anchor="t"/>
          <a:lstStyle/>
          <a:p>
            <a:pPr marL="0" indent="0" algn="ctr">
              <a:buNone/>
            </a:pPr>
            <a:r>
              <a:rPr lang="en-US" sz="1200" i="1" dirty="0">
                <a:solidFill>
                  <a:srgbClr val="5B6B7B"/>
                </a:solidFill>
                <a:latin typeface="Calibri" pitchFamily="34" charset="0"/>
                <a:ea typeface="Calibri" pitchFamily="34" charset="-122"/>
                <a:cs typeface="Calibri" pitchFamily="34" charset="-120"/>
              </a:rPr>
              <a:t>summary ↑   detail ↓</a:t>
            </a:r>
            <a:endParaRPr lang="en-US" sz="1200" dirty="0"/>
          </a:p>
        </p:txBody>
      </p:sp>
      <p:sp>
        <p:nvSpPr>
          <p:cNvPr id="39" name="Shape 36"/>
          <p:cNvSpPr/>
          <p:nvPr/>
        </p:nvSpPr>
        <p:spPr>
          <a:xfrm>
            <a:off x="8732520" y="1691640"/>
            <a:ext cx="2910535" cy="1920240"/>
          </a:xfrm>
          <a:prstGeom prst="roundRect">
            <a:avLst>
              <a:gd name="adj" fmla="val 3810"/>
            </a:avLst>
          </a:prstGeom>
          <a:solidFill>
            <a:srgbClr val="F3F6F9"/>
          </a:solidFill>
          <a:ln w="9525">
            <a:solidFill>
              <a:srgbClr val="F3F6F9"/>
            </a:solidFill>
            <a:prstDash val="solid"/>
          </a:ln>
        </p:spPr>
        <p:txBody>
          <a:bodyPr/>
          <a:lstStyle/>
          <a:p>
            <a:endParaRPr lang="en-US"/>
          </a:p>
        </p:txBody>
      </p:sp>
      <p:sp>
        <p:nvSpPr>
          <p:cNvPr id="40" name="Shape 37"/>
          <p:cNvSpPr/>
          <p:nvPr/>
        </p:nvSpPr>
        <p:spPr>
          <a:xfrm>
            <a:off x="8915400" y="1874520"/>
            <a:ext cx="402336" cy="402336"/>
          </a:xfrm>
          <a:prstGeom prst="ellipse">
            <a:avLst/>
          </a:prstGeom>
          <a:solidFill>
            <a:srgbClr val="12263A"/>
          </a:solidFill>
          <a:ln w="12700">
            <a:solidFill>
              <a:srgbClr val="12263A"/>
            </a:solidFill>
            <a:prstDash val="solid"/>
          </a:ln>
        </p:spPr>
        <p:txBody>
          <a:bodyPr/>
          <a:lstStyle/>
          <a:p>
            <a:endParaRPr lang="en-US"/>
          </a:p>
        </p:txBody>
      </p:sp>
      <p:pic>
        <p:nvPicPr>
          <p:cNvPr id="41" name="Image 0" descr="preencoded.png"/>
          <p:cNvPicPr>
            <a:picLocks noChangeAspect="1"/>
          </p:cNvPicPr>
          <p:nvPr/>
        </p:nvPicPr>
        <p:blipFill>
          <a:blip r:embed="rId3"/>
          <a:stretch>
            <a:fillRect/>
          </a:stretch>
        </p:blipFill>
        <p:spPr>
          <a:xfrm>
            <a:off x="9020007" y="1979127"/>
            <a:ext cx="193121" cy="193121"/>
          </a:xfrm>
          <a:prstGeom prst="rect">
            <a:avLst/>
          </a:prstGeom>
        </p:spPr>
      </p:pic>
      <p:sp>
        <p:nvSpPr>
          <p:cNvPr id="42" name="Text 38"/>
          <p:cNvSpPr txBox="1"/>
          <p:nvPr/>
        </p:nvSpPr>
        <p:spPr>
          <a:xfrm>
            <a:off x="9445752" y="1874520"/>
            <a:ext cx="2014423"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Stored as columns</a:t>
            </a:r>
            <a:endParaRPr lang="en-US" sz="1550" dirty="0"/>
          </a:p>
        </p:txBody>
      </p:sp>
      <p:sp>
        <p:nvSpPr>
          <p:cNvPr id="43" name="Text 39"/>
          <p:cNvSpPr txBox="1"/>
          <p:nvPr/>
        </p:nvSpPr>
        <p:spPr>
          <a:xfrm>
            <a:off x="8915400" y="2386584"/>
            <a:ext cx="2544775" cy="104241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All levels sit on the same dimension row (product, category, department), so rolling up = GROUP BY a coarser column.</a:t>
            </a:r>
            <a:endParaRPr lang="en-US" sz="1300" dirty="0"/>
          </a:p>
        </p:txBody>
      </p:sp>
      <p:sp>
        <p:nvSpPr>
          <p:cNvPr id="44" name="Shape 40"/>
          <p:cNvSpPr/>
          <p:nvPr/>
        </p:nvSpPr>
        <p:spPr>
          <a:xfrm>
            <a:off x="8732520" y="3749040"/>
            <a:ext cx="2910535" cy="1828800"/>
          </a:xfrm>
          <a:prstGeom prst="roundRect">
            <a:avLst>
              <a:gd name="adj" fmla="val 4000"/>
            </a:avLst>
          </a:prstGeom>
          <a:solidFill>
            <a:srgbClr val="F3F6F9"/>
          </a:solidFill>
          <a:ln w="9525">
            <a:solidFill>
              <a:srgbClr val="F3F6F9"/>
            </a:solidFill>
            <a:prstDash val="solid"/>
          </a:ln>
        </p:spPr>
        <p:txBody>
          <a:bodyPr/>
          <a:lstStyle/>
          <a:p>
            <a:endParaRPr lang="en-US"/>
          </a:p>
        </p:txBody>
      </p:sp>
      <p:sp>
        <p:nvSpPr>
          <p:cNvPr id="45" name="Shape 41"/>
          <p:cNvSpPr/>
          <p:nvPr/>
        </p:nvSpPr>
        <p:spPr>
          <a:xfrm>
            <a:off x="8915400" y="3931920"/>
            <a:ext cx="402336" cy="402336"/>
          </a:xfrm>
          <a:prstGeom prst="ellipse">
            <a:avLst/>
          </a:prstGeom>
          <a:solidFill>
            <a:srgbClr val="5B4BA6"/>
          </a:solidFill>
          <a:ln w="12700">
            <a:solidFill>
              <a:srgbClr val="5B4BA6"/>
            </a:solidFill>
            <a:prstDash val="solid"/>
          </a:ln>
        </p:spPr>
        <p:txBody>
          <a:bodyPr/>
          <a:lstStyle/>
          <a:p>
            <a:endParaRPr lang="en-US"/>
          </a:p>
        </p:txBody>
      </p:sp>
      <p:pic>
        <p:nvPicPr>
          <p:cNvPr id="46" name="Image 1" descr="preencoded.png"/>
          <p:cNvPicPr>
            <a:picLocks noChangeAspect="1"/>
          </p:cNvPicPr>
          <p:nvPr/>
        </p:nvPicPr>
        <p:blipFill>
          <a:blip r:embed="rId4"/>
          <a:stretch>
            <a:fillRect/>
          </a:stretch>
        </p:blipFill>
        <p:spPr>
          <a:xfrm>
            <a:off x="9020007" y="4036527"/>
            <a:ext cx="193121" cy="193121"/>
          </a:xfrm>
          <a:prstGeom prst="rect">
            <a:avLst/>
          </a:prstGeom>
        </p:spPr>
      </p:pic>
      <p:sp>
        <p:nvSpPr>
          <p:cNvPr id="47" name="Text 42"/>
          <p:cNvSpPr txBox="1"/>
          <p:nvPr/>
        </p:nvSpPr>
        <p:spPr>
          <a:xfrm>
            <a:off x="9445752" y="3931920"/>
            <a:ext cx="2014423"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Many-to-many? Bridge table</a:t>
            </a:r>
            <a:endParaRPr lang="en-US" sz="1550" dirty="0"/>
          </a:p>
        </p:txBody>
      </p:sp>
      <p:sp>
        <p:nvSpPr>
          <p:cNvPr id="48" name="Text 43"/>
          <p:cNvSpPr txBox="1"/>
          <p:nvPr/>
        </p:nvSpPr>
        <p:spPr>
          <a:xfrm>
            <a:off x="8915400" y="4443984"/>
            <a:ext cx="2544775" cy="9509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e.g. one sale under several promotions: a bridge table (sale ↔ promotion, with weights) prevents double counting.</a:t>
            </a:r>
            <a:endParaRPr lang="en-US" sz="1300" dirty="0"/>
          </a:p>
        </p:txBody>
      </p:sp>
      <p:sp>
        <p:nvSpPr>
          <p:cNvPr id="49" name="Shape 44"/>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50" name="Shape 45"/>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51" name="Image 2" descr="preencoded.png"/>
          <p:cNvPicPr>
            <a:picLocks noChangeAspect="1"/>
          </p:cNvPicPr>
          <p:nvPr/>
        </p:nvPicPr>
        <p:blipFill>
          <a:blip r:embed="rId5"/>
          <a:stretch>
            <a:fillRect/>
          </a:stretch>
        </p:blipFill>
        <p:spPr>
          <a:xfrm>
            <a:off x="790042" y="5956402"/>
            <a:ext cx="175565" cy="175565"/>
          </a:xfrm>
          <a:prstGeom prst="rect">
            <a:avLst/>
          </a:prstGeom>
        </p:spPr>
      </p:pic>
      <p:sp>
        <p:nvSpPr>
          <p:cNvPr id="52" name="Text 46"/>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Hierarchies are the ladders OLAP climbs: roll-up goes up a level, drill-down goes down.</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16</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THREE COMMON PATTERNS</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Warehouse schema options: star, snowflake, constellation</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3515258" cy="3886200"/>
          </a:xfrm>
          <a:prstGeom prst="roundRect">
            <a:avLst>
              <a:gd name="adj" fmla="val 2081"/>
            </a:avLst>
          </a:prstGeom>
          <a:solidFill>
            <a:srgbClr val="F3F6F9"/>
          </a:solidFill>
          <a:ln w="9525">
            <a:solidFill>
              <a:srgbClr val="F3F6F9"/>
            </a:solidFill>
            <a:prstDash val="solid"/>
          </a:ln>
        </p:spPr>
        <p:txBody>
          <a:bodyPr/>
          <a:lstStyle/>
          <a:p>
            <a:endParaRPr lang="en-US"/>
          </a:p>
        </p:txBody>
      </p:sp>
      <p:sp>
        <p:nvSpPr>
          <p:cNvPr id="9" name="Shape 6"/>
          <p:cNvSpPr/>
          <p:nvPr/>
        </p:nvSpPr>
        <p:spPr>
          <a:xfrm>
            <a:off x="731520" y="1874520"/>
            <a:ext cx="402336" cy="402336"/>
          </a:xfrm>
          <a:prstGeom prst="ellipse">
            <a:avLst/>
          </a:prstGeom>
          <a:solidFill>
            <a:srgbClr val="B8860B"/>
          </a:solidFill>
          <a:ln w="12700">
            <a:solidFill>
              <a:srgbClr val="B8860B"/>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836127" y="1979127"/>
            <a:ext cx="193121" cy="193121"/>
          </a:xfrm>
          <a:prstGeom prst="rect">
            <a:avLst/>
          </a:prstGeom>
        </p:spPr>
      </p:pic>
      <p:sp>
        <p:nvSpPr>
          <p:cNvPr id="11" name="Text 7"/>
          <p:cNvSpPr txBox="1"/>
          <p:nvPr/>
        </p:nvSpPr>
        <p:spPr>
          <a:xfrm>
            <a:off x="1261872" y="187452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Star schema</a:t>
            </a:r>
            <a:endParaRPr lang="en-US" sz="1550" dirty="0"/>
          </a:p>
        </p:txBody>
      </p:sp>
      <p:sp>
        <p:nvSpPr>
          <p:cNvPr id="12" name="Text 8"/>
          <p:cNvSpPr txBox="1"/>
          <p:nvPr/>
        </p:nvSpPr>
        <p:spPr>
          <a:xfrm>
            <a:off x="731520" y="2386584"/>
            <a:ext cx="3149498" cy="3008376"/>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One central fact table surrounded by denormalised dimensions.</a:t>
            </a:r>
            <a:endParaRPr lang="en-US" sz="135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50" dirty="0"/>
          </a:p>
          <a:p>
            <a:pPr marL="165100" indent="-165100">
              <a:spcAft>
                <a:spcPts val="400"/>
              </a:spcAft>
              <a:buSzPct val="100000"/>
              <a:buChar char="•"/>
            </a:pPr>
            <a:r>
              <a:rPr lang="en-US" sz="1350" dirty="0">
                <a:solidFill>
                  <a:srgbClr val="1F2A37"/>
                </a:solidFill>
                <a:latin typeface="Calibri" pitchFamily="34" charset="0"/>
                <a:ea typeface="Calibri" pitchFamily="34" charset="-122"/>
                <a:cs typeface="Calibri" pitchFamily="34" charset="-120"/>
              </a:rPr>
              <a:t>Simple one-hop joins</a:t>
            </a:r>
            <a:endParaRPr lang="en-US" sz="1350" dirty="0"/>
          </a:p>
          <a:p>
            <a:pPr marL="165100" indent="-165100">
              <a:spcAft>
                <a:spcPts val="400"/>
              </a:spcAft>
              <a:buSzPct val="100000"/>
              <a:buChar char="•"/>
            </a:pPr>
            <a:r>
              <a:rPr lang="en-US" sz="1350" dirty="0">
                <a:solidFill>
                  <a:srgbClr val="1F2A37"/>
                </a:solidFill>
                <a:latin typeface="Calibri" pitchFamily="34" charset="0"/>
                <a:ea typeface="Calibri" pitchFamily="34" charset="-122"/>
                <a:cs typeface="Calibri" pitchFamily="34" charset="-120"/>
              </a:rPr>
              <a:t>High query performance</a:t>
            </a:r>
            <a:endParaRPr lang="en-US" sz="1350" dirty="0"/>
          </a:p>
          <a:p>
            <a:pPr marL="165100" indent="-165100">
              <a:spcAft>
                <a:spcPts val="400"/>
              </a:spcAft>
              <a:buSzPct val="100000"/>
              <a:buChar char="•"/>
            </a:pPr>
            <a:r>
              <a:rPr lang="en-US" sz="1350" dirty="0">
                <a:solidFill>
                  <a:srgbClr val="1F2A37"/>
                </a:solidFill>
                <a:latin typeface="Calibri" pitchFamily="34" charset="0"/>
                <a:ea typeface="Calibri" pitchFamily="34" charset="-122"/>
                <a:cs typeface="Calibri" pitchFamily="34" charset="-120"/>
              </a:rPr>
              <a:t>Easy for analysts and BI tools</a:t>
            </a:r>
            <a:endParaRPr lang="en-US" sz="135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50" dirty="0"/>
          </a:p>
          <a:p>
            <a:pPr marL="0" indent="0">
              <a:spcAft>
                <a:spcPts val="400"/>
              </a:spcAft>
              <a:buNone/>
            </a:pPr>
            <a:r>
              <a:rPr lang="en-US" sz="1350" b="1" dirty="0">
                <a:solidFill>
                  <a:srgbClr val="B8860B"/>
                </a:solidFill>
                <a:latin typeface="Calibri" pitchFamily="34" charset="0"/>
                <a:ea typeface="Calibri" pitchFamily="34" charset="-122"/>
                <a:cs typeface="Calibri" pitchFamily="34" charset="-120"/>
              </a:rPr>
              <a:t>Use when: </a:t>
            </a:r>
            <a:r>
              <a:rPr lang="en-US" sz="1350" i="1" dirty="0">
                <a:solidFill>
                  <a:srgbClr val="1F2A37"/>
                </a:solidFill>
                <a:latin typeface="Calibri" pitchFamily="34" charset="0"/>
                <a:ea typeface="Calibri" pitchFamily="34" charset="-122"/>
                <a:cs typeface="Calibri" pitchFamily="34" charset="-120"/>
              </a:rPr>
              <a:t>Default for BI and this course</a:t>
            </a:r>
            <a:endParaRPr lang="en-US" sz="1350" dirty="0"/>
          </a:p>
        </p:txBody>
      </p:sp>
      <p:sp>
        <p:nvSpPr>
          <p:cNvPr id="13" name="Shape 9"/>
          <p:cNvSpPr/>
          <p:nvPr/>
        </p:nvSpPr>
        <p:spPr>
          <a:xfrm>
            <a:off x="4338218" y="1691640"/>
            <a:ext cx="3515258" cy="3886200"/>
          </a:xfrm>
          <a:prstGeom prst="roundRect">
            <a:avLst>
              <a:gd name="adj" fmla="val 2081"/>
            </a:avLst>
          </a:prstGeom>
          <a:solidFill>
            <a:srgbClr val="F3F6F9"/>
          </a:solidFill>
          <a:ln w="9525">
            <a:solidFill>
              <a:srgbClr val="F3F6F9"/>
            </a:solidFill>
            <a:prstDash val="solid"/>
          </a:ln>
        </p:spPr>
        <p:txBody>
          <a:bodyPr/>
          <a:lstStyle/>
          <a:p>
            <a:endParaRPr lang="en-US"/>
          </a:p>
        </p:txBody>
      </p:sp>
      <p:sp>
        <p:nvSpPr>
          <p:cNvPr id="14" name="Shape 10"/>
          <p:cNvSpPr/>
          <p:nvPr/>
        </p:nvSpPr>
        <p:spPr>
          <a:xfrm>
            <a:off x="4521098" y="1874520"/>
            <a:ext cx="402336" cy="402336"/>
          </a:xfrm>
          <a:prstGeom prst="ellipse">
            <a:avLst/>
          </a:prstGeom>
          <a:solidFill>
            <a:srgbClr val="2F6DB5"/>
          </a:solidFill>
          <a:ln w="12700">
            <a:solidFill>
              <a:srgbClr val="2F6DB5"/>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625706" y="1979127"/>
            <a:ext cx="193121" cy="193121"/>
          </a:xfrm>
          <a:prstGeom prst="rect">
            <a:avLst/>
          </a:prstGeom>
        </p:spPr>
      </p:pic>
      <p:sp>
        <p:nvSpPr>
          <p:cNvPr id="16" name="Text 11"/>
          <p:cNvSpPr txBox="1"/>
          <p:nvPr/>
        </p:nvSpPr>
        <p:spPr>
          <a:xfrm>
            <a:off x="5051450" y="187452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Snowflake schema</a:t>
            </a:r>
            <a:endParaRPr lang="en-US" sz="1550" dirty="0"/>
          </a:p>
        </p:txBody>
      </p:sp>
      <p:sp>
        <p:nvSpPr>
          <p:cNvPr id="17" name="Text 12"/>
          <p:cNvSpPr txBox="1"/>
          <p:nvPr/>
        </p:nvSpPr>
        <p:spPr>
          <a:xfrm>
            <a:off x="4521098" y="2386584"/>
            <a:ext cx="3149498" cy="3008376"/>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Dimensions are normalised into sub-dimensions (Product → Category → Department).</a:t>
            </a:r>
            <a:endParaRPr lang="en-US" sz="135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50" dirty="0"/>
          </a:p>
          <a:p>
            <a:pPr marL="165100" indent="-165100">
              <a:spcAft>
                <a:spcPts val="400"/>
              </a:spcAft>
              <a:buSzPct val="100000"/>
              <a:buChar char="•"/>
            </a:pPr>
            <a:r>
              <a:rPr lang="en-US" sz="1350" dirty="0">
                <a:solidFill>
                  <a:srgbClr val="1F2A37"/>
                </a:solidFill>
                <a:latin typeface="Calibri" pitchFamily="34" charset="0"/>
                <a:ea typeface="Calibri" pitchFamily="34" charset="-122"/>
                <a:cs typeface="Calibri" pitchFamily="34" charset="-120"/>
              </a:rPr>
              <a:t>Less redundancy, smaller dimensions</a:t>
            </a:r>
            <a:endParaRPr lang="en-US" sz="1350" dirty="0"/>
          </a:p>
          <a:p>
            <a:pPr marL="165100" indent="-165100">
              <a:spcAft>
                <a:spcPts val="400"/>
              </a:spcAft>
              <a:buSzPct val="100000"/>
              <a:buChar char="•"/>
            </a:pPr>
            <a:r>
              <a:rPr lang="en-US" sz="1350" dirty="0">
                <a:solidFill>
                  <a:srgbClr val="1F2A37"/>
                </a:solidFill>
                <a:latin typeface="Calibri" pitchFamily="34" charset="0"/>
                <a:ea typeface="Calibri" pitchFamily="34" charset="-122"/>
                <a:cs typeface="Calibri" pitchFamily="34" charset="-120"/>
              </a:rPr>
              <a:t>Trade-off: more chained joins, harder queries</a:t>
            </a:r>
            <a:endParaRPr lang="en-US" sz="135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50" dirty="0"/>
          </a:p>
          <a:p>
            <a:pPr marL="0" indent="0">
              <a:spcAft>
                <a:spcPts val="400"/>
              </a:spcAft>
              <a:buNone/>
            </a:pPr>
            <a:r>
              <a:rPr lang="en-US" sz="1350" b="1" dirty="0">
                <a:solidFill>
                  <a:srgbClr val="2F6DB5"/>
                </a:solidFill>
                <a:latin typeface="Calibri" pitchFamily="34" charset="0"/>
                <a:ea typeface="Calibri" pitchFamily="34" charset="-122"/>
                <a:cs typeface="Calibri" pitchFamily="34" charset="-120"/>
              </a:rPr>
              <a:t>Use when: </a:t>
            </a:r>
            <a:r>
              <a:rPr lang="en-US" sz="1350" i="1" dirty="0">
                <a:solidFill>
                  <a:srgbClr val="1F2A37"/>
                </a:solidFill>
                <a:latin typeface="Calibri" pitchFamily="34" charset="0"/>
                <a:ea typeface="Calibri" pitchFamily="34" charset="-122"/>
                <a:cs typeface="Calibri" pitchFamily="34" charset="-120"/>
              </a:rPr>
              <a:t>When dimensions are very large or shared hierarchies matter</a:t>
            </a:r>
            <a:endParaRPr lang="en-US" sz="1350" dirty="0"/>
          </a:p>
        </p:txBody>
      </p:sp>
      <p:sp>
        <p:nvSpPr>
          <p:cNvPr id="18" name="Shape 13"/>
          <p:cNvSpPr/>
          <p:nvPr/>
        </p:nvSpPr>
        <p:spPr>
          <a:xfrm>
            <a:off x="8127797" y="1691640"/>
            <a:ext cx="3515258" cy="3886200"/>
          </a:xfrm>
          <a:prstGeom prst="roundRect">
            <a:avLst>
              <a:gd name="adj" fmla="val 2081"/>
            </a:avLst>
          </a:prstGeom>
          <a:solidFill>
            <a:srgbClr val="F3F6F9"/>
          </a:solidFill>
          <a:ln w="9525">
            <a:solidFill>
              <a:srgbClr val="F3F6F9"/>
            </a:solidFill>
            <a:prstDash val="solid"/>
          </a:ln>
        </p:spPr>
        <p:txBody>
          <a:bodyPr/>
          <a:lstStyle/>
          <a:p>
            <a:endParaRPr lang="en-US"/>
          </a:p>
        </p:txBody>
      </p:sp>
      <p:sp>
        <p:nvSpPr>
          <p:cNvPr id="19" name="Shape 14"/>
          <p:cNvSpPr/>
          <p:nvPr/>
        </p:nvSpPr>
        <p:spPr>
          <a:xfrm>
            <a:off x="8310677" y="1874520"/>
            <a:ext cx="402336" cy="402336"/>
          </a:xfrm>
          <a:prstGeom prst="ellipse">
            <a:avLst/>
          </a:prstGeom>
          <a:solidFill>
            <a:srgbClr val="5B4BA6"/>
          </a:solidFill>
          <a:ln w="12700">
            <a:solidFill>
              <a:srgbClr val="5B4BA6"/>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415284" y="1979127"/>
            <a:ext cx="193121" cy="193121"/>
          </a:xfrm>
          <a:prstGeom prst="rect">
            <a:avLst/>
          </a:prstGeom>
        </p:spPr>
      </p:pic>
      <p:sp>
        <p:nvSpPr>
          <p:cNvPr id="21" name="Text 15"/>
          <p:cNvSpPr txBox="1"/>
          <p:nvPr/>
        </p:nvSpPr>
        <p:spPr>
          <a:xfrm>
            <a:off x="8841029" y="187452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Fact constellation</a:t>
            </a:r>
            <a:endParaRPr lang="en-US" sz="1550" dirty="0"/>
          </a:p>
        </p:txBody>
      </p:sp>
      <p:sp>
        <p:nvSpPr>
          <p:cNvPr id="22" name="Text 16"/>
          <p:cNvSpPr txBox="1"/>
          <p:nvPr/>
        </p:nvSpPr>
        <p:spPr>
          <a:xfrm>
            <a:off x="8310677" y="2386584"/>
            <a:ext cx="3149498" cy="3008376"/>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Several fact tables share the same conformed dimensions (a “galaxy”).</a:t>
            </a:r>
            <a:endParaRPr lang="en-US" sz="135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50" dirty="0"/>
          </a:p>
          <a:p>
            <a:pPr marL="165100" indent="-165100">
              <a:spcAft>
                <a:spcPts val="400"/>
              </a:spcAft>
              <a:buSzPct val="100000"/>
              <a:buChar char="•"/>
            </a:pPr>
            <a:r>
              <a:rPr lang="en-US" sz="1350" dirty="0">
                <a:solidFill>
                  <a:srgbClr val="1F2A37"/>
                </a:solidFill>
                <a:latin typeface="Calibri" pitchFamily="34" charset="0"/>
                <a:ea typeface="Calibri" pitchFamily="34" charset="-122"/>
                <a:cs typeface="Calibri" pitchFamily="34" charset="-120"/>
              </a:rPr>
              <a:t>Models many business processes</a:t>
            </a:r>
            <a:endParaRPr lang="en-US" sz="1350" dirty="0"/>
          </a:p>
          <a:p>
            <a:pPr marL="165100" indent="-165100">
              <a:spcAft>
                <a:spcPts val="400"/>
              </a:spcAft>
              <a:buSzPct val="100000"/>
              <a:buChar char="•"/>
            </a:pPr>
            <a:r>
              <a:rPr lang="en-US" sz="1350" dirty="0">
                <a:solidFill>
                  <a:srgbClr val="1F2A37"/>
                </a:solidFill>
                <a:latin typeface="Calibri" pitchFamily="34" charset="0"/>
                <a:ea typeface="Calibri" pitchFamily="34" charset="-122"/>
                <a:cs typeface="Calibri" pitchFamily="34" charset="-120"/>
              </a:rPr>
              <a:t>Consistent Date / Product / Customer everywhere</a:t>
            </a:r>
            <a:endParaRPr lang="en-US" sz="135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50" dirty="0"/>
          </a:p>
          <a:p>
            <a:pPr marL="0" indent="0">
              <a:spcAft>
                <a:spcPts val="400"/>
              </a:spcAft>
              <a:buNone/>
            </a:pPr>
            <a:r>
              <a:rPr lang="en-US" sz="1350" b="1" dirty="0">
                <a:solidFill>
                  <a:srgbClr val="5B4BA6"/>
                </a:solidFill>
                <a:latin typeface="Calibri" pitchFamily="34" charset="0"/>
                <a:ea typeface="Calibri" pitchFamily="34" charset="-122"/>
                <a:cs typeface="Calibri" pitchFamily="34" charset="-120"/>
              </a:rPr>
              <a:t>Use when: </a:t>
            </a:r>
            <a:r>
              <a:rPr lang="en-US" sz="1350" i="1" dirty="0">
                <a:solidFill>
                  <a:srgbClr val="1F2A37"/>
                </a:solidFill>
                <a:latin typeface="Calibri" pitchFamily="34" charset="0"/>
                <a:ea typeface="Calibri" pitchFamily="34" charset="-122"/>
                <a:cs typeface="Calibri" pitchFamily="34" charset="-120"/>
              </a:rPr>
              <a:t>Enterprise warehouses with sales, purchases, inventory…</a:t>
            </a:r>
            <a:endParaRPr lang="en-US" sz="1350" dirty="0"/>
          </a:p>
        </p:txBody>
      </p:sp>
      <p:sp>
        <p:nvSpPr>
          <p:cNvPr id="23" name="Shape 17"/>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24" name="Shape 18"/>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790042" y="5956402"/>
            <a:ext cx="175565" cy="175565"/>
          </a:xfrm>
          <a:prstGeom prst="rect">
            <a:avLst/>
          </a:prstGeom>
        </p:spPr>
      </p:pic>
      <p:sp>
        <p:nvSpPr>
          <p:cNvPr id="26" name="Text 19"/>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Start with a star; normalise into a snowflake only for a clear reason; grow into a constellation as processes are added.</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17</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SIMPLE, PREDICTABLE JOIN PATHS</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Star schema — the teaching default</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3474720" y="2377440"/>
            <a:ext cx="2377440" cy="2221992"/>
          </a:xfrm>
          <a:prstGeom prst="roundRect">
            <a:avLst>
              <a:gd name="adj" fmla="val 2469"/>
            </a:avLst>
          </a:prstGeom>
          <a:solidFill>
            <a:srgbClr val="FFFFFF"/>
          </a:solidFill>
          <a:ln w="15875">
            <a:solidFill>
              <a:srgbClr val="C8414F"/>
            </a:solidFill>
            <a:prstDash val="solid"/>
          </a:ln>
        </p:spPr>
        <p:txBody>
          <a:bodyPr/>
          <a:lstStyle/>
          <a:p>
            <a:endParaRPr lang="en-US"/>
          </a:p>
        </p:txBody>
      </p:sp>
      <p:sp>
        <p:nvSpPr>
          <p:cNvPr id="9" name="Shape 6"/>
          <p:cNvSpPr/>
          <p:nvPr/>
        </p:nvSpPr>
        <p:spPr>
          <a:xfrm>
            <a:off x="3474720" y="2377440"/>
            <a:ext cx="2377440" cy="384048"/>
          </a:xfrm>
          <a:prstGeom prst="roundRect">
            <a:avLst>
              <a:gd name="adj" fmla="val 14286"/>
            </a:avLst>
          </a:prstGeom>
          <a:solidFill>
            <a:srgbClr val="C8414F"/>
          </a:solidFill>
          <a:ln w="9525">
            <a:solidFill>
              <a:srgbClr val="C8414F"/>
            </a:solidFill>
            <a:prstDash val="solid"/>
          </a:ln>
        </p:spPr>
        <p:txBody>
          <a:bodyPr/>
          <a:lstStyle/>
          <a:p>
            <a:endParaRPr lang="en-US"/>
          </a:p>
        </p:txBody>
      </p:sp>
      <p:sp>
        <p:nvSpPr>
          <p:cNvPr id="10" name="Text 7"/>
          <p:cNvSpPr txBox="1"/>
          <p:nvPr/>
        </p:nvSpPr>
        <p:spPr>
          <a:xfrm>
            <a:off x="3474720" y="2377440"/>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fact_sales</a:t>
            </a:r>
            <a:endParaRPr lang="en-US" sz="1300" dirty="0"/>
          </a:p>
        </p:txBody>
      </p:sp>
      <p:sp>
        <p:nvSpPr>
          <p:cNvPr id="11" name="Text 8"/>
          <p:cNvSpPr txBox="1"/>
          <p:nvPr/>
        </p:nvSpPr>
        <p:spPr>
          <a:xfrm>
            <a:off x="3584448" y="2816352"/>
            <a:ext cx="2194560" cy="1773936"/>
          </a:xfrm>
          <a:prstGeom prst="rect">
            <a:avLst/>
          </a:prstGeom>
          <a:noFill/>
          <a:ln/>
        </p:spPr>
        <p:txBody>
          <a:bodyPr wrap="square" lIns="0" tIns="0" rIns="0" bIns="0" rtlCol="0" anchor="t"/>
          <a:lstStyle/>
          <a:p>
            <a:pPr marL="0" indent="0">
              <a:lnSpc>
                <a:spcPct val="95000"/>
              </a:lnSpc>
              <a:buNone/>
            </a:pPr>
            <a:r>
              <a:rPr lang="en-US" sz="1150" b="1" dirty="0">
                <a:solidFill>
                  <a:srgbClr val="C8414F"/>
                </a:solidFill>
                <a:latin typeface="Calibri" pitchFamily="34" charset="0"/>
                <a:ea typeface="Calibri" pitchFamily="34" charset="-122"/>
                <a:cs typeface="Calibri" pitchFamily="34" charset="-120"/>
              </a:rPr>
              <a:t>date_key (FK)</a:t>
            </a:r>
            <a:endParaRPr lang="en-US" sz="1150" dirty="0"/>
          </a:p>
          <a:p>
            <a:pPr marL="0" indent="0">
              <a:lnSpc>
                <a:spcPct val="95000"/>
              </a:lnSpc>
              <a:buNone/>
            </a:pPr>
            <a:r>
              <a:rPr lang="en-US" sz="1150" b="1" dirty="0">
                <a:solidFill>
                  <a:srgbClr val="C8414F"/>
                </a:solidFill>
                <a:latin typeface="Calibri" pitchFamily="34" charset="0"/>
                <a:ea typeface="Calibri" pitchFamily="34" charset="-122"/>
                <a:cs typeface="Calibri" pitchFamily="34" charset="-120"/>
              </a:rPr>
              <a:t>product_key (FK)</a:t>
            </a:r>
            <a:endParaRPr lang="en-US" sz="1150" dirty="0"/>
          </a:p>
          <a:p>
            <a:pPr marL="0" indent="0">
              <a:lnSpc>
                <a:spcPct val="95000"/>
              </a:lnSpc>
              <a:buNone/>
            </a:pPr>
            <a:r>
              <a:rPr lang="en-US" sz="1150" b="1" dirty="0">
                <a:solidFill>
                  <a:srgbClr val="C8414F"/>
                </a:solidFill>
                <a:latin typeface="Calibri" pitchFamily="34" charset="0"/>
                <a:ea typeface="Calibri" pitchFamily="34" charset="-122"/>
                <a:cs typeface="Calibri" pitchFamily="34" charset="-120"/>
              </a:rPr>
              <a:t>customer_key (FK)</a:t>
            </a:r>
            <a:endParaRPr lang="en-US" sz="1150" dirty="0"/>
          </a:p>
          <a:p>
            <a:pPr marL="0" indent="0">
              <a:lnSpc>
                <a:spcPct val="95000"/>
              </a:lnSpc>
              <a:buNone/>
            </a:pPr>
            <a:r>
              <a:rPr lang="en-US" sz="1150" b="1" dirty="0">
                <a:solidFill>
                  <a:srgbClr val="C8414F"/>
                </a:solidFill>
                <a:latin typeface="Calibri" pitchFamily="34" charset="0"/>
                <a:ea typeface="Calibri" pitchFamily="34" charset="-122"/>
                <a:cs typeface="Calibri" pitchFamily="34" charset="-120"/>
              </a:rPr>
              <a:t>store_key (FK)</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order_id</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quantity</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sales_amount</a:t>
            </a:r>
            <a:endParaRPr lang="en-US" sz="1150" dirty="0"/>
          </a:p>
        </p:txBody>
      </p:sp>
      <p:sp>
        <p:nvSpPr>
          <p:cNvPr id="12" name="Shape 9"/>
          <p:cNvSpPr/>
          <p:nvPr/>
        </p:nvSpPr>
        <p:spPr>
          <a:xfrm>
            <a:off x="548640" y="1645920"/>
            <a:ext cx="2194560" cy="1234440"/>
          </a:xfrm>
          <a:prstGeom prst="roundRect">
            <a:avLst>
              <a:gd name="adj" fmla="val 4444"/>
            </a:avLst>
          </a:prstGeom>
          <a:solidFill>
            <a:srgbClr val="FFFFFF"/>
          </a:solidFill>
          <a:ln w="15875">
            <a:solidFill>
              <a:srgbClr val="2F6DB5"/>
            </a:solidFill>
            <a:prstDash val="solid"/>
          </a:ln>
        </p:spPr>
        <p:txBody>
          <a:bodyPr/>
          <a:lstStyle/>
          <a:p>
            <a:endParaRPr lang="en-US"/>
          </a:p>
        </p:txBody>
      </p:sp>
      <p:sp>
        <p:nvSpPr>
          <p:cNvPr id="13" name="Shape 10"/>
          <p:cNvSpPr/>
          <p:nvPr/>
        </p:nvSpPr>
        <p:spPr>
          <a:xfrm>
            <a:off x="548640" y="1645920"/>
            <a:ext cx="2194560" cy="384048"/>
          </a:xfrm>
          <a:prstGeom prst="roundRect">
            <a:avLst>
              <a:gd name="adj" fmla="val 14286"/>
            </a:avLst>
          </a:prstGeom>
          <a:solidFill>
            <a:srgbClr val="2F6DB5"/>
          </a:solidFill>
          <a:ln w="9525">
            <a:solidFill>
              <a:srgbClr val="2F6DB5"/>
            </a:solidFill>
            <a:prstDash val="solid"/>
          </a:ln>
        </p:spPr>
        <p:txBody>
          <a:bodyPr/>
          <a:lstStyle/>
          <a:p>
            <a:endParaRPr lang="en-US"/>
          </a:p>
        </p:txBody>
      </p:sp>
      <p:sp>
        <p:nvSpPr>
          <p:cNvPr id="14" name="Text 11"/>
          <p:cNvSpPr txBox="1"/>
          <p:nvPr/>
        </p:nvSpPr>
        <p:spPr>
          <a:xfrm>
            <a:off x="548640" y="1645920"/>
            <a:ext cx="2194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dim_date</a:t>
            </a:r>
            <a:endParaRPr lang="en-US" sz="1300" dirty="0"/>
          </a:p>
        </p:txBody>
      </p:sp>
      <p:sp>
        <p:nvSpPr>
          <p:cNvPr id="15" name="Text 12"/>
          <p:cNvSpPr txBox="1"/>
          <p:nvPr/>
        </p:nvSpPr>
        <p:spPr>
          <a:xfrm>
            <a:off x="658368" y="2084832"/>
            <a:ext cx="2011680" cy="786384"/>
          </a:xfrm>
          <a:prstGeom prst="rect">
            <a:avLst/>
          </a:prstGeom>
          <a:noFill/>
          <a:ln/>
        </p:spPr>
        <p:txBody>
          <a:bodyPr wrap="square" lIns="0" tIns="0" rIns="0" bIns="0" rtlCol="0" anchor="t"/>
          <a:lstStyle/>
          <a:p>
            <a:pPr marL="0" indent="0">
              <a:lnSpc>
                <a:spcPct val="95000"/>
              </a:lnSpc>
              <a:buNone/>
            </a:pPr>
            <a:r>
              <a:rPr lang="en-US" sz="1150" b="1" dirty="0">
                <a:solidFill>
                  <a:srgbClr val="2F6DB5"/>
                </a:solidFill>
                <a:latin typeface="Calibri" pitchFamily="34" charset="0"/>
                <a:ea typeface="Calibri" pitchFamily="34" charset="-122"/>
                <a:cs typeface="Calibri" pitchFamily="34" charset="-120"/>
              </a:rPr>
              <a:t>date_key (PK)</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full_date, month</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quarter, year</a:t>
            </a:r>
            <a:endParaRPr lang="en-US" sz="1150" dirty="0"/>
          </a:p>
        </p:txBody>
      </p:sp>
      <p:sp>
        <p:nvSpPr>
          <p:cNvPr id="16" name="Shape 13"/>
          <p:cNvSpPr/>
          <p:nvPr/>
        </p:nvSpPr>
        <p:spPr>
          <a:xfrm>
            <a:off x="2743200" y="2263140"/>
            <a:ext cx="731520" cy="1225296"/>
          </a:xfrm>
          <a:prstGeom prst="line">
            <a:avLst/>
          </a:prstGeom>
          <a:noFill/>
          <a:ln w="19050">
            <a:solidFill>
              <a:srgbClr val="5B6B7B"/>
            </a:solidFill>
            <a:prstDash val="solid"/>
          </a:ln>
        </p:spPr>
        <p:txBody>
          <a:bodyPr/>
          <a:lstStyle/>
          <a:p>
            <a:endParaRPr lang="en-US"/>
          </a:p>
        </p:txBody>
      </p:sp>
      <p:sp>
        <p:nvSpPr>
          <p:cNvPr id="17" name="Shape 14"/>
          <p:cNvSpPr/>
          <p:nvPr/>
        </p:nvSpPr>
        <p:spPr>
          <a:xfrm>
            <a:off x="6217920" y="1645920"/>
            <a:ext cx="2194560" cy="1234440"/>
          </a:xfrm>
          <a:prstGeom prst="roundRect">
            <a:avLst>
              <a:gd name="adj" fmla="val 4444"/>
            </a:avLst>
          </a:prstGeom>
          <a:solidFill>
            <a:srgbClr val="FFFFFF"/>
          </a:solidFill>
          <a:ln w="15875">
            <a:solidFill>
              <a:srgbClr val="2F6DB5"/>
            </a:solidFill>
            <a:prstDash val="solid"/>
          </a:ln>
        </p:spPr>
        <p:txBody>
          <a:bodyPr/>
          <a:lstStyle/>
          <a:p>
            <a:endParaRPr lang="en-US"/>
          </a:p>
        </p:txBody>
      </p:sp>
      <p:sp>
        <p:nvSpPr>
          <p:cNvPr id="18" name="Shape 15"/>
          <p:cNvSpPr/>
          <p:nvPr/>
        </p:nvSpPr>
        <p:spPr>
          <a:xfrm>
            <a:off x="6217920" y="1645920"/>
            <a:ext cx="2194560" cy="384048"/>
          </a:xfrm>
          <a:prstGeom prst="roundRect">
            <a:avLst>
              <a:gd name="adj" fmla="val 14286"/>
            </a:avLst>
          </a:prstGeom>
          <a:solidFill>
            <a:srgbClr val="2F6DB5"/>
          </a:solidFill>
          <a:ln w="9525">
            <a:solidFill>
              <a:srgbClr val="2F6DB5"/>
            </a:solidFill>
            <a:prstDash val="solid"/>
          </a:ln>
        </p:spPr>
        <p:txBody>
          <a:bodyPr/>
          <a:lstStyle/>
          <a:p>
            <a:endParaRPr lang="en-US"/>
          </a:p>
        </p:txBody>
      </p:sp>
      <p:sp>
        <p:nvSpPr>
          <p:cNvPr id="19" name="Text 16"/>
          <p:cNvSpPr txBox="1"/>
          <p:nvPr/>
        </p:nvSpPr>
        <p:spPr>
          <a:xfrm>
            <a:off x="6217920" y="1645920"/>
            <a:ext cx="2194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dim_product</a:t>
            </a:r>
            <a:endParaRPr lang="en-US" sz="1300" dirty="0"/>
          </a:p>
        </p:txBody>
      </p:sp>
      <p:sp>
        <p:nvSpPr>
          <p:cNvPr id="20" name="Text 17"/>
          <p:cNvSpPr txBox="1"/>
          <p:nvPr/>
        </p:nvSpPr>
        <p:spPr>
          <a:xfrm>
            <a:off x="6327648" y="2084832"/>
            <a:ext cx="2011680" cy="786384"/>
          </a:xfrm>
          <a:prstGeom prst="rect">
            <a:avLst/>
          </a:prstGeom>
          <a:noFill/>
          <a:ln/>
        </p:spPr>
        <p:txBody>
          <a:bodyPr wrap="square" lIns="0" tIns="0" rIns="0" bIns="0" rtlCol="0" anchor="t"/>
          <a:lstStyle/>
          <a:p>
            <a:pPr marL="0" indent="0">
              <a:lnSpc>
                <a:spcPct val="95000"/>
              </a:lnSpc>
              <a:buNone/>
            </a:pPr>
            <a:r>
              <a:rPr lang="en-US" sz="1150" b="1" dirty="0">
                <a:solidFill>
                  <a:srgbClr val="2F6DB5"/>
                </a:solidFill>
                <a:latin typeface="Calibri" pitchFamily="34" charset="0"/>
                <a:ea typeface="Calibri" pitchFamily="34" charset="-122"/>
                <a:cs typeface="Calibri" pitchFamily="34" charset="-120"/>
              </a:rPr>
              <a:t>product_key (PK)</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name, category</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department, price</a:t>
            </a:r>
            <a:endParaRPr lang="en-US" sz="1150" dirty="0"/>
          </a:p>
        </p:txBody>
      </p:sp>
      <p:sp>
        <p:nvSpPr>
          <p:cNvPr id="21" name="Shape 18"/>
          <p:cNvSpPr/>
          <p:nvPr/>
        </p:nvSpPr>
        <p:spPr>
          <a:xfrm flipH="1">
            <a:off x="5852160" y="2263140"/>
            <a:ext cx="365760" cy="1225296"/>
          </a:xfrm>
          <a:prstGeom prst="line">
            <a:avLst/>
          </a:prstGeom>
          <a:noFill/>
          <a:ln w="19050">
            <a:solidFill>
              <a:srgbClr val="5B6B7B"/>
            </a:solidFill>
            <a:prstDash val="solid"/>
          </a:ln>
        </p:spPr>
        <p:txBody>
          <a:bodyPr/>
          <a:lstStyle/>
          <a:p>
            <a:endParaRPr lang="en-US"/>
          </a:p>
        </p:txBody>
      </p:sp>
      <p:sp>
        <p:nvSpPr>
          <p:cNvPr id="22" name="Shape 19"/>
          <p:cNvSpPr/>
          <p:nvPr/>
        </p:nvSpPr>
        <p:spPr>
          <a:xfrm>
            <a:off x="548640" y="4023360"/>
            <a:ext cx="2194560" cy="1234440"/>
          </a:xfrm>
          <a:prstGeom prst="roundRect">
            <a:avLst>
              <a:gd name="adj" fmla="val 4444"/>
            </a:avLst>
          </a:prstGeom>
          <a:solidFill>
            <a:srgbClr val="FFFFFF"/>
          </a:solidFill>
          <a:ln w="15875">
            <a:solidFill>
              <a:srgbClr val="2F6DB5"/>
            </a:solidFill>
            <a:prstDash val="solid"/>
          </a:ln>
        </p:spPr>
        <p:txBody>
          <a:bodyPr/>
          <a:lstStyle/>
          <a:p>
            <a:endParaRPr lang="en-US"/>
          </a:p>
        </p:txBody>
      </p:sp>
      <p:sp>
        <p:nvSpPr>
          <p:cNvPr id="23" name="Shape 20"/>
          <p:cNvSpPr/>
          <p:nvPr/>
        </p:nvSpPr>
        <p:spPr>
          <a:xfrm>
            <a:off x="548640" y="4023360"/>
            <a:ext cx="2194560" cy="384048"/>
          </a:xfrm>
          <a:prstGeom prst="roundRect">
            <a:avLst>
              <a:gd name="adj" fmla="val 14286"/>
            </a:avLst>
          </a:prstGeom>
          <a:solidFill>
            <a:srgbClr val="2F6DB5"/>
          </a:solidFill>
          <a:ln w="9525">
            <a:solidFill>
              <a:srgbClr val="2F6DB5"/>
            </a:solidFill>
            <a:prstDash val="solid"/>
          </a:ln>
        </p:spPr>
        <p:txBody>
          <a:bodyPr/>
          <a:lstStyle/>
          <a:p>
            <a:endParaRPr lang="en-US"/>
          </a:p>
        </p:txBody>
      </p:sp>
      <p:sp>
        <p:nvSpPr>
          <p:cNvPr id="24" name="Text 21"/>
          <p:cNvSpPr txBox="1"/>
          <p:nvPr/>
        </p:nvSpPr>
        <p:spPr>
          <a:xfrm>
            <a:off x="548640" y="4023360"/>
            <a:ext cx="2194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dim_customer</a:t>
            </a:r>
            <a:endParaRPr lang="en-US" sz="1300" dirty="0"/>
          </a:p>
        </p:txBody>
      </p:sp>
      <p:sp>
        <p:nvSpPr>
          <p:cNvPr id="25" name="Text 22"/>
          <p:cNvSpPr txBox="1"/>
          <p:nvPr/>
        </p:nvSpPr>
        <p:spPr>
          <a:xfrm>
            <a:off x="658368" y="4462272"/>
            <a:ext cx="2011680" cy="786384"/>
          </a:xfrm>
          <a:prstGeom prst="rect">
            <a:avLst/>
          </a:prstGeom>
          <a:noFill/>
          <a:ln/>
        </p:spPr>
        <p:txBody>
          <a:bodyPr wrap="square" lIns="0" tIns="0" rIns="0" bIns="0" rtlCol="0" anchor="t"/>
          <a:lstStyle/>
          <a:p>
            <a:pPr marL="0" indent="0">
              <a:lnSpc>
                <a:spcPct val="95000"/>
              </a:lnSpc>
              <a:buNone/>
            </a:pPr>
            <a:r>
              <a:rPr lang="en-US" sz="1150" b="1" dirty="0">
                <a:solidFill>
                  <a:srgbClr val="2F6DB5"/>
                </a:solidFill>
                <a:latin typeface="Calibri" pitchFamily="34" charset="0"/>
                <a:ea typeface="Calibri" pitchFamily="34" charset="-122"/>
                <a:cs typeface="Calibri" pitchFamily="34" charset="-120"/>
              </a:rPr>
              <a:t>customer_key (PK)</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name, city</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segment</a:t>
            </a:r>
            <a:endParaRPr lang="en-US" sz="1150" dirty="0"/>
          </a:p>
        </p:txBody>
      </p:sp>
      <p:sp>
        <p:nvSpPr>
          <p:cNvPr id="26" name="Shape 23"/>
          <p:cNvSpPr/>
          <p:nvPr/>
        </p:nvSpPr>
        <p:spPr>
          <a:xfrm flipH="1">
            <a:off x="2743200" y="3488436"/>
            <a:ext cx="731520" cy="1152144"/>
          </a:xfrm>
          <a:prstGeom prst="line">
            <a:avLst/>
          </a:prstGeom>
          <a:noFill/>
          <a:ln w="19050">
            <a:solidFill>
              <a:srgbClr val="5B6B7B"/>
            </a:solidFill>
            <a:prstDash val="solid"/>
          </a:ln>
        </p:spPr>
        <p:txBody>
          <a:bodyPr/>
          <a:lstStyle/>
          <a:p>
            <a:endParaRPr lang="en-US"/>
          </a:p>
        </p:txBody>
      </p:sp>
      <p:sp>
        <p:nvSpPr>
          <p:cNvPr id="27" name="Shape 24"/>
          <p:cNvSpPr/>
          <p:nvPr/>
        </p:nvSpPr>
        <p:spPr>
          <a:xfrm>
            <a:off x="6217920" y="4023360"/>
            <a:ext cx="2194560" cy="1234440"/>
          </a:xfrm>
          <a:prstGeom prst="roundRect">
            <a:avLst>
              <a:gd name="adj" fmla="val 4444"/>
            </a:avLst>
          </a:prstGeom>
          <a:solidFill>
            <a:srgbClr val="FFFFFF"/>
          </a:solidFill>
          <a:ln w="15875">
            <a:solidFill>
              <a:srgbClr val="2F6DB5"/>
            </a:solidFill>
            <a:prstDash val="solid"/>
          </a:ln>
        </p:spPr>
        <p:txBody>
          <a:bodyPr/>
          <a:lstStyle/>
          <a:p>
            <a:endParaRPr lang="en-US"/>
          </a:p>
        </p:txBody>
      </p:sp>
      <p:sp>
        <p:nvSpPr>
          <p:cNvPr id="28" name="Shape 25"/>
          <p:cNvSpPr/>
          <p:nvPr/>
        </p:nvSpPr>
        <p:spPr>
          <a:xfrm>
            <a:off x="6217920" y="4023360"/>
            <a:ext cx="2194560" cy="384048"/>
          </a:xfrm>
          <a:prstGeom prst="roundRect">
            <a:avLst>
              <a:gd name="adj" fmla="val 14286"/>
            </a:avLst>
          </a:prstGeom>
          <a:solidFill>
            <a:srgbClr val="2F6DB5"/>
          </a:solidFill>
          <a:ln w="9525">
            <a:solidFill>
              <a:srgbClr val="2F6DB5"/>
            </a:solidFill>
            <a:prstDash val="solid"/>
          </a:ln>
        </p:spPr>
        <p:txBody>
          <a:bodyPr/>
          <a:lstStyle/>
          <a:p>
            <a:endParaRPr lang="en-US"/>
          </a:p>
        </p:txBody>
      </p:sp>
      <p:sp>
        <p:nvSpPr>
          <p:cNvPr id="29" name="Text 26"/>
          <p:cNvSpPr txBox="1"/>
          <p:nvPr/>
        </p:nvSpPr>
        <p:spPr>
          <a:xfrm>
            <a:off x="6217920" y="4023360"/>
            <a:ext cx="2194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dim_store</a:t>
            </a:r>
            <a:endParaRPr lang="en-US" sz="1300" dirty="0"/>
          </a:p>
        </p:txBody>
      </p:sp>
      <p:sp>
        <p:nvSpPr>
          <p:cNvPr id="30" name="Text 27"/>
          <p:cNvSpPr txBox="1"/>
          <p:nvPr/>
        </p:nvSpPr>
        <p:spPr>
          <a:xfrm>
            <a:off x="6327648" y="4462272"/>
            <a:ext cx="2011680" cy="786384"/>
          </a:xfrm>
          <a:prstGeom prst="rect">
            <a:avLst/>
          </a:prstGeom>
          <a:noFill/>
          <a:ln/>
        </p:spPr>
        <p:txBody>
          <a:bodyPr wrap="square" lIns="0" tIns="0" rIns="0" bIns="0" rtlCol="0" anchor="t"/>
          <a:lstStyle/>
          <a:p>
            <a:pPr marL="0" indent="0">
              <a:lnSpc>
                <a:spcPct val="95000"/>
              </a:lnSpc>
              <a:buNone/>
            </a:pPr>
            <a:r>
              <a:rPr lang="en-US" sz="1150" b="1" dirty="0">
                <a:solidFill>
                  <a:srgbClr val="2F6DB5"/>
                </a:solidFill>
                <a:latin typeface="Calibri" pitchFamily="34" charset="0"/>
                <a:ea typeface="Calibri" pitchFamily="34" charset="-122"/>
                <a:cs typeface="Calibri" pitchFamily="34" charset="-120"/>
              </a:rPr>
              <a:t>store_key (PK)</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store_name, region</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store_type</a:t>
            </a:r>
            <a:endParaRPr lang="en-US" sz="1150" dirty="0"/>
          </a:p>
        </p:txBody>
      </p:sp>
      <p:sp>
        <p:nvSpPr>
          <p:cNvPr id="31" name="Shape 28"/>
          <p:cNvSpPr/>
          <p:nvPr/>
        </p:nvSpPr>
        <p:spPr>
          <a:xfrm>
            <a:off x="5852160" y="3488436"/>
            <a:ext cx="365760" cy="1152144"/>
          </a:xfrm>
          <a:prstGeom prst="line">
            <a:avLst/>
          </a:prstGeom>
          <a:noFill/>
          <a:ln w="19050">
            <a:solidFill>
              <a:srgbClr val="5B6B7B"/>
            </a:solidFill>
            <a:prstDash val="solid"/>
          </a:ln>
        </p:spPr>
        <p:txBody>
          <a:bodyPr/>
          <a:lstStyle/>
          <a:p>
            <a:endParaRPr lang="en-US"/>
          </a:p>
        </p:txBody>
      </p:sp>
      <p:sp>
        <p:nvSpPr>
          <p:cNvPr id="32" name="Shape 29"/>
          <p:cNvSpPr/>
          <p:nvPr/>
        </p:nvSpPr>
        <p:spPr>
          <a:xfrm>
            <a:off x="8732520" y="1645920"/>
            <a:ext cx="2910535" cy="3931920"/>
          </a:xfrm>
          <a:prstGeom prst="roundRect">
            <a:avLst>
              <a:gd name="adj" fmla="val 2513"/>
            </a:avLst>
          </a:prstGeom>
          <a:solidFill>
            <a:srgbClr val="F3F6F9"/>
          </a:solidFill>
          <a:ln w="9525">
            <a:solidFill>
              <a:srgbClr val="F3F6F9"/>
            </a:solidFill>
            <a:prstDash val="solid"/>
          </a:ln>
        </p:spPr>
        <p:txBody>
          <a:bodyPr/>
          <a:lstStyle/>
          <a:p>
            <a:endParaRPr lang="en-US"/>
          </a:p>
        </p:txBody>
      </p:sp>
      <p:sp>
        <p:nvSpPr>
          <p:cNvPr id="33" name="Shape 30"/>
          <p:cNvSpPr/>
          <p:nvPr/>
        </p:nvSpPr>
        <p:spPr>
          <a:xfrm>
            <a:off x="8915400" y="1828800"/>
            <a:ext cx="402336" cy="402336"/>
          </a:xfrm>
          <a:prstGeom prst="ellipse">
            <a:avLst/>
          </a:prstGeom>
          <a:solidFill>
            <a:srgbClr val="B8860B"/>
          </a:solidFill>
          <a:ln w="12700">
            <a:solidFill>
              <a:srgbClr val="B8860B"/>
            </a:solidFill>
            <a:prstDash val="solid"/>
          </a:ln>
        </p:spPr>
        <p:txBody>
          <a:bodyPr/>
          <a:lstStyle/>
          <a:p>
            <a:endParaRPr lang="en-US"/>
          </a:p>
        </p:txBody>
      </p:sp>
      <p:pic>
        <p:nvPicPr>
          <p:cNvPr id="34" name="Image 0" descr="preencoded.png"/>
          <p:cNvPicPr>
            <a:picLocks noChangeAspect="1"/>
          </p:cNvPicPr>
          <p:nvPr/>
        </p:nvPicPr>
        <p:blipFill>
          <a:blip r:embed="rId3"/>
          <a:stretch>
            <a:fillRect/>
          </a:stretch>
        </p:blipFill>
        <p:spPr>
          <a:xfrm>
            <a:off x="9020007" y="1933407"/>
            <a:ext cx="193121" cy="193121"/>
          </a:xfrm>
          <a:prstGeom prst="rect">
            <a:avLst/>
          </a:prstGeom>
        </p:spPr>
      </p:pic>
      <p:sp>
        <p:nvSpPr>
          <p:cNvPr id="35" name="Text 31"/>
          <p:cNvSpPr txBox="1"/>
          <p:nvPr/>
        </p:nvSpPr>
        <p:spPr>
          <a:xfrm>
            <a:off x="9445752" y="1828800"/>
            <a:ext cx="2014423"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Why a star works</a:t>
            </a:r>
            <a:endParaRPr lang="en-US" sz="1550" dirty="0"/>
          </a:p>
        </p:txBody>
      </p:sp>
      <p:sp>
        <p:nvSpPr>
          <p:cNvPr id="36" name="Text 32"/>
          <p:cNvSpPr txBox="1"/>
          <p:nvPr/>
        </p:nvSpPr>
        <p:spPr>
          <a:xfrm>
            <a:off x="8915400" y="2340864"/>
            <a:ext cx="2544775" cy="3054096"/>
          </a:xfrm>
          <a:prstGeom prst="rect">
            <a:avLst/>
          </a:prstGeom>
          <a:noFill/>
          <a:ln/>
        </p:spPr>
        <p:txBody>
          <a:bodyPr wrap="square" lIns="0" tIns="0" rIns="0" bIns="0" rtlCol="0" anchor="t"/>
          <a:lstStyle/>
          <a:p>
            <a:pPr marL="165100" indent="-165100">
              <a:spcAft>
                <a:spcPts val="800"/>
              </a:spcAft>
              <a:buSzPct val="100000"/>
              <a:buChar char="•"/>
            </a:pPr>
            <a:r>
              <a:rPr lang="en-US" sz="1350" dirty="0">
                <a:solidFill>
                  <a:srgbClr val="1F2A37"/>
                </a:solidFill>
                <a:latin typeface="Calibri" pitchFamily="34" charset="0"/>
                <a:ea typeface="Calibri" pitchFamily="34" charset="-122"/>
                <a:cs typeface="Calibri" pitchFamily="34" charset="-120"/>
              </a:rPr>
              <a:t>One-hop joins from the fact to each dimension.</a:t>
            </a:r>
            <a:endParaRPr lang="en-US" sz="1350" dirty="0"/>
          </a:p>
          <a:p>
            <a:pPr marL="165100" indent="-165100">
              <a:spcAft>
                <a:spcPts val="800"/>
              </a:spcAft>
              <a:buSzPct val="100000"/>
              <a:buChar char="•"/>
            </a:pPr>
            <a:r>
              <a:rPr lang="en-US" sz="1350" dirty="0">
                <a:solidFill>
                  <a:srgbClr val="1F2A37"/>
                </a:solidFill>
                <a:latin typeface="Calibri" pitchFamily="34" charset="0"/>
                <a:ea typeface="Calibri" pitchFamily="34" charset="-122"/>
                <a:cs typeface="Calibri" pitchFamily="34" charset="-120"/>
              </a:rPr>
              <a:t>Dimensions are deliberately denormalised (category stored on the product row).</a:t>
            </a:r>
            <a:endParaRPr lang="en-US" sz="1350" dirty="0"/>
          </a:p>
          <a:p>
            <a:pPr marL="165100" indent="-165100">
              <a:spcAft>
                <a:spcPts val="800"/>
              </a:spcAft>
              <a:buSzPct val="100000"/>
              <a:buChar char="•"/>
            </a:pPr>
            <a:r>
              <a:rPr lang="en-US" sz="1350" dirty="0">
                <a:solidFill>
                  <a:srgbClr val="1F2A37"/>
                </a:solidFill>
                <a:latin typeface="Calibri" pitchFamily="34" charset="0"/>
                <a:ea typeface="Calibri" pitchFamily="34" charset="-122"/>
                <a:cs typeface="Calibri" pitchFamily="34" charset="-120"/>
              </a:rPr>
              <a:t>Readable for analysts; fast for BI engines.</a:t>
            </a:r>
            <a:endParaRPr lang="en-US" sz="1350" dirty="0"/>
          </a:p>
          <a:p>
            <a:pPr marL="165100" indent="-165100">
              <a:spcAft>
                <a:spcPts val="800"/>
              </a:spcAft>
              <a:buSzPct val="100000"/>
              <a:buChar char="•"/>
            </a:pPr>
            <a:r>
              <a:rPr lang="en-US" sz="1350" dirty="0">
                <a:solidFill>
                  <a:srgbClr val="1F2A37"/>
                </a:solidFill>
                <a:latin typeface="Calibri" pitchFamily="34" charset="0"/>
                <a:ea typeface="Calibri" pitchFamily="34" charset="-122"/>
                <a:cs typeface="Calibri" pitchFamily="34" charset="-120"/>
              </a:rPr>
              <a:t>Ideal source for dashboards and ML features.</a:t>
            </a:r>
            <a:endParaRPr lang="en-US" sz="1350" dirty="0"/>
          </a:p>
        </p:txBody>
      </p:sp>
      <p:sp>
        <p:nvSpPr>
          <p:cNvPr id="37" name="Shape 33"/>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38" name="Shape 34"/>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39" name="Image 1" descr="preencoded.png"/>
          <p:cNvPicPr>
            <a:picLocks noChangeAspect="1"/>
          </p:cNvPicPr>
          <p:nvPr/>
        </p:nvPicPr>
        <p:blipFill>
          <a:blip r:embed="rId4"/>
          <a:stretch>
            <a:fillRect/>
          </a:stretch>
        </p:blipFill>
        <p:spPr>
          <a:xfrm>
            <a:off x="790042" y="5956402"/>
            <a:ext cx="175565" cy="175565"/>
          </a:xfrm>
          <a:prstGeom prst="rect">
            <a:avLst/>
          </a:prstGeom>
        </p:spPr>
      </p:pic>
      <p:sp>
        <p:nvSpPr>
          <p:cNvPr id="40" name="Text 35"/>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Picture every warehouse query as: start at the fact in the centre, then join outward to the dimensions you need.</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18</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HOW THE ENGINE RESOLVES THE ANALYSIS</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The star-schema query pattern, step by step</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6035040" cy="2926080"/>
          </a:xfrm>
          <a:prstGeom prst="roundRect">
            <a:avLst>
              <a:gd name="adj" fmla="val 1875"/>
            </a:avLst>
          </a:prstGeom>
          <a:solidFill>
            <a:srgbClr val="0F1E2E"/>
          </a:solidFill>
          <a:ln w="9525">
            <a:solidFill>
              <a:srgbClr val="0F1E2E"/>
            </a:solidFill>
            <a:prstDash val="solid"/>
          </a:ln>
        </p:spPr>
        <p:txBody>
          <a:bodyPr/>
          <a:lstStyle/>
          <a:p>
            <a:endParaRPr lang="en-US"/>
          </a:p>
        </p:txBody>
      </p:sp>
      <p:sp>
        <p:nvSpPr>
          <p:cNvPr id="9" name="Text 6"/>
          <p:cNvSpPr txBox="1"/>
          <p:nvPr/>
        </p:nvSpPr>
        <p:spPr>
          <a:xfrm>
            <a:off x="5394960" y="178308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10" name="Text 7"/>
          <p:cNvSpPr txBox="1"/>
          <p:nvPr/>
        </p:nvSpPr>
        <p:spPr>
          <a:xfrm>
            <a:off x="749808" y="1984248"/>
            <a:ext cx="5669280" cy="2542032"/>
          </a:xfrm>
          <a:prstGeom prst="rect">
            <a:avLst/>
          </a:prstGeom>
          <a:noFill/>
          <a:ln/>
        </p:spPr>
        <p:txBody>
          <a:bodyPr wrap="square" lIns="0" tIns="0" rIns="0" bIns="0" rtlCol="0" anchor="t"/>
          <a:lstStyle/>
          <a:p>
            <a:pPr marL="0" indent="0">
              <a:lnSpc>
                <a:spcPct val="105000"/>
              </a:lnSpc>
              <a:buNone/>
            </a:pPr>
            <a:r>
              <a:rPr lang="en-US" sz="1200" dirty="0">
                <a:solidFill>
                  <a:srgbClr val="E6EDF3"/>
                </a:solidFill>
                <a:latin typeface="Courier New" pitchFamily="34" charset="0"/>
                <a:ea typeface="Courier New" pitchFamily="34" charset="-122"/>
                <a:cs typeface="Courier New" pitchFamily="34" charset="-120"/>
              </a:rPr>
              <a:t>SELECT d.year, p.category,</a:t>
            </a:r>
            <a:endParaRPr lang="en-US" sz="1200" dirty="0"/>
          </a:p>
          <a:p>
            <a:pPr marL="0" indent="0">
              <a:lnSpc>
                <a:spcPct val="105000"/>
              </a:lnSpc>
              <a:buNone/>
            </a:pPr>
            <a:r>
              <a:rPr lang="en-US" sz="1200" dirty="0">
                <a:solidFill>
                  <a:srgbClr val="E6EDF3"/>
                </a:solidFill>
                <a:latin typeface="Courier New" pitchFamily="34" charset="0"/>
                <a:ea typeface="Courier New" pitchFamily="34" charset="-122"/>
                <a:cs typeface="Courier New" pitchFamily="34" charset="-120"/>
              </a:rPr>
              <a:t>       SUM(f.sales_amount) AS revenue   -- 4. aggregate</a:t>
            </a:r>
            <a:endParaRPr lang="en-US" sz="1200" dirty="0"/>
          </a:p>
          <a:p>
            <a:pPr marL="0" indent="0">
              <a:lnSpc>
                <a:spcPct val="105000"/>
              </a:lnSpc>
              <a:buNone/>
            </a:pPr>
            <a:r>
              <a:rPr lang="en-US" sz="1200" dirty="0">
                <a:solidFill>
                  <a:srgbClr val="E6EDF3"/>
                </a:solidFill>
                <a:latin typeface="Courier New" pitchFamily="34" charset="0"/>
                <a:ea typeface="Courier New" pitchFamily="34" charset="-122"/>
                <a:cs typeface="Courier New" pitchFamily="34" charset="-120"/>
              </a:rPr>
              <a:t>FROM   gold.fact_sales f                -- 1. start at fact</a:t>
            </a:r>
            <a:endParaRPr lang="en-US" sz="1200" dirty="0"/>
          </a:p>
          <a:p>
            <a:pPr marL="0" indent="0">
              <a:lnSpc>
                <a:spcPct val="105000"/>
              </a:lnSpc>
              <a:buNone/>
            </a:pPr>
            <a:r>
              <a:rPr lang="en-US" sz="1200" dirty="0">
                <a:solidFill>
                  <a:srgbClr val="E6EDF3"/>
                </a:solidFill>
                <a:latin typeface="Courier New" pitchFamily="34" charset="0"/>
                <a:ea typeface="Courier New" pitchFamily="34" charset="-122"/>
                <a:cs typeface="Courier New" pitchFamily="34" charset="-120"/>
              </a:rPr>
              <a:t>JOIN   gold.dim_date d</a:t>
            </a:r>
            <a:endParaRPr lang="en-US" sz="1200" dirty="0"/>
          </a:p>
          <a:p>
            <a:pPr marL="0" indent="0">
              <a:lnSpc>
                <a:spcPct val="105000"/>
              </a:lnSpc>
              <a:buNone/>
            </a:pPr>
            <a:r>
              <a:rPr lang="en-US" sz="1200" dirty="0">
                <a:solidFill>
                  <a:srgbClr val="E6EDF3"/>
                </a:solidFill>
                <a:latin typeface="Courier New" pitchFamily="34" charset="0"/>
                <a:ea typeface="Courier New" pitchFamily="34" charset="-122"/>
                <a:cs typeface="Courier New" pitchFamily="34" charset="-120"/>
              </a:rPr>
              <a:t>  ON   f.date_key = d.date_key          -- 2. join outward</a:t>
            </a:r>
            <a:endParaRPr lang="en-US" sz="1200" dirty="0"/>
          </a:p>
          <a:p>
            <a:pPr marL="0" indent="0">
              <a:lnSpc>
                <a:spcPct val="105000"/>
              </a:lnSpc>
              <a:buNone/>
            </a:pPr>
            <a:r>
              <a:rPr lang="en-US" sz="1200" dirty="0">
                <a:solidFill>
                  <a:srgbClr val="E6EDF3"/>
                </a:solidFill>
                <a:latin typeface="Courier New" pitchFamily="34" charset="0"/>
                <a:ea typeface="Courier New" pitchFamily="34" charset="-122"/>
                <a:cs typeface="Courier New" pitchFamily="34" charset="-120"/>
              </a:rPr>
              <a:t>JOIN   gold.dim_product p</a:t>
            </a:r>
            <a:endParaRPr lang="en-US" sz="1200" dirty="0"/>
          </a:p>
          <a:p>
            <a:pPr marL="0" indent="0">
              <a:lnSpc>
                <a:spcPct val="105000"/>
              </a:lnSpc>
              <a:buNone/>
            </a:pPr>
            <a:r>
              <a:rPr lang="en-US" sz="1200" dirty="0">
                <a:solidFill>
                  <a:srgbClr val="E6EDF3"/>
                </a:solidFill>
                <a:latin typeface="Courier New" pitchFamily="34" charset="0"/>
                <a:ea typeface="Courier New" pitchFamily="34" charset="-122"/>
                <a:cs typeface="Courier New" pitchFamily="34" charset="-120"/>
              </a:rPr>
              <a:t>  ON   f.product_key = p.product_key</a:t>
            </a:r>
            <a:endParaRPr lang="en-US" sz="1200" dirty="0"/>
          </a:p>
          <a:p>
            <a:pPr marL="0" indent="0">
              <a:lnSpc>
                <a:spcPct val="105000"/>
              </a:lnSpc>
              <a:buNone/>
            </a:pPr>
            <a:r>
              <a:rPr lang="en-US" sz="1200" dirty="0">
                <a:solidFill>
                  <a:srgbClr val="E6EDF3"/>
                </a:solidFill>
                <a:latin typeface="Courier New" pitchFamily="34" charset="0"/>
                <a:ea typeface="Courier New" pitchFamily="34" charset="-122"/>
                <a:cs typeface="Courier New" pitchFamily="34" charset="-120"/>
              </a:rPr>
              <a:t>GROUP  BY d.year, p.category;           -- 3. group</a:t>
            </a:r>
            <a:endParaRPr lang="en-US" sz="1200" dirty="0"/>
          </a:p>
        </p:txBody>
      </p:sp>
      <p:sp>
        <p:nvSpPr>
          <p:cNvPr id="11" name="Text 8"/>
          <p:cNvSpPr txBox="1"/>
          <p:nvPr/>
        </p:nvSpPr>
        <p:spPr>
          <a:xfrm>
            <a:off x="548640" y="4709160"/>
            <a:ext cx="2743200" cy="274320"/>
          </a:xfrm>
          <a:prstGeom prst="rect">
            <a:avLst/>
          </a:prstGeom>
          <a:noFill/>
          <a:ln/>
        </p:spPr>
        <p:txBody>
          <a:bodyPr wrap="square" lIns="0" tIns="0" rIns="0" bIns="0" rtlCol="0" anchor="t"/>
          <a:lstStyle/>
          <a:p>
            <a:pPr marL="0" indent="0">
              <a:buNone/>
            </a:pPr>
            <a:r>
              <a:rPr lang="en-US" sz="1200" b="1" dirty="0">
                <a:solidFill>
                  <a:srgbClr val="5B6B7B"/>
                </a:solidFill>
                <a:latin typeface="Calibri" pitchFamily="34" charset="0"/>
                <a:ea typeface="Calibri" pitchFamily="34" charset="-122"/>
                <a:cs typeface="Calibri" pitchFamily="34" charset="-120"/>
              </a:rPr>
              <a:t>Result (illustrative):</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560320" y="4681728"/>
          <a:ext cx="4023360" cy="822960"/>
        </p:xfrm>
        <a:graphic>
          <a:graphicData uri="http://schemas.openxmlformats.org/drawingml/2006/table">
            <a:tbl>
              <a:tblPr/>
              <a:tblGrid>
                <a:gridCol w="9144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7432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year</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revenue</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274320">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2025</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Computers</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1,284,300</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2025</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Accessories</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00" dirty="0">
                          <a:solidFill>
                            <a:srgbClr val="1F2A37"/>
                          </a:solidFill>
                          <a:latin typeface="Calibri" pitchFamily="34" charset="0"/>
                          <a:ea typeface="Calibri" pitchFamily="34" charset="-122"/>
                          <a:cs typeface="Calibri" pitchFamily="34" charset="-120"/>
                        </a:rPr>
                        <a:t>312,750</a:t>
                      </a:r>
                      <a:endParaRPr lang="en-US" sz="11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bl>
          </a:graphicData>
        </a:graphic>
      </p:graphicFrame>
      <p:sp>
        <p:nvSpPr>
          <p:cNvPr id="13" name="Shape 9"/>
          <p:cNvSpPr/>
          <p:nvPr/>
        </p:nvSpPr>
        <p:spPr>
          <a:xfrm>
            <a:off x="6949440" y="1737360"/>
            <a:ext cx="384048" cy="384048"/>
          </a:xfrm>
          <a:prstGeom prst="ellipse">
            <a:avLst/>
          </a:prstGeom>
          <a:solidFill>
            <a:srgbClr val="0E7C7B"/>
          </a:solidFill>
          <a:ln w="12700">
            <a:solidFill>
              <a:srgbClr val="0E7C7B"/>
            </a:solidFill>
            <a:prstDash val="solid"/>
          </a:ln>
        </p:spPr>
        <p:txBody>
          <a:bodyPr/>
          <a:lstStyle/>
          <a:p>
            <a:endParaRPr lang="en-US"/>
          </a:p>
        </p:txBody>
      </p:sp>
      <p:sp>
        <p:nvSpPr>
          <p:cNvPr id="14" name="Text 10"/>
          <p:cNvSpPr txBox="1"/>
          <p:nvPr/>
        </p:nvSpPr>
        <p:spPr>
          <a:xfrm>
            <a:off x="6949440" y="1737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5" name="Text 11"/>
          <p:cNvSpPr txBox="1"/>
          <p:nvPr/>
        </p:nvSpPr>
        <p:spPr>
          <a:xfrm>
            <a:off x="7498080" y="1691640"/>
            <a:ext cx="4144975" cy="685800"/>
          </a:xfrm>
          <a:prstGeom prst="rect">
            <a:avLst/>
          </a:prstGeom>
          <a:noFill/>
          <a:ln/>
        </p:spPr>
        <p:txBody>
          <a:bodyPr wrap="square" lIns="0" tIns="0" rIns="0" bIns="0" rtlCol="0" anchor="ctr"/>
          <a:lstStyle/>
          <a:p>
            <a:pPr marL="0" indent="0">
              <a:buNone/>
            </a:pPr>
            <a:r>
              <a:rPr lang="en-US" sz="1400" dirty="0">
                <a:solidFill>
                  <a:srgbClr val="1F2A37"/>
                </a:solidFill>
                <a:latin typeface="Calibri" pitchFamily="34" charset="0"/>
                <a:ea typeface="Calibri" pitchFamily="34" charset="-122"/>
                <a:cs typeface="Calibri" pitchFamily="34" charset="-120"/>
              </a:rPr>
              <a:t>Start at fact_sales — the table that holds the measure.</a:t>
            </a:r>
            <a:endParaRPr lang="en-US" sz="1400" dirty="0"/>
          </a:p>
        </p:txBody>
      </p:sp>
      <p:sp>
        <p:nvSpPr>
          <p:cNvPr id="16" name="Shape 12"/>
          <p:cNvSpPr/>
          <p:nvPr/>
        </p:nvSpPr>
        <p:spPr>
          <a:xfrm>
            <a:off x="6949440" y="2496312"/>
            <a:ext cx="384048" cy="384048"/>
          </a:xfrm>
          <a:prstGeom prst="ellipse">
            <a:avLst/>
          </a:prstGeom>
          <a:solidFill>
            <a:srgbClr val="0E7C7B"/>
          </a:solidFill>
          <a:ln w="12700">
            <a:solidFill>
              <a:srgbClr val="0E7C7B"/>
            </a:solidFill>
            <a:prstDash val="solid"/>
          </a:ln>
        </p:spPr>
        <p:txBody>
          <a:bodyPr/>
          <a:lstStyle/>
          <a:p>
            <a:endParaRPr lang="en-US"/>
          </a:p>
        </p:txBody>
      </p:sp>
      <p:sp>
        <p:nvSpPr>
          <p:cNvPr id="17" name="Text 13"/>
          <p:cNvSpPr txBox="1"/>
          <p:nvPr/>
        </p:nvSpPr>
        <p:spPr>
          <a:xfrm>
            <a:off x="6949440" y="249631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txBox="1"/>
          <p:nvPr/>
        </p:nvSpPr>
        <p:spPr>
          <a:xfrm>
            <a:off x="7498080" y="2450592"/>
            <a:ext cx="4144975" cy="685800"/>
          </a:xfrm>
          <a:prstGeom prst="rect">
            <a:avLst/>
          </a:prstGeom>
          <a:noFill/>
          <a:ln/>
        </p:spPr>
        <p:txBody>
          <a:bodyPr wrap="square" lIns="0" tIns="0" rIns="0" bIns="0" rtlCol="0" anchor="ctr"/>
          <a:lstStyle/>
          <a:p>
            <a:pPr marL="0" indent="0">
              <a:buNone/>
            </a:pPr>
            <a:r>
              <a:rPr lang="en-US" sz="1400" dirty="0">
                <a:solidFill>
                  <a:srgbClr val="1F2A37"/>
                </a:solidFill>
                <a:latin typeface="Calibri" pitchFamily="34" charset="0"/>
                <a:ea typeface="Calibri" pitchFamily="34" charset="-122"/>
                <a:cs typeface="Calibri" pitchFamily="34" charset="-120"/>
              </a:rPr>
              <a:t>JOIN outward to dim_date and dim_product using the keys.</a:t>
            </a:r>
            <a:endParaRPr lang="en-US" sz="1400" dirty="0"/>
          </a:p>
        </p:txBody>
      </p:sp>
      <p:sp>
        <p:nvSpPr>
          <p:cNvPr id="7" name="Shape 15"/>
          <p:cNvSpPr/>
          <p:nvPr/>
        </p:nvSpPr>
        <p:spPr>
          <a:xfrm>
            <a:off x="6949440" y="3255264"/>
            <a:ext cx="384048" cy="384048"/>
          </a:xfrm>
          <a:prstGeom prst="ellipse">
            <a:avLst/>
          </a:prstGeom>
          <a:solidFill>
            <a:srgbClr val="0E7C7B"/>
          </a:solidFill>
          <a:ln w="12700">
            <a:solidFill>
              <a:srgbClr val="0E7C7B"/>
            </a:solidFill>
            <a:prstDash val="solid"/>
          </a:ln>
        </p:spPr>
        <p:txBody>
          <a:bodyPr/>
          <a:lstStyle/>
          <a:p>
            <a:endParaRPr lang="en-US"/>
          </a:p>
        </p:txBody>
      </p:sp>
      <p:sp>
        <p:nvSpPr>
          <p:cNvPr id="20" name="Text 16"/>
          <p:cNvSpPr txBox="1"/>
          <p:nvPr/>
        </p:nvSpPr>
        <p:spPr>
          <a:xfrm>
            <a:off x="6949440" y="325526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7498080" y="3209544"/>
            <a:ext cx="4144975" cy="685800"/>
          </a:xfrm>
          <a:prstGeom prst="rect">
            <a:avLst/>
          </a:prstGeom>
          <a:noFill/>
          <a:ln/>
        </p:spPr>
        <p:txBody>
          <a:bodyPr wrap="square" lIns="0" tIns="0" rIns="0" bIns="0" rtlCol="0" anchor="ctr"/>
          <a:lstStyle/>
          <a:p>
            <a:pPr marL="0" indent="0">
              <a:buNone/>
            </a:pPr>
            <a:r>
              <a:rPr lang="en-US" sz="1400" dirty="0">
                <a:solidFill>
                  <a:srgbClr val="1F2A37"/>
                </a:solidFill>
                <a:latin typeface="Calibri" pitchFamily="34" charset="0"/>
                <a:ea typeface="Calibri" pitchFamily="34" charset="-122"/>
                <a:cs typeface="Calibri" pitchFamily="34" charset="-120"/>
              </a:rPr>
              <a:t>GROUP BY descriptive attributes from the dimensions (year, category).</a:t>
            </a:r>
            <a:endParaRPr lang="en-US" sz="1400" dirty="0"/>
          </a:p>
        </p:txBody>
      </p:sp>
      <p:sp>
        <p:nvSpPr>
          <p:cNvPr id="22" name="Shape 18"/>
          <p:cNvSpPr/>
          <p:nvPr/>
        </p:nvSpPr>
        <p:spPr>
          <a:xfrm>
            <a:off x="6949440" y="4014216"/>
            <a:ext cx="384048" cy="384048"/>
          </a:xfrm>
          <a:prstGeom prst="ellipse">
            <a:avLst/>
          </a:prstGeom>
          <a:solidFill>
            <a:srgbClr val="0E7C7B"/>
          </a:solidFill>
          <a:ln w="12700">
            <a:solidFill>
              <a:srgbClr val="0E7C7B"/>
            </a:solidFill>
            <a:prstDash val="solid"/>
          </a:ln>
        </p:spPr>
        <p:txBody>
          <a:bodyPr/>
          <a:lstStyle/>
          <a:p>
            <a:endParaRPr lang="en-US"/>
          </a:p>
        </p:txBody>
      </p:sp>
      <p:sp>
        <p:nvSpPr>
          <p:cNvPr id="23" name="Text 19"/>
          <p:cNvSpPr txBox="1"/>
          <p:nvPr/>
        </p:nvSpPr>
        <p:spPr>
          <a:xfrm>
            <a:off x="6949440" y="40142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0"/>
          <p:cNvSpPr txBox="1"/>
          <p:nvPr/>
        </p:nvSpPr>
        <p:spPr>
          <a:xfrm>
            <a:off x="7498080" y="3968496"/>
            <a:ext cx="4144975" cy="685800"/>
          </a:xfrm>
          <a:prstGeom prst="rect">
            <a:avLst/>
          </a:prstGeom>
          <a:noFill/>
          <a:ln/>
        </p:spPr>
        <p:txBody>
          <a:bodyPr wrap="square" lIns="0" tIns="0" rIns="0" bIns="0" rtlCol="0" anchor="ctr"/>
          <a:lstStyle/>
          <a:p>
            <a:pPr marL="0" indent="0">
              <a:buNone/>
            </a:pPr>
            <a:r>
              <a:rPr lang="en-US" sz="1400" dirty="0">
                <a:solidFill>
                  <a:srgbClr val="1F2A37"/>
                </a:solidFill>
                <a:latin typeface="Calibri" pitchFamily="34" charset="0"/>
                <a:ea typeface="Calibri" pitchFamily="34" charset="-122"/>
                <a:cs typeface="Calibri" pitchFamily="34" charset="-120"/>
              </a:rPr>
              <a:t>Aggregate the fact measure: SUM(sales_amount).</a:t>
            </a:r>
            <a:endParaRPr lang="en-US" sz="1400" dirty="0"/>
          </a:p>
        </p:txBody>
      </p:sp>
      <p:sp>
        <p:nvSpPr>
          <p:cNvPr id="25" name="Shape 21"/>
          <p:cNvSpPr/>
          <p:nvPr/>
        </p:nvSpPr>
        <p:spPr>
          <a:xfrm>
            <a:off x="6949440" y="4773168"/>
            <a:ext cx="384048" cy="384048"/>
          </a:xfrm>
          <a:prstGeom prst="ellipse">
            <a:avLst/>
          </a:prstGeom>
          <a:solidFill>
            <a:srgbClr val="0E7C7B"/>
          </a:solidFill>
          <a:ln w="12700">
            <a:solidFill>
              <a:srgbClr val="0E7C7B"/>
            </a:solidFill>
            <a:prstDash val="solid"/>
          </a:ln>
        </p:spPr>
        <p:txBody>
          <a:bodyPr/>
          <a:lstStyle/>
          <a:p>
            <a:endParaRPr lang="en-US"/>
          </a:p>
        </p:txBody>
      </p:sp>
      <p:sp>
        <p:nvSpPr>
          <p:cNvPr id="26" name="Text 22"/>
          <p:cNvSpPr txBox="1"/>
          <p:nvPr/>
        </p:nvSpPr>
        <p:spPr>
          <a:xfrm>
            <a:off x="6949440" y="477316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3"/>
          <p:cNvSpPr txBox="1"/>
          <p:nvPr/>
        </p:nvSpPr>
        <p:spPr>
          <a:xfrm>
            <a:off x="7498080" y="4727448"/>
            <a:ext cx="4144975" cy="685800"/>
          </a:xfrm>
          <a:prstGeom prst="rect">
            <a:avLst/>
          </a:prstGeom>
          <a:noFill/>
          <a:ln/>
        </p:spPr>
        <p:txBody>
          <a:bodyPr wrap="square" lIns="0" tIns="0" rIns="0" bIns="0" rtlCol="0" anchor="ctr"/>
          <a:lstStyle/>
          <a:p>
            <a:pPr marL="0" indent="0">
              <a:buNone/>
            </a:pPr>
            <a:r>
              <a:rPr lang="en-US" sz="1400" dirty="0">
                <a:solidFill>
                  <a:srgbClr val="1F2A37"/>
                </a:solidFill>
                <a:latin typeface="Calibri" pitchFamily="34" charset="0"/>
                <a:ea typeface="Calibri" pitchFamily="34" charset="-122"/>
                <a:cs typeface="Calibri" pitchFamily="34" charset="-120"/>
              </a:rPr>
              <a:t>Return one row per group — the business insight.</a:t>
            </a:r>
            <a:endParaRPr lang="en-US" sz="1400" dirty="0"/>
          </a:p>
        </p:txBody>
      </p:sp>
      <p:sp>
        <p:nvSpPr>
          <p:cNvPr id="28" name="Shape 24"/>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29" name="Shape 25"/>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30"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31" name="Text 26"/>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Measures live in facts; meaning lives in dimensions — the query simply joins them and aggregates.</a:t>
            </a:r>
            <a:endParaRPr lang="en-US" sz="1400" dirty="0"/>
          </a:p>
        </p:txBody>
      </p:sp>
      <p:sp>
        <p:nvSpPr>
          <p:cNvPr id="12"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19</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NORMALISATION INSIDE DIMENSIONS</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Snowflake schema: dimensions split into sub-dimensions</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920240"/>
            <a:ext cx="2103120" cy="987552"/>
          </a:xfrm>
          <a:prstGeom prst="roundRect">
            <a:avLst>
              <a:gd name="adj" fmla="val 5556"/>
            </a:avLst>
          </a:prstGeom>
          <a:solidFill>
            <a:srgbClr val="FFFFFF"/>
          </a:solidFill>
          <a:ln w="15875">
            <a:solidFill>
              <a:srgbClr val="C8414F"/>
            </a:solidFill>
            <a:prstDash val="solid"/>
          </a:ln>
        </p:spPr>
        <p:txBody>
          <a:bodyPr/>
          <a:lstStyle/>
          <a:p>
            <a:endParaRPr lang="en-US"/>
          </a:p>
        </p:txBody>
      </p:sp>
      <p:sp>
        <p:nvSpPr>
          <p:cNvPr id="9" name="Shape 6"/>
          <p:cNvSpPr/>
          <p:nvPr/>
        </p:nvSpPr>
        <p:spPr>
          <a:xfrm>
            <a:off x="548640" y="1920240"/>
            <a:ext cx="2103120" cy="384048"/>
          </a:xfrm>
          <a:prstGeom prst="roundRect">
            <a:avLst>
              <a:gd name="adj" fmla="val 14286"/>
            </a:avLst>
          </a:prstGeom>
          <a:solidFill>
            <a:srgbClr val="C8414F"/>
          </a:solidFill>
          <a:ln w="9525">
            <a:solidFill>
              <a:srgbClr val="C8414F"/>
            </a:solidFill>
            <a:prstDash val="solid"/>
          </a:ln>
        </p:spPr>
        <p:txBody>
          <a:bodyPr/>
          <a:lstStyle/>
          <a:p>
            <a:endParaRPr lang="en-US"/>
          </a:p>
        </p:txBody>
      </p:sp>
      <p:sp>
        <p:nvSpPr>
          <p:cNvPr id="10" name="Text 7"/>
          <p:cNvSpPr txBox="1"/>
          <p:nvPr/>
        </p:nvSpPr>
        <p:spPr>
          <a:xfrm>
            <a:off x="548640" y="1920240"/>
            <a:ext cx="21031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fact_sales</a:t>
            </a:r>
            <a:endParaRPr lang="en-US" sz="1300" dirty="0"/>
          </a:p>
        </p:txBody>
      </p:sp>
      <p:sp>
        <p:nvSpPr>
          <p:cNvPr id="11" name="Text 8"/>
          <p:cNvSpPr txBox="1"/>
          <p:nvPr/>
        </p:nvSpPr>
        <p:spPr>
          <a:xfrm>
            <a:off x="658368" y="2359152"/>
            <a:ext cx="1920240" cy="539496"/>
          </a:xfrm>
          <a:prstGeom prst="rect">
            <a:avLst/>
          </a:prstGeom>
          <a:noFill/>
          <a:ln/>
        </p:spPr>
        <p:txBody>
          <a:bodyPr wrap="square" lIns="0" tIns="0" rIns="0" bIns="0" rtlCol="0" anchor="t"/>
          <a:lstStyle/>
          <a:p>
            <a:pPr marL="0" indent="0">
              <a:lnSpc>
                <a:spcPct val="95000"/>
              </a:lnSpc>
              <a:buNone/>
            </a:pPr>
            <a:r>
              <a:rPr lang="en-US" sz="1150" b="1" dirty="0">
                <a:solidFill>
                  <a:srgbClr val="C8414F"/>
                </a:solidFill>
                <a:latin typeface="Calibri" pitchFamily="34" charset="0"/>
                <a:ea typeface="Calibri" pitchFamily="34" charset="-122"/>
                <a:cs typeface="Calibri" pitchFamily="34" charset="-120"/>
              </a:rPr>
              <a:t>product_key (FK)</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sales_amount</a:t>
            </a:r>
            <a:endParaRPr lang="en-US" sz="1150" dirty="0"/>
          </a:p>
        </p:txBody>
      </p:sp>
      <p:sp>
        <p:nvSpPr>
          <p:cNvPr id="12" name="Shape 9"/>
          <p:cNvSpPr/>
          <p:nvPr/>
        </p:nvSpPr>
        <p:spPr>
          <a:xfrm>
            <a:off x="3200400" y="1920240"/>
            <a:ext cx="2103120" cy="1234440"/>
          </a:xfrm>
          <a:prstGeom prst="roundRect">
            <a:avLst>
              <a:gd name="adj" fmla="val 4444"/>
            </a:avLst>
          </a:prstGeom>
          <a:solidFill>
            <a:srgbClr val="FFFFFF"/>
          </a:solidFill>
          <a:ln w="15875">
            <a:solidFill>
              <a:srgbClr val="2F6DB5"/>
            </a:solidFill>
            <a:prstDash val="solid"/>
          </a:ln>
        </p:spPr>
        <p:txBody>
          <a:bodyPr/>
          <a:lstStyle/>
          <a:p>
            <a:endParaRPr lang="en-US"/>
          </a:p>
        </p:txBody>
      </p:sp>
      <p:sp>
        <p:nvSpPr>
          <p:cNvPr id="13" name="Shape 10"/>
          <p:cNvSpPr/>
          <p:nvPr/>
        </p:nvSpPr>
        <p:spPr>
          <a:xfrm>
            <a:off x="3200400" y="1920240"/>
            <a:ext cx="2103120" cy="384048"/>
          </a:xfrm>
          <a:prstGeom prst="roundRect">
            <a:avLst>
              <a:gd name="adj" fmla="val 14286"/>
            </a:avLst>
          </a:prstGeom>
          <a:solidFill>
            <a:srgbClr val="2F6DB5"/>
          </a:solidFill>
          <a:ln w="9525">
            <a:solidFill>
              <a:srgbClr val="2F6DB5"/>
            </a:solidFill>
            <a:prstDash val="solid"/>
          </a:ln>
        </p:spPr>
        <p:txBody>
          <a:bodyPr/>
          <a:lstStyle/>
          <a:p>
            <a:endParaRPr lang="en-US"/>
          </a:p>
        </p:txBody>
      </p:sp>
      <p:sp>
        <p:nvSpPr>
          <p:cNvPr id="14" name="Text 11"/>
          <p:cNvSpPr txBox="1"/>
          <p:nvPr/>
        </p:nvSpPr>
        <p:spPr>
          <a:xfrm>
            <a:off x="3200400" y="1920240"/>
            <a:ext cx="21031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dim_product</a:t>
            </a:r>
            <a:endParaRPr lang="en-US" sz="1300" dirty="0"/>
          </a:p>
        </p:txBody>
      </p:sp>
      <p:sp>
        <p:nvSpPr>
          <p:cNvPr id="15" name="Text 12"/>
          <p:cNvSpPr txBox="1"/>
          <p:nvPr/>
        </p:nvSpPr>
        <p:spPr>
          <a:xfrm>
            <a:off x="3310128" y="2359152"/>
            <a:ext cx="1920240" cy="786384"/>
          </a:xfrm>
          <a:prstGeom prst="rect">
            <a:avLst/>
          </a:prstGeom>
          <a:noFill/>
          <a:ln/>
        </p:spPr>
        <p:txBody>
          <a:bodyPr wrap="square" lIns="0" tIns="0" rIns="0" bIns="0" rtlCol="0" anchor="t"/>
          <a:lstStyle/>
          <a:p>
            <a:pPr marL="0" indent="0">
              <a:lnSpc>
                <a:spcPct val="95000"/>
              </a:lnSpc>
              <a:buNone/>
            </a:pPr>
            <a:r>
              <a:rPr lang="en-US" sz="1150" b="1" dirty="0">
                <a:solidFill>
                  <a:srgbClr val="2F6DB5"/>
                </a:solidFill>
                <a:latin typeface="Calibri" pitchFamily="34" charset="0"/>
                <a:ea typeface="Calibri" pitchFamily="34" charset="-122"/>
                <a:cs typeface="Calibri" pitchFamily="34" charset="-120"/>
              </a:rPr>
              <a:t>product_key (PK)</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name</a:t>
            </a:r>
            <a:endParaRPr lang="en-US" sz="1150" dirty="0"/>
          </a:p>
          <a:p>
            <a:pPr marL="0" indent="0">
              <a:lnSpc>
                <a:spcPct val="95000"/>
              </a:lnSpc>
              <a:buNone/>
            </a:pPr>
            <a:r>
              <a:rPr lang="en-US" sz="1150" b="1" dirty="0">
                <a:solidFill>
                  <a:srgbClr val="2F6DB5"/>
                </a:solidFill>
                <a:latin typeface="Calibri" pitchFamily="34" charset="0"/>
                <a:ea typeface="Calibri" pitchFamily="34" charset="-122"/>
                <a:cs typeface="Calibri" pitchFamily="34" charset="-120"/>
              </a:rPr>
              <a:t>category_key (FK)</a:t>
            </a:r>
            <a:endParaRPr lang="en-US" sz="1150" dirty="0"/>
          </a:p>
        </p:txBody>
      </p:sp>
      <p:sp>
        <p:nvSpPr>
          <p:cNvPr id="16" name="Shape 13"/>
          <p:cNvSpPr/>
          <p:nvPr/>
        </p:nvSpPr>
        <p:spPr>
          <a:xfrm>
            <a:off x="5852160" y="1920240"/>
            <a:ext cx="2103120" cy="1234440"/>
          </a:xfrm>
          <a:prstGeom prst="roundRect">
            <a:avLst>
              <a:gd name="adj" fmla="val 4444"/>
            </a:avLst>
          </a:prstGeom>
          <a:solidFill>
            <a:srgbClr val="FFFFFF"/>
          </a:solidFill>
          <a:ln w="15875">
            <a:solidFill>
              <a:srgbClr val="2F6DB5"/>
            </a:solidFill>
            <a:prstDash val="solid"/>
          </a:ln>
        </p:spPr>
        <p:txBody>
          <a:bodyPr/>
          <a:lstStyle/>
          <a:p>
            <a:endParaRPr lang="en-US"/>
          </a:p>
        </p:txBody>
      </p:sp>
      <p:sp>
        <p:nvSpPr>
          <p:cNvPr id="17" name="Shape 14"/>
          <p:cNvSpPr/>
          <p:nvPr/>
        </p:nvSpPr>
        <p:spPr>
          <a:xfrm>
            <a:off x="5852160" y="1920240"/>
            <a:ext cx="2103120" cy="384048"/>
          </a:xfrm>
          <a:prstGeom prst="roundRect">
            <a:avLst>
              <a:gd name="adj" fmla="val 14286"/>
            </a:avLst>
          </a:prstGeom>
          <a:solidFill>
            <a:srgbClr val="2F6DB5"/>
          </a:solidFill>
          <a:ln w="9525">
            <a:solidFill>
              <a:srgbClr val="2F6DB5"/>
            </a:solidFill>
            <a:prstDash val="solid"/>
          </a:ln>
        </p:spPr>
        <p:txBody>
          <a:bodyPr/>
          <a:lstStyle/>
          <a:p>
            <a:endParaRPr lang="en-US"/>
          </a:p>
        </p:txBody>
      </p:sp>
      <p:sp>
        <p:nvSpPr>
          <p:cNvPr id="18" name="Text 15"/>
          <p:cNvSpPr txBox="1"/>
          <p:nvPr/>
        </p:nvSpPr>
        <p:spPr>
          <a:xfrm>
            <a:off x="5852160" y="1920240"/>
            <a:ext cx="21031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dim_category</a:t>
            </a:r>
            <a:endParaRPr lang="en-US" sz="1300" dirty="0"/>
          </a:p>
        </p:txBody>
      </p:sp>
      <p:sp>
        <p:nvSpPr>
          <p:cNvPr id="19" name="Text 16"/>
          <p:cNvSpPr txBox="1"/>
          <p:nvPr/>
        </p:nvSpPr>
        <p:spPr>
          <a:xfrm>
            <a:off x="5961888" y="2359152"/>
            <a:ext cx="1920240" cy="786384"/>
          </a:xfrm>
          <a:prstGeom prst="rect">
            <a:avLst/>
          </a:prstGeom>
          <a:noFill/>
          <a:ln/>
        </p:spPr>
        <p:txBody>
          <a:bodyPr wrap="square" lIns="0" tIns="0" rIns="0" bIns="0" rtlCol="0" anchor="t"/>
          <a:lstStyle/>
          <a:p>
            <a:pPr marL="0" indent="0">
              <a:lnSpc>
                <a:spcPct val="95000"/>
              </a:lnSpc>
              <a:buNone/>
            </a:pPr>
            <a:r>
              <a:rPr lang="en-US" sz="1150" b="1" dirty="0">
                <a:solidFill>
                  <a:srgbClr val="2F6DB5"/>
                </a:solidFill>
                <a:latin typeface="Calibri" pitchFamily="34" charset="0"/>
                <a:ea typeface="Calibri" pitchFamily="34" charset="-122"/>
                <a:cs typeface="Calibri" pitchFamily="34" charset="-120"/>
              </a:rPr>
              <a:t>category_key (PK)</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category_name</a:t>
            </a:r>
            <a:endParaRPr lang="en-US" sz="1150" dirty="0"/>
          </a:p>
          <a:p>
            <a:pPr marL="0" indent="0">
              <a:lnSpc>
                <a:spcPct val="95000"/>
              </a:lnSpc>
              <a:buNone/>
            </a:pPr>
            <a:r>
              <a:rPr lang="en-US" sz="1150" b="1" dirty="0">
                <a:solidFill>
                  <a:srgbClr val="2F6DB5"/>
                </a:solidFill>
                <a:latin typeface="Calibri" pitchFamily="34" charset="0"/>
                <a:ea typeface="Calibri" pitchFamily="34" charset="-122"/>
                <a:cs typeface="Calibri" pitchFamily="34" charset="-120"/>
              </a:rPr>
              <a:t>dept_key (FK)</a:t>
            </a:r>
            <a:endParaRPr lang="en-US" sz="1150" dirty="0"/>
          </a:p>
        </p:txBody>
      </p:sp>
      <p:sp>
        <p:nvSpPr>
          <p:cNvPr id="20" name="Shape 17"/>
          <p:cNvSpPr/>
          <p:nvPr/>
        </p:nvSpPr>
        <p:spPr>
          <a:xfrm>
            <a:off x="8503920" y="1920240"/>
            <a:ext cx="2103120" cy="987552"/>
          </a:xfrm>
          <a:prstGeom prst="roundRect">
            <a:avLst>
              <a:gd name="adj" fmla="val 5556"/>
            </a:avLst>
          </a:prstGeom>
          <a:solidFill>
            <a:srgbClr val="FFFFFF"/>
          </a:solidFill>
          <a:ln w="15875">
            <a:solidFill>
              <a:srgbClr val="2F6DB5"/>
            </a:solidFill>
            <a:prstDash val="solid"/>
          </a:ln>
        </p:spPr>
        <p:txBody>
          <a:bodyPr/>
          <a:lstStyle/>
          <a:p>
            <a:endParaRPr lang="en-US"/>
          </a:p>
        </p:txBody>
      </p:sp>
      <p:sp>
        <p:nvSpPr>
          <p:cNvPr id="21" name="Shape 18"/>
          <p:cNvSpPr/>
          <p:nvPr/>
        </p:nvSpPr>
        <p:spPr>
          <a:xfrm>
            <a:off x="8503920" y="1920240"/>
            <a:ext cx="2103120" cy="384048"/>
          </a:xfrm>
          <a:prstGeom prst="roundRect">
            <a:avLst>
              <a:gd name="adj" fmla="val 14286"/>
            </a:avLst>
          </a:prstGeom>
          <a:solidFill>
            <a:srgbClr val="2F6DB5"/>
          </a:solidFill>
          <a:ln w="9525">
            <a:solidFill>
              <a:srgbClr val="2F6DB5"/>
            </a:solidFill>
            <a:prstDash val="solid"/>
          </a:ln>
        </p:spPr>
        <p:txBody>
          <a:bodyPr/>
          <a:lstStyle/>
          <a:p>
            <a:endParaRPr lang="en-US"/>
          </a:p>
        </p:txBody>
      </p:sp>
      <p:sp>
        <p:nvSpPr>
          <p:cNvPr id="22" name="Text 19"/>
          <p:cNvSpPr txBox="1"/>
          <p:nvPr/>
        </p:nvSpPr>
        <p:spPr>
          <a:xfrm>
            <a:off x="8503920" y="1920240"/>
            <a:ext cx="21031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dim_department</a:t>
            </a:r>
            <a:endParaRPr lang="en-US" sz="1300" dirty="0"/>
          </a:p>
        </p:txBody>
      </p:sp>
      <p:sp>
        <p:nvSpPr>
          <p:cNvPr id="23" name="Text 20"/>
          <p:cNvSpPr txBox="1"/>
          <p:nvPr/>
        </p:nvSpPr>
        <p:spPr>
          <a:xfrm>
            <a:off x="8613648" y="2359152"/>
            <a:ext cx="1920240" cy="539496"/>
          </a:xfrm>
          <a:prstGeom prst="rect">
            <a:avLst/>
          </a:prstGeom>
          <a:noFill/>
          <a:ln/>
        </p:spPr>
        <p:txBody>
          <a:bodyPr wrap="square" lIns="0" tIns="0" rIns="0" bIns="0" rtlCol="0" anchor="t"/>
          <a:lstStyle/>
          <a:p>
            <a:pPr marL="0" indent="0">
              <a:lnSpc>
                <a:spcPct val="95000"/>
              </a:lnSpc>
              <a:buNone/>
            </a:pPr>
            <a:r>
              <a:rPr lang="en-US" sz="1150" b="1" dirty="0">
                <a:solidFill>
                  <a:srgbClr val="2F6DB5"/>
                </a:solidFill>
                <a:latin typeface="Calibri" pitchFamily="34" charset="0"/>
                <a:ea typeface="Calibri" pitchFamily="34" charset="-122"/>
                <a:cs typeface="Calibri" pitchFamily="34" charset="-120"/>
              </a:rPr>
              <a:t>dept_key (PK)</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dept_name</a:t>
            </a:r>
            <a:endParaRPr lang="en-US" sz="1150" dirty="0"/>
          </a:p>
        </p:txBody>
      </p:sp>
      <p:sp>
        <p:nvSpPr>
          <p:cNvPr id="24" name="Shape 21"/>
          <p:cNvSpPr/>
          <p:nvPr/>
        </p:nvSpPr>
        <p:spPr>
          <a:xfrm>
            <a:off x="2697480" y="2606040"/>
            <a:ext cx="457200" cy="914"/>
          </a:xfrm>
          <a:prstGeom prst="line">
            <a:avLst/>
          </a:prstGeom>
          <a:noFill/>
          <a:ln w="22225">
            <a:solidFill>
              <a:srgbClr val="12263A"/>
            </a:solidFill>
            <a:prstDash val="solid"/>
            <a:tailEnd type="triangle"/>
          </a:ln>
        </p:spPr>
        <p:txBody>
          <a:bodyPr/>
          <a:lstStyle/>
          <a:p>
            <a:endParaRPr lang="en-US"/>
          </a:p>
        </p:txBody>
      </p:sp>
      <p:sp>
        <p:nvSpPr>
          <p:cNvPr id="25" name="Shape 22"/>
          <p:cNvSpPr/>
          <p:nvPr/>
        </p:nvSpPr>
        <p:spPr>
          <a:xfrm>
            <a:off x="5349240" y="2606040"/>
            <a:ext cx="457200" cy="914"/>
          </a:xfrm>
          <a:prstGeom prst="line">
            <a:avLst/>
          </a:prstGeom>
          <a:noFill/>
          <a:ln w="22225">
            <a:solidFill>
              <a:srgbClr val="12263A"/>
            </a:solidFill>
            <a:prstDash val="solid"/>
            <a:tailEnd type="triangle"/>
          </a:ln>
        </p:spPr>
        <p:txBody>
          <a:bodyPr/>
          <a:lstStyle/>
          <a:p>
            <a:endParaRPr lang="en-US"/>
          </a:p>
        </p:txBody>
      </p:sp>
      <p:sp>
        <p:nvSpPr>
          <p:cNvPr id="26" name="Shape 23"/>
          <p:cNvSpPr/>
          <p:nvPr/>
        </p:nvSpPr>
        <p:spPr>
          <a:xfrm>
            <a:off x="8001000" y="2606040"/>
            <a:ext cx="457200" cy="914"/>
          </a:xfrm>
          <a:prstGeom prst="line">
            <a:avLst/>
          </a:prstGeom>
          <a:noFill/>
          <a:ln w="22225">
            <a:solidFill>
              <a:srgbClr val="12263A"/>
            </a:solidFill>
            <a:prstDash val="solid"/>
            <a:tailEnd type="triangle"/>
          </a:ln>
        </p:spPr>
        <p:txBody>
          <a:bodyPr/>
          <a:lstStyle/>
          <a:p>
            <a:endParaRPr lang="en-US"/>
          </a:p>
        </p:txBody>
      </p:sp>
      <p:sp>
        <p:nvSpPr>
          <p:cNvPr id="27" name="Shape 24"/>
          <p:cNvSpPr/>
          <p:nvPr/>
        </p:nvSpPr>
        <p:spPr>
          <a:xfrm>
            <a:off x="548640" y="3429000"/>
            <a:ext cx="5669280" cy="2103120"/>
          </a:xfrm>
          <a:prstGeom prst="roundRect">
            <a:avLst>
              <a:gd name="adj" fmla="val 2609"/>
            </a:avLst>
          </a:prstGeom>
          <a:solidFill>
            <a:srgbClr val="0F1E2E"/>
          </a:solidFill>
          <a:ln w="9525">
            <a:solidFill>
              <a:srgbClr val="0F1E2E"/>
            </a:solidFill>
            <a:prstDash val="solid"/>
          </a:ln>
        </p:spPr>
        <p:txBody>
          <a:bodyPr/>
          <a:lstStyle/>
          <a:p>
            <a:endParaRPr lang="en-US"/>
          </a:p>
        </p:txBody>
      </p:sp>
      <p:sp>
        <p:nvSpPr>
          <p:cNvPr id="28" name="Text 25"/>
          <p:cNvSpPr txBox="1"/>
          <p:nvPr/>
        </p:nvSpPr>
        <p:spPr>
          <a:xfrm>
            <a:off x="749808" y="3593592"/>
            <a:ext cx="5303520" cy="1828800"/>
          </a:xfrm>
          <a:prstGeom prst="rect">
            <a:avLst/>
          </a:prstGeom>
          <a:noFill/>
          <a:ln/>
        </p:spPr>
        <p:txBody>
          <a:bodyPr wrap="square" lIns="0" tIns="0" rIns="0" bIns="0" rtlCol="0" anchor="t"/>
          <a:lstStyle/>
          <a:p>
            <a:pPr marL="0" indent="0">
              <a:lnSpc>
                <a:spcPct val="105000"/>
              </a:lnSpc>
              <a:buNone/>
            </a:pPr>
            <a:r>
              <a:rPr lang="en-US" sz="1050" i="1" dirty="0">
                <a:solidFill>
                  <a:srgbClr val="8CC7B0"/>
                </a:solidFill>
                <a:latin typeface="Courier New" pitchFamily="34" charset="0"/>
                <a:ea typeface="Courier New" pitchFamily="34" charset="-122"/>
                <a:cs typeface="Courier New" pitchFamily="34" charset="-120"/>
              </a:rPr>
              <a:t>-- Revenue by department needs 3 joins</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SELECT dp.dept_name, SUM(f.sales_amount)</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FROM gold.fact_sales f</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gold.dim_product    p  ON f.product_key  = p.product_key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gold.dim_category   c  ON p.category_key = c.category_key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gold.dim_department dp ON c.dept_key     = dp.dept_key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GROUP BY dp.dept_name;</a:t>
            </a:r>
            <a:endParaRPr lang="en-US" sz="1050" dirty="0"/>
          </a:p>
        </p:txBody>
      </p:sp>
      <p:sp>
        <p:nvSpPr>
          <p:cNvPr id="29" name="Shape 26"/>
          <p:cNvSpPr/>
          <p:nvPr/>
        </p:nvSpPr>
        <p:spPr>
          <a:xfrm>
            <a:off x="6492240" y="3429000"/>
            <a:ext cx="2461108" cy="2103120"/>
          </a:xfrm>
          <a:prstGeom prst="roundRect">
            <a:avLst>
              <a:gd name="adj" fmla="val 3478"/>
            </a:avLst>
          </a:prstGeom>
          <a:solidFill>
            <a:srgbClr val="E2F1F0"/>
          </a:solidFill>
          <a:ln w="9525">
            <a:solidFill>
              <a:srgbClr val="E2F1F0"/>
            </a:solidFill>
            <a:prstDash val="solid"/>
          </a:ln>
        </p:spPr>
        <p:txBody>
          <a:bodyPr/>
          <a:lstStyle/>
          <a:p>
            <a:endParaRPr lang="en-US"/>
          </a:p>
        </p:txBody>
      </p:sp>
      <p:sp>
        <p:nvSpPr>
          <p:cNvPr id="30" name="Shape 27"/>
          <p:cNvSpPr/>
          <p:nvPr/>
        </p:nvSpPr>
        <p:spPr>
          <a:xfrm>
            <a:off x="6675120" y="3611880"/>
            <a:ext cx="402336" cy="402336"/>
          </a:xfrm>
          <a:prstGeom prst="ellipse">
            <a:avLst/>
          </a:prstGeom>
          <a:solidFill>
            <a:srgbClr val="0E7C7B"/>
          </a:solidFill>
          <a:ln w="12700">
            <a:solidFill>
              <a:srgbClr val="0E7C7B"/>
            </a:solidFill>
            <a:prstDash val="solid"/>
          </a:ln>
        </p:spPr>
        <p:txBody>
          <a:bodyPr/>
          <a:lstStyle/>
          <a:p>
            <a:endParaRPr lang="en-US"/>
          </a:p>
        </p:txBody>
      </p:sp>
      <p:pic>
        <p:nvPicPr>
          <p:cNvPr id="31" name="Image 0" descr="preencoded.png"/>
          <p:cNvPicPr>
            <a:picLocks noChangeAspect="1"/>
          </p:cNvPicPr>
          <p:nvPr/>
        </p:nvPicPr>
        <p:blipFill>
          <a:blip r:embed="rId3"/>
          <a:stretch>
            <a:fillRect/>
          </a:stretch>
        </p:blipFill>
        <p:spPr>
          <a:xfrm>
            <a:off x="6779727" y="3716487"/>
            <a:ext cx="193121" cy="193121"/>
          </a:xfrm>
          <a:prstGeom prst="rect">
            <a:avLst/>
          </a:prstGeom>
        </p:spPr>
      </p:pic>
      <p:sp>
        <p:nvSpPr>
          <p:cNvPr id="32" name="Text 28"/>
          <p:cNvSpPr txBox="1"/>
          <p:nvPr/>
        </p:nvSpPr>
        <p:spPr>
          <a:xfrm>
            <a:off x="7205472" y="3611880"/>
            <a:ext cx="156499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Pro</a:t>
            </a:r>
            <a:endParaRPr lang="en-US" sz="1550" dirty="0"/>
          </a:p>
        </p:txBody>
      </p:sp>
      <p:sp>
        <p:nvSpPr>
          <p:cNvPr id="33" name="Text 29"/>
          <p:cNvSpPr txBox="1"/>
          <p:nvPr/>
        </p:nvSpPr>
        <p:spPr>
          <a:xfrm>
            <a:off x="6675120" y="4123944"/>
            <a:ext cx="2095348" cy="122529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Less repetition: “Electronics” is stored once, not on every product row.</a:t>
            </a:r>
            <a:endParaRPr lang="en-US" sz="1300" dirty="0"/>
          </a:p>
        </p:txBody>
      </p:sp>
      <p:sp>
        <p:nvSpPr>
          <p:cNvPr id="34" name="Shape 30"/>
          <p:cNvSpPr/>
          <p:nvPr/>
        </p:nvSpPr>
        <p:spPr>
          <a:xfrm>
            <a:off x="9181948" y="3429000"/>
            <a:ext cx="2461108" cy="2103120"/>
          </a:xfrm>
          <a:prstGeom prst="roundRect">
            <a:avLst>
              <a:gd name="adj" fmla="val 3478"/>
            </a:avLst>
          </a:prstGeom>
          <a:solidFill>
            <a:srgbClr val="FBE6E8"/>
          </a:solidFill>
          <a:ln w="9525">
            <a:solidFill>
              <a:srgbClr val="FBE6E8"/>
            </a:solidFill>
            <a:prstDash val="solid"/>
          </a:ln>
        </p:spPr>
        <p:txBody>
          <a:bodyPr/>
          <a:lstStyle/>
          <a:p>
            <a:endParaRPr lang="en-US"/>
          </a:p>
        </p:txBody>
      </p:sp>
      <p:sp>
        <p:nvSpPr>
          <p:cNvPr id="35" name="Shape 31"/>
          <p:cNvSpPr/>
          <p:nvPr/>
        </p:nvSpPr>
        <p:spPr>
          <a:xfrm>
            <a:off x="9364828" y="3611880"/>
            <a:ext cx="402336" cy="402336"/>
          </a:xfrm>
          <a:prstGeom prst="ellipse">
            <a:avLst/>
          </a:prstGeom>
          <a:solidFill>
            <a:srgbClr val="C8414F"/>
          </a:solidFill>
          <a:ln w="12700">
            <a:solidFill>
              <a:srgbClr val="C8414F"/>
            </a:solidFill>
            <a:prstDash val="solid"/>
          </a:ln>
        </p:spPr>
        <p:txBody>
          <a:bodyPr/>
          <a:lstStyle/>
          <a:p>
            <a:endParaRPr lang="en-US"/>
          </a:p>
        </p:txBody>
      </p:sp>
      <p:pic>
        <p:nvPicPr>
          <p:cNvPr id="36" name="Image 1" descr="preencoded.png"/>
          <p:cNvPicPr>
            <a:picLocks noChangeAspect="1"/>
          </p:cNvPicPr>
          <p:nvPr/>
        </p:nvPicPr>
        <p:blipFill>
          <a:blip r:embed="rId4"/>
          <a:stretch>
            <a:fillRect/>
          </a:stretch>
        </p:blipFill>
        <p:spPr>
          <a:xfrm>
            <a:off x="9469435" y="3716487"/>
            <a:ext cx="193121" cy="193121"/>
          </a:xfrm>
          <a:prstGeom prst="rect">
            <a:avLst/>
          </a:prstGeom>
        </p:spPr>
      </p:pic>
      <p:sp>
        <p:nvSpPr>
          <p:cNvPr id="37" name="Text 32"/>
          <p:cNvSpPr txBox="1"/>
          <p:nvPr/>
        </p:nvSpPr>
        <p:spPr>
          <a:xfrm>
            <a:off x="9895180" y="3611880"/>
            <a:ext cx="156499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Con</a:t>
            </a:r>
            <a:endParaRPr lang="en-US" sz="1550" dirty="0"/>
          </a:p>
        </p:txBody>
      </p:sp>
      <p:sp>
        <p:nvSpPr>
          <p:cNvPr id="38" name="Text 33"/>
          <p:cNvSpPr txBox="1"/>
          <p:nvPr/>
        </p:nvSpPr>
        <p:spPr>
          <a:xfrm>
            <a:off x="9364828" y="4123944"/>
            <a:ext cx="2095348" cy="122529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More chained JOINs — harder to read, sometimes slower. In a star this needs 1 join.</a:t>
            </a:r>
            <a:endParaRPr lang="en-US" sz="1300" dirty="0"/>
          </a:p>
        </p:txBody>
      </p:sp>
      <p:sp>
        <p:nvSpPr>
          <p:cNvPr id="39" name="Shape 34"/>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40" name="Shape 35"/>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41" name="Image 2" descr="preencoded.png"/>
          <p:cNvPicPr>
            <a:picLocks noChangeAspect="1"/>
          </p:cNvPicPr>
          <p:nvPr/>
        </p:nvPicPr>
        <p:blipFill>
          <a:blip r:embed="rId5"/>
          <a:stretch>
            <a:fillRect/>
          </a:stretch>
        </p:blipFill>
        <p:spPr>
          <a:xfrm>
            <a:off x="790042" y="5956402"/>
            <a:ext cx="175565" cy="175565"/>
          </a:xfrm>
          <a:prstGeom prst="rect">
            <a:avLst/>
          </a:prstGeom>
        </p:spPr>
      </p:pic>
      <p:sp>
        <p:nvSpPr>
          <p:cNvPr id="42" name="Text 36"/>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Snowflaking trades query simplicity for less redundancy — a trade that is rarely worth it for BI.</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20</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MULTIPLE BUSINESS PROCESSES, SHARED DIMENSIONS</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Fact constellation (galaxy schema)</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731520" y="1828800"/>
            <a:ext cx="2286000" cy="1234440"/>
          </a:xfrm>
          <a:prstGeom prst="roundRect">
            <a:avLst>
              <a:gd name="adj" fmla="val 4444"/>
            </a:avLst>
          </a:prstGeom>
          <a:solidFill>
            <a:srgbClr val="FFFFFF"/>
          </a:solidFill>
          <a:ln w="15875">
            <a:solidFill>
              <a:srgbClr val="C8414F"/>
            </a:solidFill>
            <a:prstDash val="solid"/>
          </a:ln>
        </p:spPr>
        <p:txBody>
          <a:bodyPr/>
          <a:lstStyle/>
          <a:p>
            <a:endParaRPr lang="en-US"/>
          </a:p>
        </p:txBody>
      </p:sp>
      <p:sp>
        <p:nvSpPr>
          <p:cNvPr id="9" name="Shape 6"/>
          <p:cNvSpPr/>
          <p:nvPr/>
        </p:nvSpPr>
        <p:spPr>
          <a:xfrm>
            <a:off x="731520" y="1828800"/>
            <a:ext cx="2286000" cy="384048"/>
          </a:xfrm>
          <a:prstGeom prst="roundRect">
            <a:avLst>
              <a:gd name="adj" fmla="val 14286"/>
            </a:avLst>
          </a:prstGeom>
          <a:solidFill>
            <a:srgbClr val="C8414F"/>
          </a:solidFill>
          <a:ln w="9525">
            <a:solidFill>
              <a:srgbClr val="C8414F"/>
            </a:solidFill>
            <a:prstDash val="solid"/>
          </a:ln>
        </p:spPr>
        <p:txBody>
          <a:bodyPr/>
          <a:lstStyle/>
          <a:p>
            <a:endParaRPr lang="en-US"/>
          </a:p>
        </p:txBody>
      </p:sp>
      <p:sp>
        <p:nvSpPr>
          <p:cNvPr id="10" name="Text 7"/>
          <p:cNvSpPr txBox="1"/>
          <p:nvPr/>
        </p:nvSpPr>
        <p:spPr>
          <a:xfrm>
            <a:off x="731520" y="1828800"/>
            <a:ext cx="22860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fact_sales</a:t>
            </a:r>
            <a:endParaRPr lang="en-US" sz="1300" dirty="0"/>
          </a:p>
        </p:txBody>
      </p:sp>
      <p:sp>
        <p:nvSpPr>
          <p:cNvPr id="11" name="Text 8"/>
          <p:cNvSpPr txBox="1"/>
          <p:nvPr/>
        </p:nvSpPr>
        <p:spPr>
          <a:xfrm>
            <a:off x="841248" y="2267712"/>
            <a:ext cx="2103120" cy="786384"/>
          </a:xfrm>
          <a:prstGeom prst="rect">
            <a:avLst/>
          </a:prstGeom>
          <a:noFill/>
          <a:ln/>
        </p:spPr>
        <p:txBody>
          <a:bodyPr wrap="square" lIns="0" tIns="0" rIns="0" bIns="0" rtlCol="0" anchor="t"/>
          <a:lstStyle/>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date_key, product_key</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customer_key</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sales_amount</a:t>
            </a:r>
            <a:endParaRPr lang="en-US" sz="1150" dirty="0"/>
          </a:p>
        </p:txBody>
      </p:sp>
      <p:sp>
        <p:nvSpPr>
          <p:cNvPr id="12" name="Shape 9"/>
          <p:cNvSpPr/>
          <p:nvPr/>
        </p:nvSpPr>
        <p:spPr>
          <a:xfrm>
            <a:off x="731520" y="3840480"/>
            <a:ext cx="2286000" cy="1234440"/>
          </a:xfrm>
          <a:prstGeom prst="roundRect">
            <a:avLst>
              <a:gd name="adj" fmla="val 4444"/>
            </a:avLst>
          </a:prstGeom>
          <a:solidFill>
            <a:srgbClr val="FFFFFF"/>
          </a:solidFill>
          <a:ln w="15875">
            <a:solidFill>
              <a:srgbClr val="C8414F"/>
            </a:solidFill>
            <a:prstDash val="solid"/>
          </a:ln>
        </p:spPr>
        <p:txBody>
          <a:bodyPr/>
          <a:lstStyle/>
          <a:p>
            <a:endParaRPr lang="en-US"/>
          </a:p>
        </p:txBody>
      </p:sp>
      <p:sp>
        <p:nvSpPr>
          <p:cNvPr id="13" name="Shape 10"/>
          <p:cNvSpPr/>
          <p:nvPr/>
        </p:nvSpPr>
        <p:spPr>
          <a:xfrm>
            <a:off x="731520" y="3840480"/>
            <a:ext cx="2286000" cy="384048"/>
          </a:xfrm>
          <a:prstGeom prst="roundRect">
            <a:avLst>
              <a:gd name="adj" fmla="val 14286"/>
            </a:avLst>
          </a:prstGeom>
          <a:solidFill>
            <a:srgbClr val="C8414F"/>
          </a:solidFill>
          <a:ln w="9525">
            <a:solidFill>
              <a:srgbClr val="C8414F"/>
            </a:solidFill>
            <a:prstDash val="solid"/>
          </a:ln>
        </p:spPr>
        <p:txBody>
          <a:bodyPr/>
          <a:lstStyle/>
          <a:p>
            <a:endParaRPr lang="en-US"/>
          </a:p>
        </p:txBody>
      </p:sp>
      <p:sp>
        <p:nvSpPr>
          <p:cNvPr id="14" name="Text 11"/>
          <p:cNvSpPr txBox="1"/>
          <p:nvPr/>
        </p:nvSpPr>
        <p:spPr>
          <a:xfrm>
            <a:off x="731520" y="3840480"/>
            <a:ext cx="22860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fact_purchases</a:t>
            </a:r>
            <a:endParaRPr lang="en-US" sz="1300" dirty="0"/>
          </a:p>
        </p:txBody>
      </p:sp>
      <p:sp>
        <p:nvSpPr>
          <p:cNvPr id="15" name="Text 12"/>
          <p:cNvSpPr txBox="1"/>
          <p:nvPr/>
        </p:nvSpPr>
        <p:spPr>
          <a:xfrm>
            <a:off x="841248" y="4279392"/>
            <a:ext cx="2103120" cy="786384"/>
          </a:xfrm>
          <a:prstGeom prst="rect">
            <a:avLst/>
          </a:prstGeom>
          <a:noFill/>
          <a:ln/>
        </p:spPr>
        <p:txBody>
          <a:bodyPr wrap="square" lIns="0" tIns="0" rIns="0" bIns="0" rtlCol="0" anchor="t"/>
          <a:lstStyle/>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date_key, product_key</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supplier_key</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purchase_cost</a:t>
            </a:r>
            <a:endParaRPr lang="en-US" sz="1150" dirty="0"/>
          </a:p>
        </p:txBody>
      </p:sp>
      <p:sp>
        <p:nvSpPr>
          <p:cNvPr id="16" name="Shape 13"/>
          <p:cNvSpPr/>
          <p:nvPr/>
        </p:nvSpPr>
        <p:spPr>
          <a:xfrm>
            <a:off x="4389120" y="1691640"/>
            <a:ext cx="2103120" cy="740664"/>
          </a:xfrm>
          <a:prstGeom prst="roundRect">
            <a:avLst>
              <a:gd name="adj" fmla="val 7407"/>
            </a:avLst>
          </a:prstGeom>
          <a:solidFill>
            <a:srgbClr val="FFFFFF"/>
          </a:solidFill>
          <a:ln w="15875">
            <a:solidFill>
              <a:srgbClr val="0E7C7B"/>
            </a:solidFill>
            <a:prstDash val="solid"/>
          </a:ln>
        </p:spPr>
        <p:txBody>
          <a:bodyPr/>
          <a:lstStyle/>
          <a:p>
            <a:endParaRPr lang="en-US"/>
          </a:p>
        </p:txBody>
      </p:sp>
      <p:sp>
        <p:nvSpPr>
          <p:cNvPr id="17" name="Shape 14"/>
          <p:cNvSpPr/>
          <p:nvPr/>
        </p:nvSpPr>
        <p:spPr>
          <a:xfrm>
            <a:off x="4389120" y="1691640"/>
            <a:ext cx="2103120" cy="384048"/>
          </a:xfrm>
          <a:prstGeom prst="roundRect">
            <a:avLst>
              <a:gd name="adj" fmla="val 14286"/>
            </a:avLst>
          </a:prstGeom>
          <a:solidFill>
            <a:srgbClr val="0E7C7B"/>
          </a:solidFill>
          <a:ln w="9525">
            <a:solidFill>
              <a:srgbClr val="0E7C7B"/>
            </a:solidFill>
            <a:prstDash val="solid"/>
          </a:ln>
        </p:spPr>
        <p:txBody>
          <a:bodyPr/>
          <a:lstStyle/>
          <a:p>
            <a:endParaRPr lang="en-US"/>
          </a:p>
        </p:txBody>
      </p:sp>
      <p:sp>
        <p:nvSpPr>
          <p:cNvPr id="18" name="Text 15"/>
          <p:cNvSpPr txBox="1"/>
          <p:nvPr/>
        </p:nvSpPr>
        <p:spPr>
          <a:xfrm>
            <a:off x="4389120" y="1691640"/>
            <a:ext cx="21031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dim_date</a:t>
            </a:r>
            <a:endParaRPr lang="en-US" sz="1300" dirty="0"/>
          </a:p>
        </p:txBody>
      </p:sp>
      <p:sp>
        <p:nvSpPr>
          <p:cNvPr id="19" name="Text 16"/>
          <p:cNvSpPr txBox="1"/>
          <p:nvPr/>
        </p:nvSpPr>
        <p:spPr>
          <a:xfrm>
            <a:off x="4498848" y="2130552"/>
            <a:ext cx="1920240" cy="292608"/>
          </a:xfrm>
          <a:prstGeom prst="rect">
            <a:avLst/>
          </a:prstGeom>
          <a:noFill/>
          <a:ln/>
        </p:spPr>
        <p:txBody>
          <a:bodyPr wrap="square" lIns="0" tIns="0" rIns="0" bIns="0" rtlCol="0" anchor="t"/>
          <a:lstStyle/>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conformed</a:t>
            </a:r>
            <a:endParaRPr lang="en-US" sz="1150" dirty="0"/>
          </a:p>
        </p:txBody>
      </p:sp>
      <p:sp>
        <p:nvSpPr>
          <p:cNvPr id="20" name="Shape 17"/>
          <p:cNvSpPr/>
          <p:nvPr/>
        </p:nvSpPr>
        <p:spPr>
          <a:xfrm>
            <a:off x="4389120" y="2697480"/>
            <a:ext cx="2103120" cy="740664"/>
          </a:xfrm>
          <a:prstGeom prst="roundRect">
            <a:avLst>
              <a:gd name="adj" fmla="val 7407"/>
            </a:avLst>
          </a:prstGeom>
          <a:solidFill>
            <a:srgbClr val="FFFFFF"/>
          </a:solidFill>
          <a:ln w="15875">
            <a:solidFill>
              <a:srgbClr val="0E7C7B"/>
            </a:solidFill>
            <a:prstDash val="solid"/>
          </a:ln>
        </p:spPr>
        <p:txBody>
          <a:bodyPr/>
          <a:lstStyle/>
          <a:p>
            <a:endParaRPr lang="en-US"/>
          </a:p>
        </p:txBody>
      </p:sp>
      <p:sp>
        <p:nvSpPr>
          <p:cNvPr id="21" name="Shape 18"/>
          <p:cNvSpPr/>
          <p:nvPr/>
        </p:nvSpPr>
        <p:spPr>
          <a:xfrm>
            <a:off x="4389120" y="2697480"/>
            <a:ext cx="2103120" cy="384048"/>
          </a:xfrm>
          <a:prstGeom prst="roundRect">
            <a:avLst>
              <a:gd name="adj" fmla="val 14286"/>
            </a:avLst>
          </a:prstGeom>
          <a:solidFill>
            <a:srgbClr val="0E7C7B"/>
          </a:solidFill>
          <a:ln w="9525">
            <a:solidFill>
              <a:srgbClr val="0E7C7B"/>
            </a:solidFill>
            <a:prstDash val="solid"/>
          </a:ln>
        </p:spPr>
        <p:txBody>
          <a:bodyPr/>
          <a:lstStyle/>
          <a:p>
            <a:endParaRPr lang="en-US"/>
          </a:p>
        </p:txBody>
      </p:sp>
      <p:sp>
        <p:nvSpPr>
          <p:cNvPr id="22" name="Text 19"/>
          <p:cNvSpPr txBox="1"/>
          <p:nvPr/>
        </p:nvSpPr>
        <p:spPr>
          <a:xfrm>
            <a:off x="4389120" y="2697480"/>
            <a:ext cx="21031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dim_product</a:t>
            </a:r>
            <a:endParaRPr lang="en-US" sz="1300" dirty="0"/>
          </a:p>
        </p:txBody>
      </p:sp>
      <p:sp>
        <p:nvSpPr>
          <p:cNvPr id="23" name="Text 20"/>
          <p:cNvSpPr txBox="1"/>
          <p:nvPr/>
        </p:nvSpPr>
        <p:spPr>
          <a:xfrm>
            <a:off x="4498848" y="3136392"/>
            <a:ext cx="1920240" cy="292608"/>
          </a:xfrm>
          <a:prstGeom prst="rect">
            <a:avLst/>
          </a:prstGeom>
          <a:noFill/>
          <a:ln/>
        </p:spPr>
        <p:txBody>
          <a:bodyPr wrap="square" lIns="0" tIns="0" rIns="0" bIns="0" rtlCol="0" anchor="t"/>
          <a:lstStyle/>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conformed</a:t>
            </a:r>
            <a:endParaRPr lang="en-US" sz="1150" dirty="0"/>
          </a:p>
        </p:txBody>
      </p:sp>
      <p:sp>
        <p:nvSpPr>
          <p:cNvPr id="24" name="Shape 21"/>
          <p:cNvSpPr/>
          <p:nvPr/>
        </p:nvSpPr>
        <p:spPr>
          <a:xfrm>
            <a:off x="4389120" y="3703320"/>
            <a:ext cx="2103120" cy="740664"/>
          </a:xfrm>
          <a:prstGeom prst="roundRect">
            <a:avLst>
              <a:gd name="adj" fmla="val 7407"/>
            </a:avLst>
          </a:prstGeom>
          <a:solidFill>
            <a:srgbClr val="FFFFFF"/>
          </a:solidFill>
          <a:ln w="15875">
            <a:solidFill>
              <a:srgbClr val="2F6DB5"/>
            </a:solidFill>
            <a:prstDash val="solid"/>
          </a:ln>
        </p:spPr>
        <p:txBody>
          <a:bodyPr/>
          <a:lstStyle/>
          <a:p>
            <a:endParaRPr lang="en-US"/>
          </a:p>
        </p:txBody>
      </p:sp>
      <p:sp>
        <p:nvSpPr>
          <p:cNvPr id="25" name="Shape 22"/>
          <p:cNvSpPr/>
          <p:nvPr/>
        </p:nvSpPr>
        <p:spPr>
          <a:xfrm>
            <a:off x="4389120" y="3703320"/>
            <a:ext cx="2103120" cy="384048"/>
          </a:xfrm>
          <a:prstGeom prst="roundRect">
            <a:avLst>
              <a:gd name="adj" fmla="val 14286"/>
            </a:avLst>
          </a:prstGeom>
          <a:solidFill>
            <a:srgbClr val="2F6DB5"/>
          </a:solidFill>
          <a:ln w="9525">
            <a:solidFill>
              <a:srgbClr val="2F6DB5"/>
            </a:solidFill>
            <a:prstDash val="solid"/>
          </a:ln>
        </p:spPr>
        <p:txBody>
          <a:bodyPr/>
          <a:lstStyle/>
          <a:p>
            <a:endParaRPr lang="en-US"/>
          </a:p>
        </p:txBody>
      </p:sp>
      <p:sp>
        <p:nvSpPr>
          <p:cNvPr id="26" name="Text 23"/>
          <p:cNvSpPr txBox="1"/>
          <p:nvPr/>
        </p:nvSpPr>
        <p:spPr>
          <a:xfrm>
            <a:off x="4389120" y="3703320"/>
            <a:ext cx="21031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dim_customer</a:t>
            </a:r>
            <a:endParaRPr lang="en-US" sz="1300" dirty="0"/>
          </a:p>
        </p:txBody>
      </p:sp>
      <p:sp>
        <p:nvSpPr>
          <p:cNvPr id="27" name="Text 24"/>
          <p:cNvSpPr txBox="1"/>
          <p:nvPr/>
        </p:nvSpPr>
        <p:spPr>
          <a:xfrm>
            <a:off x="4498848" y="4142232"/>
            <a:ext cx="1920240" cy="292608"/>
          </a:xfrm>
          <a:prstGeom prst="rect">
            <a:avLst/>
          </a:prstGeom>
          <a:noFill/>
          <a:ln/>
        </p:spPr>
        <p:txBody>
          <a:bodyPr wrap="square" lIns="0" tIns="0" rIns="0" bIns="0" rtlCol="0" anchor="t"/>
          <a:lstStyle/>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sales only</a:t>
            </a:r>
            <a:endParaRPr lang="en-US" sz="1150" dirty="0"/>
          </a:p>
        </p:txBody>
      </p:sp>
      <p:sp>
        <p:nvSpPr>
          <p:cNvPr id="28" name="Shape 25"/>
          <p:cNvSpPr/>
          <p:nvPr/>
        </p:nvSpPr>
        <p:spPr>
          <a:xfrm>
            <a:off x="4389120" y="4709160"/>
            <a:ext cx="2103120" cy="740664"/>
          </a:xfrm>
          <a:prstGeom prst="roundRect">
            <a:avLst>
              <a:gd name="adj" fmla="val 7407"/>
            </a:avLst>
          </a:prstGeom>
          <a:solidFill>
            <a:srgbClr val="FFFFFF"/>
          </a:solidFill>
          <a:ln w="15875">
            <a:solidFill>
              <a:srgbClr val="2F6DB5"/>
            </a:solidFill>
            <a:prstDash val="solid"/>
          </a:ln>
        </p:spPr>
        <p:txBody>
          <a:bodyPr/>
          <a:lstStyle/>
          <a:p>
            <a:endParaRPr lang="en-US"/>
          </a:p>
        </p:txBody>
      </p:sp>
      <p:sp>
        <p:nvSpPr>
          <p:cNvPr id="29" name="Shape 26"/>
          <p:cNvSpPr/>
          <p:nvPr/>
        </p:nvSpPr>
        <p:spPr>
          <a:xfrm>
            <a:off x="4389120" y="4709160"/>
            <a:ext cx="2103120" cy="384048"/>
          </a:xfrm>
          <a:prstGeom prst="roundRect">
            <a:avLst>
              <a:gd name="adj" fmla="val 14286"/>
            </a:avLst>
          </a:prstGeom>
          <a:solidFill>
            <a:srgbClr val="2F6DB5"/>
          </a:solidFill>
          <a:ln w="9525">
            <a:solidFill>
              <a:srgbClr val="2F6DB5"/>
            </a:solidFill>
            <a:prstDash val="solid"/>
          </a:ln>
        </p:spPr>
        <p:txBody>
          <a:bodyPr/>
          <a:lstStyle/>
          <a:p>
            <a:endParaRPr lang="en-US"/>
          </a:p>
        </p:txBody>
      </p:sp>
      <p:sp>
        <p:nvSpPr>
          <p:cNvPr id="30" name="Text 27"/>
          <p:cNvSpPr txBox="1"/>
          <p:nvPr/>
        </p:nvSpPr>
        <p:spPr>
          <a:xfrm>
            <a:off x="4389120" y="4709160"/>
            <a:ext cx="21031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dim_supplier</a:t>
            </a:r>
            <a:endParaRPr lang="en-US" sz="1300" dirty="0"/>
          </a:p>
        </p:txBody>
      </p:sp>
      <p:sp>
        <p:nvSpPr>
          <p:cNvPr id="31" name="Text 28"/>
          <p:cNvSpPr txBox="1"/>
          <p:nvPr/>
        </p:nvSpPr>
        <p:spPr>
          <a:xfrm>
            <a:off x="4498848" y="5148072"/>
            <a:ext cx="1920240" cy="292608"/>
          </a:xfrm>
          <a:prstGeom prst="rect">
            <a:avLst/>
          </a:prstGeom>
          <a:noFill/>
          <a:ln/>
        </p:spPr>
        <p:txBody>
          <a:bodyPr wrap="square" lIns="0" tIns="0" rIns="0" bIns="0" rtlCol="0" anchor="t"/>
          <a:lstStyle/>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purchases only</a:t>
            </a:r>
            <a:endParaRPr lang="en-US" sz="1150" dirty="0"/>
          </a:p>
        </p:txBody>
      </p:sp>
      <p:sp>
        <p:nvSpPr>
          <p:cNvPr id="32" name="Shape 29"/>
          <p:cNvSpPr/>
          <p:nvPr/>
        </p:nvSpPr>
        <p:spPr>
          <a:xfrm flipH="1">
            <a:off x="3017520" y="2057400"/>
            <a:ext cx="1371600" cy="320040"/>
          </a:xfrm>
          <a:prstGeom prst="line">
            <a:avLst/>
          </a:prstGeom>
          <a:noFill/>
          <a:ln w="19050">
            <a:solidFill>
              <a:srgbClr val="5B6B7B"/>
            </a:solidFill>
            <a:prstDash val="solid"/>
          </a:ln>
        </p:spPr>
        <p:txBody>
          <a:bodyPr/>
          <a:lstStyle/>
          <a:p>
            <a:endParaRPr lang="en-US"/>
          </a:p>
        </p:txBody>
      </p:sp>
      <p:sp>
        <p:nvSpPr>
          <p:cNvPr id="33" name="Shape 30"/>
          <p:cNvSpPr/>
          <p:nvPr/>
        </p:nvSpPr>
        <p:spPr>
          <a:xfrm>
            <a:off x="3017520" y="2377440"/>
            <a:ext cx="1371600" cy="685800"/>
          </a:xfrm>
          <a:prstGeom prst="line">
            <a:avLst/>
          </a:prstGeom>
          <a:noFill/>
          <a:ln w="19050">
            <a:solidFill>
              <a:srgbClr val="5B6B7B"/>
            </a:solidFill>
            <a:prstDash val="solid"/>
          </a:ln>
        </p:spPr>
        <p:txBody>
          <a:bodyPr/>
          <a:lstStyle/>
          <a:p>
            <a:endParaRPr lang="en-US"/>
          </a:p>
        </p:txBody>
      </p:sp>
      <p:sp>
        <p:nvSpPr>
          <p:cNvPr id="34" name="Shape 31"/>
          <p:cNvSpPr/>
          <p:nvPr/>
        </p:nvSpPr>
        <p:spPr>
          <a:xfrm>
            <a:off x="3017520" y="2377440"/>
            <a:ext cx="1371600" cy="1691640"/>
          </a:xfrm>
          <a:prstGeom prst="line">
            <a:avLst/>
          </a:prstGeom>
          <a:noFill/>
          <a:ln w="19050">
            <a:solidFill>
              <a:srgbClr val="5B6B7B"/>
            </a:solidFill>
            <a:prstDash val="solid"/>
          </a:ln>
        </p:spPr>
        <p:txBody>
          <a:bodyPr/>
          <a:lstStyle/>
          <a:p>
            <a:endParaRPr lang="en-US"/>
          </a:p>
        </p:txBody>
      </p:sp>
      <p:sp>
        <p:nvSpPr>
          <p:cNvPr id="35" name="Shape 32"/>
          <p:cNvSpPr/>
          <p:nvPr/>
        </p:nvSpPr>
        <p:spPr>
          <a:xfrm flipH="1">
            <a:off x="3017520" y="2057400"/>
            <a:ext cx="1371600" cy="2331720"/>
          </a:xfrm>
          <a:prstGeom prst="line">
            <a:avLst/>
          </a:prstGeom>
          <a:noFill/>
          <a:ln w="19050">
            <a:solidFill>
              <a:srgbClr val="5B6B7B"/>
            </a:solidFill>
            <a:prstDash val="solid"/>
          </a:ln>
        </p:spPr>
        <p:txBody>
          <a:bodyPr/>
          <a:lstStyle/>
          <a:p>
            <a:endParaRPr lang="en-US"/>
          </a:p>
        </p:txBody>
      </p:sp>
      <p:sp>
        <p:nvSpPr>
          <p:cNvPr id="36" name="Shape 33"/>
          <p:cNvSpPr/>
          <p:nvPr/>
        </p:nvSpPr>
        <p:spPr>
          <a:xfrm flipH="1">
            <a:off x="3017520" y="3063240"/>
            <a:ext cx="1371600" cy="1325880"/>
          </a:xfrm>
          <a:prstGeom prst="line">
            <a:avLst/>
          </a:prstGeom>
          <a:noFill/>
          <a:ln w="19050">
            <a:solidFill>
              <a:srgbClr val="5B6B7B"/>
            </a:solidFill>
            <a:prstDash val="solid"/>
          </a:ln>
        </p:spPr>
        <p:txBody>
          <a:bodyPr/>
          <a:lstStyle/>
          <a:p>
            <a:endParaRPr lang="en-US"/>
          </a:p>
        </p:txBody>
      </p:sp>
      <p:sp>
        <p:nvSpPr>
          <p:cNvPr id="37" name="Shape 34"/>
          <p:cNvSpPr/>
          <p:nvPr/>
        </p:nvSpPr>
        <p:spPr>
          <a:xfrm>
            <a:off x="3017520" y="4389120"/>
            <a:ext cx="1371600" cy="685800"/>
          </a:xfrm>
          <a:prstGeom prst="line">
            <a:avLst/>
          </a:prstGeom>
          <a:noFill/>
          <a:ln w="19050">
            <a:solidFill>
              <a:srgbClr val="5B6B7B"/>
            </a:solidFill>
            <a:prstDash val="solid"/>
          </a:ln>
        </p:spPr>
        <p:txBody>
          <a:bodyPr/>
          <a:lstStyle/>
          <a:p>
            <a:endParaRPr lang="en-US"/>
          </a:p>
        </p:txBody>
      </p:sp>
      <p:sp>
        <p:nvSpPr>
          <p:cNvPr id="38" name="Shape 35"/>
          <p:cNvSpPr/>
          <p:nvPr/>
        </p:nvSpPr>
        <p:spPr>
          <a:xfrm>
            <a:off x="6949440" y="1691640"/>
            <a:ext cx="4693615" cy="1920240"/>
          </a:xfrm>
          <a:prstGeom prst="roundRect">
            <a:avLst>
              <a:gd name="adj" fmla="val 3810"/>
            </a:avLst>
          </a:prstGeom>
          <a:solidFill>
            <a:srgbClr val="E2F1F0"/>
          </a:solidFill>
          <a:ln w="9525">
            <a:solidFill>
              <a:srgbClr val="E2F1F0"/>
            </a:solidFill>
            <a:prstDash val="solid"/>
          </a:ln>
        </p:spPr>
        <p:txBody>
          <a:bodyPr/>
          <a:lstStyle/>
          <a:p>
            <a:endParaRPr lang="en-US"/>
          </a:p>
        </p:txBody>
      </p:sp>
      <p:sp>
        <p:nvSpPr>
          <p:cNvPr id="39" name="Shape 36"/>
          <p:cNvSpPr/>
          <p:nvPr/>
        </p:nvSpPr>
        <p:spPr>
          <a:xfrm>
            <a:off x="7132320" y="1874520"/>
            <a:ext cx="402336" cy="402336"/>
          </a:xfrm>
          <a:prstGeom prst="ellipse">
            <a:avLst/>
          </a:prstGeom>
          <a:solidFill>
            <a:srgbClr val="0E7C7B"/>
          </a:solidFill>
          <a:ln w="12700">
            <a:solidFill>
              <a:srgbClr val="0E7C7B"/>
            </a:solidFill>
            <a:prstDash val="solid"/>
          </a:ln>
        </p:spPr>
        <p:txBody>
          <a:bodyPr/>
          <a:lstStyle/>
          <a:p>
            <a:endParaRPr lang="en-US"/>
          </a:p>
        </p:txBody>
      </p:sp>
      <p:pic>
        <p:nvPicPr>
          <p:cNvPr id="40" name="Image 0" descr="preencoded.png"/>
          <p:cNvPicPr>
            <a:picLocks noChangeAspect="1"/>
          </p:cNvPicPr>
          <p:nvPr/>
        </p:nvPicPr>
        <p:blipFill>
          <a:blip r:embed="rId3"/>
          <a:stretch>
            <a:fillRect/>
          </a:stretch>
        </p:blipFill>
        <p:spPr>
          <a:xfrm>
            <a:off x="7236927" y="1979127"/>
            <a:ext cx="193121" cy="193121"/>
          </a:xfrm>
          <a:prstGeom prst="rect">
            <a:avLst/>
          </a:prstGeom>
        </p:spPr>
      </p:pic>
      <p:sp>
        <p:nvSpPr>
          <p:cNvPr id="41" name="Text 37"/>
          <p:cNvSpPr txBox="1"/>
          <p:nvPr/>
        </p:nvSpPr>
        <p:spPr>
          <a:xfrm>
            <a:off x="7662672" y="1874520"/>
            <a:ext cx="3797503"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Conformed dimension</a:t>
            </a:r>
            <a:endParaRPr lang="en-US" sz="1550" dirty="0"/>
          </a:p>
        </p:txBody>
      </p:sp>
      <p:sp>
        <p:nvSpPr>
          <p:cNvPr id="42" name="Text 38"/>
          <p:cNvSpPr txBox="1"/>
          <p:nvPr/>
        </p:nvSpPr>
        <p:spPr>
          <a:xfrm>
            <a:off x="7132320" y="2386584"/>
            <a:ext cx="4327855" cy="1042416"/>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A dimension shared by several fact tables with identical keys, attributes and meaning (e.g. one dim_date for all).</a:t>
            </a:r>
            <a:endParaRPr lang="en-US" sz="1350" dirty="0"/>
          </a:p>
        </p:txBody>
      </p:sp>
      <p:sp>
        <p:nvSpPr>
          <p:cNvPr id="43" name="Shape 39"/>
          <p:cNvSpPr/>
          <p:nvPr/>
        </p:nvSpPr>
        <p:spPr>
          <a:xfrm>
            <a:off x="6949440" y="3794760"/>
            <a:ext cx="4693615" cy="1783080"/>
          </a:xfrm>
          <a:prstGeom prst="roundRect">
            <a:avLst>
              <a:gd name="adj" fmla="val 4103"/>
            </a:avLst>
          </a:prstGeom>
          <a:solidFill>
            <a:srgbClr val="F3F6F9"/>
          </a:solidFill>
          <a:ln w="9525">
            <a:solidFill>
              <a:srgbClr val="F3F6F9"/>
            </a:solidFill>
            <a:prstDash val="solid"/>
          </a:ln>
        </p:spPr>
        <p:txBody>
          <a:bodyPr/>
          <a:lstStyle/>
          <a:p>
            <a:endParaRPr lang="en-US"/>
          </a:p>
        </p:txBody>
      </p:sp>
      <p:sp>
        <p:nvSpPr>
          <p:cNvPr id="44" name="Shape 40"/>
          <p:cNvSpPr/>
          <p:nvPr/>
        </p:nvSpPr>
        <p:spPr>
          <a:xfrm>
            <a:off x="7132320" y="3977640"/>
            <a:ext cx="402336" cy="402336"/>
          </a:xfrm>
          <a:prstGeom prst="ellipse">
            <a:avLst/>
          </a:prstGeom>
          <a:solidFill>
            <a:srgbClr val="5B4BA6"/>
          </a:solidFill>
          <a:ln w="12700">
            <a:solidFill>
              <a:srgbClr val="5B4BA6"/>
            </a:solidFill>
            <a:prstDash val="solid"/>
          </a:ln>
        </p:spPr>
        <p:txBody>
          <a:bodyPr/>
          <a:lstStyle/>
          <a:p>
            <a:endParaRPr lang="en-US"/>
          </a:p>
        </p:txBody>
      </p:sp>
      <p:pic>
        <p:nvPicPr>
          <p:cNvPr id="45" name="Image 1" descr="preencoded.png"/>
          <p:cNvPicPr>
            <a:picLocks noChangeAspect="1"/>
          </p:cNvPicPr>
          <p:nvPr/>
        </p:nvPicPr>
        <p:blipFill>
          <a:blip r:embed="rId4"/>
          <a:stretch>
            <a:fillRect/>
          </a:stretch>
        </p:blipFill>
        <p:spPr>
          <a:xfrm>
            <a:off x="7236927" y="4082247"/>
            <a:ext cx="193121" cy="193121"/>
          </a:xfrm>
          <a:prstGeom prst="rect">
            <a:avLst/>
          </a:prstGeom>
        </p:spPr>
      </p:pic>
      <p:sp>
        <p:nvSpPr>
          <p:cNvPr id="46" name="Text 41"/>
          <p:cNvSpPr txBox="1"/>
          <p:nvPr/>
        </p:nvSpPr>
        <p:spPr>
          <a:xfrm>
            <a:off x="7662672" y="3977640"/>
            <a:ext cx="3797503"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What it enables</a:t>
            </a:r>
            <a:endParaRPr lang="en-US" sz="1550" dirty="0"/>
          </a:p>
        </p:txBody>
      </p:sp>
      <p:sp>
        <p:nvSpPr>
          <p:cNvPr id="47" name="Text 42"/>
          <p:cNvSpPr txBox="1"/>
          <p:nvPr/>
        </p:nvSpPr>
        <p:spPr>
          <a:xfrm>
            <a:off x="7132320" y="4489704"/>
            <a:ext cx="4327855" cy="905256"/>
          </a:xfrm>
          <a:prstGeom prst="rect">
            <a:avLst/>
          </a:prstGeom>
          <a:noFill/>
          <a:ln/>
        </p:spPr>
        <p:txBody>
          <a:bodyPr wrap="square" lIns="0" tIns="0" rIns="0" bIns="0" rtlCol="0" anchor="t"/>
          <a:lstStyle/>
          <a:p>
            <a:pPr marL="0" indent="0">
              <a:spcAft>
                <a:spcPts val="400"/>
              </a:spcAft>
              <a:buNone/>
            </a:pPr>
            <a:r>
              <a:rPr lang="en-US" sz="1350" dirty="0">
                <a:solidFill>
                  <a:srgbClr val="1F2A37"/>
                </a:solidFill>
                <a:latin typeface="Calibri" pitchFamily="34" charset="0"/>
                <a:ea typeface="Calibri" pitchFamily="34" charset="-122"/>
                <a:cs typeface="Calibri" pitchFamily="34" charset="-120"/>
              </a:rPr>
              <a:t>Drill across processes: compare monthly sales with monthly purchase cost per product, knowing both use the same definitions.</a:t>
            </a:r>
            <a:endParaRPr lang="en-US" sz="1350" dirty="0"/>
          </a:p>
        </p:txBody>
      </p:sp>
      <p:sp>
        <p:nvSpPr>
          <p:cNvPr id="48" name="Shape 43"/>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49" name="Shape 44"/>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50" name="Image 2" descr="preencoded.png"/>
          <p:cNvPicPr>
            <a:picLocks noChangeAspect="1"/>
          </p:cNvPicPr>
          <p:nvPr/>
        </p:nvPicPr>
        <p:blipFill>
          <a:blip r:embed="rId5"/>
          <a:stretch>
            <a:fillRect/>
          </a:stretch>
        </p:blipFill>
        <p:spPr>
          <a:xfrm>
            <a:off x="790042" y="5956402"/>
            <a:ext cx="175565" cy="175565"/>
          </a:xfrm>
          <a:prstGeom prst="rect">
            <a:avLst/>
          </a:prstGeom>
        </p:spPr>
      </p:pic>
      <p:sp>
        <p:nvSpPr>
          <p:cNvPr id="51" name="Text 45"/>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Conformed dimensions are the glue of an enterprise warehouse: one definition of date, product and customer everywhere.</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21</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ENTERPRISE DESIGN</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The bus matrix: plan many stars that share dimensions</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3182112"/>
        </p:xfrm>
        <a:graphic>
          <a:graphicData uri="http://schemas.openxmlformats.org/drawingml/2006/table">
            <a:tbl>
              <a:tblPr/>
              <a:tblGrid>
                <a:gridCol w="36576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261872">
                  <a:extLst>
                    <a:ext uri="{9D8B030D-6E8A-4147-A177-3AD203B41FA5}">
                      <a16:colId xmlns:a16="http://schemas.microsoft.com/office/drawing/2014/main" val="20006"/>
                    </a:ext>
                  </a:extLst>
                </a:gridCol>
              </a:tblGrid>
              <a:tr h="530352">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Business process (fact table)</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Date</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Product</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Customer</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Store</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Supplier</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Promotion</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530352">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Retail sales (fact_sales)</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Purchases (fact_purchases)</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530352">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Daily inventory (fact_inventory_daily)</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Order fulfilment (fact_order_pipeline)</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4"/>
                  </a:ext>
                </a:extLst>
              </a:tr>
              <a:tr h="530352">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Promotion coverage (factless)</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E7C7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5"/>
          <p:cNvSpPr/>
          <p:nvPr/>
        </p:nvSpPr>
        <p:spPr>
          <a:xfrm>
            <a:off x="548640" y="5029200"/>
            <a:ext cx="11094415" cy="548640"/>
          </a:xfrm>
          <a:prstGeom prst="roundRect">
            <a:avLst>
              <a:gd name="adj" fmla="val 13333"/>
            </a:avLst>
          </a:prstGeom>
          <a:solidFill>
            <a:srgbClr val="E2F1F0"/>
          </a:solidFill>
          <a:ln w="9525">
            <a:solidFill>
              <a:srgbClr val="E2F1F0"/>
            </a:solidFill>
            <a:prstDash val="solid"/>
          </a:ln>
        </p:spPr>
        <p:txBody>
          <a:bodyPr/>
          <a:lstStyle/>
          <a:p>
            <a:endParaRPr lang="en-US"/>
          </a:p>
        </p:txBody>
      </p:sp>
      <p:sp>
        <p:nvSpPr>
          <p:cNvPr id="10" name="Text 6"/>
          <p:cNvSpPr txBox="1"/>
          <p:nvPr/>
        </p:nvSpPr>
        <p:spPr>
          <a:xfrm>
            <a:off x="777240" y="5029200"/>
            <a:ext cx="10637215" cy="548640"/>
          </a:xfrm>
          <a:prstGeom prst="rect">
            <a:avLst/>
          </a:prstGeom>
          <a:noFill/>
          <a:ln/>
        </p:spPr>
        <p:txBody>
          <a:bodyPr wrap="square" lIns="0" tIns="0" rIns="0" bIns="0" rtlCol="0" anchor="ctr"/>
          <a:lstStyle/>
          <a:p>
            <a:pPr marL="0" indent="0">
              <a:buNone/>
            </a:pPr>
            <a:r>
              <a:rPr lang="en-US" sz="1350" b="1" dirty="0">
                <a:solidFill>
                  <a:srgbClr val="0E7C7B"/>
                </a:solidFill>
                <a:latin typeface="Calibri" pitchFamily="34" charset="0"/>
                <a:ea typeface="Calibri" pitchFamily="34" charset="-122"/>
                <a:cs typeface="Calibri" pitchFamily="34" charset="-120"/>
              </a:rPr>
              <a:t>Read down a column: Date and Product are used by every process → build them once as conformed dimensions.</a:t>
            </a:r>
            <a:endParaRPr lang="en-US" sz="1350" dirty="0"/>
          </a:p>
        </p:txBody>
      </p:sp>
      <p:sp>
        <p:nvSpPr>
          <p:cNvPr id="11" name="Shape 7"/>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12" name="Shape 8"/>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13"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14" name="Text 9"/>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The bus matrix lets you build one star at a time while guaranteeing they all fit together later.</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22</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SLOWLY CHANGING DIMENSIONS</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SCD types: how much history does each attribute need?</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283464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3319272">
                  <a:extLst>
                    <a:ext uri="{9D8B030D-6E8A-4147-A177-3AD203B41FA5}">
                      <a16:colId xmlns:a16="http://schemas.microsoft.com/office/drawing/2014/main" val="20003"/>
                    </a:ext>
                  </a:extLst>
                </a:gridCol>
              </a:tblGrid>
              <a:tr h="56692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Type</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happens on change</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History kept</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SmartRetail example</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566928">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0 — retain</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Nothing: the original value is kept forever</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Original only</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customer.first_order_date</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1 — overwrite</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Old value replaced</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None</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Correcting a misspelt customer name</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566928">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2 — add row</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Old row closed; new row with new surrogate key and validity dates</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Full</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Customer moves city; changes segment</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3 — add column</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Previous value moved to a previous_… column</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One step back</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Store region after a one-off reorganisation</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4"/>
                  </a:ext>
                </a:extLst>
              </a:tr>
            </a:tbl>
          </a:graphicData>
        </a:graphic>
      </p:graphicFrame>
      <p:sp>
        <p:nvSpPr>
          <p:cNvPr id="9" name="Shape 5"/>
          <p:cNvSpPr/>
          <p:nvPr/>
        </p:nvSpPr>
        <p:spPr>
          <a:xfrm>
            <a:off x="548640" y="4709160"/>
            <a:ext cx="11094415" cy="868680"/>
          </a:xfrm>
          <a:prstGeom prst="roundRect">
            <a:avLst>
              <a:gd name="adj" fmla="val 8421"/>
            </a:avLst>
          </a:prstGeom>
          <a:solidFill>
            <a:srgbClr val="F3F6F9"/>
          </a:solidFill>
          <a:ln w="9525">
            <a:solidFill>
              <a:srgbClr val="F3F6F9"/>
            </a:solidFill>
            <a:prstDash val="solid"/>
          </a:ln>
        </p:spPr>
        <p:txBody>
          <a:bodyPr/>
          <a:lstStyle/>
          <a:p>
            <a:endParaRPr lang="en-US"/>
          </a:p>
        </p:txBody>
      </p:sp>
      <p:sp>
        <p:nvSpPr>
          <p:cNvPr id="10" name="Text 6"/>
          <p:cNvSpPr txBox="1"/>
          <p:nvPr/>
        </p:nvSpPr>
        <p:spPr>
          <a:xfrm>
            <a:off x="777240" y="4709160"/>
            <a:ext cx="10637215" cy="868680"/>
          </a:xfrm>
          <a:prstGeom prst="rect">
            <a:avLst/>
          </a:prstGeom>
          <a:noFill/>
          <a:ln/>
        </p:spPr>
        <p:txBody>
          <a:bodyPr wrap="square" lIns="0" tIns="0" rIns="0" bIns="0" rtlCol="0" anchor="ctr"/>
          <a:lstStyle/>
          <a:p>
            <a:pPr marL="0" indent="0">
              <a:buNone/>
            </a:pPr>
            <a:r>
              <a:rPr lang="en-US" sz="1400" b="1" dirty="0">
                <a:solidFill>
                  <a:srgbClr val="12263A"/>
                </a:solidFill>
                <a:latin typeface="Calibri" pitchFamily="34" charset="0"/>
                <a:ea typeface="Calibri" pitchFamily="34" charset="-122"/>
                <a:cs typeface="Calibri" pitchFamily="34" charset="-120"/>
              </a:rPr>
              <a:t>Decide per attribute, not per table: </a:t>
            </a:r>
            <a:r>
              <a:rPr lang="en-US" sz="1400" dirty="0">
                <a:solidFill>
                  <a:srgbClr val="1F2A37"/>
                </a:solidFill>
                <a:latin typeface="Calibri" pitchFamily="34" charset="0"/>
                <a:ea typeface="Calibri" pitchFamily="34" charset="-122"/>
                <a:cs typeface="Calibri" pitchFamily="34" charset="-120"/>
              </a:rPr>
              <a:t>in the same dim_customer, city can be Type 2 while a spelling fix to name is Type 1.</a:t>
            </a:r>
            <a:endParaRPr lang="en-US" sz="1400" dirty="0"/>
          </a:p>
        </p:txBody>
      </p:sp>
      <p:sp>
        <p:nvSpPr>
          <p:cNvPr id="11" name="Shape 7"/>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12" name="Shape 8"/>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13"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14" name="Text 9"/>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Ask “do analyses need to know the old value?” — if yes, Type 2; if never, Type 1; if only the last one, Type 3.</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23</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SLOWLY CHANGING DIMENSIONS (SCD)</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When a description changes, do we keep the history?</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Text 5"/>
          <p:cNvSpPr txBox="1"/>
          <p:nvPr/>
        </p:nvSpPr>
        <p:spPr>
          <a:xfrm>
            <a:off x="548640" y="1645920"/>
            <a:ext cx="11094415" cy="320040"/>
          </a:xfrm>
          <a:prstGeom prst="rect">
            <a:avLst/>
          </a:prstGeom>
          <a:noFill/>
          <a:ln/>
        </p:spPr>
        <p:txBody>
          <a:bodyPr wrap="square" lIns="0" tIns="0" rIns="0" bIns="0" rtlCol="0" anchor="t"/>
          <a:lstStyle/>
          <a:p>
            <a:pPr marL="0" indent="0">
              <a:buNone/>
            </a:pPr>
            <a:r>
              <a:rPr lang="en-US" sz="1450" b="1" dirty="0">
                <a:solidFill>
                  <a:srgbClr val="12263A"/>
                </a:solidFill>
                <a:latin typeface="Calibri" pitchFamily="34" charset="0"/>
                <a:ea typeface="Calibri" pitchFamily="34" charset="-122"/>
                <a:cs typeface="Calibri" pitchFamily="34" charset="-120"/>
              </a:rPr>
              <a:t>Scenario: customer 881 moves from Brisbane to Sydney on 1 March 2026.</a:t>
            </a:r>
            <a:endParaRPr lang="en-US" sz="1450" dirty="0"/>
          </a:p>
        </p:txBody>
      </p:sp>
      <p:sp>
        <p:nvSpPr>
          <p:cNvPr id="9" name="Text 6"/>
          <p:cNvSpPr txBox="1"/>
          <p:nvPr/>
        </p:nvSpPr>
        <p:spPr>
          <a:xfrm>
            <a:off x="548640" y="2103120"/>
            <a:ext cx="4572000" cy="274320"/>
          </a:xfrm>
          <a:prstGeom prst="rect">
            <a:avLst/>
          </a:prstGeom>
          <a:noFill/>
          <a:ln/>
        </p:spPr>
        <p:txBody>
          <a:bodyPr wrap="square" lIns="0" tIns="0" rIns="0" bIns="0" rtlCol="0" anchor="t"/>
          <a:lstStyle/>
          <a:p>
            <a:pPr marL="0" indent="0">
              <a:buNone/>
            </a:pPr>
            <a:r>
              <a:rPr lang="en-US" sz="1400" b="1" dirty="0">
                <a:solidFill>
                  <a:srgbClr val="C8414F"/>
                </a:solidFill>
                <a:latin typeface="Calibri" pitchFamily="34" charset="0"/>
                <a:ea typeface="Calibri" pitchFamily="34" charset="-122"/>
                <a:cs typeface="Calibri" pitchFamily="34" charset="-120"/>
              </a:rPr>
              <a:t>Type 1 — overwrite</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4937760" cy="694944"/>
        </p:xfrm>
        <a:graphic>
          <a:graphicData uri="http://schemas.openxmlformats.org/drawingml/2006/table">
            <a:tbl>
              <a:tblPr/>
              <a:tblGrid>
                <a:gridCol w="12344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customer_key</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customer_id</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city</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5001</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881</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Aisha Rahman</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b="1" dirty="0">
                          <a:solidFill>
                            <a:srgbClr val="C8414F"/>
                          </a:solidFill>
                          <a:latin typeface="Calibri" pitchFamily="34" charset="0"/>
                          <a:ea typeface="Calibri" pitchFamily="34" charset="-122"/>
                          <a:cs typeface="Calibri" pitchFamily="34" charset="-120"/>
                        </a:rPr>
                        <a:t>Sydney</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1" name="Text 7"/>
          <p:cNvSpPr txBox="1"/>
          <p:nvPr/>
        </p:nvSpPr>
        <p:spPr>
          <a:xfrm>
            <a:off x="548640" y="3200400"/>
            <a:ext cx="4937760" cy="1097280"/>
          </a:xfrm>
          <a:prstGeom prst="rect">
            <a:avLst/>
          </a:prstGeom>
          <a:noFill/>
          <a:ln/>
        </p:spPr>
        <p:txBody>
          <a:bodyPr wrap="square" lIns="0" tIns="0" rIns="0" bIns="0" rtlCol="0" anchor="t"/>
          <a:lstStyle/>
          <a:p>
            <a:pPr marL="165100" indent="-165100">
              <a:spcAft>
                <a:spcPts val="400"/>
              </a:spcAft>
              <a:buSzPct val="100000"/>
              <a:buChar char="•"/>
            </a:pPr>
            <a:r>
              <a:rPr lang="en-US" sz="1300" dirty="0">
                <a:solidFill>
                  <a:srgbClr val="1F2A37"/>
                </a:solidFill>
                <a:latin typeface="Calibri" pitchFamily="34" charset="0"/>
                <a:ea typeface="Calibri" pitchFamily="34" charset="-122"/>
                <a:cs typeface="Calibri" pitchFamily="34" charset="-120"/>
              </a:rPr>
              <a:t>Simple; table always shows the current value</a:t>
            </a:r>
            <a:endParaRPr lang="en-US" sz="1300" dirty="0"/>
          </a:p>
          <a:p>
            <a:pPr marL="165100" indent="-165100">
              <a:spcAft>
                <a:spcPts val="400"/>
              </a:spcAft>
              <a:buSzPct val="100000"/>
              <a:buChar char="•"/>
            </a:pPr>
            <a:r>
              <a:rPr lang="en-US" sz="1300" dirty="0">
                <a:solidFill>
                  <a:srgbClr val="1F2A37"/>
                </a:solidFill>
                <a:latin typeface="Calibri" pitchFamily="34" charset="0"/>
                <a:ea typeface="Calibri" pitchFamily="34" charset="-122"/>
                <a:cs typeface="Calibri" pitchFamily="34" charset="-120"/>
              </a:rPr>
              <a:t>History lost: 2025 Brisbane sales now look like Sydney sales</a:t>
            </a:r>
            <a:endParaRPr lang="en-US" sz="1300" dirty="0"/>
          </a:p>
        </p:txBody>
      </p:sp>
      <p:sp>
        <p:nvSpPr>
          <p:cNvPr id="12" name="Text 8"/>
          <p:cNvSpPr txBox="1"/>
          <p:nvPr/>
        </p:nvSpPr>
        <p:spPr>
          <a:xfrm>
            <a:off x="5852160" y="2103120"/>
            <a:ext cx="5790895" cy="274320"/>
          </a:xfrm>
          <a:prstGeom prst="rect">
            <a:avLst/>
          </a:prstGeom>
          <a:noFill/>
          <a:ln/>
        </p:spPr>
        <p:txBody>
          <a:bodyPr wrap="square" lIns="0" tIns="0" rIns="0" bIns="0" rtlCol="0" anchor="t"/>
          <a:lstStyle/>
          <a:p>
            <a:pPr marL="0" indent="0">
              <a:buNone/>
            </a:pPr>
            <a:r>
              <a:rPr lang="en-US" sz="1400" b="1" dirty="0">
                <a:solidFill>
                  <a:srgbClr val="0E7C7B"/>
                </a:solidFill>
                <a:latin typeface="Calibri" pitchFamily="34" charset="0"/>
                <a:ea typeface="Calibri" pitchFamily="34" charset="-122"/>
                <a:cs typeface="Calibri" pitchFamily="34" charset="-120"/>
              </a:rPr>
              <a:t>Type 2 — add a new row (keep history)</a:t>
            </a:r>
            <a:endParaRPr lang="en-US" sz="14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5852160" y="2423160"/>
          <a:ext cx="5788152" cy="1042416"/>
        </p:xfrm>
        <a:graphic>
          <a:graphicData uri="http://schemas.openxmlformats.org/drawingml/2006/table">
            <a:tbl>
              <a:tblPr/>
              <a:tblGrid>
                <a:gridCol w="10972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804672">
                  <a:extLst>
                    <a:ext uri="{9D8B030D-6E8A-4147-A177-3AD203B41FA5}">
                      <a16:colId xmlns:a16="http://schemas.microsoft.com/office/drawing/2014/main" val="20005"/>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customer_key</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customer_id</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city</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valid_from</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valid_to</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is_current</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347472">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5001</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881</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Brisbane</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2023-05-10</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2026-02-28</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false</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150" b="1" dirty="0">
                          <a:solidFill>
                            <a:srgbClr val="0E7C7B"/>
                          </a:solidFill>
                          <a:latin typeface="Calibri" pitchFamily="34" charset="0"/>
                          <a:ea typeface="Calibri" pitchFamily="34" charset="-122"/>
                          <a:cs typeface="Calibri" pitchFamily="34" charset="-120"/>
                        </a:rPr>
                        <a:t>5002</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881</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50" b="1" dirty="0">
                          <a:solidFill>
                            <a:srgbClr val="0E7C7B"/>
                          </a:solidFill>
                          <a:latin typeface="Calibri" pitchFamily="34" charset="0"/>
                          <a:ea typeface="Calibri" pitchFamily="34" charset="-122"/>
                          <a:cs typeface="Calibri" pitchFamily="34" charset="-120"/>
                        </a:rPr>
                        <a:t>Sydney</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2026-03-01</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9999-12-31</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true</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bl>
          </a:graphicData>
        </a:graphic>
      </p:graphicFrame>
      <p:sp>
        <p:nvSpPr>
          <p:cNvPr id="14" name="Text 9"/>
          <p:cNvSpPr txBox="1"/>
          <p:nvPr/>
        </p:nvSpPr>
        <p:spPr>
          <a:xfrm>
            <a:off x="5852160" y="3566160"/>
            <a:ext cx="5790895" cy="914400"/>
          </a:xfrm>
          <a:prstGeom prst="rect">
            <a:avLst/>
          </a:prstGeom>
          <a:noFill/>
          <a:ln/>
        </p:spPr>
        <p:txBody>
          <a:bodyPr wrap="square" lIns="0" tIns="0" rIns="0" bIns="0" rtlCol="0" anchor="t"/>
          <a:lstStyle/>
          <a:p>
            <a:pPr marL="165100" indent="-165100">
              <a:spcAft>
                <a:spcPts val="400"/>
              </a:spcAft>
              <a:buSzPct val="100000"/>
              <a:buChar char="•"/>
            </a:pPr>
            <a:r>
              <a:rPr lang="en-US" sz="1300" dirty="0">
                <a:solidFill>
                  <a:srgbClr val="1F2A37"/>
                </a:solidFill>
                <a:latin typeface="Calibri" pitchFamily="34" charset="0"/>
                <a:ea typeface="Calibri" pitchFamily="34" charset="-122"/>
                <a:cs typeface="Calibri" pitchFamily="34" charset="-120"/>
              </a:rPr>
              <a:t>Old sales keep key 5001 → still reported as Brisbane</a:t>
            </a:r>
            <a:endParaRPr lang="en-US" sz="1300" dirty="0"/>
          </a:p>
          <a:p>
            <a:pPr marL="165100" indent="-165100">
              <a:spcAft>
                <a:spcPts val="400"/>
              </a:spcAft>
              <a:buSzPct val="100000"/>
              <a:buChar char="•"/>
            </a:pPr>
            <a:r>
              <a:rPr lang="en-US" sz="1300" dirty="0">
                <a:solidFill>
                  <a:srgbClr val="1F2A37"/>
                </a:solidFill>
                <a:latin typeface="Calibri" pitchFamily="34" charset="0"/>
                <a:ea typeface="Calibri" pitchFamily="34" charset="-122"/>
                <a:cs typeface="Calibri" pitchFamily="34" charset="-120"/>
              </a:rPr>
              <a:t>New sales get key 5002 → reported as Sydney</a:t>
            </a:r>
            <a:endParaRPr lang="en-US" sz="1300" dirty="0"/>
          </a:p>
        </p:txBody>
      </p:sp>
      <p:sp>
        <p:nvSpPr>
          <p:cNvPr id="15" name="Shape 10"/>
          <p:cNvSpPr/>
          <p:nvPr/>
        </p:nvSpPr>
        <p:spPr>
          <a:xfrm>
            <a:off x="548640" y="4434840"/>
            <a:ext cx="11094415" cy="1143000"/>
          </a:xfrm>
          <a:prstGeom prst="roundRect">
            <a:avLst>
              <a:gd name="adj" fmla="val 4800"/>
            </a:avLst>
          </a:prstGeom>
          <a:solidFill>
            <a:srgbClr val="0F1E2E"/>
          </a:solidFill>
          <a:ln w="9525">
            <a:solidFill>
              <a:srgbClr val="0F1E2E"/>
            </a:solidFill>
            <a:prstDash val="solid"/>
          </a:ln>
        </p:spPr>
        <p:txBody>
          <a:bodyPr/>
          <a:lstStyle/>
          <a:p>
            <a:endParaRPr lang="en-US"/>
          </a:p>
        </p:txBody>
      </p:sp>
      <p:sp>
        <p:nvSpPr>
          <p:cNvPr id="16" name="Text 11"/>
          <p:cNvSpPr txBox="1"/>
          <p:nvPr/>
        </p:nvSpPr>
        <p:spPr>
          <a:xfrm>
            <a:off x="749808" y="4599432"/>
            <a:ext cx="10728655" cy="868680"/>
          </a:xfrm>
          <a:prstGeom prst="rect">
            <a:avLst/>
          </a:prstGeom>
          <a:noFill/>
          <a:ln/>
        </p:spPr>
        <p:txBody>
          <a:bodyPr wrap="square" lIns="0" tIns="0" rIns="0" bIns="0" rtlCol="0" anchor="t"/>
          <a:lstStyle/>
          <a:p>
            <a:pPr marL="0" indent="0">
              <a:lnSpc>
                <a:spcPct val="105000"/>
              </a:lnSpc>
              <a:buNone/>
            </a:pPr>
            <a:r>
              <a:rPr lang="en-US" sz="1100" i="1" dirty="0">
                <a:solidFill>
                  <a:srgbClr val="8CC7B0"/>
                </a:solidFill>
                <a:latin typeface="Courier New" pitchFamily="34" charset="0"/>
                <a:ea typeface="Courier New" pitchFamily="34" charset="-122"/>
                <a:cs typeface="Courier New" pitchFamily="34" charset="-120"/>
              </a:rPr>
              <a:t>-- Databricks declarative pipelines can maintain SCD Type 2 for you (newer syntax: AUTO CDC)</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APPLY CHANGES INTO live.dim_customer FROM STREAM(silver.customer_updates)</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KEYS (customer_id)  SEQUENCE BY updated_at  STORED AS SCD TYPE 2;</a:t>
            </a:r>
            <a:endParaRPr lang="en-US" sz="1100" dirty="0"/>
          </a:p>
        </p:txBody>
      </p:sp>
      <p:sp>
        <p:nvSpPr>
          <p:cNvPr id="17" name="Shape 12"/>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18" name="Shape 13"/>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19"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20" name="Text 14"/>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Type 1 answers “what is true now?”; Type 2 answers “what was true when the sale happened?”</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24</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QUERYING TYPE 2</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Historical or current view? The join decides</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Text 5"/>
          <p:cNvSpPr txBox="1"/>
          <p:nvPr/>
        </p:nvSpPr>
        <p:spPr>
          <a:xfrm>
            <a:off x="548640" y="1645920"/>
            <a:ext cx="5410048" cy="320040"/>
          </a:xfrm>
          <a:prstGeom prst="rect">
            <a:avLst/>
          </a:prstGeom>
          <a:noFill/>
          <a:ln/>
        </p:spPr>
        <p:txBody>
          <a:bodyPr wrap="square" lIns="0" tIns="0" rIns="0" bIns="0" rtlCol="0" anchor="t"/>
          <a:lstStyle/>
          <a:p>
            <a:pPr marL="0" indent="0">
              <a:buNone/>
            </a:pPr>
            <a:r>
              <a:rPr lang="en-US" sz="1500" b="1" dirty="0">
                <a:solidFill>
                  <a:srgbClr val="0E7C7B"/>
                </a:solidFill>
                <a:latin typeface="Calibri" pitchFamily="34" charset="0"/>
                <a:ea typeface="Calibri" pitchFamily="34" charset="-122"/>
                <a:cs typeface="Calibri" pitchFamily="34" charset="-120"/>
              </a:rPr>
              <a:t>As it was when the sale happened</a:t>
            </a:r>
            <a:endParaRPr lang="en-US" sz="1500" dirty="0"/>
          </a:p>
        </p:txBody>
      </p:sp>
      <p:sp>
        <p:nvSpPr>
          <p:cNvPr id="9" name="Shape 6"/>
          <p:cNvSpPr/>
          <p:nvPr/>
        </p:nvSpPr>
        <p:spPr>
          <a:xfrm>
            <a:off x="548640" y="2011680"/>
            <a:ext cx="5410048" cy="1920240"/>
          </a:xfrm>
          <a:prstGeom prst="roundRect">
            <a:avLst>
              <a:gd name="adj" fmla="val 2857"/>
            </a:avLst>
          </a:prstGeom>
          <a:solidFill>
            <a:srgbClr val="0F1E2E"/>
          </a:solidFill>
          <a:ln w="9525">
            <a:solidFill>
              <a:srgbClr val="0F1E2E"/>
            </a:solidFill>
            <a:prstDash val="solid"/>
          </a:ln>
        </p:spPr>
        <p:txBody>
          <a:bodyPr/>
          <a:lstStyle/>
          <a:p>
            <a:endParaRPr lang="en-US"/>
          </a:p>
        </p:txBody>
      </p:sp>
      <p:sp>
        <p:nvSpPr>
          <p:cNvPr id="10" name="Text 7"/>
          <p:cNvSpPr txBox="1"/>
          <p:nvPr/>
        </p:nvSpPr>
        <p:spPr>
          <a:xfrm>
            <a:off x="4769968" y="210312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11" name="Text 8"/>
          <p:cNvSpPr txBox="1"/>
          <p:nvPr/>
        </p:nvSpPr>
        <p:spPr>
          <a:xfrm>
            <a:off x="749808" y="2304288"/>
            <a:ext cx="5044288" cy="1536192"/>
          </a:xfrm>
          <a:prstGeom prst="rect">
            <a:avLst/>
          </a:prstGeom>
          <a:noFill/>
          <a:ln/>
        </p:spPr>
        <p:txBody>
          <a:bodyPr wrap="square" lIns="0" tIns="0" rIns="0" bIns="0" rtlCol="0" anchor="t"/>
          <a:lstStyle/>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SELECT c.city, SUM(f.sales_amount) AS revenue</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FROM   gold.fact_sales f</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JOIN   gold.dim_customer c</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  ON   f.customer_key = c.customer_key  -- surrogate</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GROUP  BY c.city;</a:t>
            </a:r>
            <a:endParaRPr lang="en-US" sz="1100" dirty="0"/>
          </a:p>
        </p:txBody>
      </p:sp>
      <p:sp>
        <p:nvSpPr>
          <p:cNvPr id="12" name="Text 9"/>
          <p:cNvSpPr txBox="1"/>
          <p:nvPr/>
        </p:nvSpPr>
        <p:spPr>
          <a:xfrm>
            <a:off x="548640" y="3977640"/>
            <a:ext cx="5410048" cy="274320"/>
          </a:xfrm>
          <a:prstGeom prst="rect">
            <a:avLst/>
          </a:prstGeom>
          <a:noFill/>
          <a:ln/>
        </p:spPr>
        <p:txBody>
          <a:bodyPr wrap="square" lIns="0" tIns="0" rIns="0" bIns="0" rtlCol="0" anchor="t"/>
          <a:lstStyle/>
          <a:p>
            <a:pPr marL="0" indent="0">
              <a:buNone/>
            </a:pPr>
            <a:r>
              <a:rPr lang="en-US" sz="1250" i="1" dirty="0">
                <a:solidFill>
                  <a:srgbClr val="5B6B7B"/>
                </a:solidFill>
                <a:latin typeface="Calibri" pitchFamily="34" charset="0"/>
                <a:ea typeface="Calibri" pitchFamily="34" charset="-122"/>
                <a:cs typeface="Calibri" pitchFamily="34" charset="-120"/>
              </a:rPr>
              <a:t>2025 sales of customer 881 → Brisbane</a:t>
            </a:r>
            <a:endParaRPr lang="en-US" sz="1250" dirty="0"/>
          </a:p>
        </p:txBody>
      </p:sp>
      <p:sp>
        <p:nvSpPr>
          <p:cNvPr id="13" name="Text 10"/>
          <p:cNvSpPr txBox="1"/>
          <p:nvPr/>
        </p:nvSpPr>
        <p:spPr>
          <a:xfrm>
            <a:off x="6233008" y="1645920"/>
            <a:ext cx="5410048" cy="320040"/>
          </a:xfrm>
          <a:prstGeom prst="rect">
            <a:avLst/>
          </a:prstGeom>
          <a:noFill/>
          <a:ln/>
        </p:spPr>
        <p:txBody>
          <a:bodyPr wrap="square" lIns="0" tIns="0" rIns="0" bIns="0" rtlCol="0" anchor="t"/>
          <a:lstStyle/>
          <a:p>
            <a:pPr marL="0" indent="0">
              <a:buNone/>
            </a:pPr>
            <a:r>
              <a:rPr lang="en-US" sz="1500" b="1" dirty="0">
                <a:solidFill>
                  <a:srgbClr val="5B4BA6"/>
                </a:solidFill>
                <a:latin typeface="Calibri" pitchFamily="34" charset="0"/>
                <a:ea typeface="Calibri" pitchFamily="34" charset="-122"/>
                <a:cs typeface="Calibri" pitchFamily="34" charset="-120"/>
              </a:rPr>
              <a:t>Restated by the current value</a:t>
            </a:r>
            <a:endParaRPr lang="en-US" sz="1500" dirty="0"/>
          </a:p>
        </p:txBody>
      </p:sp>
      <p:sp>
        <p:nvSpPr>
          <p:cNvPr id="14" name="Shape 11"/>
          <p:cNvSpPr/>
          <p:nvPr/>
        </p:nvSpPr>
        <p:spPr>
          <a:xfrm>
            <a:off x="6233008" y="2011680"/>
            <a:ext cx="5410048" cy="1920240"/>
          </a:xfrm>
          <a:prstGeom prst="roundRect">
            <a:avLst>
              <a:gd name="adj" fmla="val 2857"/>
            </a:avLst>
          </a:prstGeom>
          <a:solidFill>
            <a:srgbClr val="0F1E2E"/>
          </a:solidFill>
          <a:ln w="9525">
            <a:solidFill>
              <a:srgbClr val="0F1E2E"/>
            </a:solidFill>
            <a:prstDash val="solid"/>
          </a:ln>
        </p:spPr>
        <p:txBody>
          <a:bodyPr/>
          <a:lstStyle/>
          <a:p>
            <a:endParaRPr lang="en-US"/>
          </a:p>
        </p:txBody>
      </p:sp>
      <p:sp>
        <p:nvSpPr>
          <p:cNvPr id="15" name="Text 12"/>
          <p:cNvSpPr txBox="1"/>
          <p:nvPr/>
        </p:nvSpPr>
        <p:spPr>
          <a:xfrm>
            <a:off x="10454335" y="210312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16" name="Text 13"/>
          <p:cNvSpPr txBox="1"/>
          <p:nvPr/>
        </p:nvSpPr>
        <p:spPr>
          <a:xfrm>
            <a:off x="6434176" y="2304288"/>
            <a:ext cx="5044288" cy="1536192"/>
          </a:xfrm>
          <a:prstGeom prst="rect">
            <a:avLst/>
          </a:prstGeom>
          <a:noFill/>
          <a:ln/>
        </p:spPr>
        <p:txBody>
          <a:bodyPr wrap="square" lIns="0" tIns="0" rIns="0" bIns="0" rtlCol="0" anchor="t"/>
          <a:lstStyle/>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SELECT cur.city, SUM(f.sales_amount) AS revenue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FROM   gold.fact_sales f</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gold.dim_customer c   ON f.customer_key = c.customer_key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gold.dim_customer cur ON cur.customer_id = c.customer_id</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AND cur.is_current</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GROUP  BY cur.city;</a:t>
            </a:r>
            <a:endParaRPr lang="en-US" sz="1050" dirty="0"/>
          </a:p>
        </p:txBody>
      </p:sp>
      <p:sp>
        <p:nvSpPr>
          <p:cNvPr id="17" name="Text 14"/>
          <p:cNvSpPr txBox="1"/>
          <p:nvPr/>
        </p:nvSpPr>
        <p:spPr>
          <a:xfrm>
            <a:off x="6233008" y="3977640"/>
            <a:ext cx="5410048" cy="274320"/>
          </a:xfrm>
          <a:prstGeom prst="rect">
            <a:avLst/>
          </a:prstGeom>
          <a:noFill/>
          <a:ln/>
        </p:spPr>
        <p:txBody>
          <a:bodyPr wrap="square" lIns="0" tIns="0" rIns="0" bIns="0" rtlCol="0" anchor="t"/>
          <a:lstStyle/>
          <a:p>
            <a:pPr marL="0" indent="0">
              <a:buNone/>
            </a:pPr>
            <a:r>
              <a:rPr lang="en-US" sz="1250" i="1" dirty="0">
                <a:solidFill>
                  <a:srgbClr val="5B6B7B"/>
                </a:solidFill>
                <a:latin typeface="Calibri" pitchFamily="34" charset="0"/>
                <a:ea typeface="Calibri" pitchFamily="34" charset="-122"/>
                <a:cs typeface="Calibri" pitchFamily="34" charset="-120"/>
              </a:rPr>
              <a:t>All sales of customer 881 → Sydney</a:t>
            </a:r>
            <a:endParaRPr lang="en-US" sz="1250" dirty="0"/>
          </a:p>
        </p:txBody>
      </p:sp>
      <p:sp>
        <p:nvSpPr>
          <p:cNvPr id="18" name="Shape 15"/>
          <p:cNvSpPr/>
          <p:nvPr/>
        </p:nvSpPr>
        <p:spPr>
          <a:xfrm>
            <a:off x="548640" y="4434840"/>
            <a:ext cx="11094415" cy="1143000"/>
          </a:xfrm>
          <a:prstGeom prst="roundRect">
            <a:avLst>
              <a:gd name="adj" fmla="val 6400"/>
            </a:avLst>
          </a:prstGeom>
          <a:solidFill>
            <a:srgbClr val="FCF0DC"/>
          </a:solidFill>
          <a:ln w="9525">
            <a:solidFill>
              <a:srgbClr val="FCF0DC"/>
            </a:solidFill>
            <a:prstDash val="solid"/>
          </a:ln>
        </p:spPr>
        <p:txBody>
          <a:bodyPr/>
          <a:lstStyle/>
          <a:p>
            <a:endParaRPr lang="en-US"/>
          </a:p>
        </p:txBody>
      </p:sp>
      <p:sp>
        <p:nvSpPr>
          <p:cNvPr id="19" name="Text 16"/>
          <p:cNvSpPr txBox="1"/>
          <p:nvPr/>
        </p:nvSpPr>
        <p:spPr>
          <a:xfrm>
            <a:off x="777240" y="4434840"/>
            <a:ext cx="10637215" cy="1143000"/>
          </a:xfrm>
          <a:prstGeom prst="rect">
            <a:avLst/>
          </a:prstGeom>
          <a:noFill/>
          <a:ln/>
        </p:spPr>
        <p:txBody>
          <a:bodyPr wrap="square" lIns="0" tIns="0" rIns="0" bIns="0" rtlCol="0" anchor="ctr"/>
          <a:lstStyle/>
          <a:p>
            <a:pPr marL="0" indent="0">
              <a:buNone/>
            </a:pPr>
            <a:r>
              <a:rPr lang="en-US" sz="1350" b="1" dirty="0">
                <a:solidFill>
                  <a:srgbClr val="9A5A00"/>
                </a:solidFill>
                <a:latin typeface="Calibri" pitchFamily="34" charset="0"/>
                <a:ea typeface="Calibri" pitchFamily="34" charset="-122"/>
                <a:cs typeface="Calibri" pitchFamily="34" charset="-120"/>
              </a:rPr>
              <a:t>Point-in-time lookup (used again in the mining half): </a:t>
            </a:r>
            <a:r>
              <a:rPr lang="en-US" sz="1350" dirty="0">
                <a:solidFill>
                  <a:srgbClr val="1F2A37"/>
                </a:solidFill>
                <a:latin typeface="Calibri" pitchFamily="34" charset="0"/>
                <a:ea typeface="Calibri" pitchFamily="34" charset="-122"/>
                <a:cs typeface="Calibri" pitchFamily="34" charset="-120"/>
              </a:rPr>
              <a:t>to get a customer’s attributes “as of” a date, filter </a:t>
            </a:r>
            <a:r>
              <a:rPr lang="en-US" sz="1250" dirty="0">
                <a:solidFill>
                  <a:srgbClr val="1F2A37"/>
                </a:solidFill>
                <a:latin typeface="Courier New" pitchFamily="34" charset="0"/>
                <a:ea typeface="Courier New" pitchFamily="34" charset="-122"/>
                <a:cs typeface="Courier New" pitchFamily="34" charset="-120"/>
              </a:rPr>
              <a:t>valid_from &lt;= :as_of AND :as_of &lt;= valid_to</a:t>
            </a:r>
            <a:r>
              <a:rPr lang="en-US" sz="1350" dirty="0">
                <a:solidFill>
                  <a:srgbClr val="1F2A37"/>
                </a:solidFill>
                <a:latin typeface="Calibri" pitchFamily="34" charset="0"/>
                <a:ea typeface="Calibri" pitchFamily="34" charset="-122"/>
                <a:cs typeface="Calibri" pitchFamily="34" charset="-120"/>
              </a:rPr>
              <a:t> — this is how features avoid seeing the future.</a:t>
            </a:r>
            <a:endParaRPr lang="en-US" sz="1350" dirty="0"/>
          </a:p>
        </p:txBody>
      </p:sp>
      <p:sp>
        <p:nvSpPr>
          <p:cNvPr id="20" name="Shape 17"/>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21" name="Shape 18"/>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22"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23" name="Text 19"/>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Join on the surrogate key for history as it was; go through the natural key to is_current for today’s view.</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25</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BUILDING THE STAR IN DATABRICKS</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Delta tables with keys, constraints and clustering</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6949440" cy="3886200"/>
          </a:xfrm>
          <a:prstGeom prst="roundRect">
            <a:avLst>
              <a:gd name="adj" fmla="val 1412"/>
            </a:avLst>
          </a:prstGeom>
          <a:solidFill>
            <a:srgbClr val="0F1E2E"/>
          </a:solidFill>
          <a:ln w="9525">
            <a:solidFill>
              <a:srgbClr val="0F1E2E"/>
            </a:solidFill>
            <a:prstDash val="solid"/>
          </a:ln>
        </p:spPr>
        <p:txBody>
          <a:bodyPr/>
          <a:lstStyle/>
          <a:p>
            <a:endParaRPr lang="en-US"/>
          </a:p>
        </p:txBody>
      </p:sp>
      <p:sp>
        <p:nvSpPr>
          <p:cNvPr id="9" name="Text 6"/>
          <p:cNvSpPr txBox="1"/>
          <p:nvPr/>
        </p:nvSpPr>
        <p:spPr>
          <a:xfrm>
            <a:off x="6309360" y="178308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10" name="Text 7"/>
          <p:cNvSpPr txBox="1"/>
          <p:nvPr/>
        </p:nvSpPr>
        <p:spPr>
          <a:xfrm>
            <a:off x="749808" y="1984248"/>
            <a:ext cx="6583680" cy="3502152"/>
          </a:xfrm>
          <a:prstGeom prst="rect">
            <a:avLst/>
          </a:prstGeom>
          <a:noFill/>
          <a:ln/>
        </p:spPr>
        <p:txBody>
          <a:bodyPr wrap="square" lIns="0" tIns="0" rIns="0" bIns="0" rtlCol="0" anchor="t"/>
          <a:lstStyle/>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CREATE TABLE gold.dim_customer (</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customer_key BIGINT NOT NULL GENERATED BY DEFAULT AS IDENTITY,</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customer_id  STRING NOT NULL COMMENT 'natural key from source',</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name STRING, city STRING, segment STRING,</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valid_from DATE, valid_to DATE, is_current BOOLEAN,</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CONSTRAINT dim_customer_pk PRIMARY KEY (customer_key)</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COMMENT 'Customer dimension, SCD Type 2 on city and segment';</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CREATE TABLE gold.fact_sales (</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date_key INT NOT NULL, product_key BIGINT NOT NULL,</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customer_key BIGINT NOT NULL, store_key BIGINT NOT NULL,</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order_id STRING, quantity INT, sales_amount DECIMAL(12,2),</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CONSTRAINT fk_customer FOREIGN KEY (customer_key)</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REFERENCES gold.dim_customer</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CLUSTER BY (date_key, store_key);</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ALTER TABLE gold.fact_sales</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ADD CONSTRAINT positive_qty CHECK (quantity &gt; 0);</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772400" y="1691640"/>
          <a:ext cx="3870655" cy="2633472"/>
        </p:xfrm>
        <a:graphic>
          <a:graphicData uri="http://schemas.openxmlformats.org/drawingml/2006/table">
            <a:tbl>
              <a:tblPr/>
              <a:tblGrid>
                <a:gridCol w="2240280">
                  <a:extLst>
                    <a:ext uri="{9D8B030D-6E8A-4147-A177-3AD203B41FA5}">
                      <a16:colId xmlns:a16="http://schemas.microsoft.com/office/drawing/2014/main" val="20000"/>
                    </a:ext>
                  </a:extLst>
                </a:gridCol>
                <a:gridCol w="1630375">
                  <a:extLst>
                    <a:ext uri="{9D8B030D-6E8A-4147-A177-3AD203B41FA5}">
                      <a16:colId xmlns:a16="http://schemas.microsoft.com/office/drawing/2014/main" val="20001"/>
                    </a:ext>
                  </a:extLst>
                </a:gridCol>
              </a:tblGrid>
              <a:tr h="43891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Feature</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0E7C7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Enforced?</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0E7C7B"/>
                    </a:solidFill>
                  </a:tcPr>
                </a:tc>
                <a:extLst>
                  <a:ext uri="{0D108BD9-81ED-4DB2-BD59-A6C34878D82A}">
                    <a16:rowId xmlns:a16="http://schemas.microsoft.com/office/drawing/2014/main" val="10000"/>
                  </a:ext>
                </a:extLst>
              </a:tr>
              <a:tr h="438912">
                <a:tc>
                  <a:txBody>
                    <a:bodyPr/>
                    <a:lstStyle/>
                    <a:p>
                      <a:pPr marL="0" indent="0">
                        <a:buNone/>
                      </a:pPr>
                      <a:r>
                        <a:rPr lang="en-US" sz="1250" b="1" dirty="0">
                          <a:solidFill>
                            <a:srgbClr val="1F2A37"/>
                          </a:solidFill>
                          <a:latin typeface="Calibri" pitchFamily="34" charset="0"/>
                          <a:ea typeface="Calibri" pitchFamily="34" charset="-122"/>
                          <a:cs typeface="Calibri" pitchFamily="34" charset="-120"/>
                        </a:rPr>
                        <a:t>PRIMARY KEY / FOREIGN KEY</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50" b="1" dirty="0">
                          <a:solidFill>
                            <a:srgbClr val="C8414F"/>
                          </a:solidFill>
                          <a:latin typeface="Calibri" pitchFamily="34" charset="0"/>
                          <a:ea typeface="Calibri" pitchFamily="34" charset="-122"/>
                          <a:cs typeface="Calibri" pitchFamily="34" charset="-120"/>
                        </a:rPr>
                        <a:t>No — informational</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250" b="1" dirty="0">
                          <a:solidFill>
                            <a:srgbClr val="1F2A37"/>
                          </a:solidFill>
                          <a:latin typeface="Calibri" pitchFamily="34" charset="0"/>
                          <a:ea typeface="Calibri" pitchFamily="34" charset="-122"/>
                          <a:cs typeface="Calibri" pitchFamily="34" charset="-120"/>
                        </a:rPr>
                        <a:t>NOT NULL</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50" b="1" dirty="0">
                          <a:solidFill>
                            <a:srgbClr val="0E7C7B"/>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438912">
                <a:tc>
                  <a:txBody>
                    <a:bodyPr/>
                    <a:lstStyle/>
                    <a:p>
                      <a:pPr marL="0" indent="0">
                        <a:buNone/>
                      </a:pPr>
                      <a:r>
                        <a:rPr lang="en-US" sz="1250" b="1" dirty="0">
                          <a:solidFill>
                            <a:srgbClr val="1F2A37"/>
                          </a:solidFill>
                          <a:latin typeface="Calibri" pitchFamily="34" charset="0"/>
                          <a:ea typeface="Calibri" pitchFamily="34" charset="-122"/>
                          <a:cs typeface="Calibri" pitchFamily="34" charset="-120"/>
                        </a:rPr>
                        <a:t>CHECK</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50" b="1" dirty="0">
                          <a:solidFill>
                            <a:srgbClr val="0E7C7B"/>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250" b="1" dirty="0">
                          <a:solidFill>
                            <a:srgbClr val="1F2A37"/>
                          </a:solidFill>
                          <a:latin typeface="Calibri" pitchFamily="34" charset="0"/>
                          <a:ea typeface="Calibri" pitchFamily="34" charset="-122"/>
                          <a:cs typeface="Calibri" pitchFamily="34" charset="-120"/>
                        </a:rPr>
                        <a:t>IDENTITY</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50" dirty="0">
                          <a:solidFill>
                            <a:srgbClr val="1F2A37"/>
                          </a:solidFill>
                          <a:latin typeface="Calibri" pitchFamily="34" charset="0"/>
                          <a:ea typeface="Calibri" pitchFamily="34" charset="-122"/>
                          <a:cs typeface="Calibri" pitchFamily="34" charset="-120"/>
                        </a:rPr>
                        <a:t>Generates keys</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4"/>
                  </a:ext>
                </a:extLst>
              </a:tr>
              <a:tr h="438912">
                <a:tc>
                  <a:txBody>
                    <a:bodyPr/>
                    <a:lstStyle/>
                    <a:p>
                      <a:pPr marL="0" indent="0">
                        <a:buNone/>
                      </a:pPr>
                      <a:r>
                        <a:rPr lang="en-US" sz="1250" b="1" dirty="0">
                          <a:solidFill>
                            <a:srgbClr val="1F2A37"/>
                          </a:solidFill>
                          <a:latin typeface="Calibri" pitchFamily="34" charset="0"/>
                          <a:ea typeface="Calibri" pitchFamily="34" charset="-122"/>
                          <a:cs typeface="Calibri" pitchFamily="34" charset="-120"/>
                        </a:rPr>
                        <a:t>CLUSTER BY</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50" dirty="0">
                          <a:solidFill>
                            <a:srgbClr val="1F2A37"/>
                          </a:solidFill>
                          <a:latin typeface="Calibri" pitchFamily="34" charset="0"/>
                          <a:ea typeface="Calibri" pitchFamily="34" charset="-122"/>
                          <a:cs typeface="Calibri" pitchFamily="34" charset="-120"/>
                        </a:rPr>
                        <a:t>Speeds filters &amp; joins</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Shape 8"/>
          <p:cNvSpPr/>
          <p:nvPr/>
        </p:nvSpPr>
        <p:spPr>
          <a:xfrm>
            <a:off x="7772400" y="4480560"/>
            <a:ext cx="3870655" cy="1097280"/>
          </a:xfrm>
          <a:prstGeom prst="roundRect">
            <a:avLst>
              <a:gd name="adj" fmla="val 6667"/>
            </a:avLst>
          </a:prstGeom>
          <a:solidFill>
            <a:srgbClr val="FBE6E8"/>
          </a:solidFill>
          <a:ln w="9525">
            <a:solidFill>
              <a:srgbClr val="FBE6E8"/>
            </a:solidFill>
            <a:prstDash val="solid"/>
          </a:ln>
        </p:spPr>
        <p:txBody>
          <a:bodyPr/>
          <a:lstStyle/>
          <a:p>
            <a:endParaRPr lang="en-US"/>
          </a:p>
        </p:txBody>
      </p:sp>
      <p:sp>
        <p:nvSpPr>
          <p:cNvPr id="13" name="Text 9"/>
          <p:cNvSpPr txBox="1"/>
          <p:nvPr/>
        </p:nvSpPr>
        <p:spPr>
          <a:xfrm>
            <a:off x="7909560" y="4480560"/>
            <a:ext cx="3596335" cy="1097280"/>
          </a:xfrm>
          <a:prstGeom prst="rect">
            <a:avLst/>
          </a:prstGeom>
          <a:noFill/>
          <a:ln/>
        </p:spPr>
        <p:txBody>
          <a:bodyPr wrap="square" lIns="0" tIns="0" rIns="0" bIns="0" rtlCol="0" anchor="ctr"/>
          <a:lstStyle/>
          <a:p>
            <a:pPr marL="0" indent="0">
              <a:buNone/>
            </a:pPr>
            <a:r>
              <a:rPr lang="en-US" sz="1250" dirty="0">
                <a:solidFill>
                  <a:srgbClr val="1F2A37"/>
                </a:solidFill>
                <a:latin typeface="Calibri" pitchFamily="34" charset="0"/>
                <a:ea typeface="Calibri" pitchFamily="34" charset="-122"/>
                <a:cs typeface="Calibri" pitchFamily="34" charset="-120"/>
              </a:rPr>
              <a:t>Because PK/FK are not enforced, your pipeline must test uniqueness and orphan keys itself (Lecture 3).</a:t>
            </a:r>
            <a:endParaRPr lang="en-US" sz="1250" dirty="0"/>
          </a:p>
        </p:txBody>
      </p:sp>
      <p:sp>
        <p:nvSpPr>
          <p:cNvPr id="14" name="Shape 10"/>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15" name="Shape 11"/>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16"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17" name="Text 12"/>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Declare keys to document the star; rely on NOT NULL, CHECK and pipeline tests to actually protect it.</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26</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LOADING THE STAR</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Load dimensions first, and never drop a fact for a missing key</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2499284" cy="960120"/>
          </a:xfrm>
          <a:prstGeom prst="roundRect">
            <a:avLst>
              <a:gd name="adj" fmla="val 9524"/>
            </a:avLst>
          </a:prstGeom>
          <a:solidFill>
            <a:srgbClr val="E2F1F0"/>
          </a:solidFill>
          <a:ln w="9525">
            <a:solidFill>
              <a:srgbClr val="E2F1F0"/>
            </a:solidFill>
            <a:prstDash val="solid"/>
          </a:ln>
        </p:spPr>
        <p:txBody>
          <a:bodyPr/>
          <a:lstStyle/>
          <a:p>
            <a:endParaRPr lang="en-US"/>
          </a:p>
        </p:txBody>
      </p:sp>
      <p:sp>
        <p:nvSpPr>
          <p:cNvPr id="9" name="Text 6"/>
          <p:cNvSpPr txBox="1"/>
          <p:nvPr/>
        </p:nvSpPr>
        <p:spPr>
          <a:xfrm>
            <a:off x="594360" y="1764792"/>
            <a:ext cx="2407844" cy="480060"/>
          </a:xfrm>
          <a:prstGeom prst="rect">
            <a:avLst/>
          </a:prstGeom>
          <a:noFill/>
          <a:ln/>
        </p:spPr>
        <p:txBody>
          <a:bodyPr wrap="square" lIns="0" tIns="0" rIns="0" bIns="0" rtlCol="0" anchor="b"/>
          <a:lstStyle/>
          <a:p>
            <a:pPr marL="0" indent="0" algn="ctr">
              <a:buNone/>
            </a:pPr>
            <a:r>
              <a:rPr lang="en-US" sz="1500" b="1" dirty="0">
                <a:solidFill>
                  <a:srgbClr val="0E7C7B"/>
                </a:solidFill>
                <a:latin typeface="Calibri" pitchFamily="34" charset="0"/>
                <a:ea typeface="Calibri" pitchFamily="34" charset="-122"/>
                <a:cs typeface="Calibri" pitchFamily="34" charset="-120"/>
              </a:rPr>
              <a:t>1  dim_date</a:t>
            </a:r>
            <a:endParaRPr lang="en-US" sz="1500" dirty="0"/>
          </a:p>
        </p:txBody>
      </p:sp>
      <p:sp>
        <p:nvSpPr>
          <p:cNvPr id="10" name="Text 7"/>
          <p:cNvSpPr txBox="1"/>
          <p:nvPr/>
        </p:nvSpPr>
        <p:spPr>
          <a:xfrm>
            <a:off x="621792" y="2244852"/>
            <a:ext cx="2352980" cy="370332"/>
          </a:xfrm>
          <a:prstGeom prst="rect">
            <a:avLst/>
          </a:prstGeom>
          <a:noFill/>
          <a:ln/>
        </p:spPr>
        <p:txBody>
          <a:bodyPr wrap="square" lIns="0" tIns="0" rIns="0" bIns="0" rtlCol="0" anchor="t"/>
          <a:lstStyle/>
          <a:p>
            <a:pPr marL="0" indent="0" algn="ctr">
              <a:buNone/>
            </a:pPr>
            <a:r>
              <a:rPr lang="en-US" sz="1100" dirty="0">
                <a:solidFill>
                  <a:srgbClr val="5B6B7B"/>
                </a:solidFill>
                <a:latin typeface="Calibri" pitchFamily="34" charset="0"/>
                <a:ea typeface="Calibri" pitchFamily="34" charset="-122"/>
                <a:cs typeface="Calibri" pitchFamily="34" charset="-120"/>
              </a:rPr>
              <a:t>generated</a:t>
            </a:r>
            <a:endParaRPr lang="en-US" sz="1100" dirty="0"/>
          </a:p>
        </p:txBody>
      </p:sp>
      <p:sp>
        <p:nvSpPr>
          <p:cNvPr id="11" name="Shape 8"/>
          <p:cNvSpPr/>
          <p:nvPr/>
        </p:nvSpPr>
        <p:spPr>
          <a:xfrm>
            <a:off x="3102788" y="2171700"/>
            <a:ext cx="256032" cy="914"/>
          </a:xfrm>
          <a:prstGeom prst="line">
            <a:avLst/>
          </a:prstGeom>
          <a:noFill/>
          <a:ln w="22225">
            <a:solidFill>
              <a:srgbClr val="5B6B7B"/>
            </a:solidFill>
            <a:prstDash val="solid"/>
            <a:tailEnd type="triangle"/>
          </a:ln>
        </p:spPr>
        <p:txBody>
          <a:bodyPr/>
          <a:lstStyle/>
          <a:p>
            <a:endParaRPr lang="en-US"/>
          </a:p>
        </p:txBody>
      </p:sp>
      <p:sp>
        <p:nvSpPr>
          <p:cNvPr id="12" name="Shape 9"/>
          <p:cNvSpPr/>
          <p:nvPr/>
        </p:nvSpPr>
        <p:spPr>
          <a:xfrm>
            <a:off x="3413684" y="1691640"/>
            <a:ext cx="2499284" cy="960120"/>
          </a:xfrm>
          <a:prstGeom prst="roundRect">
            <a:avLst>
              <a:gd name="adj" fmla="val 9524"/>
            </a:avLst>
          </a:prstGeom>
          <a:solidFill>
            <a:srgbClr val="E4EEF9"/>
          </a:solidFill>
          <a:ln w="9525">
            <a:solidFill>
              <a:srgbClr val="E4EEF9"/>
            </a:solidFill>
            <a:prstDash val="solid"/>
          </a:ln>
        </p:spPr>
        <p:txBody>
          <a:bodyPr/>
          <a:lstStyle/>
          <a:p>
            <a:endParaRPr lang="en-US"/>
          </a:p>
        </p:txBody>
      </p:sp>
      <p:sp>
        <p:nvSpPr>
          <p:cNvPr id="13" name="Text 10"/>
          <p:cNvSpPr txBox="1"/>
          <p:nvPr/>
        </p:nvSpPr>
        <p:spPr>
          <a:xfrm>
            <a:off x="3459404" y="1764792"/>
            <a:ext cx="2407844" cy="480060"/>
          </a:xfrm>
          <a:prstGeom prst="rect">
            <a:avLst/>
          </a:prstGeom>
          <a:noFill/>
          <a:ln/>
        </p:spPr>
        <p:txBody>
          <a:bodyPr wrap="square" lIns="0" tIns="0" rIns="0" bIns="0" rtlCol="0" anchor="b"/>
          <a:lstStyle/>
          <a:p>
            <a:pPr marL="0" indent="0" algn="ctr">
              <a:buNone/>
            </a:pPr>
            <a:r>
              <a:rPr lang="en-US" sz="1500" b="1" dirty="0">
                <a:solidFill>
                  <a:srgbClr val="2F6DB5"/>
                </a:solidFill>
                <a:latin typeface="Calibri" pitchFamily="34" charset="0"/>
                <a:ea typeface="Calibri" pitchFamily="34" charset="-122"/>
                <a:cs typeface="Calibri" pitchFamily="34" charset="-120"/>
              </a:rPr>
              <a:t>2  other dimensions</a:t>
            </a:r>
            <a:endParaRPr lang="en-US" sz="1500" dirty="0"/>
          </a:p>
        </p:txBody>
      </p:sp>
      <p:sp>
        <p:nvSpPr>
          <p:cNvPr id="14" name="Text 11"/>
          <p:cNvSpPr txBox="1"/>
          <p:nvPr/>
        </p:nvSpPr>
        <p:spPr>
          <a:xfrm>
            <a:off x="3486836" y="2244852"/>
            <a:ext cx="2352980" cy="370332"/>
          </a:xfrm>
          <a:prstGeom prst="rect">
            <a:avLst/>
          </a:prstGeom>
          <a:noFill/>
          <a:ln/>
        </p:spPr>
        <p:txBody>
          <a:bodyPr wrap="square" lIns="0" tIns="0" rIns="0" bIns="0" rtlCol="0" anchor="t"/>
          <a:lstStyle/>
          <a:p>
            <a:pPr marL="0" indent="0" algn="ctr">
              <a:buNone/>
            </a:pPr>
            <a:r>
              <a:rPr lang="en-US" sz="1100" dirty="0">
                <a:solidFill>
                  <a:srgbClr val="5B6B7B"/>
                </a:solidFill>
                <a:latin typeface="Calibri" pitchFamily="34" charset="0"/>
                <a:ea typeface="Calibri" pitchFamily="34" charset="-122"/>
                <a:cs typeface="Calibri" pitchFamily="34" charset="-120"/>
              </a:rPr>
              <a:t>customer, product, store (SCD)</a:t>
            </a:r>
            <a:endParaRPr lang="en-US" sz="1100" dirty="0"/>
          </a:p>
        </p:txBody>
      </p:sp>
      <p:sp>
        <p:nvSpPr>
          <p:cNvPr id="15" name="Shape 12"/>
          <p:cNvSpPr/>
          <p:nvPr/>
        </p:nvSpPr>
        <p:spPr>
          <a:xfrm>
            <a:off x="5967832" y="2171700"/>
            <a:ext cx="256032" cy="914"/>
          </a:xfrm>
          <a:prstGeom prst="line">
            <a:avLst/>
          </a:prstGeom>
          <a:noFill/>
          <a:ln w="22225">
            <a:solidFill>
              <a:srgbClr val="5B6B7B"/>
            </a:solidFill>
            <a:prstDash val="solid"/>
            <a:tailEnd type="triangle"/>
          </a:ln>
        </p:spPr>
        <p:txBody>
          <a:bodyPr/>
          <a:lstStyle/>
          <a:p>
            <a:endParaRPr lang="en-US"/>
          </a:p>
        </p:txBody>
      </p:sp>
      <p:sp>
        <p:nvSpPr>
          <p:cNvPr id="16" name="Shape 13"/>
          <p:cNvSpPr/>
          <p:nvPr/>
        </p:nvSpPr>
        <p:spPr>
          <a:xfrm>
            <a:off x="6278728" y="1691640"/>
            <a:ext cx="2499284" cy="960120"/>
          </a:xfrm>
          <a:prstGeom prst="roundRect">
            <a:avLst>
              <a:gd name="adj" fmla="val 9524"/>
            </a:avLst>
          </a:prstGeom>
          <a:solidFill>
            <a:srgbClr val="FBE6E8"/>
          </a:solidFill>
          <a:ln w="9525">
            <a:solidFill>
              <a:srgbClr val="FBE6E8"/>
            </a:solidFill>
            <a:prstDash val="solid"/>
          </a:ln>
        </p:spPr>
        <p:txBody>
          <a:bodyPr/>
          <a:lstStyle/>
          <a:p>
            <a:endParaRPr lang="en-US"/>
          </a:p>
        </p:txBody>
      </p:sp>
      <p:sp>
        <p:nvSpPr>
          <p:cNvPr id="17" name="Text 14"/>
          <p:cNvSpPr txBox="1"/>
          <p:nvPr/>
        </p:nvSpPr>
        <p:spPr>
          <a:xfrm>
            <a:off x="6324448" y="1764792"/>
            <a:ext cx="2407844" cy="480060"/>
          </a:xfrm>
          <a:prstGeom prst="rect">
            <a:avLst/>
          </a:prstGeom>
          <a:noFill/>
          <a:ln/>
        </p:spPr>
        <p:txBody>
          <a:bodyPr wrap="square" lIns="0" tIns="0" rIns="0" bIns="0" rtlCol="0" anchor="b"/>
          <a:lstStyle/>
          <a:p>
            <a:pPr marL="0" indent="0" algn="ctr">
              <a:buNone/>
            </a:pPr>
            <a:r>
              <a:rPr lang="en-US" sz="1500" b="1" dirty="0">
                <a:solidFill>
                  <a:srgbClr val="C8414F"/>
                </a:solidFill>
                <a:latin typeface="Calibri" pitchFamily="34" charset="0"/>
                <a:ea typeface="Calibri" pitchFamily="34" charset="-122"/>
                <a:cs typeface="Calibri" pitchFamily="34" charset="-120"/>
              </a:rPr>
              <a:t>3  fact tables</a:t>
            </a:r>
            <a:endParaRPr lang="en-US" sz="1500" dirty="0"/>
          </a:p>
        </p:txBody>
      </p:sp>
      <p:sp>
        <p:nvSpPr>
          <p:cNvPr id="18" name="Text 15"/>
          <p:cNvSpPr txBox="1"/>
          <p:nvPr/>
        </p:nvSpPr>
        <p:spPr>
          <a:xfrm>
            <a:off x="6351880" y="2244852"/>
            <a:ext cx="2352980" cy="370332"/>
          </a:xfrm>
          <a:prstGeom prst="rect">
            <a:avLst/>
          </a:prstGeom>
          <a:noFill/>
          <a:ln/>
        </p:spPr>
        <p:txBody>
          <a:bodyPr wrap="square" lIns="0" tIns="0" rIns="0" bIns="0" rtlCol="0" anchor="t"/>
          <a:lstStyle/>
          <a:p>
            <a:pPr marL="0" indent="0" algn="ctr">
              <a:buNone/>
            </a:pPr>
            <a:r>
              <a:rPr lang="en-US" sz="1100" dirty="0">
                <a:solidFill>
                  <a:srgbClr val="5B6B7B"/>
                </a:solidFill>
                <a:latin typeface="Calibri" pitchFamily="34" charset="0"/>
                <a:ea typeface="Calibri" pitchFamily="34" charset="-122"/>
                <a:cs typeface="Calibri" pitchFamily="34" charset="-120"/>
              </a:rPr>
              <a:t>look up surrogate keys</a:t>
            </a:r>
            <a:endParaRPr lang="en-US" sz="1100" dirty="0"/>
          </a:p>
        </p:txBody>
      </p:sp>
      <p:sp>
        <p:nvSpPr>
          <p:cNvPr id="19" name="Shape 16"/>
          <p:cNvSpPr/>
          <p:nvPr/>
        </p:nvSpPr>
        <p:spPr>
          <a:xfrm>
            <a:off x="8832875" y="2171700"/>
            <a:ext cx="256032" cy="914"/>
          </a:xfrm>
          <a:prstGeom prst="line">
            <a:avLst/>
          </a:prstGeom>
          <a:noFill/>
          <a:ln w="22225">
            <a:solidFill>
              <a:srgbClr val="5B6B7B"/>
            </a:solidFill>
            <a:prstDash val="solid"/>
            <a:tailEnd type="triangle"/>
          </a:ln>
        </p:spPr>
        <p:txBody>
          <a:bodyPr/>
          <a:lstStyle/>
          <a:p>
            <a:endParaRPr lang="en-US"/>
          </a:p>
        </p:txBody>
      </p:sp>
      <p:sp>
        <p:nvSpPr>
          <p:cNvPr id="20" name="Shape 17"/>
          <p:cNvSpPr/>
          <p:nvPr/>
        </p:nvSpPr>
        <p:spPr>
          <a:xfrm>
            <a:off x="9143771" y="1691640"/>
            <a:ext cx="2499284" cy="960120"/>
          </a:xfrm>
          <a:prstGeom prst="roundRect">
            <a:avLst>
              <a:gd name="adj" fmla="val 9524"/>
            </a:avLst>
          </a:prstGeom>
          <a:solidFill>
            <a:srgbClr val="F3F6F9"/>
          </a:solidFill>
          <a:ln w="9525">
            <a:solidFill>
              <a:srgbClr val="F3F6F9"/>
            </a:solidFill>
            <a:prstDash val="solid"/>
          </a:ln>
        </p:spPr>
        <p:txBody>
          <a:bodyPr/>
          <a:lstStyle/>
          <a:p>
            <a:endParaRPr lang="en-US"/>
          </a:p>
        </p:txBody>
      </p:sp>
      <p:sp>
        <p:nvSpPr>
          <p:cNvPr id="21" name="Text 18"/>
          <p:cNvSpPr txBox="1"/>
          <p:nvPr/>
        </p:nvSpPr>
        <p:spPr>
          <a:xfrm>
            <a:off x="9189491" y="1764792"/>
            <a:ext cx="2407844" cy="480060"/>
          </a:xfrm>
          <a:prstGeom prst="rect">
            <a:avLst/>
          </a:prstGeom>
          <a:noFill/>
          <a:ln/>
        </p:spPr>
        <p:txBody>
          <a:bodyPr wrap="square" lIns="0" tIns="0" rIns="0" bIns="0" rtlCol="0" anchor="b"/>
          <a:lstStyle/>
          <a:p>
            <a:pPr marL="0" indent="0" algn="ctr">
              <a:buNone/>
            </a:pPr>
            <a:r>
              <a:rPr lang="en-US" sz="1500" b="1" dirty="0">
                <a:solidFill>
                  <a:srgbClr val="12263A"/>
                </a:solidFill>
                <a:latin typeface="Calibri" pitchFamily="34" charset="0"/>
                <a:ea typeface="Calibri" pitchFamily="34" charset="-122"/>
                <a:cs typeface="Calibri" pitchFamily="34" charset="-120"/>
              </a:rPr>
              <a:t>4  checks</a:t>
            </a:r>
            <a:endParaRPr lang="en-US" sz="1500" dirty="0"/>
          </a:p>
        </p:txBody>
      </p:sp>
      <p:sp>
        <p:nvSpPr>
          <p:cNvPr id="22" name="Text 19"/>
          <p:cNvSpPr txBox="1"/>
          <p:nvPr/>
        </p:nvSpPr>
        <p:spPr>
          <a:xfrm>
            <a:off x="9216923" y="2244852"/>
            <a:ext cx="2352980" cy="370332"/>
          </a:xfrm>
          <a:prstGeom prst="rect">
            <a:avLst/>
          </a:prstGeom>
          <a:noFill/>
          <a:ln/>
        </p:spPr>
        <p:txBody>
          <a:bodyPr wrap="square" lIns="0" tIns="0" rIns="0" bIns="0" rtlCol="0" anchor="t"/>
          <a:lstStyle/>
          <a:p>
            <a:pPr marL="0" indent="0" algn="ctr">
              <a:buNone/>
            </a:pPr>
            <a:r>
              <a:rPr lang="en-US" sz="1100" dirty="0">
                <a:solidFill>
                  <a:srgbClr val="5B6B7B"/>
                </a:solidFill>
                <a:latin typeface="Calibri" pitchFamily="34" charset="0"/>
                <a:ea typeface="Calibri" pitchFamily="34" charset="-122"/>
                <a:cs typeface="Calibri" pitchFamily="34" charset="-120"/>
              </a:rPr>
              <a:t>orphans, duplicates, totals</a:t>
            </a:r>
            <a:endParaRPr lang="en-US" sz="1100" dirty="0"/>
          </a:p>
        </p:txBody>
      </p:sp>
      <p:sp>
        <p:nvSpPr>
          <p:cNvPr id="23" name="Shape 20"/>
          <p:cNvSpPr/>
          <p:nvPr/>
        </p:nvSpPr>
        <p:spPr>
          <a:xfrm>
            <a:off x="548640" y="2834640"/>
            <a:ext cx="6766560" cy="2743200"/>
          </a:xfrm>
          <a:prstGeom prst="roundRect">
            <a:avLst>
              <a:gd name="adj" fmla="val 2000"/>
            </a:avLst>
          </a:prstGeom>
          <a:solidFill>
            <a:srgbClr val="0F1E2E"/>
          </a:solidFill>
          <a:ln w="9525">
            <a:solidFill>
              <a:srgbClr val="0F1E2E"/>
            </a:solidFill>
            <a:prstDash val="solid"/>
          </a:ln>
        </p:spPr>
        <p:txBody>
          <a:bodyPr/>
          <a:lstStyle/>
          <a:p>
            <a:endParaRPr lang="en-US"/>
          </a:p>
        </p:txBody>
      </p:sp>
      <p:sp>
        <p:nvSpPr>
          <p:cNvPr id="24" name="Text 21"/>
          <p:cNvSpPr txBox="1"/>
          <p:nvPr/>
        </p:nvSpPr>
        <p:spPr>
          <a:xfrm>
            <a:off x="6126480" y="292608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25" name="Text 22"/>
          <p:cNvSpPr txBox="1"/>
          <p:nvPr/>
        </p:nvSpPr>
        <p:spPr>
          <a:xfrm>
            <a:off x="749808" y="3127248"/>
            <a:ext cx="6400800" cy="2359152"/>
          </a:xfrm>
          <a:prstGeom prst="rect">
            <a:avLst/>
          </a:prstGeom>
          <a:noFill/>
          <a:ln/>
        </p:spPr>
        <p:txBody>
          <a:bodyPr wrap="square" lIns="0" tIns="0" rIns="0" bIns="0" rtlCol="0" anchor="t"/>
          <a:lstStyle/>
          <a:p>
            <a:pPr marL="0" indent="0">
              <a:lnSpc>
                <a:spcPct val="105000"/>
              </a:lnSpc>
              <a:buNone/>
            </a:pPr>
            <a:r>
              <a:rPr lang="en-US" sz="1050" i="1" dirty="0">
                <a:solidFill>
                  <a:srgbClr val="8CC7B0"/>
                </a:solidFill>
                <a:latin typeface="Courier New" pitchFamily="34" charset="0"/>
                <a:ea typeface="Courier New" pitchFamily="34" charset="-122"/>
                <a:cs typeface="Courier New" pitchFamily="34" charset="-120"/>
              </a:rPr>
              <a:t>-- one-off: add an "unknown" member to each dimension</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INSERT INTO gold.dim_customer (customer_key, customer_id, name, is_current)</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VALUES (-1, 'UNKNOWN', 'Unknown customer', true);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a:t>
            </a:r>
            <a:endParaRPr lang="en-US" sz="1050" dirty="0"/>
          </a:p>
          <a:p>
            <a:pPr marL="0" indent="0">
              <a:lnSpc>
                <a:spcPct val="105000"/>
              </a:lnSpc>
              <a:buNone/>
            </a:pPr>
            <a:r>
              <a:rPr lang="en-US" sz="1050" i="1" dirty="0">
                <a:solidFill>
                  <a:srgbClr val="8CC7B0"/>
                </a:solidFill>
                <a:latin typeface="Courier New" pitchFamily="34" charset="0"/>
                <a:ea typeface="Courier New" pitchFamily="34" charset="-122"/>
                <a:cs typeface="Courier New" pitchFamily="34" charset="-120"/>
              </a:rPr>
              <a:t>-- when loading facts: unmatched keys go to -1, not to /dev/null</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SELECT COALESCE(c.customer_key, -1) AS customer_key, s.sales_amount</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FROM   silver.order_lines s</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LEFT JOIN gold.dim_customer c</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ON  s.customer_id = c.customer_id AND c.is_current;</a:t>
            </a:r>
            <a:endParaRPr lang="en-US" sz="1050" dirty="0"/>
          </a:p>
        </p:txBody>
      </p:sp>
      <p:sp>
        <p:nvSpPr>
          <p:cNvPr id="26" name="Shape 23"/>
          <p:cNvSpPr/>
          <p:nvPr/>
        </p:nvSpPr>
        <p:spPr>
          <a:xfrm>
            <a:off x="7589520" y="2834640"/>
            <a:ext cx="4053535" cy="2743200"/>
          </a:xfrm>
          <a:prstGeom prst="roundRect">
            <a:avLst>
              <a:gd name="adj" fmla="val 2667"/>
            </a:avLst>
          </a:prstGeom>
          <a:solidFill>
            <a:srgbClr val="FBE6E8"/>
          </a:solidFill>
          <a:ln w="9525">
            <a:solidFill>
              <a:srgbClr val="FBE6E8"/>
            </a:solidFill>
            <a:prstDash val="solid"/>
          </a:ln>
        </p:spPr>
        <p:txBody>
          <a:bodyPr/>
          <a:lstStyle/>
          <a:p>
            <a:endParaRPr lang="en-US"/>
          </a:p>
        </p:txBody>
      </p:sp>
      <p:sp>
        <p:nvSpPr>
          <p:cNvPr id="27" name="Shape 24"/>
          <p:cNvSpPr/>
          <p:nvPr/>
        </p:nvSpPr>
        <p:spPr>
          <a:xfrm>
            <a:off x="7772400" y="3017520"/>
            <a:ext cx="402336" cy="402336"/>
          </a:xfrm>
          <a:prstGeom prst="ellipse">
            <a:avLst/>
          </a:prstGeom>
          <a:solidFill>
            <a:srgbClr val="C8414F"/>
          </a:solidFill>
          <a:ln w="12700">
            <a:solidFill>
              <a:srgbClr val="C8414F"/>
            </a:solidFill>
            <a:prstDash val="solid"/>
          </a:ln>
        </p:spPr>
        <p:txBody>
          <a:bodyPr/>
          <a:lstStyle/>
          <a:p>
            <a:endParaRPr lang="en-US"/>
          </a:p>
        </p:txBody>
      </p:sp>
      <p:pic>
        <p:nvPicPr>
          <p:cNvPr id="28" name="Image 0" descr="preencoded.png"/>
          <p:cNvPicPr>
            <a:picLocks noChangeAspect="1"/>
          </p:cNvPicPr>
          <p:nvPr/>
        </p:nvPicPr>
        <p:blipFill>
          <a:blip r:embed="rId3"/>
          <a:stretch>
            <a:fillRect/>
          </a:stretch>
        </p:blipFill>
        <p:spPr>
          <a:xfrm>
            <a:off x="7877007" y="3122127"/>
            <a:ext cx="193121" cy="193121"/>
          </a:xfrm>
          <a:prstGeom prst="rect">
            <a:avLst/>
          </a:prstGeom>
        </p:spPr>
      </p:pic>
      <p:sp>
        <p:nvSpPr>
          <p:cNvPr id="29" name="Text 25"/>
          <p:cNvSpPr txBox="1"/>
          <p:nvPr/>
        </p:nvSpPr>
        <p:spPr>
          <a:xfrm>
            <a:off x="8302752" y="3017520"/>
            <a:ext cx="3157423"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Why not an inner join?</a:t>
            </a:r>
            <a:endParaRPr lang="en-US" sz="1550" dirty="0"/>
          </a:p>
        </p:txBody>
      </p:sp>
      <p:sp>
        <p:nvSpPr>
          <p:cNvPr id="30" name="Text 26"/>
          <p:cNvSpPr txBox="1"/>
          <p:nvPr/>
        </p:nvSpPr>
        <p:spPr>
          <a:xfrm>
            <a:off x="7772400" y="3529584"/>
            <a:ext cx="3687775" cy="1865376"/>
          </a:xfrm>
          <a:prstGeom prst="rect">
            <a:avLst/>
          </a:prstGeom>
          <a:noFill/>
          <a:ln/>
        </p:spPr>
        <p:txBody>
          <a:bodyPr wrap="square" lIns="0" tIns="0" rIns="0" bIns="0" rtlCol="0" anchor="t"/>
          <a:lstStyle/>
          <a:p>
            <a:pPr marL="165100" indent="-165100">
              <a:spcAft>
                <a:spcPts val="400"/>
              </a:spcAft>
              <a:buSzPct val="100000"/>
              <a:buChar char="•"/>
            </a:pPr>
            <a:r>
              <a:rPr lang="en-US" sz="1300" dirty="0">
                <a:solidFill>
                  <a:srgbClr val="1F2A37"/>
                </a:solidFill>
                <a:latin typeface="Calibri" pitchFamily="34" charset="0"/>
                <a:ea typeface="Calibri" pitchFamily="34" charset="-122"/>
                <a:cs typeface="Calibri" pitchFamily="34" charset="-120"/>
              </a:rPr>
              <a:t>It silently drops sales whose customer is missing.</a:t>
            </a:r>
            <a:endParaRPr lang="en-US" sz="1300" dirty="0"/>
          </a:p>
          <a:p>
            <a:pPr marL="165100" indent="-165100">
              <a:spcAft>
                <a:spcPts val="400"/>
              </a:spcAft>
              <a:buSzPct val="100000"/>
              <a:buChar char="•"/>
            </a:pPr>
            <a:r>
              <a:rPr lang="en-US" sz="1300" dirty="0">
                <a:solidFill>
                  <a:srgbClr val="1F2A37"/>
                </a:solidFill>
                <a:latin typeface="Calibri" pitchFamily="34" charset="0"/>
                <a:ea typeface="Calibri" pitchFamily="34" charset="-122"/>
                <a:cs typeface="Calibri" pitchFamily="34" charset="-120"/>
              </a:rPr>
              <a:t>Revenue totals become wrong with no error.</a:t>
            </a:r>
            <a:endParaRPr lang="en-US" sz="1300" dirty="0"/>
          </a:p>
          <a:p>
            <a:pPr marL="165100" indent="-165100">
              <a:spcAft>
                <a:spcPts val="400"/>
              </a:spcAft>
              <a:buSzPct val="100000"/>
              <a:buChar char="•"/>
            </a:pPr>
            <a:r>
              <a:rPr lang="en-US" sz="1300" dirty="0">
                <a:solidFill>
                  <a:srgbClr val="1F2A37"/>
                </a:solidFill>
                <a:latin typeface="Calibri" pitchFamily="34" charset="0"/>
                <a:ea typeface="Calibri" pitchFamily="34" charset="-122"/>
                <a:cs typeface="Calibri" pitchFamily="34" charset="-120"/>
              </a:rPr>
              <a:t>With -1, totals stay correct and a simple COUNT on key -1 shows the problem.</a:t>
            </a:r>
            <a:endParaRPr lang="en-US" sz="1300" dirty="0"/>
          </a:p>
        </p:txBody>
      </p:sp>
      <p:sp>
        <p:nvSpPr>
          <p:cNvPr id="31" name="Shape 27"/>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32" name="Shape 28"/>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33" name="Image 1" descr="preencoded.png"/>
          <p:cNvPicPr>
            <a:picLocks noChangeAspect="1"/>
          </p:cNvPicPr>
          <p:nvPr/>
        </p:nvPicPr>
        <p:blipFill>
          <a:blip r:embed="rId4"/>
          <a:stretch>
            <a:fillRect/>
          </a:stretch>
        </p:blipFill>
        <p:spPr>
          <a:xfrm>
            <a:off x="790042" y="5956402"/>
            <a:ext cx="175565" cy="175565"/>
          </a:xfrm>
          <a:prstGeom prst="rect">
            <a:avLst/>
          </a:prstGeom>
        </p:spPr>
      </p:pic>
      <p:sp>
        <p:nvSpPr>
          <p:cNvPr id="34" name="Text 29"/>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Dimensions before facts; unknown keys map to a -1 member so totals stay right and problems stay visible.</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27</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BEFORE YOU BUILD</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Dimensional design checklist</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45920"/>
            <a:ext cx="5410048" cy="676656"/>
          </a:xfrm>
          <a:prstGeom prst="roundRect">
            <a:avLst>
              <a:gd name="adj" fmla="val 10811"/>
            </a:avLst>
          </a:prstGeom>
          <a:solidFill>
            <a:srgbClr val="F3F6F9"/>
          </a:solidFill>
          <a:ln w="9525">
            <a:solidFill>
              <a:srgbClr val="F3F6F9"/>
            </a:solidFill>
            <a:prstDash val="solid"/>
          </a:ln>
        </p:spPr>
        <p:txBody>
          <a:bodyPr/>
          <a:lstStyle/>
          <a:p>
            <a:endParaRPr lang="en-US"/>
          </a:p>
        </p:txBody>
      </p:sp>
      <p:sp>
        <p:nvSpPr>
          <p:cNvPr id="9" name="Shape 6"/>
          <p:cNvSpPr/>
          <p:nvPr/>
        </p:nvSpPr>
        <p:spPr>
          <a:xfrm>
            <a:off x="685800" y="1792224"/>
            <a:ext cx="384048" cy="384048"/>
          </a:xfrm>
          <a:prstGeom prst="ellipse">
            <a:avLst/>
          </a:prstGeom>
          <a:solidFill>
            <a:srgbClr val="0E7C7B"/>
          </a:solidFill>
          <a:ln w="12700">
            <a:solidFill>
              <a:srgbClr val="0E7C7B"/>
            </a:solidFill>
            <a:prstDash val="solid"/>
          </a:ln>
        </p:spPr>
        <p:txBody>
          <a:bodyPr/>
          <a:lstStyle/>
          <a:p>
            <a:endParaRPr lang="en-US"/>
          </a:p>
        </p:txBody>
      </p:sp>
      <p:sp>
        <p:nvSpPr>
          <p:cNvPr id="10" name="Text 7"/>
          <p:cNvSpPr txBox="1"/>
          <p:nvPr/>
        </p:nvSpPr>
        <p:spPr>
          <a:xfrm>
            <a:off x="685800" y="17922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8"/>
          <p:cNvSpPr txBox="1"/>
          <p:nvPr/>
        </p:nvSpPr>
        <p:spPr>
          <a:xfrm>
            <a:off x="1207008" y="1645920"/>
            <a:ext cx="4632808" cy="676656"/>
          </a:xfrm>
          <a:prstGeom prst="rect">
            <a:avLst/>
          </a:prstGeom>
          <a:noFill/>
          <a:ln/>
        </p:spPr>
        <p:txBody>
          <a:bodyPr wrap="square" lIns="0" tIns="0" rIns="0" bIns="0" rtlCol="0" anchor="ctr"/>
          <a:lstStyle/>
          <a:p>
            <a:pPr marL="0" indent="0">
              <a:buNone/>
            </a:pPr>
            <a:r>
              <a:rPr lang="en-US" sz="1300" dirty="0">
                <a:solidFill>
                  <a:srgbClr val="1F2A37"/>
                </a:solidFill>
                <a:latin typeface="Calibri" pitchFamily="34" charset="0"/>
                <a:ea typeface="Calibri" pitchFamily="34" charset="-122"/>
                <a:cs typeface="Calibri" pitchFamily="34" charset="-120"/>
              </a:rPr>
              <a:t>The grain is written as one sentence (“one row per …”).</a:t>
            </a:r>
            <a:endParaRPr lang="en-US" sz="1300" dirty="0"/>
          </a:p>
        </p:txBody>
      </p:sp>
      <p:sp>
        <p:nvSpPr>
          <p:cNvPr id="12" name="Shape 9"/>
          <p:cNvSpPr/>
          <p:nvPr/>
        </p:nvSpPr>
        <p:spPr>
          <a:xfrm>
            <a:off x="6233008" y="1645920"/>
            <a:ext cx="5410048" cy="676656"/>
          </a:xfrm>
          <a:prstGeom prst="roundRect">
            <a:avLst>
              <a:gd name="adj" fmla="val 10811"/>
            </a:avLst>
          </a:prstGeom>
          <a:solidFill>
            <a:srgbClr val="F3F6F9"/>
          </a:solidFill>
          <a:ln w="9525">
            <a:solidFill>
              <a:srgbClr val="F3F6F9"/>
            </a:solidFill>
            <a:prstDash val="solid"/>
          </a:ln>
        </p:spPr>
        <p:txBody>
          <a:bodyPr/>
          <a:lstStyle/>
          <a:p>
            <a:endParaRPr lang="en-US"/>
          </a:p>
        </p:txBody>
      </p:sp>
      <p:sp>
        <p:nvSpPr>
          <p:cNvPr id="13" name="Shape 10"/>
          <p:cNvSpPr/>
          <p:nvPr/>
        </p:nvSpPr>
        <p:spPr>
          <a:xfrm>
            <a:off x="6370168" y="1792224"/>
            <a:ext cx="384048" cy="384048"/>
          </a:xfrm>
          <a:prstGeom prst="ellipse">
            <a:avLst/>
          </a:prstGeom>
          <a:solidFill>
            <a:srgbClr val="0E7C7B"/>
          </a:solidFill>
          <a:ln w="12700">
            <a:solidFill>
              <a:srgbClr val="0E7C7B"/>
            </a:solidFill>
            <a:prstDash val="solid"/>
          </a:ln>
        </p:spPr>
        <p:txBody>
          <a:bodyPr/>
          <a:lstStyle/>
          <a:p>
            <a:endParaRPr lang="en-US"/>
          </a:p>
        </p:txBody>
      </p:sp>
      <p:sp>
        <p:nvSpPr>
          <p:cNvPr id="14" name="Text 11"/>
          <p:cNvSpPr txBox="1"/>
          <p:nvPr/>
        </p:nvSpPr>
        <p:spPr>
          <a:xfrm>
            <a:off x="6370168" y="17922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6891376" y="1645920"/>
            <a:ext cx="4632808" cy="676656"/>
          </a:xfrm>
          <a:prstGeom prst="rect">
            <a:avLst/>
          </a:prstGeom>
          <a:noFill/>
          <a:ln/>
        </p:spPr>
        <p:txBody>
          <a:bodyPr wrap="square" lIns="0" tIns="0" rIns="0" bIns="0" rtlCol="0" anchor="ctr"/>
          <a:lstStyle/>
          <a:p>
            <a:pPr marL="0" indent="0">
              <a:buNone/>
            </a:pPr>
            <a:r>
              <a:rPr lang="en-US" sz="1300" dirty="0">
                <a:solidFill>
                  <a:srgbClr val="1F2A37"/>
                </a:solidFill>
                <a:latin typeface="Calibri" pitchFamily="34" charset="0"/>
                <a:ea typeface="Calibri" pitchFamily="34" charset="-122"/>
                <a:cs typeface="Calibri" pitchFamily="34" charset="-120"/>
              </a:rPr>
              <a:t>Every measure is true at that grain — and marked additive, semi- or non-additive.</a:t>
            </a:r>
            <a:endParaRPr lang="en-US" sz="1300" dirty="0"/>
          </a:p>
        </p:txBody>
      </p:sp>
      <p:sp>
        <p:nvSpPr>
          <p:cNvPr id="16" name="Shape 13"/>
          <p:cNvSpPr/>
          <p:nvPr/>
        </p:nvSpPr>
        <p:spPr>
          <a:xfrm>
            <a:off x="548640" y="2432304"/>
            <a:ext cx="5410048" cy="676656"/>
          </a:xfrm>
          <a:prstGeom prst="roundRect">
            <a:avLst>
              <a:gd name="adj" fmla="val 10811"/>
            </a:avLst>
          </a:prstGeom>
          <a:solidFill>
            <a:srgbClr val="F3F6F9"/>
          </a:solidFill>
          <a:ln w="9525">
            <a:solidFill>
              <a:srgbClr val="F3F6F9"/>
            </a:solidFill>
            <a:prstDash val="solid"/>
          </a:ln>
        </p:spPr>
        <p:txBody>
          <a:bodyPr/>
          <a:lstStyle/>
          <a:p>
            <a:endParaRPr lang="en-US"/>
          </a:p>
        </p:txBody>
      </p:sp>
      <p:sp>
        <p:nvSpPr>
          <p:cNvPr id="17" name="Shape 14"/>
          <p:cNvSpPr/>
          <p:nvPr/>
        </p:nvSpPr>
        <p:spPr>
          <a:xfrm>
            <a:off x="685800" y="2578608"/>
            <a:ext cx="384048" cy="384048"/>
          </a:xfrm>
          <a:prstGeom prst="ellipse">
            <a:avLst/>
          </a:prstGeom>
          <a:solidFill>
            <a:srgbClr val="0E7C7B"/>
          </a:solidFill>
          <a:ln w="12700">
            <a:solidFill>
              <a:srgbClr val="0E7C7B"/>
            </a:solidFill>
            <a:prstDash val="solid"/>
          </a:ln>
        </p:spPr>
        <p:txBody>
          <a:bodyPr/>
          <a:lstStyle/>
          <a:p>
            <a:endParaRPr lang="en-US"/>
          </a:p>
        </p:txBody>
      </p:sp>
      <p:sp>
        <p:nvSpPr>
          <p:cNvPr id="18" name="Text 15"/>
          <p:cNvSpPr txBox="1"/>
          <p:nvPr/>
        </p:nvSpPr>
        <p:spPr>
          <a:xfrm>
            <a:off x="685800" y="25786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txBox="1"/>
          <p:nvPr/>
        </p:nvSpPr>
        <p:spPr>
          <a:xfrm>
            <a:off x="1207008" y="2432304"/>
            <a:ext cx="4632808" cy="676656"/>
          </a:xfrm>
          <a:prstGeom prst="rect">
            <a:avLst/>
          </a:prstGeom>
          <a:noFill/>
          <a:ln/>
        </p:spPr>
        <p:txBody>
          <a:bodyPr wrap="square" lIns="0" tIns="0" rIns="0" bIns="0" rtlCol="0" anchor="ctr"/>
          <a:lstStyle/>
          <a:p>
            <a:pPr marL="0" indent="0">
              <a:buNone/>
            </a:pPr>
            <a:r>
              <a:rPr lang="en-US" sz="1300" dirty="0">
                <a:solidFill>
                  <a:srgbClr val="1F2A37"/>
                </a:solidFill>
                <a:latin typeface="Calibri" pitchFamily="34" charset="0"/>
                <a:ea typeface="Calibri" pitchFamily="34" charset="-122"/>
                <a:cs typeface="Calibri" pitchFamily="34" charset="-120"/>
              </a:rPr>
              <a:t>Every fact row has a foreign key to each dimension (or -1 unknown).</a:t>
            </a:r>
            <a:endParaRPr lang="en-US" sz="1300" dirty="0"/>
          </a:p>
        </p:txBody>
      </p:sp>
      <p:sp>
        <p:nvSpPr>
          <p:cNvPr id="20" name="Shape 17"/>
          <p:cNvSpPr/>
          <p:nvPr/>
        </p:nvSpPr>
        <p:spPr>
          <a:xfrm>
            <a:off x="6233008" y="2432304"/>
            <a:ext cx="5410048" cy="676656"/>
          </a:xfrm>
          <a:prstGeom prst="roundRect">
            <a:avLst>
              <a:gd name="adj" fmla="val 10811"/>
            </a:avLst>
          </a:prstGeom>
          <a:solidFill>
            <a:srgbClr val="F3F6F9"/>
          </a:solidFill>
          <a:ln w="9525">
            <a:solidFill>
              <a:srgbClr val="F3F6F9"/>
            </a:solidFill>
            <a:prstDash val="solid"/>
          </a:ln>
        </p:spPr>
        <p:txBody>
          <a:bodyPr/>
          <a:lstStyle/>
          <a:p>
            <a:endParaRPr lang="en-US"/>
          </a:p>
        </p:txBody>
      </p:sp>
      <p:sp>
        <p:nvSpPr>
          <p:cNvPr id="21" name="Shape 18"/>
          <p:cNvSpPr/>
          <p:nvPr/>
        </p:nvSpPr>
        <p:spPr>
          <a:xfrm>
            <a:off x="6370168" y="2578608"/>
            <a:ext cx="384048" cy="384048"/>
          </a:xfrm>
          <a:prstGeom prst="ellipse">
            <a:avLst/>
          </a:prstGeom>
          <a:solidFill>
            <a:srgbClr val="0E7C7B"/>
          </a:solidFill>
          <a:ln w="12700">
            <a:solidFill>
              <a:srgbClr val="0E7C7B"/>
            </a:solidFill>
            <a:prstDash val="solid"/>
          </a:ln>
        </p:spPr>
        <p:txBody>
          <a:bodyPr/>
          <a:lstStyle/>
          <a:p>
            <a:endParaRPr lang="en-US"/>
          </a:p>
        </p:txBody>
      </p:sp>
      <p:sp>
        <p:nvSpPr>
          <p:cNvPr id="22" name="Text 19"/>
          <p:cNvSpPr txBox="1"/>
          <p:nvPr/>
        </p:nvSpPr>
        <p:spPr>
          <a:xfrm>
            <a:off x="6370168" y="25786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txBox="1"/>
          <p:nvPr/>
        </p:nvSpPr>
        <p:spPr>
          <a:xfrm>
            <a:off x="6891376" y="2432304"/>
            <a:ext cx="4632808" cy="676656"/>
          </a:xfrm>
          <a:prstGeom prst="rect">
            <a:avLst/>
          </a:prstGeom>
          <a:noFill/>
          <a:ln/>
        </p:spPr>
        <p:txBody>
          <a:bodyPr wrap="square" lIns="0" tIns="0" rIns="0" bIns="0" rtlCol="0" anchor="ctr"/>
          <a:lstStyle/>
          <a:p>
            <a:pPr marL="0" indent="0">
              <a:buNone/>
            </a:pPr>
            <a:r>
              <a:rPr lang="en-US" sz="1300" dirty="0">
                <a:solidFill>
                  <a:srgbClr val="1F2A37"/>
                </a:solidFill>
                <a:latin typeface="Calibri" pitchFamily="34" charset="0"/>
                <a:ea typeface="Calibri" pitchFamily="34" charset="-122"/>
                <a:cs typeface="Calibri" pitchFamily="34" charset="-120"/>
              </a:rPr>
              <a:t>Dimensions are denormalised; hierarchies are columns.</a:t>
            </a:r>
            <a:endParaRPr lang="en-US" sz="1300" dirty="0"/>
          </a:p>
        </p:txBody>
      </p:sp>
      <p:sp>
        <p:nvSpPr>
          <p:cNvPr id="24" name="Shape 21"/>
          <p:cNvSpPr/>
          <p:nvPr/>
        </p:nvSpPr>
        <p:spPr>
          <a:xfrm>
            <a:off x="548640" y="3218688"/>
            <a:ext cx="5410048" cy="676656"/>
          </a:xfrm>
          <a:prstGeom prst="roundRect">
            <a:avLst>
              <a:gd name="adj" fmla="val 10811"/>
            </a:avLst>
          </a:prstGeom>
          <a:solidFill>
            <a:srgbClr val="F3F6F9"/>
          </a:solidFill>
          <a:ln w="9525">
            <a:solidFill>
              <a:srgbClr val="F3F6F9"/>
            </a:solidFill>
            <a:prstDash val="solid"/>
          </a:ln>
        </p:spPr>
        <p:txBody>
          <a:bodyPr/>
          <a:lstStyle/>
          <a:p>
            <a:endParaRPr lang="en-US"/>
          </a:p>
        </p:txBody>
      </p:sp>
      <p:sp>
        <p:nvSpPr>
          <p:cNvPr id="25" name="Shape 22"/>
          <p:cNvSpPr/>
          <p:nvPr/>
        </p:nvSpPr>
        <p:spPr>
          <a:xfrm>
            <a:off x="685800" y="3364992"/>
            <a:ext cx="384048" cy="384048"/>
          </a:xfrm>
          <a:prstGeom prst="ellipse">
            <a:avLst/>
          </a:prstGeom>
          <a:solidFill>
            <a:srgbClr val="0E7C7B"/>
          </a:solidFill>
          <a:ln w="12700">
            <a:solidFill>
              <a:srgbClr val="0E7C7B"/>
            </a:solidFill>
            <a:prstDash val="solid"/>
          </a:ln>
        </p:spPr>
        <p:txBody>
          <a:bodyPr/>
          <a:lstStyle/>
          <a:p>
            <a:endParaRPr lang="en-US"/>
          </a:p>
        </p:txBody>
      </p:sp>
      <p:sp>
        <p:nvSpPr>
          <p:cNvPr id="26" name="Text 23"/>
          <p:cNvSpPr txBox="1"/>
          <p:nvPr/>
        </p:nvSpPr>
        <p:spPr>
          <a:xfrm>
            <a:off x="685800" y="33649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4"/>
          <p:cNvSpPr txBox="1"/>
          <p:nvPr/>
        </p:nvSpPr>
        <p:spPr>
          <a:xfrm>
            <a:off x="1207008" y="3218688"/>
            <a:ext cx="4632808" cy="676656"/>
          </a:xfrm>
          <a:prstGeom prst="rect">
            <a:avLst/>
          </a:prstGeom>
          <a:noFill/>
          <a:ln/>
        </p:spPr>
        <p:txBody>
          <a:bodyPr wrap="square" lIns="0" tIns="0" rIns="0" bIns="0" rtlCol="0" anchor="ctr"/>
          <a:lstStyle/>
          <a:p>
            <a:pPr marL="0" indent="0">
              <a:buNone/>
            </a:pPr>
            <a:r>
              <a:rPr lang="en-US" sz="1300" dirty="0">
                <a:solidFill>
                  <a:srgbClr val="1F2A37"/>
                </a:solidFill>
                <a:latin typeface="Calibri" pitchFamily="34" charset="0"/>
                <a:ea typeface="Calibri" pitchFamily="34" charset="-122"/>
                <a:cs typeface="Calibri" pitchFamily="34" charset="-120"/>
              </a:rPr>
              <a:t>Surrogate keys (identity) are used; natural keys kept as attributes.</a:t>
            </a:r>
            <a:endParaRPr lang="en-US" sz="1300" dirty="0"/>
          </a:p>
        </p:txBody>
      </p:sp>
      <p:sp>
        <p:nvSpPr>
          <p:cNvPr id="28" name="Shape 25"/>
          <p:cNvSpPr/>
          <p:nvPr/>
        </p:nvSpPr>
        <p:spPr>
          <a:xfrm>
            <a:off x="6233008" y="3218688"/>
            <a:ext cx="5410048" cy="676656"/>
          </a:xfrm>
          <a:prstGeom prst="roundRect">
            <a:avLst>
              <a:gd name="adj" fmla="val 10811"/>
            </a:avLst>
          </a:prstGeom>
          <a:solidFill>
            <a:srgbClr val="F3F6F9"/>
          </a:solidFill>
          <a:ln w="9525">
            <a:solidFill>
              <a:srgbClr val="F3F6F9"/>
            </a:solidFill>
            <a:prstDash val="solid"/>
          </a:ln>
        </p:spPr>
        <p:txBody>
          <a:bodyPr/>
          <a:lstStyle/>
          <a:p>
            <a:endParaRPr lang="en-US"/>
          </a:p>
        </p:txBody>
      </p:sp>
      <p:sp>
        <p:nvSpPr>
          <p:cNvPr id="29" name="Shape 26"/>
          <p:cNvSpPr/>
          <p:nvPr/>
        </p:nvSpPr>
        <p:spPr>
          <a:xfrm>
            <a:off x="6370168" y="3364992"/>
            <a:ext cx="384048" cy="384048"/>
          </a:xfrm>
          <a:prstGeom prst="ellipse">
            <a:avLst/>
          </a:prstGeom>
          <a:solidFill>
            <a:srgbClr val="0E7C7B"/>
          </a:solidFill>
          <a:ln w="12700">
            <a:solidFill>
              <a:srgbClr val="0E7C7B"/>
            </a:solidFill>
            <a:prstDash val="solid"/>
          </a:ln>
        </p:spPr>
        <p:txBody>
          <a:bodyPr/>
          <a:lstStyle/>
          <a:p>
            <a:endParaRPr lang="en-US"/>
          </a:p>
        </p:txBody>
      </p:sp>
      <p:sp>
        <p:nvSpPr>
          <p:cNvPr id="30" name="Text 27"/>
          <p:cNvSpPr txBox="1"/>
          <p:nvPr/>
        </p:nvSpPr>
        <p:spPr>
          <a:xfrm>
            <a:off x="6370168" y="33649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1" name="Text 28"/>
          <p:cNvSpPr txBox="1"/>
          <p:nvPr/>
        </p:nvSpPr>
        <p:spPr>
          <a:xfrm>
            <a:off x="6891376" y="3218688"/>
            <a:ext cx="4632808" cy="676656"/>
          </a:xfrm>
          <a:prstGeom prst="rect">
            <a:avLst/>
          </a:prstGeom>
          <a:noFill/>
          <a:ln/>
        </p:spPr>
        <p:txBody>
          <a:bodyPr wrap="square" lIns="0" tIns="0" rIns="0" bIns="0" rtlCol="0" anchor="ctr"/>
          <a:lstStyle/>
          <a:p>
            <a:pPr marL="0" indent="0">
              <a:buNone/>
            </a:pPr>
            <a:r>
              <a:rPr lang="en-US" sz="1300" dirty="0">
                <a:solidFill>
                  <a:srgbClr val="1F2A37"/>
                </a:solidFill>
                <a:latin typeface="Calibri" pitchFamily="34" charset="0"/>
                <a:ea typeface="Calibri" pitchFamily="34" charset="-122"/>
                <a:cs typeface="Calibri" pitchFamily="34" charset="-120"/>
              </a:rPr>
              <a:t>dim_date is generated and shared; role-playing dates use aliases or views.</a:t>
            </a:r>
            <a:endParaRPr lang="en-US" sz="1300" dirty="0"/>
          </a:p>
        </p:txBody>
      </p:sp>
      <p:sp>
        <p:nvSpPr>
          <p:cNvPr id="32" name="Shape 29"/>
          <p:cNvSpPr/>
          <p:nvPr/>
        </p:nvSpPr>
        <p:spPr>
          <a:xfrm>
            <a:off x="548640" y="4005072"/>
            <a:ext cx="5410048" cy="676656"/>
          </a:xfrm>
          <a:prstGeom prst="roundRect">
            <a:avLst>
              <a:gd name="adj" fmla="val 10811"/>
            </a:avLst>
          </a:prstGeom>
          <a:solidFill>
            <a:srgbClr val="F3F6F9"/>
          </a:solidFill>
          <a:ln w="9525">
            <a:solidFill>
              <a:srgbClr val="F3F6F9"/>
            </a:solidFill>
            <a:prstDash val="solid"/>
          </a:ln>
        </p:spPr>
        <p:txBody>
          <a:bodyPr/>
          <a:lstStyle/>
          <a:p>
            <a:endParaRPr lang="en-US"/>
          </a:p>
        </p:txBody>
      </p:sp>
      <p:sp>
        <p:nvSpPr>
          <p:cNvPr id="33" name="Shape 30"/>
          <p:cNvSpPr/>
          <p:nvPr/>
        </p:nvSpPr>
        <p:spPr>
          <a:xfrm>
            <a:off x="685800" y="4151376"/>
            <a:ext cx="384048" cy="384048"/>
          </a:xfrm>
          <a:prstGeom prst="ellipse">
            <a:avLst/>
          </a:prstGeom>
          <a:solidFill>
            <a:srgbClr val="0E7C7B"/>
          </a:solidFill>
          <a:ln w="12700">
            <a:solidFill>
              <a:srgbClr val="0E7C7B"/>
            </a:solidFill>
            <a:prstDash val="solid"/>
          </a:ln>
        </p:spPr>
        <p:txBody>
          <a:bodyPr/>
          <a:lstStyle/>
          <a:p>
            <a:endParaRPr lang="en-US"/>
          </a:p>
        </p:txBody>
      </p:sp>
      <p:sp>
        <p:nvSpPr>
          <p:cNvPr id="34" name="Text 31"/>
          <p:cNvSpPr txBox="1"/>
          <p:nvPr/>
        </p:nvSpPr>
        <p:spPr>
          <a:xfrm>
            <a:off x="685800" y="41513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5" name="Text 32"/>
          <p:cNvSpPr txBox="1"/>
          <p:nvPr/>
        </p:nvSpPr>
        <p:spPr>
          <a:xfrm>
            <a:off x="1207008" y="4005072"/>
            <a:ext cx="4632808" cy="676656"/>
          </a:xfrm>
          <a:prstGeom prst="rect">
            <a:avLst/>
          </a:prstGeom>
          <a:noFill/>
          <a:ln/>
        </p:spPr>
        <p:txBody>
          <a:bodyPr wrap="square" lIns="0" tIns="0" rIns="0" bIns="0" rtlCol="0" anchor="ctr"/>
          <a:lstStyle/>
          <a:p>
            <a:pPr marL="0" indent="0">
              <a:buNone/>
            </a:pPr>
            <a:r>
              <a:rPr lang="en-US" sz="1300" dirty="0">
                <a:solidFill>
                  <a:srgbClr val="1F2A37"/>
                </a:solidFill>
                <a:latin typeface="Calibri" pitchFamily="34" charset="0"/>
                <a:ea typeface="Calibri" pitchFamily="34" charset="-122"/>
                <a:cs typeface="Calibri" pitchFamily="34" charset="-120"/>
              </a:rPr>
              <a:t>An SCD type is chosen for every changing attribute.</a:t>
            </a:r>
            <a:endParaRPr lang="en-US" sz="1300" dirty="0"/>
          </a:p>
        </p:txBody>
      </p:sp>
      <p:sp>
        <p:nvSpPr>
          <p:cNvPr id="36" name="Shape 33"/>
          <p:cNvSpPr/>
          <p:nvPr/>
        </p:nvSpPr>
        <p:spPr>
          <a:xfrm>
            <a:off x="6233008" y="4005072"/>
            <a:ext cx="5410048" cy="676656"/>
          </a:xfrm>
          <a:prstGeom prst="roundRect">
            <a:avLst>
              <a:gd name="adj" fmla="val 10811"/>
            </a:avLst>
          </a:prstGeom>
          <a:solidFill>
            <a:srgbClr val="F3F6F9"/>
          </a:solidFill>
          <a:ln w="9525">
            <a:solidFill>
              <a:srgbClr val="F3F6F9"/>
            </a:solidFill>
            <a:prstDash val="solid"/>
          </a:ln>
        </p:spPr>
        <p:txBody>
          <a:bodyPr/>
          <a:lstStyle/>
          <a:p>
            <a:endParaRPr lang="en-US"/>
          </a:p>
        </p:txBody>
      </p:sp>
      <p:sp>
        <p:nvSpPr>
          <p:cNvPr id="37" name="Shape 34"/>
          <p:cNvSpPr/>
          <p:nvPr/>
        </p:nvSpPr>
        <p:spPr>
          <a:xfrm>
            <a:off x="6370168" y="4151376"/>
            <a:ext cx="384048" cy="384048"/>
          </a:xfrm>
          <a:prstGeom prst="ellipse">
            <a:avLst/>
          </a:prstGeom>
          <a:solidFill>
            <a:srgbClr val="0E7C7B"/>
          </a:solidFill>
          <a:ln w="12700">
            <a:solidFill>
              <a:srgbClr val="0E7C7B"/>
            </a:solidFill>
            <a:prstDash val="solid"/>
          </a:ln>
        </p:spPr>
        <p:txBody>
          <a:bodyPr/>
          <a:lstStyle/>
          <a:p>
            <a:endParaRPr lang="en-US"/>
          </a:p>
        </p:txBody>
      </p:sp>
      <p:sp>
        <p:nvSpPr>
          <p:cNvPr id="38" name="Text 35"/>
          <p:cNvSpPr txBox="1"/>
          <p:nvPr/>
        </p:nvSpPr>
        <p:spPr>
          <a:xfrm>
            <a:off x="6370168" y="41513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9" name="Text 36"/>
          <p:cNvSpPr txBox="1"/>
          <p:nvPr/>
        </p:nvSpPr>
        <p:spPr>
          <a:xfrm>
            <a:off x="6891376" y="4005072"/>
            <a:ext cx="4632808" cy="676656"/>
          </a:xfrm>
          <a:prstGeom prst="rect">
            <a:avLst/>
          </a:prstGeom>
          <a:noFill/>
          <a:ln/>
        </p:spPr>
        <p:txBody>
          <a:bodyPr wrap="square" lIns="0" tIns="0" rIns="0" bIns="0" rtlCol="0" anchor="ctr"/>
          <a:lstStyle/>
          <a:p>
            <a:pPr marL="0" indent="0">
              <a:buNone/>
            </a:pPr>
            <a:r>
              <a:rPr lang="en-US" sz="1300" dirty="0">
                <a:solidFill>
                  <a:srgbClr val="1F2A37"/>
                </a:solidFill>
                <a:latin typeface="Calibri" pitchFamily="34" charset="0"/>
                <a:ea typeface="Calibri" pitchFamily="34" charset="-122"/>
                <a:cs typeface="Calibri" pitchFamily="34" charset="-120"/>
              </a:rPr>
              <a:t>Conformed dimensions are shared across facts (bus matrix).</a:t>
            </a:r>
            <a:endParaRPr lang="en-US" sz="1300" dirty="0"/>
          </a:p>
        </p:txBody>
      </p:sp>
      <p:sp>
        <p:nvSpPr>
          <p:cNvPr id="40" name="Shape 37"/>
          <p:cNvSpPr/>
          <p:nvPr/>
        </p:nvSpPr>
        <p:spPr>
          <a:xfrm>
            <a:off x="548640" y="4791456"/>
            <a:ext cx="5410048" cy="676656"/>
          </a:xfrm>
          <a:prstGeom prst="roundRect">
            <a:avLst>
              <a:gd name="adj" fmla="val 10811"/>
            </a:avLst>
          </a:prstGeom>
          <a:solidFill>
            <a:srgbClr val="F3F6F9"/>
          </a:solidFill>
          <a:ln w="9525">
            <a:solidFill>
              <a:srgbClr val="F3F6F9"/>
            </a:solidFill>
            <a:prstDash val="solid"/>
          </a:ln>
        </p:spPr>
        <p:txBody>
          <a:bodyPr/>
          <a:lstStyle/>
          <a:p>
            <a:endParaRPr lang="en-US"/>
          </a:p>
        </p:txBody>
      </p:sp>
      <p:sp>
        <p:nvSpPr>
          <p:cNvPr id="41" name="Shape 38"/>
          <p:cNvSpPr/>
          <p:nvPr/>
        </p:nvSpPr>
        <p:spPr>
          <a:xfrm>
            <a:off x="685800" y="4937760"/>
            <a:ext cx="384048" cy="384048"/>
          </a:xfrm>
          <a:prstGeom prst="ellipse">
            <a:avLst/>
          </a:prstGeom>
          <a:solidFill>
            <a:srgbClr val="0E7C7B"/>
          </a:solidFill>
          <a:ln w="12700">
            <a:solidFill>
              <a:srgbClr val="0E7C7B"/>
            </a:solidFill>
            <a:prstDash val="solid"/>
          </a:ln>
        </p:spPr>
        <p:txBody>
          <a:bodyPr/>
          <a:lstStyle/>
          <a:p>
            <a:endParaRPr lang="en-US"/>
          </a:p>
        </p:txBody>
      </p:sp>
      <p:sp>
        <p:nvSpPr>
          <p:cNvPr id="42" name="Text 39"/>
          <p:cNvSpPr txBox="1"/>
          <p:nvPr/>
        </p:nvSpPr>
        <p:spPr>
          <a:xfrm>
            <a:off x="685800" y="49377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3" name="Text 40"/>
          <p:cNvSpPr txBox="1"/>
          <p:nvPr/>
        </p:nvSpPr>
        <p:spPr>
          <a:xfrm>
            <a:off x="1207008" y="4791456"/>
            <a:ext cx="4632808" cy="676656"/>
          </a:xfrm>
          <a:prstGeom prst="rect">
            <a:avLst/>
          </a:prstGeom>
          <a:noFill/>
          <a:ln/>
        </p:spPr>
        <p:txBody>
          <a:bodyPr wrap="square" lIns="0" tIns="0" rIns="0" bIns="0" rtlCol="0" anchor="ctr"/>
          <a:lstStyle/>
          <a:p>
            <a:pPr marL="0" indent="0">
              <a:buNone/>
            </a:pPr>
            <a:r>
              <a:rPr lang="en-US" sz="1300" dirty="0">
                <a:solidFill>
                  <a:srgbClr val="1F2A37"/>
                </a:solidFill>
                <a:latin typeface="Calibri" pitchFamily="34" charset="0"/>
                <a:ea typeface="Calibri" pitchFamily="34" charset="-122"/>
                <a:cs typeface="Calibri" pitchFamily="34" charset="-120"/>
              </a:rPr>
              <a:t>Names are business-friendly; tables and columns have comments.</a:t>
            </a:r>
            <a:endParaRPr lang="en-US" sz="1300" dirty="0"/>
          </a:p>
        </p:txBody>
      </p:sp>
      <p:sp>
        <p:nvSpPr>
          <p:cNvPr id="44" name="Shape 41"/>
          <p:cNvSpPr/>
          <p:nvPr/>
        </p:nvSpPr>
        <p:spPr>
          <a:xfrm>
            <a:off x="6233008" y="4791456"/>
            <a:ext cx="5410048" cy="676656"/>
          </a:xfrm>
          <a:prstGeom prst="roundRect">
            <a:avLst>
              <a:gd name="adj" fmla="val 10811"/>
            </a:avLst>
          </a:prstGeom>
          <a:solidFill>
            <a:srgbClr val="F3F6F9"/>
          </a:solidFill>
          <a:ln w="9525">
            <a:solidFill>
              <a:srgbClr val="F3F6F9"/>
            </a:solidFill>
            <a:prstDash val="solid"/>
          </a:ln>
        </p:spPr>
        <p:txBody>
          <a:bodyPr/>
          <a:lstStyle/>
          <a:p>
            <a:endParaRPr lang="en-US"/>
          </a:p>
        </p:txBody>
      </p:sp>
      <p:sp>
        <p:nvSpPr>
          <p:cNvPr id="45" name="Shape 42"/>
          <p:cNvSpPr/>
          <p:nvPr/>
        </p:nvSpPr>
        <p:spPr>
          <a:xfrm>
            <a:off x="6370168" y="4937760"/>
            <a:ext cx="384048" cy="384048"/>
          </a:xfrm>
          <a:prstGeom prst="ellipse">
            <a:avLst/>
          </a:prstGeom>
          <a:solidFill>
            <a:srgbClr val="0E7C7B"/>
          </a:solidFill>
          <a:ln w="12700">
            <a:solidFill>
              <a:srgbClr val="0E7C7B"/>
            </a:solidFill>
            <a:prstDash val="solid"/>
          </a:ln>
        </p:spPr>
        <p:txBody>
          <a:bodyPr/>
          <a:lstStyle/>
          <a:p>
            <a:endParaRPr lang="en-US"/>
          </a:p>
        </p:txBody>
      </p:sp>
      <p:sp>
        <p:nvSpPr>
          <p:cNvPr id="46" name="Text 43"/>
          <p:cNvSpPr txBox="1"/>
          <p:nvPr/>
        </p:nvSpPr>
        <p:spPr>
          <a:xfrm>
            <a:off x="6370168" y="49377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7" name="Text 44"/>
          <p:cNvSpPr txBox="1"/>
          <p:nvPr/>
        </p:nvSpPr>
        <p:spPr>
          <a:xfrm>
            <a:off x="6891376" y="4791456"/>
            <a:ext cx="4632808" cy="676656"/>
          </a:xfrm>
          <a:prstGeom prst="rect">
            <a:avLst/>
          </a:prstGeom>
          <a:noFill/>
          <a:ln/>
        </p:spPr>
        <p:txBody>
          <a:bodyPr wrap="square" lIns="0" tIns="0" rIns="0" bIns="0" rtlCol="0" anchor="ctr"/>
          <a:lstStyle/>
          <a:p>
            <a:pPr marL="0" indent="0">
              <a:buNone/>
            </a:pPr>
            <a:r>
              <a:rPr lang="en-US" sz="1300" dirty="0">
                <a:solidFill>
                  <a:srgbClr val="1F2A37"/>
                </a:solidFill>
                <a:latin typeface="Calibri" pitchFamily="34" charset="0"/>
                <a:ea typeface="Calibri" pitchFamily="34" charset="-122"/>
                <a:cs typeface="Calibri" pitchFamily="34" charset="-120"/>
              </a:rPr>
              <a:t>Uniqueness and orphan checks exist, because PK/FK are not enforced.</a:t>
            </a:r>
            <a:endParaRPr lang="en-US" sz="1300" dirty="0"/>
          </a:p>
        </p:txBody>
      </p:sp>
      <p:sp>
        <p:nvSpPr>
          <p:cNvPr id="48" name="Shape 45"/>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49" name="Shape 46"/>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50"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51" name="Text 47"/>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If every box is ticked, the star will be easy to query, correct to aggregate and ready for mining.</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28</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CASE STUDY ARCHITECTURE</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Our semester warehouse: SmartRetail</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A · MODELLING</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1962851" cy="1097280"/>
          </a:xfrm>
          <a:prstGeom prst="roundRect">
            <a:avLst>
              <a:gd name="adj" fmla="val 8333"/>
            </a:avLst>
          </a:prstGeom>
          <a:solidFill>
            <a:srgbClr val="E3E9F0"/>
          </a:solidFill>
          <a:ln w="9525">
            <a:solidFill>
              <a:srgbClr val="E3E9F0"/>
            </a:solidFill>
            <a:prstDash val="solid"/>
          </a:ln>
        </p:spPr>
        <p:txBody>
          <a:bodyPr/>
          <a:lstStyle/>
          <a:p>
            <a:endParaRPr lang="en-US"/>
          </a:p>
        </p:txBody>
      </p:sp>
      <p:sp>
        <p:nvSpPr>
          <p:cNvPr id="9" name="Text 6"/>
          <p:cNvSpPr txBox="1"/>
          <p:nvPr/>
        </p:nvSpPr>
        <p:spPr>
          <a:xfrm>
            <a:off x="594360" y="1764792"/>
            <a:ext cx="1871411" cy="548640"/>
          </a:xfrm>
          <a:prstGeom prst="rect">
            <a:avLst/>
          </a:prstGeom>
          <a:noFill/>
          <a:ln/>
        </p:spPr>
        <p:txBody>
          <a:bodyPr wrap="square" lIns="0" tIns="0" rIns="0" bIns="0" rtlCol="0" anchor="b"/>
          <a:lstStyle/>
          <a:p>
            <a:pPr marL="0" indent="0" algn="ctr">
              <a:buNone/>
            </a:pPr>
            <a:r>
              <a:rPr lang="en-US" sz="1500" b="1" dirty="0">
                <a:solidFill>
                  <a:srgbClr val="12263A"/>
                </a:solidFill>
                <a:latin typeface="Calibri" pitchFamily="34" charset="0"/>
                <a:ea typeface="Calibri" pitchFamily="34" charset="-122"/>
                <a:cs typeface="Calibri" pitchFamily="34" charset="-120"/>
              </a:rPr>
              <a:t>Source CSVs</a:t>
            </a:r>
            <a:endParaRPr lang="en-US" sz="1500" dirty="0"/>
          </a:p>
        </p:txBody>
      </p:sp>
      <p:sp>
        <p:nvSpPr>
          <p:cNvPr id="10" name="Text 7"/>
          <p:cNvSpPr txBox="1"/>
          <p:nvPr/>
        </p:nvSpPr>
        <p:spPr>
          <a:xfrm>
            <a:off x="621792" y="2313432"/>
            <a:ext cx="1816547" cy="438912"/>
          </a:xfrm>
          <a:prstGeom prst="rect">
            <a:avLst/>
          </a:prstGeom>
          <a:noFill/>
          <a:ln/>
        </p:spPr>
        <p:txBody>
          <a:bodyPr wrap="square" lIns="0" tIns="0" rIns="0" bIns="0" rtlCol="0" anchor="t"/>
          <a:lstStyle/>
          <a:p>
            <a:pPr marL="0" indent="0" algn="ctr">
              <a:buNone/>
            </a:pPr>
            <a:r>
              <a:rPr lang="en-US" sz="1100" dirty="0">
                <a:solidFill>
                  <a:srgbClr val="5B6B7B"/>
                </a:solidFill>
                <a:latin typeface="Calibri" pitchFamily="34" charset="0"/>
                <a:ea typeface="Calibri" pitchFamily="34" charset="-122"/>
                <a:cs typeface="Calibri" pitchFamily="34" charset="-120"/>
              </a:rPr>
              <a:t>orders, order_details, products, customers, stores</a:t>
            </a:r>
            <a:endParaRPr lang="en-US" sz="1100" dirty="0"/>
          </a:p>
        </p:txBody>
      </p:sp>
      <p:sp>
        <p:nvSpPr>
          <p:cNvPr id="11" name="Shape 8"/>
          <p:cNvSpPr/>
          <p:nvPr/>
        </p:nvSpPr>
        <p:spPr>
          <a:xfrm>
            <a:off x="2566355" y="2240280"/>
            <a:ext cx="210312" cy="914"/>
          </a:xfrm>
          <a:prstGeom prst="line">
            <a:avLst/>
          </a:prstGeom>
          <a:noFill/>
          <a:ln w="22225">
            <a:solidFill>
              <a:srgbClr val="5B6B7B"/>
            </a:solidFill>
            <a:prstDash val="solid"/>
            <a:tailEnd type="triangle"/>
          </a:ln>
        </p:spPr>
        <p:txBody>
          <a:bodyPr/>
          <a:lstStyle/>
          <a:p>
            <a:endParaRPr lang="en-US"/>
          </a:p>
        </p:txBody>
      </p:sp>
      <p:sp>
        <p:nvSpPr>
          <p:cNvPr id="12" name="Shape 9"/>
          <p:cNvSpPr/>
          <p:nvPr/>
        </p:nvSpPr>
        <p:spPr>
          <a:xfrm>
            <a:off x="2831531" y="1691640"/>
            <a:ext cx="1962851" cy="1097280"/>
          </a:xfrm>
          <a:prstGeom prst="roundRect">
            <a:avLst>
              <a:gd name="adj" fmla="val 8333"/>
            </a:avLst>
          </a:prstGeom>
          <a:solidFill>
            <a:srgbClr val="F6E7DA"/>
          </a:solidFill>
          <a:ln w="9525">
            <a:solidFill>
              <a:srgbClr val="F6E7DA"/>
            </a:solidFill>
            <a:prstDash val="solid"/>
          </a:ln>
        </p:spPr>
        <p:txBody>
          <a:bodyPr/>
          <a:lstStyle/>
          <a:p>
            <a:endParaRPr lang="en-US"/>
          </a:p>
        </p:txBody>
      </p:sp>
      <p:sp>
        <p:nvSpPr>
          <p:cNvPr id="13" name="Text 10"/>
          <p:cNvSpPr txBox="1"/>
          <p:nvPr/>
        </p:nvSpPr>
        <p:spPr>
          <a:xfrm>
            <a:off x="2877251" y="1764792"/>
            <a:ext cx="1871411" cy="548640"/>
          </a:xfrm>
          <a:prstGeom prst="rect">
            <a:avLst/>
          </a:prstGeom>
          <a:noFill/>
          <a:ln/>
        </p:spPr>
        <p:txBody>
          <a:bodyPr wrap="square" lIns="0" tIns="0" rIns="0" bIns="0" rtlCol="0" anchor="b"/>
          <a:lstStyle/>
          <a:p>
            <a:pPr marL="0" indent="0" algn="ctr">
              <a:buNone/>
            </a:pPr>
            <a:r>
              <a:rPr lang="en-US" sz="1500" b="1" dirty="0">
                <a:solidFill>
                  <a:srgbClr val="A8622F"/>
                </a:solidFill>
                <a:latin typeface="Calibri" pitchFamily="34" charset="0"/>
                <a:ea typeface="Calibri" pitchFamily="34" charset="-122"/>
                <a:cs typeface="Calibri" pitchFamily="34" charset="-120"/>
              </a:rPr>
              <a:t>Bronze</a:t>
            </a:r>
            <a:endParaRPr lang="en-US" sz="1500" dirty="0"/>
          </a:p>
        </p:txBody>
      </p:sp>
      <p:sp>
        <p:nvSpPr>
          <p:cNvPr id="14" name="Text 11"/>
          <p:cNvSpPr txBox="1"/>
          <p:nvPr/>
        </p:nvSpPr>
        <p:spPr>
          <a:xfrm>
            <a:off x="2904683" y="2313432"/>
            <a:ext cx="1816547" cy="438912"/>
          </a:xfrm>
          <a:prstGeom prst="rect">
            <a:avLst/>
          </a:prstGeom>
          <a:noFill/>
          <a:ln/>
        </p:spPr>
        <p:txBody>
          <a:bodyPr wrap="square" lIns="0" tIns="0" rIns="0" bIns="0" rtlCol="0" anchor="t"/>
          <a:lstStyle/>
          <a:p>
            <a:pPr marL="0" indent="0" algn="ctr">
              <a:buNone/>
            </a:pPr>
            <a:r>
              <a:rPr lang="en-US" sz="1100" dirty="0">
                <a:solidFill>
                  <a:srgbClr val="5B6B7B"/>
                </a:solidFill>
                <a:latin typeface="Calibri" pitchFamily="34" charset="0"/>
                <a:ea typeface="Calibri" pitchFamily="34" charset="-122"/>
                <a:cs typeface="Calibri" pitchFamily="34" charset="-120"/>
              </a:rPr>
              <a:t>raw Delta tables</a:t>
            </a:r>
            <a:endParaRPr lang="en-US" sz="1100" dirty="0"/>
          </a:p>
        </p:txBody>
      </p:sp>
      <p:sp>
        <p:nvSpPr>
          <p:cNvPr id="15" name="Shape 12"/>
          <p:cNvSpPr/>
          <p:nvPr/>
        </p:nvSpPr>
        <p:spPr>
          <a:xfrm>
            <a:off x="4849246" y="2240280"/>
            <a:ext cx="210312" cy="914"/>
          </a:xfrm>
          <a:prstGeom prst="line">
            <a:avLst/>
          </a:prstGeom>
          <a:noFill/>
          <a:ln w="22225">
            <a:solidFill>
              <a:srgbClr val="5B6B7B"/>
            </a:solidFill>
            <a:prstDash val="solid"/>
            <a:tailEnd type="triangle"/>
          </a:ln>
        </p:spPr>
        <p:txBody>
          <a:bodyPr/>
          <a:lstStyle/>
          <a:p>
            <a:endParaRPr lang="en-US"/>
          </a:p>
        </p:txBody>
      </p:sp>
      <p:sp>
        <p:nvSpPr>
          <p:cNvPr id="16" name="Shape 13"/>
          <p:cNvSpPr/>
          <p:nvPr/>
        </p:nvSpPr>
        <p:spPr>
          <a:xfrm>
            <a:off x="5114422" y="1691640"/>
            <a:ext cx="1962851" cy="1097280"/>
          </a:xfrm>
          <a:prstGeom prst="roundRect">
            <a:avLst>
              <a:gd name="adj" fmla="val 8333"/>
            </a:avLst>
          </a:prstGeom>
          <a:solidFill>
            <a:srgbClr val="E8EDF1"/>
          </a:solidFill>
          <a:ln w="9525">
            <a:solidFill>
              <a:srgbClr val="E8EDF1"/>
            </a:solidFill>
            <a:prstDash val="solid"/>
          </a:ln>
        </p:spPr>
        <p:txBody>
          <a:bodyPr/>
          <a:lstStyle/>
          <a:p>
            <a:endParaRPr lang="en-US"/>
          </a:p>
        </p:txBody>
      </p:sp>
      <p:sp>
        <p:nvSpPr>
          <p:cNvPr id="17" name="Text 14"/>
          <p:cNvSpPr txBox="1"/>
          <p:nvPr/>
        </p:nvSpPr>
        <p:spPr>
          <a:xfrm>
            <a:off x="5160142" y="1764792"/>
            <a:ext cx="1871411" cy="548640"/>
          </a:xfrm>
          <a:prstGeom prst="rect">
            <a:avLst/>
          </a:prstGeom>
          <a:noFill/>
          <a:ln/>
        </p:spPr>
        <p:txBody>
          <a:bodyPr wrap="square" lIns="0" tIns="0" rIns="0" bIns="0" rtlCol="0" anchor="b"/>
          <a:lstStyle/>
          <a:p>
            <a:pPr marL="0" indent="0" algn="ctr">
              <a:buNone/>
            </a:pPr>
            <a:r>
              <a:rPr lang="en-US" sz="1500" b="1" dirty="0">
                <a:solidFill>
                  <a:srgbClr val="4D5B66"/>
                </a:solidFill>
                <a:latin typeface="Calibri" pitchFamily="34" charset="0"/>
                <a:ea typeface="Calibri" pitchFamily="34" charset="-122"/>
                <a:cs typeface="Calibri" pitchFamily="34" charset="-120"/>
              </a:rPr>
              <a:t>Silver</a:t>
            </a:r>
            <a:endParaRPr lang="en-US" sz="1500" dirty="0"/>
          </a:p>
        </p:txBody>
      </p:sp>
      <p:sp>
        <p:nvSpPr>
          <p:cNvPr id="18" name="Text 15"/>
          <p:cNvSpPr txBox="1"/>
          <p:nvPr/>
        </p:nvSpPr>
        <p:spPr>
          <a:xfrm>
            <a:off x="5187574" y="2313432"/>
            <a:ext cx="1816547" cy="438912"/>
          </a:xfrm>
          <a:prstGeom prst="rect">
            <a:avLst/>
          </a:prstGeom>
          <a:noFill/>
          <a:ln/>
        </p:spPr>
        <p:txBody>
          <a:bodyPr wrap="square" lIns="0" tIns="0" rIns="0" bIns="0" rtlCol="0" anchor="t"/>
          <a:lstStyle/>
          <a:p>
            <a:pPr marL="0" indent="0" algn="ctr">
              <a:buNone/>
            </a:pPr>
            <a:r>
              <a:rPr lang="en-US" sz="1100" dirty="0">
                <a:solidFill>
                  <a:srgbClr val="5B6B7B"/>
                </a:solidFill>
                <a:latin typeface="Calibri" pitchFamily="34" charset="0"/>
                <a:ea typeface="Calibri" pitchFamily="34" charset="-122"/>
                <a:cs typeface="Calibri" pitchFamily="34" charset="-120"/>
              </a:rPr>
              <a:t>clean, typed, deduplicated</a:t>
            </a:r>
            <a:endParaRPr lang="en-US" sz="1100" dirty="0"/>
          </a:p>
        </p:txBody>
      </p:sp>
      <p:sp>
        <p:nvSpPr>
          <p:cNvPr id="19" name="Shape 16"/>
          <p:cNvSpPr/>
          <p:nvPr/>
        </p:nvSpPr>
        <p:spPr>
          <a:xfrm>
            <a:off x="7132137" y="2240280"/>
            <a:ext cx="210312" cy="914"/>
          </a:xfrm>
          <a:prstGeom prst="line">
            <a:avLst/>
          </a:prstGeom>
          <a:noFill/>
          <a:ln w="22225">
            <a:solidFill>
              <a:srgbClr val="5B6B7B"/>
            </a:solidFill>
            <a:prstDash val="solid"/>
            <a:tailEnd type="triangle"/>
          </a:ln>
        </p:spPr>
        <p:txBody>
          <a:bodyPr/>
          <a:lstStyle/>
          <a:p>
            <a:endParaRPr lang="en-US"/>
          </a:p>
        </p:txBody>
      </p:sp>
      <p:sp>
        <p:nvSpPr>
          <p:cNvPr id="20" name="Shape 17"/>
          <p:cNvSpPr/>
          <p:nvPr/>
        </p:nvSpPr>
        <p:spPr>
          <a:xfrm>
            <a:off x="7397313" y="1691640"/>
            <a:ext cx="1962851" cy="1097280"/>
          </a:xfrm>
          <a:prstGeom prst="roundRect">
            <a:avLst>
              <a:gd name="adj" fmla="val 8333"/>
            </a:avLst>
          </a:prstGeom>
          <a:solidFill>
            <a:srgbClr val="FBF1D3"/>
          </a:solidFill>
          <a:ln w="9525">
            <a:solidFill>
              <a:srgbClr val="FBF1D3"/>
            </a:solidFill>
            <a:prstDash val="solid"/>
          </a:ln>
        </p:spPr>
        <p:txBody>
          <a:bodyPr/>
          <a:lstStyle/>
          <a:p>
            <a:endParaRPr lang="en-US"/>
          </a:p>
        </p:txBody>
      </p:sp>
      <p:sp>
        <p:nvSpPr>
          <p:cNvPr id="21" name="Text 18"/>
          <p:cNvSpPr txBox="1"/>
          <p:nvPr/>
        </p:nvSpPr>
        <p:spPr>
          <a:xfrm>
            <a:off x="7443033" y="1764792"/>
            <a:ext cx="1871411" cy="548640"/>
          </a:xfrm>
          <a:prstGeom prst="rect">
            <a:avLst/>
          </a:prstGeom>
          <a:noFill/>
          <a:ln/>
        </p:spPr>
        <p:txBody>
          <a:bodyPr wrap="square" lIns="0" tIns="0" rIns="0" bIns="0" rtlCol="0" anchor="b"/>
          <a:lstStyle/>
          <a:p>
            <a:pPr marL="0" indent="0" algn="ctr">
              <a:buNone/>
            </a:pPr>
            <a:r>
              <a:rPr lang="en-US" sz="1500" b="1" dirty="0">
                <a:solidFill>
                  <a:srgbClr val="8A6508"/>
                </a:solidFill>
                <a:latin typeface="Calibri" pitchFamily="34" charset="0"/>
                <a:ea typeface="Calibri" pitchFamily="34" charset="-122"/>
                <a:cs typeface="Calibri" pitchFamily="34" charset="-120"/>
              </a:rPr>
              <a:t>Gold DW</a:t>
            </a:r>
            <a:endParaRPr lang="en-US" sz="1500" dirty="0"/>
          </a:p>
        </p:txBody>
      </p:sp>
      <p:sp>
        <p:nvSpPr>
          <p:cNvPr id="22" name="Text 19"/>
          <p:cNvSpPr txBox="1"/>
          <p:nvPr/>
        </p:nvSpPr>
        <p:spPr>
          <a:xfrm>
            <a:off x="7470465" y="2313432"/>
            <a:ext cx="1816547" cy="438912"/>
          </a:xfrm>
          <a:prstGeom prst="rect">
            <a:avLst/>
          </a:prstGeom>
          <a:noFill/>
          <a:ln/>
        </p:spPr>
        <p:txBody>
          <a:bodyPr wrap="square" lIns="0" tIns="0" rIns="0" bIns="0" rtlCol="0" anchor="t"/>
          <a:lstStyle/>
          <a:p>
            <a:pPr marL="0" indent="0" algn="ctr">
              <a:buNone/>
            </a:pPr>
            <a:r>
              <a:rPr lang="en-US" sz="1100" dirty="0">
                <a:solidFill>
                  <a:srgbClr val="5B6B7B"/>
                </a:solidFill>
                <a:latin typeface="Calibri" pitchFamily="34" charset="0"/>
                <a:ea typeface="Calibri" pitchFamily="34" charset="-122"/>
                <a:cs typeface="Calibri" pitchFamily="34" charset="-120"/>
              </a:rPr>
              <a:t>star schema below</a:t>
            </a:r>
            <a:endParaRPr lang="en-US" sz="1100" dirty="0"/>
          </a:p>
        </p:txBody>
      </p:sp>
      <p:sp>
        <p:nvSpPr>
          <p:cNvPr id="23" name="Shape 20"/>
          <p:cNvSpPr/>
          <p:nvPr/>
        </p:nvSpPr>
        <p:spPr>
          <a:xfrm>
            <a:off x="9415028" y="2240280"/>
            <a:ext cx="210312" cy="914"/>
          </a:xfrm>
          <a:prstGeom prst="line">
            <a:avLst/>
          </a:prstGeom>
          <a:noFill/>
          <a:ln w="22225">
            <a:solidFill>
              <a:srgbClr val="5B6B7B"/>
            </a:solidFill>
            <a:prstDash val="solid"/>
            <a:tailEnd type="triangle"/>
          </a:ln>
        </p:spPr>
        <p:txBody>
          <a:bodyPr/>
          <a:lstStyle/>
          <a:p>
            <a:endParaRPr lang="en-US"/>
          </a:p>
        </p:txBody>
      </p:sp>
      <p:sp>
        <p:nvSpPr>
          <p:cNvPr id="24" name="Shape 21"/>
          <p:cNvSpPr/>
          <p:nvPr/>
        </p:nvSpPr>
        <p:spPr>
          <a:xfrm>
            <a:off x="9680204" y="1691640"/>
            <a:ext cx="1962851" cy="1097280"/>
          </a:xfrm>
          <a:prstGeom prst="roundRect">
            <a:avLst>
              <a:gd name="adj" fmla="val 8333"/>
            </a:avLst>
          </a:prstGeom>
          <a:solidFill>
            <a:srgbClr val="ECE9F7"/>
          </a:solidFill>
          <a:ln w="9525">
            <a:solidFill>
              <a:srgbClr val="ECE9F7"/>
            </a:solidFill>
            <a:prstDash val="solid"/>
          </a:ln>
        </p:spPr>
        <p:txBody>
          <a:bodyPr/>
          <a:lstStyle/>
          <a:p>
            <a:endParaRPr lang="en-US"/>
          </a:p>
        </p:txBody>
      </p:sp>
      <p:sp>
        <p:nvSpPr>
          <p:cNvPr id="25" name="Text 22"/>
          <p:cNvSpPr txBox="1"/>
          <p:nvPr/>
        </p:nvSpPr>
        <p:spPr>
          <a:xfrm>
            <a:off x="9725924" y="1764792"/>
            <a:ext cx="1871411" cy="548640"/>
          </a:xfrm>
          <a:prstGeom prst="rect">
            <a:avLst/>
          </a:prstGeom>
          <a:noFill/>
          <a:ln/>
        </p:spPr>
        <p:txBody>
          <a:bodyPr wrap="square" lIns="0" tIns="0" rIns="0" bIns="0" rtlCol="0" anchor="b"/>
          <a:lstStyle/>
          <a:p>
            <a:pPr marL="0" indent="0" algn="ctr">
              <a:buNone/>
            </a:pPr>
            <a:r>
              <a:rPr lang="en-US" sz="1500" b="1" dirty="0">
                <a:solidFill>
                  <a:srgbClr val="5B4BA6"/>
                </a:solidFill>
                <a:latin typeface="Calibri" pitchFamily="34" charset="0"/>
                <a:ea typeface="Calibri" pitchFamily="34" charset="-122"/>
                <a:cs typeface="Calibri" pitchFamily="34" charset="-120"/>
              </a:rPr>
              <a:t>Mining</a:t>
            </a:r>
            <a:endParaRPr lang="en-US" sz="1500" dirty="0"/>
          </a:p>
        </p:txBody>
      </p:sp>
      <p:sp>
        <p:nvSpPr>
          <p:cNvPr id="26" name="Text 23"/>
          <p:cNvSpPr txBox="1"/>
          <p:nvPr/>
        </p:nvSpPr>
        <p:spPr>
          <a:xfrm>
            <a:off x="9753356" y="2313432"/>
            <a:ext cx="1816547" cy="438912"/>
          </a:xfrm>
          <a:prstGeom prst="rect">
            <a:avLst/>
          </a:prstGeom>
          <a:noFill/>
          <a:ln/>
        </p:spPr>
        <p:txBody>
          <a:bodyPr wrap="square" lIns="0" tIns="0" rIns="0" bIns="0" rtlCol="0" anchor="t"/>
          <a:lstStyle/>
          <a:p>
            <a:pPr marL="0" indent="0" algn="ctr">
              <a:buNone/>
            </a:pPr>
            <a:r>
              <a:rPr lang="en-US" sz="1100" dirty="0">
                <a:solidFill>
                  <a:srgbClr val="5B6B7B"/>
                </a:solidFill>
                <a:latin typeface="Calibri" pitchFamily="34" charset="0"/>
                <a:ea typeface="Calibri" pitchFamily="34" charset="-122"/>
                <a:cs typeface="Calibri" pitchFamily="34" charset="-120"/>
              </a:rPr>
              <a:t>feature marts &amp; models</a:t>
            </a:r>
            <a:endParaRPr lang="en-US" sz="1100" dirty="0"/>
          </a:p>
        </p:txBody>
      </p:sp>
      <p:sp>
        <p:nvSpPr>
          <p:cNvPr id="27" name="Shape 24"/>
          <p:cNvSpPr/>
          <p:nvPr/>
        </p:nvSpPr>
        <p:spPr>
          <a:xfrm>
            <a:off x="4846320" y="3246120"/>
            <a:ext cx="2377440" cy="987552"/>
          </a:xfrm>
          <a:prstGeom prst="roundRect">
            <a:avLst>
              <a:gd name="adj" fmla="val 5556"/>
            </a:avLst>
          </a:prstGeom>
          <a:solidFill>
            <a:srgbClr val="FFFFFF"/>
          </a:solidFill>
          <a:ln w="15875">
            <a:solidFill>
              <a:srgbClr val="C8414F"/>
            </a:solidFill>
            <a:prstDash val="solid"/>
          </a:ln>
        </p:spPr>
        <p:txBody>
          <a:bodyPr/>
          <a:lstStyle/>
          <a:p>
            <a:endParaRPr lang="en-US"/>
          </a:p>
        </p:txBody>
      </p:sp>
      <p:sp>
        <p:nvSpPr>
          <p:cNvPr id="28" name="Shape 25"/>
          <p:cNvSpPr/>
          <p:nvPr/>
        </p:nvSpPr>
        <p:spPr>
          <a:xfrm>
            <a:off x="4846320" y="3246120"/>
            <a:ext cx="2377440" cy="384048"/>
          </a:xfrm>
          <a:prstGeom prst="roundRect">
            <a:avLst>
              <a:gd name="adj" fmla="val 14286"/>
            </a:avLst>
          </a:prstGeom>
          <a:solidFill>
            <a:srgbClr val="C8414F"/>
          </a:solidFill>
          <a:ln w="9525">
            <a:solidFill>
              <a:srgbClr val="C8414F"/>
            </a:solidFill>
            <a:prstDash val="solid"/>
          </a:ln>
        </p:spPr>
        <p:txBody>
          <a:bodyPr/>
          <a:lstStyle/>
          <a:p>
            <a:endParaRPr lang="en-US"/>
          </a:p>
        </p:txBody>
      </p:sp>
      <p:sp>
        <p:nvSpPr>
          <p:cNvPr id="29" name="Text 26"/>
          <p:cNvSpPr txBox="1"/>
          <p:nvPr/>
        </p:nvSpPr>
        <p:spPr>
          <a:xfrm>
            <a:off x="4846320" y="3246120"/>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fact_sales</a:t>
            </a:r>
            <a:endParaRPr lang="en-US" sz="1300" dirty="0"/>
          </a:p>
        </p:txBody>
      </p:sp>
      <p:sp>
        <p:nvSpPr>
          <p:cNvPr id="30" name="Text 27"/>
          <p:cNvSpPr txBox="1"/>
          <p:nvPr/>
        </p:nvSpPr>
        <p:spPr>
          <a:xfrm>
            <a:off x="4956048" y="3685032"/>
            <a:ext cx="2194560" cy="539496"/>
          </a:xfrm>
          <a:prstGeom prst="rect">
            <a:avLst/>
          </a:prstGeom>
          <a:noFill/>
          <a:ln/>
        </p:spPr>
        <p:txBody>
          <a:bodyPr wrap="square" lIns="0" tIns="0" rIns="0" bIns="0" rtlCol="0" anchor="t"/>
          <a:lstStyle/>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grain: one order line</a:t>
            </a:r>
            <a:endParaRPr lang="en-US" sz="1150" dirty="0"/>
          </a:p>
          <a:p>
            <a:pPr marL="0" indent="0">
              <a:lnSpc>
                <a:spcPct val="95000"/>
              </a:lnSpc>
              <a:buNone/>
            </a:pPr>
            <a:r>
              <a:rPr lang="en-US" sz="1150" dirty="0">
                <a:solidFill>
                  <a:srgbClr val="1F2A37"/>
                </a:solidFill>
                <a:latin typeface="Calibri" pitchFamily="34" charset="0"/>
                <a:ea typeface="Calibri" pitchFamily="34" charset="-122"/>
                <a:cs typeface="Calibri" pitchFamily="34" charset="-120"/>
              </a:rPr>
              <a:t>quantity, sales_amount</a:t>
            </a:r>
            <a:endParaRPr lang="en-US" sz="1150" dirty="0"/>
          </a:p>
        </p:txBody>
      </p:sp>
      <p:sp>
        <p:nvSpPr>
          <p:cNvPr id="31" name="Shape 28"/>
          <p:cNvSpPr/>
          <p:nvPr/>
        </p:nvSpPr>
        <p:spPr>
          <a:xfrm>
            <a:off x="914400" y="3063240"/>
            <a:ext cx="2377440" cy="731520"/>
          </a:xfrm>
          <a:prstGeom prst="roundRect">
            <a:avLst>
              <a:gd name="adj" fmla="val 10000"/>
            </a:avLst>
          </a:prstGeom>
          <a:solidFill>
            <a:srgbClr val="E4EEF9"/>
          </a:solidFill>
          <a:ln w="9525">
            <a:solidFill>
              <a:srgbClr val="2F6DB5"/>
            </a:solidFill>
            <a:prstDash val="solid"/>
          </a:ln>
        </p:spPr>
        <p:txBody>
          <a:bodyPr/>
          <a:lstStyle/>
          <a:p>
            <a:endParaRPr lang="en-US"/>
          </a:p>
        </p:txBody>
      </p:sp>
      <p:sp>
        <p:nvSpPr>
          <p:cNvPr id="32" name="Text 29"/>
          <p:cNvSpPr txBox="1"/>
          <p:nvPr/>
        </p:nvSpPr>
        <p:spPr>
          <a:xfrm>
            <a:off x="914400" y="3063240"/>
            <a:ext cx="2377440" cy="731520"/>
          </a:xfrm>
          <a:prstGeom prst="rect">
            <a:avLst/>
          </a:prstGeom>
          <a:noFill/>
          <a:ln/>
        </p:spPr>
        <p:txBody>
          <a:bodyPr wrap="square" lIns="0" tIns="0" rIns="0" bIns="0" rtlCol="0" anchor="ctr"/>
          <a:lstStyle/>
          <a:p>
            <a:pPr marL="0" indent="0" algn="ctr">
              <a:buNone/>
            </a:pPr>
            <a:r>
              <a:rPr lang="en-US" sz="1400" b="1" dirty="0">
                <a:solidFill>
                  <a:srgbClr val="2F6DB5"/>
                </a:solidFill>
                <a:latin typeface="Calibri" pitchFamily="34" charset="0"/>
                <a:ea typeface="Calibri" pitchFamily="34" charset="-122"/>
                <a:cs typeface="Calibri" pitchFamily="34" charset="-120"/>
              </a:rPr>
              <a:t>dim_customer</a:t>
            </a:r>
            <a:endParaRPr lang="en-US" sz="1400" dirty="0"/>
          </a:p>
        </p:txBody>
      </p:sp>
      <p:sp>
        <p:nvSpPr>
          <p:cNvPr id="33" name="Shape 30"/>
          <p:cNvSpPr/>
          <p:nvPr/>
        </p:nvSpPr>
        <p:spPr>
          <a:xfrm>
            <a:off x="3291840" y="3429000"/>
            <a:ext cx="1554480" cy="320040"/>
          </a:xfrm>
          <a:prstGeom prst="line">
            <a:avLst/>
          </a:prstGeom>
          <a:noFill/>
          <a:ln w="19050">
            <a:solidFill>
              <a:srgbClr val="5B6B7B"/>
            </a:solidFill>
            <a:prstDash val="solid"/>
          </a:ln>
        </p:spPr>
        <p:txBody>
          <a:bodyPr/>
          <a:lstStyle/>
          <a:p>
            <a:endParaRPr lang="en-US"/>
          </a:p>
        </p:txBody>
      </p:sp>
      <p:sp>
        <p:nvSpPr>
          <p:cNvPr id="34" name="Shape 31"/>
          <p:cNvSpPr/>
          <p:nvPr/>
        </p:nvSpPr>
        <p:spPr>
          <a:xfrm>
            <a:off x="914400" y="4343400"/>
            <a:ext cx="2377440" cy="731520"/>
          </a:xfrm>
          <a:prstGeom prst="roundRect">
            <a:avLst>
              <a:gd name="adj" fmla="val 10000"/>
            </a:avLst>
          </a:prstGeom>
          <a:solidFill>
            <a:srgbClr val="E4EEF9"/>
          </a:solidFill>
          <a:ln w="9525">
            <a:solidFill>
              <a:srgbClr val="2F6DB5"/>
            </a:solidFill>
            <a:prstDash val="solid"/>
          </a:ln>
        </p:spPr>
        <p:txBody>
          <a:bodyPr/>
          <a:lstStyle/>
          <a:p>
            <a:endParaRPr lang="en-US"/>
          </a:p>
        </p:txBody>
      </p:sp>
      <p:sp>
        <p:nvSpPr>
          <p:cNvPr id="35" name="Text 32"/>
          <p:cNvSpPr txBox="1"/>
          <p:nvPr/>
        </p:nvSpPr>
        <p:spPr>
          <a:xfrm>
            <a:off x="914400" y="4343400"/>
            <a:ext cx="2377440" cy="731520"/>
          </a:xfrm>
          <a:prstGeom prst="rect">
            <a:avLst/>
          </a:prstGeom>
          <a:noFill/>
          <a:ln/>
        </p:spPr>
        <p:txBody>
          <a:bodyPr wrap="square" lIns="0" tIns="0" rIns="0" bIns="0" rtlCol="0" anchor="ctr"/>
          <a:lstStyle/>
          <a:p>
            <a:pPr marL="0" indent="0" algn="ctr">
              <a:buNone/>
            </a:pPr>
            <a:r>
              <a:rPr lang="en-US" sz="1400" b="1" dirty="0">
                <a:solidFill>
                  <a:srgbClr val="2F6DB5"/>
                </a:solidFill>
                <a:latin typeface="Calibri" pitchFamily="34" charset="0"/>
                <a:ea typeface="Calibri" pitchFamily="34" charset="-122"/>
                <a:cs typeface="Calibri" pitchFamily="34" charset="-120"/>
              </a:rPr>
              <a:t>dim_date</a:t>
            </a:r>
            <a:endParaRPr lang="en-US" sz="1400" dirty="0"/>
          </a:p>
        </p:txBody>
      </p:sp>
      <p:sp>
        <p:nvSpPr>
          <p:cNvPr id="36" name="Shape 33"/>
          <p:cNvSpPr/>
          <p:nvPr/>
        </p:nvSpPr>
        <p:spPr>
          <a:xfrm flipH="1">
            <a:off x="3291840" y="3749040"/>
            <a:ext cx="1554480" cy="960120"/>
          </a:xfrm>
          <a:prstGeom prst="line">
            <a:avLst/>
          </a:prstGeom>
          <a:noFill/>
          <a:ln w="19050">
            <a:solidFill>
              <a:srgbClr val="5B6B7B"/>
            </a:solidFill>
            <a:prstDash val="solid"/>
          </a:ln>
        </p:spPr>
        <p:txBody>
          <a:bodyPr/>
          <a:lstStyle/>
          <a:p>
            <a:endParaRPr lang="en-US"/>
          </a:p>
        </p:txBody>
      </p:sp>
      <p:sp>
        <p:nvSpPr>
          <p:cNvPr id="37" name="Shape 34"/>
          <p:cNvSpPr/>
          <p:nvPr/>
        </p:nvSpPr>
        <p:spPr>
          <a:xfrm>
            <a:off x="8686800" y="3063240"/>
            <a:ext cx="2377440" cy="731520"/>
          </a:xfrm>
          <a:prstGeom prst="roundRect">
            <a:avLst>
              <a:gd name="adj" fmla="val 10000"/>
            </a:avLst>
          </a:prstGeom>
          <a:solidFill>
            <a:srgbClr val="E4EEF9"/>
          </a:solidFill>
          <a:ln w="9525">
            <a:solidFill>
              <a:srgbClr val="2F6DB5"/>
            </a:solidFill>
            <a:prstDash val="solid"/>
          </a:ln>
        </p:spPr>
        <p:txBody>
          <a:bodyPr/>
          <a:lstStyle/>
          <a:p>
            <a:endParaRPr lang="en-US"/>
          </a:p>
        </p:txBody>
      </p:sp>
      <p:sp>
        <p:nvSpPr>
          <p:cNvPr id="38" name="Text 35"/>
          <p:cNvSpPr txBox="1"/>
          <p:nvPr/>
        </p:nvSpPr>
        <p:spPr>
          <a:xfrm>
            <a:off x="8686800" y="3063240"/>
            <a:ext cx="2377440" cy="731520"/>
          </a:xfrm>
          <a:prstGeom prst="rect">
            <a:avLst/>
          </a:prstGeom>
          <a:noFill/>
          <a:ln/>
        </p:spPr>
        <p:txBody>
          <a:bodyPr wrap="square" lIns="0" tIns="0" rIns="0" bIns="0" rtlCol="0" anchor="ctr"/>
          <a:lstStyle/>
          <a:p>
            <a:pPr marL="0" indent="0" algn="ctr">
              <a:buNone/>
            </a:pPr>
            <a:r>
              <a:rPr lang="en-US" sz="1400" b="1" dirty="0">
                <a:solidFill>
                  <a:srgbClr val="2F6DB5"/>
                </a:solidFill>
                <a:latin typeface="Calibri" pitchFamily="34" charset="0"/>
                <a:ea typeface="Calibri" pitchFamily="34" charset="-122"/>
                <a:cs typeface="Calibri" pitchFamily="34" charset="-120"/>
              </a:rPr>
              <a:t>dim_product</a:t>
            </a:r>
            <a:endParaRPr lang="en-US" sz="1400" dirty="0"/>
          </a:p>
        </p:txBody>
      </p:sp>
      <p:sp>
        <p:nvSpPr>
          <p:cNvPr id="39" name="Shape 36"/>
          <p:cNvSpPr/>
          <p:nvPr/>
        </p:nvSpPr>
        <p:spPr>
          <a:xfrm flipH="1">
            <a:off x="7223760" y="3429000"/>
            <a:ext cx="1463040" cy="320040"/>
          </a:xfrm>
          <a:prstGeom prst="line">
            <a:avLst/>
          </a:prstGeom>
          <a:noFill/>
          <a:ln w="19050">
            <a:solidFill>
              <a:srgbClr val="5B6B7B"/>
            </a:solidFill>
            <a:prstDash val="solid"/>
          </a:ln>
        </p:spPr>
        <p:txBody>
          <a:bodyPr/>
          <a:lstStyle/>
          <a:p>
            <a:endParaRPr lang="en-US"/>
          </a:p>
        </p:txBody>
      </p:sp>
      <p:sp>
        <p:nvSpPr>
          <p:cNvPr id="40" name="Shape 37"/>
          <p:cNvSpPr/>
          <p:nvPr/>
        </p:nvSpPr>
        <p:spPr>
          <a:xfrm>
            <a:off x="8686800" y="4343400"/>
            <a:ext cx="2377440" cy="731520"/>
          </a:xfrm>
          <a:prstGeom prst="roundRect">
            <a:avLst>
              <a:gd name="adj" fmla="val 10000"/>
            </a:avLst>
          </a:prstGeom>
          <a:solidFill>
            <a:srgbClr val="E4EEF9"/>
          </a:solidFill>
          <a:ln w="9525">
            <a:solidFill>
              <a:srgbClr val="2F6DB5"/>
            </a:solidFill>
            <a:prstDash val="solid"/>
          </a:ln>
        </p:spPr>
        <p:txBody>
          <a:bodyPr/>
          <a:lstStyle/>
          <a:p>
            <a:endParaRPr lang="en-US"/>
          </a:p>
        </p:txBody>
      </p:sp>
      <p:sp>
        <p:nvSpPr>
          <p:cNvPr id="41" name="Text 38"/>
          <p:cNvSpPr txBox="1"/>
          <p:nvPr/>
        </p:nvSpPr>
        <p:spPr>
          <a:xfrm>
            <a:off x="8686800" y="4343400"/>
            <a:ext cx="2377440" cy="731520"/>
          </a:xfrm>
          <a:prstGeom prst="rect">
            <a:avLst/>
          </a:prstGeom>
          <a:noFill/>
          <a:ln/>
        </p:spPr>
        <p:txBody>
          <a:bodyPr wrap="square" lIns="0" tIns="0" rIns="0" bIns="0" rtlCol="0" anchor="ctr"/>
          <a:lstStyle/>
          <a:p>
            <a:pPr marL="0" indent="0" algn="ctr">
              <a:buNone/>
            </a:pPr>
            <a:r>
              <a:rPr lang="en-US" sz="1400" b="1" dirty="0">
                <a:solidFill>
                  <a:srgbClr val="2F6DB5"/>
                </a:solidFill>
                <a:latin typeface="Calibri" pitchFamily="34" charset="0"/>
                <a:ea typeface="Calibri" pitchFamily="34" charset="-122"/>
                <a:cs typeface="Calibri" pitchFamily="34" charset="-120"/>
              </a:rPr>
              <a:t>dim_store</a:t>
            </a:r>
            <a:endParaRPr lang="en-US" sz="1400" dirty="0"/>
          </a:p>
        </p:txBody>
      </p:sp>
      <p:sp>
        <p:nvSpPr>
          <p:cNvPr id="42" name="Shape 39"/>
          <p:cNvSpPr/>
          <p:nvPr/>
        </p:nvSpPr>
        <p:spPr>
          <a:xfrm>
            <a:off x="7223760" y="3749040"/>
            <a:ext cx="1463040" cy="960120"/>
          </a:xfrm>
          <a:prstGeom prst="line">
            <a:avLst/>
          </a:prstGeom>
          <a:noFill/>
          <a:ln w="19050">
            <a:solidFill>
              <a:srgbClr val="5B6B7B"/>
            </a:solidFill>
            <a:prstDash val="solid"/>
          </a:ln>
        </p:spPr>
        <p:txBody>
          <a:bodyPr/>
          <a:lstStyle/>
          <a:p>
            <a:endParaRPr lang="en-US"/>
          </a:p>
        </p:txBody>
      </p:sp>
      <p:sp>
        <p:nvSpPr>
          <p:cNvPr id="43" name="Shape 40"/>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44" name="Shape 41"/>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45"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46" name="Text 42"/>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Every lab builds on the previous one: the Gold star schema you build is the input to every mining exercise.</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29</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263A"/>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4572000" cy="365760"/>
          </a:xfrm>
          <a:prstGeom prst="rect">
            <a:avLst/>
          </a:prstGeom>
          <a:noFill/>
          <a:ln/>
        </p:spPr>
        <p:txBody>
          <a:bodyPr wrap="square" lIns="0" tIns="0" rIns="0" bIns="0" rtlCol="0" anchor="t"/>
          <a:lstStyle/>
          <a:p>
            <a:pPr marL="0" indent="0">
              <a:buNone/>
            </a:pPr>
            <a:r>
              <a:rPr lang="en-US" sz="1400" b="1" kern="0" spc="300" dirty="0">
                <a:solidFill>
                  <a:srgbClr val="E89B2D"/>
                </a:solidFill>
                <a:latin typeface="Calibri" pitchFamily="34" charset="0"/>
                <a:ea typeface="Calibri" pitchFamily="34" charset="-122"/>
                <a:cs typeface="Calibri" pitchFamily="34" charset="-120"/>
              </a:rPr>
              <a:t>PART B</a:t>
            </a:r>
            <a:endParaRPr lang="en-US" sz="1400" dirty="0"/>
          </a:p>
        </p:txBody>
      </p:sp>
      <p:sp>
        <p:nvSpPr>
          <p:cNvPr id="3" name="Text 1"/>
          <p:cNvSpPr txBox="1"/>
          <p:nvPr/>
        </p:nvSpPr>
        <p:spPr>
          <a:xfrm>
            <a:off x="548640" y="1417320"/>
            <a:ext cx="3200400" cy="1463040"/>
          </a:xfrm>
          <a:prstGeom prst="rect">
            <a:avLst/>
          </a:prstGeom>
          <a:noFill/>
          <a:ln/>
        </p:spPr>
        <p:txBody>
          <a:bodyPr wrap="square" lIns="0" tIns="0" rIns="0" bIns="0" rtlCol="0" anchor="t"/>
          <a:lstStyle/>
          <a:p>
            <a:pPr marL="0" indent="0">
              <a:buNone/>
            </a:pPr>
            <a:r>
              <a:rPr lang="en-US" sz="11000" b="1" dirty="0">
                <a:solidFill>
                  <a:srgbClr val="E89B2D"/>
                </a:solidFill>
                <a:latin typeface="Cambria" pitchFamily="34" charset="0"/>
                <a:ea typeface="Cambria" pitchFamily="34" charset="-122"/>
                <a:cs typeface="Cambria" pitchFamily="34" charset="-120"/>
              </a:rPr>
              <a:t>B</a:t>
            </a:r>
            <a:endParaRPr lang="en-US" sz="11000" dirty="0"/>
          </a:p>
        </p:txBody>
      </p:sp>
      <p:sp>
        <p:nvSpPr>
          <p:cNvPr id="4" name="Text 2"/>
          <p:cNvSpPr txBox="1"/>
          <p:nvPr/>
        </p:nvSpPr>
        <p:spPr>
          <a:xfrm>
            <a:off x="640080" y="3063240"/>
            <a:ext cx="60350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OLAP on Databricks</a:t>
            </a:r>
            <a:endParaRPr lang="en-US" sz="3600" dirty="0"/>
          </a:p>
        </p:txBody>
      </p:sp>
      <p:sp>
        <p:nvSpPr>
          <p:cNvPr id="5" name="Text 3"/>
          <p:cNvSpPr txBox="1"/>
          <p:nvPr/>
        </p:nvSpPr>
        <p:spPr>
          <a:xfrm>
            <a:off x="640080" y="4434840"/>
            <a:ext cx="5760720" cy="914400"/>
          </a:xfrm>
          <a:prstGeom prst="rect">
            <a:avLst/>
          </a:prstGeom>
          <a:noFill/>
          <a:ln/>
        </p:spPr>
        <p:txBody>
          <a:bodyPr wrap="square" lIns="0" tIns="0" rIns="0" bIns="0" rtlCol="0" anchor="t"/>
          <a:lstStyle/>
          <a:p>
            <a:pPr marL="0" indent="0">
              <a:buNone/>
            </a:pPr>
            <a:r>
              <a:rPr lang="en-US" sz="1600" dirty="0">
                <a:solidFill>
                  <a:srgbClr val="B9C6D3"/>
                </a:solidFill>
                <a:latin typeface="Calibri" pitchFamily="34" charset="0"/>
                <a:ea typeface="Calibri" pitchFamily="34" charset="-122"/>
                <a:cs typeface="Calibri" pitchFamily="34" charset="-120"/>
              </a:rPr>
              <a:t>Exploring the star schema by measures, dimensions and hierarchies — with SQL, views and dashboards.</a:t>
            </a:r>
            <a:endParaRPr lang="en-US" sz="1600" dirty="0"/>
          </a:p>
        </p:txBody>
      </p:sp>
      <p:sp>
        <p:nvSpPr>
          <p:cNvPr id="6" name="Shape 4"/>
          <p:cNvSpPr/>
          <p:nvPr/>
        </p:nvSpPr>
        <p:spPr>
          <a:xfrm>
            <a:off x="6903720" y="1188720"/>
            <a:ext cx="4754880" cy="4480560"/>
          </a:xfrm>
          <a:prstGeom prst="roundRect">
            <a:avLst>
              <a:gd name="adj" fmla="val 1224"/>
            </a:avLst>
          </a:prstGeom>
          <a:solidFill>
            <a:srgbClr val="1C3754"/>
          </a:solidFill>
          <a:ln w="9525">
            <a:solidFill>
              <a:srgbClr val="1C3754"/>
            </a:solidFill>
            <a:prstDash val="solid"/>
          </a:ln>
        </p:spPr>
        <p:txBody>
          <a:bodyPr/>
          <a:lstStyle/>
          <a:p>
            <a:endParaRPr lang="en-US"/>
          </a:p>
        </p:txBody>
      </p:sp>
      <p:sp>
        <p:nvSpPr>
          <p:cNvPr id="7" name="Text 5"/>
          <p:cNvSpPr txBox="1"/>
          <p:nvPr/>
        </p:nvSpPr>
        <p:spPr>
          <a:xfrm>
            <a:off x="7223760" y="1463040"/>
            <a:ext cx="4206240" cy="274320"/>
          </a:xfrm>
          <a:prstGeom prst="rect">
            <a:avLst/>
          </a:prstGeom>
          <a:noFill/>
          <a:ln/>
        </p:spPr>
        <p:txBody>
          <a:bodyPr wrap="square" lIns="0" tIns="0" rIns="0" bIns="0" rtlCol="0" anchor="t"/>
          <a:lstStyle/>
          <a:p>
            <a:pPr marL="0" indent="0">
              <a:buNone/>
            </a:pPr>
            <a:r>
              <a:rPr lang="en-US" sz="1100" b="1" kern="0" spc="150" dirty="0">
                <a:solidFill>
                  <a:srgbClr val="E89B2D"/>
                </a:solidFill>
                <a:latin typeface="Calibri" pitchFamily="34" charset="0"/>
                <a:ea typeface="Calibri" pitchFamily="34" charset="-122"/>
                <a:cs typeface="Calibri" pitchFamily="34" charset="-120"/>
              </a:rPr>
              <a:t>QUESTIONS THIS PART ANSWERS</a:t>
            </a:r>
            <a:endParaRPr lang="en-US" sz="1100" dirty="0"/>
          </a:p>
        </p:txBody>
      </p:sp>
      <p:sp>
        <p:nvSpPr>
          <p:cNvPr id="8" name="Shape 6"/>
          <p:cNvSpPr/>
          <p:nvPr/>
        </p:nvSpPr>
        <p:spPr>
          <a:xfrm>
            <a:off x="7223760" y="1938528"/>
            <a:ext cx="329184" cy="329184"/>
          </a:xfrm>
          <a:prstGeom prst="ellipse">
            <a:avLst/>
          </a:prstGeom>
          <a:solidFill>
            <a:srgbClr val="0E7C7B"/>
          </a:solidFill>
          <a:ln w="12700">
            <a:solidFill>
              <a:srgbClr val="0E7C7B"/>
            </a:solidFill>
            <a:prstDash val="solid"/>
          </a:ln>
        </p:spPr>
        <p:txBody>
          <a:bodyPr/>
          <a:lstStyle/>
          <a:p>
            <a:endParaRPr lang="en-US"/>
          </a:p>
        </p:txBody>
      </p:sp>
      <p:sp>
        <p:nvSpPr>
          <p:cNvPr id="9" name="Text 7"/>
          <p:cNvSpPr txBox="1"/>
          <p:nvPr/>
        </p:nvSpPr>
        <p:spPr>
          <a:xfrm>
            <a:off x="7223760" y="19385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7726680" y="1920240"/>
            <a:ext cx="3657600" cy="82296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What is OLAP, and what is a cube?</a:t>
            </a:r>
            <a:endParaRPr lang="en-US" sz="1450" dirty="0"/>
          </a:p>
        </p:txBody>
      </p:sp>
      <p:sp>
        <p:nvSpPr>
          <p:cNvPr id="11" name="Shape 9"/>
          <p:cNvSpPr/>
          <p:nvPr/>
        </p:nvSpPr>
        <p:spPr>
          <a:xfrm>
            <a:off x="7223760" y="2834640"/>
            <a:ext cx="329184" cy="329184"/>
          </a:xfrm>
          <a:prstGeom prst="ellipse">
            <a:avLst/>
          </a:prstGeom>
          <a:solidFill>
            <a:srgbClr val="0E7C7B"/>
          </a:solidFill>
          <a:ln w="12700">
            <a:solidFill>
              <a:srgbClr val="0E7C7B"/>
            </a:solidFill>
            <a:prstDash val="solid"/>
          </a:ln>
        </p:spPr>
        <p:txBody>
          <a:bodyPr/>
          <a:lstStyle/>
          <a:p>
            <a:endParaRPr lang="en-US"/>
          </a:p>
        </p:txBody>
      </p:sp>
      <p:sp>
        <p:nvSpPr>
          <p:cNvPr id="12" name="Text 10"/>
          <p:cNvSpPr txBox="1"/>
          <p:nvPr/>
        </p:nvSpPr>
        <p:spPr>
          <a:xfrm>
            <a:off x="7223760" y="283464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7726680" y="2816352"/>
            <a:ext cx="3657600" cy="82296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How are roll-up, drill-down, slice, dice and pivot written in Databricks SQL?</a:t>
            </a:r>
            <a:endParaRPr lang="en-US" sz="1450" dirty="0"/>
          </a:p>
        </p:txBody>
      </p:sp>
      <p:sp>
        <p:nvSpPr>
          <p:cNvPr id="14" name="Shape 12"/>
          <p:cNvSpPr/>
          <p:nvPr/>
        </p:nvSpPr>
        <p:spPr>
          <a:xfrm>
            <a:off x="7223760" y="3730752"/>
            <a:ext cx="329184" cy="329184"/>
          </a:xfrm>
          <a:prstGeom prst="ellipse">
            <a:avLst/>
          </a:prstGeom>
          <a:solidFill>
            <a:srgbClr val="0E7C7B"/>
          </a:solidFill>
          <a:ln w="12700">
            <a:solidFill>
              <a:srgbClr val="0E7C7B"/>
            </a:solidFill>
            <a:prstDash val="solid"/>
          </a:ln>
        </p:spPr>
        <p:txBody>
          <a:bodyPr/>
          <a:lstStyle/>
          <a:p>
            <a:endParaRPr lang="en-US"/>
          </a:p>
        </p:txBody>
      </p:sp>
      <p:sp>
        <p:nvSpPr>
          <p:cNvPr id="15" name="Text 13"/>
          <p:cNvSpPr txBox="1"/>
          <p:nvPr/>
        </p:nvSpPr>
        <p:spPr>
          <a:xfrm>
            <a:off x="7223760" y="373075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7726680" y="3712464"/>
            <a:ext cx="3657600" cy="82296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MOLAP, ROLAP or HOLAP — where does Databricks sit?</a:t>
            </a:r>
            <a:endParaRPr lang="en-US" sz="1450" dirty="0"/>
          </a:p>
        </p:txBody>
      </p:sp>
      <p:sp>
        <p:nvSpPr>
          <p:cNvPr id="17" name="Shape 15"/>
          <p:cNvSpPr/>
          <p:nvPr/>
        </p:nvSpPr>
        <p:spPr>
          <a:xfrm>
            <a:off x="7223760" y="4626864"/>
            <a:ext cx="329184" cy="329184"/>
          </a:xfrm>
          <a:prstGeom prst="ellipse">
            <a:avLst/>
          </a:prstGeom>
          <a:solidFill>
            <a:srgbClr val="0E7C7B"/>
          </a:solidFill>
          <a:ln w="12700">
            <a:solidFill>
              <a:srgbClr val="0E7C7B"/>
            </a:solidFill>
            <a:prstDash val="solid"/>
          </a:ln>
        </p:spPr>
        <p:txBody>
          <a:bodyPr/>
          <a:lstStyle/>
          <a:p>
            <a:endParaRPr lang="en-US"/>
          </a:p>
        </p:txBody>
      </p:sp>
      <p:sp>
        <p:nvSpPr>
          <p:cNvPr id="18" name="Text 16"/>
          <p:cNvSpPr txBox="1"/>
          <p:nvPr/>
        </p:nvSpPr>
        <p:spPr>
          <a:xfrm>
            <a:off x="7223760" y="462686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txBox="1"/>
          <p:nvPr/>
        </p:nvSpPr>
        <p:spPr>
          <a:xfrm>
            <a:off x="7726680" y="4608576"/>
            <a:ext cx="3657600" cy="82296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How do we make OLAP fast and self-service?</a:t>
            </a:r>
            <a:endParaRPr lang="en-US" sz="14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8FA3B8"/>
                </a:solidFill>
                <a:latin typeface="Calibri"/>
                <a:ea typeface="Calibri"/>
                <a:cs typeface="Calibri"/>
              </a:defRPr>
            </a:lvl1pPr>
          </a:lstStyle>
          <a:p>
            <a:pPr algn="r"/>
            <a:r>
              <a:rPr sz="850">
                <a:solidFill>
                  <a:srgbClr val="5D6C7B"/>
                </a:solidFill>
                <a:latin typeface="Aptos"/>
              </a:rPr>
              <a:t>30</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DEFINITION</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OLAP: analysing measures across many dimensions, interactively</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B · OLAP</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11094415" cy="960120"/>
          </a:xfrm>
          <a:prstGeom prst="roundRect">
            <a:avLst>
              <a:gd name="adj" fmla="val 7619"/>
            </a:avLst>
          </a:prstGeom>
          <a:solidFill>
            <a:srgbClr val="ECE9F7"/>
          </a:solidFill>
          <a:ln w="9525">
            <a:solidFill>
              <a:srgbClr val="ECE9F7"/>
            </a:solidFill>
            <a:prstDash val="solid"/>
          </a:ln>
        </p:spPr>
        <p:txBody>
          <a:bodyPr/>
          <a:lstStyle/>
          <a:p>
            <a:endParaRPr lang="en-US"/>
          </a:p>
        </p:txBody>
      </p:sp>
      <p:sp>
        <p:nvSpPr>
          <p:cNvPr id="9" name="Text 6"/>
          <p:cNvSpPr txBox="1"/>
          <p:nvPr/>
        </p:nvSpPr>
        <p:spPr>
          <a:xfrm>
            <a:off x="822960" y="1691640"/>
            <a:ext cx="10545775" cy="960120"/>
          </a:xfrm>
          <a:prstGeom prst="rect">
            <a:avLst/>
          </a:prstGeom>
          <a:noFill/>
          <a:ln/>
        </p:spPr>
        <p:txBody>
          <a:bodyPr wrap="square" lIns="0" tIns="0" rIns="0" bIns="0" rtlCol="0" anchor="ctr"/>
          <a:lstStyle/>
          <a:p>
            <a:pPr marL="0" indent="0">
              <a:buNone/>
            </a:pPr>
            <a:r>
              <a:rPr lang="en-US" sz="1700" i="1" dirty="0">
                <a:solidFill>
                  <a:srgbClr val="12263A"/>
                </a:solidFill>
                <a:latin typeface="Calibri" pitchFamily="34" charset="0"/>
                <a:ea typeface="Calibri" pitchFamily="34" charset="-122"/>
                <a:cs typeface="Calibri" pitchFamily="34" charset="-120"/>
              </a:rPr>
              <a:t>“A way to analyze data across multiple dimensions quickly and interactively.”</a:t>
            </a:r>
            <a:endParaRPr lang="en-US" sz="1400" dirty="0"/>
          </a:p>
          <a:p>
            <a:pPr marL="0" indent="0">
              <a:buNone/>
            </a:pPr>
            <a:r>
              <a:rPr lang="en-US" sz="1150" dirty="0">
                <a:solidFill>
                  <a:srgbClr val="5B6B7B"/>
                </a:solidFill>
                <a:latin typeface="Calibri" pitchFamily="34" charset="0"/>
                <a:ea typeface="Calibri" pitchFamily="34" charset="-122"/>
                <a:cs typeface="Calibri" pitchFamily="34" charset="-120"/>
              </a:rPr>
              <a:t>Databricks, “What is OLAP?” (2026)</a:t>
            </a:r>
            <a:endParaRPr lang="en-US" sz="1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6766560" cy="2514600"/>
        </p:xfrm>
        <a:graphic>
          <a:graphicData uri="http://schemas.openxmlformats.org/drawingml/2006/table">
            <a:tbl>
              <a:tblPr/>
              <a:tblGrid>
                <a:gridCol w="164592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502920">
                <a:tc>
                  <a:txBody>
                    <a:bodyPr/>
                    <a:lstStyle/>
                    <a:p>
                      <a:pPr marL="0" indent="0">
                        <a:buNone/>
                      </a:pP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OLTP</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OLAP</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1F2A37"/>
                          </a:solidFill>
                          <a:latin typeface="Calibri" pitchFamily="34" charset="0"/>
                          <a:ea typeface="Calibri" pitchFamily="34" charset="-122"/>
                          <a:cs typeface="Calibri" pitchFamily="34" charset="-120"/>
                        </a:rPr>
                        <a:t>Purpose</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Run day-to-day operations</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Understand the business</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1F2A37"/>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Current, transactional</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Historical, consolidated</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1F2A37"/>
                          </a:solidFill>
                          <a:latin typeface="Calibri" pitchFamily="34" charset="0"/>
                          <a:ea typeface="Calibri" pitchFamily="34" charset="-122"/>
                          <a:cs typeface="Calibri" pitchFamily="34" charset="-120"/>
                        </a:rPr>
                        <a:t>Typical query</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Insert or update a few rows</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Aggregate millions of rows by several dimensions</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1F2A37"/>
                          </a:solidFill>
                          <a:latin typeface="Calibri" pitchFamily="34" charset="0"/>
                          <a:ea typeface="Calibri" pitchFamily="34" charset="-122"/>
                          <a:cs typeface="Calibri" pitchFamily="34" charset="-120"/>
                        </a:rPr>
                        <a:t>In SmartRetail</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The checkout database</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The Gold star schema in Databricks</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4"/>
                  </a:ext>
                </a:extLst>
              </a:tr>
            </a:tbl>
          </a:graphicData>
        </a:graphic>
      </p:graphicFrame>
      <p:sp>
        <p:nvSpPr>
          <p:cNvPr id="11" name="Shape 7"/>
          <p:cNvSpPr/>
          <p:nvPr/>
        </p:nvSpPr>
        <p:spPr>
          <a:xfrm>
            <a:off x="7589520" y="2834640"/>
            <a:ext cx="4053535" cy="2743200"/>
          </a:xfrm>
          <a:prstGeom prst="roundRect">
            <a:avLst>
              <a:gd name="adj" fmla="val 2667"/>
            </a:avLst>
          </a:prstGeom>
          <a:solidFill>
            <a:srgbClr val="F3F6F9"/>
          </a:solidFill>
          <a:ln w="9525">
            <a:solidFill>
              <a:srgbClr val="F3F6F9"/>
            </a:solidFill>
            <a:prstDash val="solid"/>
          </a:ln>
        </p:spPr>
        <p:txBody>
          <a:bodyPr/>
          <a:lstStyle/>
          <a:p>
            <a:endParaRPr lang="en-US"/>
          </a:p>
        </p:txBody>
      </p:sp>
      <p:sp>
        <p:nvSpPr>
          <p:cNvPr id="12" name="Shape 8"/>
          <p:cNvSpPr/>
          <p:nvPr/>
        </p:nvSpPr>
        <p:spPr>
          <a:xfrm>
            <a:off x="7772400" y="3017520"/>
            <a:ext cx="402336" cy="402336"/>
          </a:xfrm>
          <a:prstGeom prst="ellipse">
            <a:avLst/>
          </a:prstGeom>
          <a:solidFill>
            <a:srgbClr val="5B4BA6"/>
          </a:solidFill>
          <a:ln w="12700">
            <a:solidFill>
              <a:srgbClr val="5B4BA6"/>
            </a:solidFill>
            <a:prstDash val="solid"/>
          </a:ln>
        </p:spPr>
        <p:txBody>
          <a:bodyPr/>
          <a:lstStyle/>
          <a:p>
            <a:endParaRPr lang="en-US"/>
          </a:p>
        </p:txBody>
      </p:sp>
      <p:pic>
        <p:nvPicPr>
          <p:cNvPr id="13" name="Image 0" descr="preencoded.png"/>
          <p:cNvPicPr>
            <a:picLocks noChangeAspect="1"/>
          </p:cNvPicPr>
          <p:nvPr/>
        </p:nvPicPr>
        <p:blipFill>
          <a:blip r:embed="rId3"/>
          <a:stretch>
            <a:fillRect/>
          </a:stretch>
        </p:blipFill>
        <p:spPr>
          <a:xfrm>
            <a:off x="7877007" y="3122127"/>
            <a:ext cx="193121" cy="193121"/>
          </a:xfrm>
          <a:prstGeom prst="rect">
            <a:avLst/>
          </a:prstGeom>
        </p:spPr>
      </p:pic>
      <p:sp>
        <p:nvSpPr>
          <p:cNvPr id="14" name="Text 9"/>
          <p:cNvSpPr txBox="1"/>
          <p:nvPr/>
        </p:nvSpPr>
        <p:spPr>
          <a:xfrm>
            <a:off x="8302752" y="3017520"/>
            <a:ext cx="3157423"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Interactive exploration</a:t>
            </a:r>
            <a:endParaRPr lang="en-US" sz="1550" dirty="0"/>
          </a:p>
        </p:txBody>
      </p:sp>
      <p:sp>
        <p:nvSpPr>
          <p:cNvPr id="15" name="Text 10"/>
          <p:cNvSpPr txBox="1"/>
          <p:nvPr/>
        </p:nvSpPr>
        <p:spPr>
          <a:xfrm>
            <a:off x="7772400" y="3529584"/>
            <a:ext cx="3687775" cy="18653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An analyst asks a question, sees a result, and immediately asks a follow-up — up a level, down a level, a different slice — without waiting for a new report to be built.</a:t>
            </a:r>
            <a:endParaRPr lang="en-US" sz="1300" dirty="0"/>
          </a:p>
        </p:txBody>
      </p:sp>
      <p:sp>
        <p:nvSpPr>
          <p:cNvPr id="16" name="Shape 11"/>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17" name="Shape 12"/>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18" name="Image 1" descr="preencoded.png"/>
          <p:cNvPicPr>
            <a:picLocks noChangeAspect="1"/>
          </p:cNvPicPr>
          <p:nvPr/>
        </p:nvPicPr>
        <p:blipFill>
          <a:blip r:embed="rId4"/>
          <a:stretch>
            <a:fillRect/>
          </a:stretch>
        </p:blipFill>
        <p:spPr>
          <a:xfrm>
            <a:off x="790042" y="5956402"/>
            <a:ext cx="175565" cy="175565"/>
          </a:xfrm>
          <a:prstGeom prst="rect">
            <a:avLst/>
          </a:prstGeom>
        </p:spPr>
      </p:pic>
      <p:sp>
        <p:nvSpPr>
          <p:cNvPr id="19" name="Text 13"/>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OLAP is a way of asking questions of the star schema — follow-up after follow-up — not a separate database.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31</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THE OLAP CUBE</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A cube is the star schema seen from the analyst’s side</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B · OLAP</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1371600" y="1965960"/>
            <a:ext cx="3566160" cy="2926080"/>
          </a:xfrm>
          <a:prstGeom prst="cube">
            <a:avLst/>
          </a:prstGeom>
          <a:solidFill>
            <a:srgbClr val="ECE9F7"/>
          </a:solidFill>
          <a:ln w="19050">
            <a:solidFill>
              <a:srgbClr val="5B4BA6"/>
            </a:solidFill>
            <a:prstDash val="solid"/>
          </a:ln>
        </p:spPr>
        <p:txBody>
          <a:bodyPr/>
          <a:lstStyle/>
          <a:p>
            <a:endParaRPr lang="en-US"/>
          </a:p>
        </p:txBody>
      </p:sp>
      <p:sp>
        <p:nvSpPr>
          <p:cNvPr id="9" name="Text 6"/>
          <p:cNvSpPr txBox="1"/>
          <p:nvPr/>
        </p:nvSpPr>
        <p:spPr>
          <a:xfrm>
            <a:off x="1371600" y="4937760"/>
            <a:ext cx="2743200" cy="320040"/>
          </a:xfrm>
          <a:prstGeom prst="rect">
            <a:avLst/>
          </a:prstGeom>
          <a:noFill/>
          <a:ln/>
        </p:spPr>
        <p:txBody>
          <a:bodyPr wrap="square" lIns="0" tIns="0" rIns="0" bIns="0" rtlCol="0" anchor="t"/>
          <a:lstStyle/>
          <a:p>
            <a:pPr marL="0" indent="0" algn="ctr">
              <a:buNone/>
            </a:pPr>
            <a:r>
              <a:rPr lang="en-US" sz="1300" b="1" dirty="0">
                <a:solidFill>
                  <a:srgbClr val="2F6DB5"/>
                </a:solidFill>
                <a:latin typeface="Calibri" pitchFamily="34" charset="0"/>
                <a:ea typeface="Calibri" pitchFamily="34" charset="-122"/>
                <a:cs typeface="Calibri" pitchFamily="34" charset="-120"/>
              </a:rPr>
              <a:t>Product →</a:t>
            </a:r>
            <a:endParaRPr lang="en-US" sz="1300" dirty="0"/>
          </a:p>
        </p:txBody>
      </p:sp>
      <p:sp>
        <p:nvSpPr>
          <p:cNvPr id="10" name="Text 7"/>
          <p:cNvSpPr txBox="1"/>
          <p:nvPr/>
        </p:nvSpPr>
        <p:spPr>
          <a:xfrm>
            <a:off x="548640" y="3291840"/>
            <a:ext cx="777240" cy="320040"/>
          </a:xfrm>
          <a:prstGeom prst="rect">
            <a:avLst/>
          </a:prstGeom>
          <a:noFill/>
          <a:ln/>
        </p:spPr>
        <p:txBody>
          <a:bodyPr wrap="square" lIns="0" tIns="0" rIns="0" bIns="0" rtlCol="0" anchor="t"/>
          <a:lstStyle/>
          <a:p>
            <a:pPr marL="0" indent="0" algn="r">
              <a:buNone/>
            </a:pPr>
            <a:r>
              <a:rPr lang="en-US" sz="1300" b="1" dirty="0">
                <a:solidFill>
                  <a:srgbClr val="A8622F"/>
                </a:solidFill>
                <a:latin typeface="Calibri" pitchFamily="34" charset="0"/>
                <a:ea typeface="Calibri" pitchFamily="34" charset="-122"/>
                <a:cs typeface="Calibri" pitchFamily="34" charset="-120"/>
              </a:rPr>
              <a:t>Store</a:t>
            </a:r>
            <a:endParaRPr lang="en-US" sz="1300" dirty="0"/>
          </a:p>
        </p:txBody>
      </p:sp>
      <p:sp>
        <p:nvSpPr>
          <p:cNvPr id="11" name="Text 8"/>
          <p:cNvSpPr txBox="1"/>
          <p:nvPr/>
        </p:nvSpPr>
        <p:spPr>
          <a:xfrm>
            <a:off x="4114800" y="1645920"/>
            <a:ext cx="1097280" cy="320040"/>
          </a:xfrm>
          <a:prstGeom prst="rect">
            <a:avLst/>
          </a:prstGeom>
          <a:noFill/>
          <a:ln/>
        </p:spPr>
        <p:txBody>
          <a:bodyPr wrap="square" lIns="0" tIns="0" rIns="0" bIns="0" rtlCol="0" anchor="t"/>
          <a:lstStyle/>
          <a:p>
            <a:pPr marL="0" indent="0">
              <a:buNone/>
            </a:pPr>
            <a:r>
              <a:rPr lang="en-US" sz="1300" b="1" dirty="0">
                <a:solidFill>
                  <a:srgbClr val="0E7C7B"/>
                </a:solidFill>
                <a:latin typeface="Calibri" pitchFamily="34" charset="0"/>
                <a:ea typeface="Calibri" pitchFamily="34" charset="-122"/>
                <a:cs typeface="Calibri" pitchFamily="34" charset="-120"/>
              </a:rPr>
              <a:t>Date ↗</a:t>
            </a:r>
            <a:endParaRPr lang="en-US" sz="1300" dirty="0"/>
          </a:p>
        </p:txBody>
      </p:sp>
      <p:sp>
        <p:nvSpPr>
          <p:cNvPr id="12" name="Shape 9"/>
          <p:cNvSpPr/>
          <p:nvPr/>
        </p:nvSpPr>
        <p:spPr>
          <a:xfrm>
            <a:off x="2011680" y="3246120"/>
            <a:ext cx="1463040" cy="822960"/>
          </a:xfrm>
          <a:prstGeom prst="roundRect">
            <a:avLst>
              <a:gd name="adj" fmla="val 8889"/>
            </a:avLst>
          </a:prstGeom>
          <a:solidFill>
            <a:srgbClr val="FFFFFF"/>
          </a:solidFill>
          <a:ln w="19050">
            <a:solidFill>
              <a:srgbClr val="C8414F"/>
            </a:solidFill>
            <a:prstDash val="solid"/>
          </a:ln>
        </p:spPr>
        <p:txBody>
          <a:bodyPr/>
          <a:lstStyle/>
          <a:p>
            <a:endParaRPr lang="en-US"/>
          </a:p>
        </p:txBody>
      </p:sp>
      <p:sp>
        <p:nvSpPr>
          <p:cNvPr id="13" name="Text 10"/>
          <p:cNvSpPr txBox="1"/>
          <p:nvPr/>
        </p:nvSpPr>
        <p:spPr>
          <a:xfrm>
            <a:off x="2011680" y="3246120"/>
            <a:ext cx="1463040" cy="822960"/>
          </a:xfrm>
          <a:prstGeom prst="rect">
            <a:avLst/>
          </a:prstGeom>
          <a:noFill/>
          <a:ln/>
        </p:spPr>
        <p:txBody>
          <a:bodyPr wrap="square" lIns="0" tIns="0" rIns="0" bIns="0" rtlCol="0" anchor="ctr"/>
          <a:lstStyle/>
          <a:p>
            <a:pPr marL="0" indent="0" algn="ctr">
              <a:buNone/>
            </a:pPr>
            <a:r>
              <a:rPr lang="en-US" sz="1200" b="1" dirty="0">
                <a:solidFill>
                  <a:srgbClr val="C8414F"/>
                </a:solidFill>
                <a:latin typeface="Calibri" pitchFamily="34" charset="0"/>
                <a:ea typeface="Calibri" pitchFamily="34" charset="-122"/>
                <a:cs typeface="Calibri" pitchFamily="34" charset="-120"/>
              </a:rPr>
              <a:t>one cell</a:t>
            </a:r>
            <a:endParaRPr lang="en-US" sz="1200" dirty="0"/>
          </a:p>
          <a:p>
            <a:pPr marL="0" indent="0" algn="ctr">
              <a:buNone/>
            </a:pPr>
            <a:r>
              <a:rPr lang="en-US" sz="950" dirty="0">
                <a:solidFill>
                  <a:srgbClr val="1F2A37"/>
                </a:solidFill>
                <a:latin typeface="Calibri" pitchFamily="34" charset="0"/>
                <a:ea typeface="Calibri" pitchFamily="34" charset="-122"/>
                <a:cs typeface="Calibri" pitchFamily="34" charset="-120"/>
              </a:rPr>
              <a:t>Laptop · Brisbane · 2026-Q3</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0" y="1691640"/>
          <a:ext cx="5973775" cy="3401568"/>
        </p:xfrm>
        <a:graphic>
          <a:graphicData uri="http://schemas.openxmlformats.org/drawingml/2006/table">
            <a:tbl>
              <a:tblPr/>
              <a:tblGrid>
                <a:gridCol w="1234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910535">
                  <a:extLst>
                    <a:ext uri="{9D8B030D-6E8A-4147-A177-3AD203B41FA5}">
                      <a16:colId xmlns:a16="http://schemas.microsoft.com/office/drawing/2014/main" val="20002"/>
                    </a:ext>
                  </a:extLst>
                </a:gridCol>
              </a:tblGrid>
              <a:tr h="5669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Cube term</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5B4BA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5B4BA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SmartRetail star</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5B4BA6"/>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Measure</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Number to aggregate</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SUM(sales_amount), COUNT(DISTINCT order_id)</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Dimension</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Axis to analyse by</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dim_date, dim_product, dim_store, dim_customer</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566928">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Member</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One value on an axis</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“Laptop”, “Brisbane”, “2026-Q3”</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Hierarchy</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Levels of an axis</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day → month → quarter → year</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4"/>
                  </a:ext>
                </a:extLst>
              </a:tr>
              <a:tr h="566928">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Cell</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Measure for one combination</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revenue for Laptop · Brisbane · 2026-Q3</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Shape 11"/>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16" name="Shape 12"/>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17"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18" name="Text 13"/>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Dimension tables are the axes, fact measures fill the cells — the cube is a view of the star, computed by SQL.</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32</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OLAP OPERATIONS</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Five operations for moving around the cube</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B · OLAP</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2057949" cy="3886200"/>
          </a:xfrm>
          <a:prstGeom prst="roundRect">
            <a:avLst>
              <a:gd name="adj" fmla="val 3555"/>
            </a:avLst>
          </a:prstGeom>
          <a:solidFill>
            <a:srgbClr val="F3F6F9"/>
          </a:solidFill>
          <a:ln w="9525">
            <a:solidFill>
              <a:srgbClr val="F3F6F9"/>
            </a:solidFill>
            <a:prstDash val="solid"/>
          </a:ln>
        </p:spPr>
        <p:txBody>
          <a:bodyPr/>
          <a:lstStyle/>
          <a:p>
            <a:endParaRPr lang="en-US"/>
          </a:p>
        </p:txBody>
      </p:sp>
      <p:sp>
        <p:nvSpPr>
          <p:cNvPr id="9" name="Shape 6"/>
          <p:cNvSpPr/>
          <p:nvPr/>
        </p:nvSpPr>
        <p:spPr>
          <a:xfrm>
            <a:off x="731520" y="1874520"/>
            <a:ext cx="402336" cy="402336"/>
          </a:xfrm>
          <a:prstGeom prst="ellipse">
            <a:avLst/>
          </a:prstGeom>
          <a:solidFill>
            <a:srgbClr val="0E7C7B"/>
          </a:solidFill>
          <a:ln w="12700">
            <a:solidFill>
              <a:srgbClr val="0E7C7B"/>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836127" y="1979127"/>
            <a:ext cx="193121" cy="193121"/>
          </a:xfrm>
          <a:prstGeom prst="rect">
            <a:avLst/>
          </a:prstGeom>
        </p:spPr>
      </p:pic>
      <p:sp>
        <p:nvSpPr>
          <p:cNvPr id="11" name="Text 7"/>
          <p:cNvSpPr txBox="1"/>
          <p:nvPr/>
        </p:nvSpPr>
        <p:spPr>
          <a:xfrm>
            <a:off x="1261872" y="1874520"/>
            <a:ext cx="1161837"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Roll-up</a:t>
            </a:r>
            <a:endParaRPr lang="en-US" sz="1550" dirty="0"/>
          </a:p>
        </p:txBody>
      </p:sp>
      <p:sp>
        <p:nvSpPr>
          <p:cNvPr id="12" name="Text 8"/>
          <p:cNvSpPr txBox="1"/>
          <p:nvPr/>
        </p:nvSpPr>
        <p:spPr>
          <a:xfrm>
            <a:off x="731520" y="2386584"/>
            <a:ext cx="1692189" cy="30083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Summarise to a higher level of a hierarchy.</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i="1" dirty="0">
                <a:solidFill>
                  <a:srgbClr val="5B6B7B"/>
                </a:solidFill>
                <a:latin typeface="Calibri" pitchFamily="34" charset="0"/>
                <a:ea typeface="Calibri" pitchFamily="34" charset="-122"/>
                <a:cs typeface="Calibri" pitchFamily="34" charset="-120"/>
              </a:rPr>
              <a:t>e.g. month → quarter</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0E7C7B"/>
                </a:solidFill>
                <a:latin typeface="Calibri" pitchFamily="34" charset="0"/>
                <a:ea typeface="Calibri" pitchFamily="34" charset="-122"/>
                <a:cs typeface="Calibri" pitchFamily="34" charset="-120"/>
              </a:rPr>
              <a:t>SQL: </a:t>
            </a:r>
            <a:r>
              <a:rPr lang="en-US" sz="1300" dirty="0">
                <a:solidFill>
                  <a:srgbClr val="1F2A37"/>
                </a:solidFill>
                <a:latin typeface="Calibri" pitchFamily="34" charset="0"/>
                <a:ea typeface="Calibri" pitchFamily="34" charset="-122"/>
                <a:cs typeface="Calibri" pitchFamily="34" charset="-120"/>
              </a:rPr>
              <a:t>GROUP BY a coarser column</a:t>
            </a:r>
            <a:endParaRPr lang="en-US" sz="1300" dirty="0"/>
          </a:p>
        </p:txBody>
      </p:sp>
      <p:sp>
        <p:nvSpPr>
          <p:cNvPr id="13" name="Shape 9"/>
          <p:cNvSpPr/>
          <p:nvPr/>
        </p:nvSpPr>
        <p:spPr>
          <a:xfrm>
            <a:off x="2807757" y="1691640"/>
            <a:ext cx="2057949" cy="3886200"/>
          </a:xfrm>
          <a:prstGeom prst="roundRect">
            <a:avLst>
              <a:gd name="adj" fmla="val 3555"/>
            </a:avLst>
          </a:prstGeom>
          <a:solidFill>
            <a:srgbClr val="F3F6F9"/>
          </a:solidFill>
          <a:ln w="9525">
            <a:solidFill>
              <a:srgbClr val="F3F6F9"/>
            </a:solidFill>
            <a:prstDash val="solid"/>
          </a:ln>
        </p:spPr>
        <p:txBody>
          <a:bodyPr/>
          <a:lstStyle/>
          <a:p>
            <a:endParaRPr lang="en-US"/>
          </a:p>
        </p:txBody>
      </p:sp>
      <p:sp>
        <p:nvSpPr>
          <p:cNvPr id="14" name="Shape 10"/>
          <p:cNvSpPr/>
          <p:nvPr/>
        </p:nvSpPr>
        <p:spPr>
          <a:xfrm>
            <a:off x="2990637" y="1874520"/>
            <a:ext cx="402336" cy="402336"/>
          </a:xfrm>
          <a:prstGeom prst="ellipse">
            <a:avLst/>
          </a:prstGeom>
          <a:solidFill>
            <a:srgbClr val="2F6DB5"/>
          </a:solidFill>
          <a:ln w="12700">
            <a:solidFill>
              <a:srgbClr val="2F6DB5"/>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3095244" y="1979127"/>
            <a:ext cx="193121" cy="193121"/>
          </a:xfrm>
          <a:prstGeom prst="rect">
            <a:avLst/>
          </a:prstGeom>
        </p:spPr>
      </p:pic>
      <p:sp>
        <p:nvSpPr>
          <p:cNvPr id="16" name="Text 11"/>
          <p:cNvSpPr txBox="1"/>
          <p:nvPr/>
        </p:nvSpPr>
        <p:spPr>
          <a:xfrm>
            <a:off x="3520989" y="1874520"/>
            <a:ext cx="1161837"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Drill-down</a:t>
            </a:r>
            <a:endParaRPr lang="en-US" sz="1550" dirty="0"/>
          </a:p>
        </p:txBody>
      </p:sp>
      <p:sp>
        <p:nvSpPr>
          <p:cNvPr id="17" name="Text 12"/>
          <p:cNvSpPr txBox="1"/>
          <p:nvPr/>
        </p:nvSpPr>
        <p:spPr>
          <a:xfrm>
            <a:off x="2990637" y="2386584"/>
            <a:ext cx="1692189" cy="30083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Go to a more detailed level.</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i="1" dirty="0">
                <a:solidFill>
                  <a:srgbClr val="5B6B7B"/>
                </a:solidFill>
                <a:latin typeface="Calibri" pitchFamily="34" charset="0"/>
                <a:ea typeface="Calibri" pitchFamily="34" charset="-122"/>
                <a:cs typeface="Calibri" pitchFamily="34" charset="-120"/>
              </a:rPr>
              <a:t>e.g. quarter → month → store</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2F6DB5"/>
                </a:solidFill>
                <a:latin typeface="Calibri" pitchFamily="34" charset="0"/>
                <a:ea typeface="Calibri" pitchFamily="34" charset="-122"/>
                <a:cs typeface="Calibri" pitchFamily="34" charset="-120"/>
              </a:rPr>
              <a:t>SQL: </a:t>
            </a:r>
            <a:r>
              <a:rPr lang="en-US" sz="1300" dirty="0">
                <a:solidFill>
                  <a:srgbClr val="1F2A37"/>
                </a:solidFill>
                <a:latin typeface="Calibri" pitchFamily="34" charset="0"/>
                <a:ea typeface="Calibri" pitchFamily="34" charset="-122"/>
                <a:cs typeface="Calibri" pitchFamily="34" charset="-120"/>
              </a:rPr>
              <a:t>GROUP BY a finer column</a:t>
            </a:r>
            <a:endParaRPr lang="en-US" sz="1300" dirty="0"/>
          </a:p>
        </p:txBody>
      </p:sp>
      <p:sp>
        <p:nvSpPr>
          <p:cNvPr id="18" name="Shape 13"/>
          <p:cNvSpPr/>
          <p:nvPr/>
        </p:nvSpPr>
        <p:spPr>
          <a:xfrm>
            <a:off x="5066873" y="1691640"/>
            <a:ext cx="2057949" cy="3886200"/>
          </a:xfrm>
          <a:prstGeom prst="roundRect">
            <a:avLst>
              <a:gd name="adj" fmla="val 3555"/>
            </a:avLst>
          </a:prstGeom>
          <a:solidFill>
            <a:srgbClr val="F3F6F9"/>
          </a:solidFill>
          <a:ln w="9525">
            <a:solidFill>
              <a:srgbClr val="F3F6F9"/>
            </a:solidFill>
            <a:prstDash val="solid"/>
          </a:ln>
        </p:spPr>
        <p:txBody>
          <a:bodyPr/>
          <a:lstStyle/>
          <a:p>
            <a:endParaRPr lang="en-US"/>
          </a:p>
        </p:txBody>
      </p:sp>
      <p:sp>
        <p:nvSpPr>
          <p:cNvPr id="19" name="Shape 14"/>
          <p:cNvSpPr/>
          <p:nvPr/>
        </p:nvSpPr>
        <p:spPr>
          <a:xfrm>
            <a:off x="5249753" y="1874520"/>
            <a:ext cx="402336" cy="402336"/>
          </a:xfrm>
          <a:prstGeom prst="ellipse">
            <a:avLst/>
          </a:prstGeom>
          <a:solidFill>
            <a:srgbClr val="E89B2D"/>
          </a:solidFill>
          <a:ln w="12700">
            <a:solidFill>
              <a:srgbClr val="E89B2D"/>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5354361" y="1979127"/>
            <a:ext cx="193121" cy="193121"/>
          </a:xfrm>
          <a:prstGeom prst="rect">
            <a:avLst/>
          </a:prstGeom>
        </p:spPr>
      </p:pic>
      <p:sp>
        <p:nvSpPr>
          <p:cNvPr id="21" name="Text 15"/>
          <p:cNvSpPr txBox="1"/>
          <p:nvPr/>
        </p:nvSpPr>
        <p:spPr>
          <a:xfrm>
            <a:off x="5780105" y="1874520"/>
            <a:ext cx="1161837"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Slice</a:t>
            </a:r>
            <a:endParaRPr lang="en-US" sz="1550" dirty="0"/>
          </a:p>
        </p:txBody>
      </p:sp>
      <p:sp>
        <p:nvSpPr>
          <p:cNvPr id="22" name="Text 16"/>
          <p:cNvSpPr txBox="1"/>
          <p:nvPr/>
        </p:nvSpPr>
        <p:spPr>
          <a:xfrm>
            <a:off x="5249753" y="2386584"/>
            <a:ext cx="1692189" cy="30083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Fix ONE dimension to one value.</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i="1" dirty="0">
                <a:solidFill>
                  <a:srgbClr val="5B6B7B"/>
                </a:solidFill>
                <a:latin typeface="Calibri" pitchFamily="34" charset="0"/>
                <a:ea typeface="Calibri" pitchFamily="34" charset="-122"/>
                <a:cs typeface="Calibri" pitchFamily="34" charset="-120"/>
              </a:rPr>
              <a:t>e.g. only 2026-Q3</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E89B2D"/>
                </a:solidFill>
                <a:latin typeface="Calibri" pitchFamily="34" charset="0"/>
                <a:ea typeface="Calibri" pitchFamily="34" charset="-122"/>
                <a:cs typeface="Calibri" pitchFamily="34" charset="-120"/>
              </a:rPr>
              <a:t>SQL: </a:t>
            </a:r>
            <a:r>
              <a:rPr lang="en-US" sz="1300" dirty="0">
                <a:solidFill>
                  <a:srgbClr val="1F2A37"/>
                </a:solidFill>
                <a:latin typeface="Calibri" pitchFamily="34" charset="0"/>
                <a:ea typeface="Calibri" pitchFamily="34" charset="-122"/>
                <a:cs typeface="Calibri" pitchFamily="34" charset="-120"/>
              </a:rPr>
              <a:t>WHERE on one dimension</a:t>
            </a:r>
            <a:endParaRPr lang="en-US" sz="1300" dirty="0"/>
          </a:p>
        </p:txBody>
      </p:sp>
      <p:sp>
        <p:nvSpPr>
          <p:cNvPr id="23" name="Shape 17"/>
          <p:cNvSpPr/>
          <p:nvPr/>
        </p:nvSpPr>
        <p:spPr>
          <a:xfrm>
            <a:off x="7325990" y="1691640"/>
            <a:ext cx="2057949" cy="3886200"/>
          </a:xfrm>
          <a:prstGeom prst="roundRect">
            <a:avLst>
              <a:gd name="adj" fmla="val 3555"/>
            </a:avLst>
          </a:prstGeom>
          <a:solidFill>
            <a:srgbClr val="F3F6F9"/>
          </a:solidFill>
          <a:ln w="9525">
            <a:solidFill>
              <a:srgbClr val="F3F6F9"/>
            </a:solidFill>
            <a:prstDash val="solid"/>
          </a:ln>
        </p:spPr>
        <p:txBody>
          <a:bodyPr/>
          <a:lstStyle/>
          <a:p>
            <a:endParaRPr lang="en-US"/>
          </a:p>
        </p:txBody>
      </p:sp>
      <p:sp>
        <p:nvSpPr>
          <p:cNvPr id="24" name="Shape 18"/>
          <p:cNvSpPr/>
          <p:nvPr/>
        </p:nvSpPr>
        <p:spPr>
          <a:xfrm>
            <a:off x="7508870" y="1874520"/>
            <a:ext cx="402336" cy="402336"/>
          </a:xfrm>
          <a:prstGeom prst="ellipse">
            <a:avLst/>
          </a:prstGeom>
          <a:solidFill>
            <a:srgbClr val="C8414F"/>
          </a:solidFill>
          <a:ln w="12700">
            <a:solidFill>
              <a:srgbClr val="C8414F"/>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7613477" y="1979127"/>
            <a:ext cx="193121" cy="193121"/>
          </a:xfrm>
          <a:prstGeom prst="rect">
            <a:avLst/>
          </a:prstGeom>
        </p:spPr>
      </p:pic>
      <p:sp>
        <p:nvSpPr>
          <p:cNvPr id="26" name="Text 19"/>
          <p:cNvSpPr txBox="1"/>
          <p:nvPr/>
        </p:nvSpPr>
        <p:spPr>
          <a:xfrm>
            <a:off x="8039222" y="1874520"/>
            <a:ext cx="1161837"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Dice</a:t>
            </a:r>
            <a:endParaRPr lang="en-US" sz="1550" dirty="0"/>
          </a:p>
        </p:txBody>
      </p:sp>
      <p:sp>
        <p:nvSpPr>
          <p:cNvPr id="27" name="Text 20"/>
          <p:cNvSpPr txBox="1"/>
          <p:nvPr/>
        </p:nvSpPr>
        <p:spPr>
          <a:xfrm>
            <a:off x="7508870" y="2386584"/>
            <a:ext cx="1692189" cy="30083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Pick values on SEVERAL dimensions.</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i="1" dirty="0">
                <a:solidFill>
                  <a:srgbClr val="5B6B7B"/>
                </a:solidFill>
                <a:latin typeface="Calibri" pitchFamily="34" charset="0"/>
                <a:ea typeface="Calibri" pitchFamily="34" charset="-122"/>
                <a:cs typeface="Calibri" pitchFamily="34" charset="-120"/>
              </a:rPr>
              <a:t>e.g. Q3 × QLD, NSW × Computers</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C8414F"/>
                </a:solidFill>
                <a:latin typeface="Calibri" pitchFamily="34" charset="0"/>
                <a:ea typeface="Calibri" pitchFamily="34" charset="-122"/>
                <a:cs typeface="Calibri" pitchFamily="34" charset="-120"/>
              </a:rPr>
              <a:t>SQL: </a:t>
            </a:r>
            <a:r>
              <a:rPr lang="en-US" sz="1300" dirty="0">
                <a:solidFill>
                  <a:srgbClr val="1F2A37"/>
                </a:solidFill>
                <a:latin typeface="Calibri" pitchFamily="34" charset="0"/>
                <a:ea typeface="Calibri" pitchFamily="34" charset="-122"/>
                <a:cs typeface="Calibri" pitchFamily="34" charset="-120"/>
              </a:rPr>
              <a:t>WHERE on several dimensions</a:t>
            </a:r>
            <a:endParaRPr lang="en-US" sz="1300" dirty="0"/>
          </a:p>
        </p:txBody>
      </p:sp>
      <p:sp>
        <p:nvSpPr>
          <p:cNvPr id="28" name="Shape 21"/>
          <p:cNvSpPr/>
          <p:nvPr/>
        </p:nvSpPr>
        <p:spPr>
          <a:xfrm>
            <a:off x="9585107" y="1691640"/>
            <a:ext cx="2057949" cy="3886200"/>
          </a:xfrm>
          <a:prstGeom prst="roundRect">
            <a:avLst>
              <a:gd name="adj" fmla="val 3555"/>
            </a:avLst>
          </a:prstGeom>
          <a:solidFill>
            <a:srgbClr val="F3F6F9"/>
          </a:solidFill>
          <a:ln w="9525">
            <a:solidFill>
              <a:srgbClr val="F3F6F9"/>
            </a:solidFill>
            <a:prstDash val="solid"/>
          </a:ln>
        </p:spPr>
        <p:txBody>
          <a:bodyPr/>
          <a:lstStyle/>
          <a:p>
            <a:endParaRPr lang="en-US"/>
          </a:p>
        </p:txBody>
      </p:sp>
      <p:sp>
        <p:nvSpPr>
          <p:cNvPr id="29" name="Shape 22"/>
          <p:cNvSpPr/>
          <p:nvPr/>
        </p:nvSpPr>
        <p:spPr>
          <a:xfrm>
            <a:off x="9767987" y="1874520"/>
            <a:ext cx="402336" cy="402336"/>
          </a:xfrm>
          <a:prstGeom prst="ellipse">
            <a:avLst/>
          </a:prstGeom>
          <a:solidFill>
            <a:srgbClr val="5B4BA6"/>
          </a:solidFill>
          <a:ln w="12700">
            <a:solidFill>
              <a:srgbClr val="5B4BA6"/>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9872594" y="1979127"/>
            <a:ext cx="193121" cy="193121"/>
          </a:xfrm>
          <a:prstGeom prst="rect">
            <a:avLst/>
          </a:prstGeom>
        </p:spPr>
      </p:pic>
      <p:sp>
        <p:nvSpPr>
          <p:cNvPr id="31" name="Text 23"/>
          <p:cNvSpPr txBox="1"/>
          <p:nvPr/>
        </p:nvSpPr>
        <p:spPr>
          <a:xfrm>
            <a:off x="10298339" y="1874520"/>
            <a:ext cx="1161837"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Pivot</a:t>
            </a:r>
            <a:endParaRPr lang="en-US" sz="1550" dirty="0"/>
          </a:p>
        </p:txBody>
      </p:sp>
      <p:sp>
        <p:nvSpPr>
          <p:cNvPr id="32" name="Text 24"/>
          <p:cNvSpPr txBox="1"/>
          <p:nvPr/>
        </p:nvSpPr>
        <p:spPr>
          <a:xfrm>
            <a:off x="9767987" y="2386584"/>
            <a:ext cx="1692189" cy="30083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Rotate the view: rows ↔ columns.</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i="1" dirty="0">
                <a:solidFill>
                  <a:srgbClr val="5B6B7B"/>
                </a:solidFill>
                <a:latin typeface="Calibri" pitchFamily="34" charset="0"/>
                <a:ea typeface="Calibri" pitchFamily="34" charset="-122"/>
                <a:cs typeface="Calibri" pitchFamily="34" charset="-120"/>
              </a:rPr>
              <a:t>e.g. regions as rows, quarters as columns</a:t>
            </a:r>
            <a:endParaRPr lang="en-US" sz="1300" dirty="0"/>
          </a:p>
          <a:p>
            <a:pPr marL="0" indent="0">
              <a:spcAft>
                <a:spcPts val="400"/>
              </a:spcAft>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5B4BA6"/>
                </a:solidFill>
                <a:latin typeface="Calibri" pitchFamily="34" charset="0"/>
                <a:ea typeface="Calibri" pitchFamily="34" charset="-122"/>
                <a:cs typeface="Calibri" pitchFamily="34" charset="-120"/>
              </a:rPr>
              <a:t>SQL: </a:t>
            </a:r>
            <a:r>
              <a:rPr lang="en-US" sz="1300" dirty="0">
                <a:solidFill>
                  <a:srgbClr val="1F2A37"/>
                </a:solidFill>
                <a:latin typeface="Calibri" pitchFamily="34" charset="0"/>
                <a:ea typeface="Calibri" pitchFamily="34" charset="-122"/>
                <a:cs typeface="Calibri" pitchFamily="34" charset="-120"/>
              </a:rPr>
              <a:t>PIVOT clause (or the chart)</a:t>
            </a:r>
            <a:endParaRPr lang="en-US" sz="1300" dirty="0"/>
          </a:p>
        </p:txBody>
      </p:sp>
      <p:sp>
        <p:nvSpPr>
          <p:cNvPr id="33" name="Shape 25"/>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34" name="Shape 26"/>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35" name="Image 5" descr="preencoded.png"/>
          <p:cNvPicPr>
            <a:picLocks noChangeAspect="1"/>
          </p:cNvPicPr>
          <p:nvPr/>
        </p:nvPicPr>
        <p:blipFill>
          <a:blip r:embed="rId8"/>
          <a:stretch>
            <a:fillRect/>
          </a:stretch>
        </p:blipFill>
        <p:spPr>
          <a:xfrm>
            <a:off x="790042" y="5956402"/>
            <a:ext cx="175565" cy="175565"/>
          </a:xfrm>
          <a:prstGeom prst="rect">
            <a:avLst/>
          </a:prstGeom>
        </p:spPr>
      </p:pic>
      <p:sp>
        <p:nvSpPr>
          <p:cNvPr id="36" name="Text 27"/>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Every OLAP operation is a small edit to one SQL query: change the GROUP BY, add a WHERE, or pivot the result.</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33</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SCENARIO, STEPS 1–2</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“Q3 sales dropped” — start at the top, then drill down</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B · OLAP</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Text 5"/>
          <p:cNvSpPr txBox="1"/>
          <p:nvPr/>
        </p:nvSpPr>
        <p:spPr>
          <a:xfrm>
            <a:off x="548640" y="1645920"/>
            <a:ext cx="5410048" cy="320040"/>
          </a:xfrm>
          <a:prstGeom prst="rect">
            <a:avLst/>
          </a:prstGeom>
          <a:noFill/>
          <a:ln/>
        </p:spPr>
        <p:txBody>
          <a:bodyPr wrap="square" lIns="0" tIns="0" rIns="0" bIns="0" rtlCol="0" anchor="t"/>
          <a:lstStyle/>
          <a:p>
            <a:pPr marL="0" indent="0">
              <a:buNone/>
            </a:pPr>
            <a:r>
              <a:rPr lang="en-US" sz="1400" b="1" dirty="0">
                <a:solidFill>
                  <a:srgbClr val="0E7C7B"/>
                </a:solidFill>
                <a:latin typeface="Calibri" pitchFamily="34" charset="0"/>
                <a:ea typeface="Calibri" pitchFamily="34" charset="-122"/>
                <a:cs typeface="Calibri" pitchFamily="34" charset="-120"/>
              </a:rPr>
              <a:t>Step 1 · Rolled up: company revenue per quarter</a:t>
            </a:r>
            <a:endParaRPr lang="en-US" sz="1400" dirty="0"/>
          </a:p>
        </p:txBody>
      </p:sp>
      <p:sp>
        <p:nvSpPr>
          <p:cNvPr id="9" name="Shape 6"/>
          <p:cNvSpPr/>
          <p:nvPr/>
        </p:nvSpPr>
        <p:spPr>
          <a:xfrm>
            <a:off x="548640" y="2011680"/>
            <a:ext cx="5410048" cy="1691640"/>
          </a:xfrm>
          <a:prstGeom prst="roundRect">
            <a:avLst>
              <a:gd name="adj" fmla="val 3243"/>
            </a:avLst>
          </a:prstGeom>
          <a:solidFill>
            <a:srgbClr val="0F1E2E"/>
          </a:solidFill>
          <a:ln w="9525">
            <a:solidFill>
              <a:srgbClr val="0F1E2E"/>
            </a:solidFill>
            <a:prstDash val="solid"/>
          </a:ln>
        </p:spPr>
        <p:txBody>
          <a:bodyPr/>
          <a:lstStyle/>
          <a:p>
            <a:endParaRPr lang="en-US"/>
          </a:p>
        </p:txBody>
      </p:sp>
      <p:sp>
        <p:nvSpPr>
          <p:cNvPr id="10" name="Text 7"/>
          <p:cNvSpPr txBox="1"/>
          <p:nvPr/>
        </p:nvSpPr>
        <p:spPr>
          <a:xfrm>
            <a:off x="4769968" y="210312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11" name="Text 8"/>
          <p:cNvSpPr txBox="1"/>
          <p:nvPr/>
        </p:nvSpPr>
        <p:spPr>
          <a:xfrm>
            <a:off x="749808" y="2304288"/>
            <a:ext cx="5044288" cy="1307592"/>
          </a:xfrm>
          <a:prstGeom prst="rect">
            <a:avLst/>
          </a:prstGeom>
          <a:noFill/>
          <a:ln/>
        </p:spPr>
        <p:txBody>
          <a:bodyPr wrap="square" lIns="0" tIns="0" rIns="0" bIns="0" rtlCol="0" anchor="t"/>
          <a:lstStyle/>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SELECT d.quarter, SUM(f.sales_amount) AS revenue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FROM   gold.fact_sales f</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gold.dim_date d ON f.date_key = d.date_key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WHERE  d.year = 2026</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GROUP  BY d.quarter ORDER BY d.quarter;</a:t>
            </a:r>
            <a:endParaRPr lang="en-US" sz="10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2926080" cy="1316736"/>
        </p:xfrm>
        <a:graphic>
          <a:graphicData uri="http://schemas.openxmlformats.org/drawingml/2006/table">
            <a:tbl>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2918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quarter</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0E7C7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revenue</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0E7C7B"/>
                    </a:solidFill>
                  </a:tcPr>
                </a:tc>
                <a:extLst>
                  <a:ext uri="{0D108BD9-81ED-4DB2-BD59-A6C34878D82A}">
                    <a16:rowId xmlns:a16="http://schemas.microsoft.com/office/drawing/2014/main" val="10000"/>
                  </a:ext>
                </a:extLst>
              </a:tr>
              <a:tr h="329184">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1,210,400</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1,195,800</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329184">
                <a:tc>
                  <a:txBody>
                    <a:bodyPr/>
                    <a:lstStyle/>
                    <a:p>
                      <a:pPr marL="0" indent="0">
                        <a:buNone/>
                      </a:pPr>
                      <a:r>
                        <a:rPr lang="en-US" sz="1150" b="1" dirty="0">
                          <a:solidFill>
                            <a:srgbClr val="C8414F"/>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b="1" dirty="0">
                          <a:solidFill>
                            <a:srgbClr val="C8414F"/>
                          </a:solidFill>
                          <a:latin typeface="Calibri" pitchFamily="34" charset="0"/>
                          <a:ea typeface="Calibri" pitchFamily="34" charset="-122"/>
                          <a:cs typeface="Calibri" pitchFamily="34" charset="-120"/>
                        </a:rPr>
                        <a:t>962,300  ↓</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3" name="Text 9"/>
          <p:cNvSpPr txBox="1"/>
          <p:nvPr/>
        </p:nvSpPr>
        <p:spPr>
          <a:xfrm>
            <a:off x="3657600" y="3931920"/>
            <a:ext cx="2301088" cy="822960"/>
          </a:xfrm>
          <a:prstGeom prst="rect">
            <a:avLst/>
          </a:prstGeom>
          <a:noFill/>
          <a:ln/>
        </p:spPr>
        <p:txBody>
          <a:bodyPr wrap="square" lIns="0" tIns="0" rIns="0" bIns="0" rtlCol="0" anchor="t"/>
          <a:lstStyle/>
          <a:p>
            <a:pPr marL="0" indent="0">
              <a:buNone/>
            </a:pPr>
            <a:r>
              <a:rPr lang="en-US" sz="1300" i="1" dirty="0">
                <a:solidFill>
                  <a:srgbClr val="5B6B7B"/>
                </a:solidFill>
                <a:latin typeface="Calibri" pitchFamily="34" charset="0"/>
                <a:ea typeface="Calibri" pitchFamily="34" charset="-122"/>
                <a:cs typeface="Calibri" pitchFamily="34" charset="-120"/>
              </a:rPr>
              <a:t>Q3 is ~20% below Q2. Where?</a:t>
            </a:r>
            <a:endParaRPr lang="en-US" sz="1300" dirty="0"/>
          </a:p>
        </p:txBody>
      </p:sp>
      <p:sp>
        <p:nvSpPr>
          <p:cNvPr id="14" name="Text 10"/>
          <p:cNvSpPr txBox="1"/>
          <p:nvPr/>
        </p:nvSpPr>
        <p:spPr>
          <a:xfrm>
            <a:off x="6233008" y="1645920"/>
            <a:ext cx="5410048" cy="320040"/>
          </a:xfrm>
          <a:prstGeom prst="rect">
            <a:avLst/>
          </a:prstGeom>
          <a:noFill/>
          <a:ln/>
        </p:spPr>
        <p:txBody>
          <a:bodyPr wrap="square" lIns="0" tIns="0" rIns="0" bIns="0" rtlCol="0" anchor="t"/>
          <a:lstStyle/>
          <a:p>
            <a:pPr marL="0" indent="0">
              <a:buNone/>
            </a:pPr>
            <a:r>
              <a:rPr lang="en-US" sz="1400" b="1" dirty="0">
                <a:solidFill>
                  <a:srgbClr val="2F6DB5"/>
                </a:solidFill>
                <a:latin typeface="Calibri" pitchFamily="34" charset="0"/>
                <a:ea typeface="Calibri" pitchFamily="34" charset="-122"/>
                <a:cs typeface="Calibri" pitchFamily="34" charset="-120"/>
              </a:rPr>
              <a:t>Step 2 · Drill down: by region and month</a:t>
            </a:r>
            <a:endParaRPr lang="en-US" sz="1400" dirty="0"/>
          </a:p>
        </p:txBody>
      </p:sp>
      <p:sp>
        <p:nvSpPr>
          <p:cNvPr id="15" name="Shape 11"/>
          <p:cNvSpPr/>
          <p:nvPr/>
        </p:nvSpPr>
        <p:spPr>
          <a:xfrm>
            <a:off x="6233008" y="2011680"/>
            <a:ext cx="5410048" cy="2148840"/>
          </a:xfrm>
          <a:prstGeom prst="roundRect">
            <a:avLst>
              <a:gd name="adj" fmla="val 2553"/>
            </a:avLst>
          </a:prstGeom>
          <a:solidFill>
            <a:srgbClr val="0F1E2E"/>
          </a:solidFill>
          <a:ln w="9525">
            <a:solidFill>
              <a:srgbClr val="0F1E2E"/>
            </a:solidFill>
            <a:prstDash val="solid"/>
          </a:ln>
        </p:spPr>
        <p:txBody>
          <a:bodyPr/>
          <a:lstStyle/>
          <a:p>
            <a:endParaRPr lang="en-US"/>
          </a:p>
        </p:txBody>
      </p:sp>
      <p:sp>
        <p:nvSpPr>
          <p:cNvPr id="16" name="Text 12"/>
          <p:cNvSpPr txBox="1"/>
          <p:nvPr/>
        </p:nvSpPr>
        <p:spPr>
          <a:xfrm>
            <a:off x="10454335" y="210312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17" name="Text 13"/>
          <p:cNvSpPr txBox="1"/>
          <p:nvPr/>
        </p:nvSpPr>
        <p:spPr>
          <a:xfrm>
            <a:off x="6434176" y="2304288"/>
            <a:ext cx="5044288" cy="1764792"/>
          </a:xfrm>
          <a:prstGeom prst="rect">
            <a:avLst/>
          </a:prstGeom>
          <a:noFill/>
          <a:ln/>
        </p:spPr>
        <p:txBody>
          <a:bodyPr wrap="square" lIns="0" tIns="0" rIns="0" bIns="0" rtlCol="0" anchor="t"/>
          <a:lstStyle/>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SELECT st.region, d.month_name,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SUM(f.sales_amount) AS revenue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FROM   gold.fact_sales f</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gold.dim_date  d  ON f.date_key  = d.date_key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gold.dim_store st ON f.store_key = st.store_key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WHERE  d.year = 2026 AND d.quarter = 3</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GROUP  BY st.region, d.month, d.month_name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ORDER  BY st.region, d.month;</a:t>
            </a:r>
            <a:endParaRPr lang="en-US" sz="1050" dirty="0"/>
          </a:p>
        </p:txBody>
      </p:sp>
      <p:sp>
        <p:nvSpPr>
          <p:cNvPr id="18" name="Text 14"/>
          <p:cNvSpPr txBox="1"/>
          <p:nvPr/>
        </p:nvSpPr>
        <p:spPr>
          <a:xfrm>
            <a:off x="6233008" y="4297680"/>
            <a:ext cx="5410048" cy="685800"/>
          </a:xfrm>
          <a:prstGeom prst="rect">
            <a:avLst/>
          </a:prstGeom>
          <a:noFill/>
          <a:ln/>
        </p:spPr>
        <p:txBody>
          <a:bodyPr wrap="square" lIns="0" tIns="0" rIns="0" bIns="0" rtlCol="0" anchor="t"/>
          <a:lstStyle/>
          <a:p>
            <a:pPr marL="0" indent="0">
              <a:buNone/>
            </a:pPr>
            <a:r>
              <a:rPr lang="en-US" sz="1250" i="1" dirty="0">
                <a:solidFill>
                  <a:srgbClr val="5B6B7B"/>
                </a:solidFill>
                <a:latin typeface="Calibri" pitchFamily="34" charset="0"/>
                <a:ea typeface="Calibri" pitchFamily="34" charset="-122"/>
                <a:cs typeface="Calibri" pitchFamily="34" charset="-120"/>
              </a:rPr>
              <a:t>The GROUP BY got finer: quarter → region × month. The drop is concentrated in Queensland, August–September.</a:t>
            </a:r>
            <a:endParaRPr lang="en-US" sz="1250" dirty="0"/>
          </a:p>
        </p:txBody>
      </p:sp>
      <p:sp>
        <p:nvSpPr>
          <p:cNvPr id="19" name="Shape 15"/>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20" name="Shape 16"/>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21"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22" name="Text 17"/>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Roll-up and drill-down are the same query with a coarser or finer GROUP BY along a hierarchy.</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34</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SCENARIO, STEPS 3–4</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Slice to one region, then dice into categories</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B · OLAP</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Text 5"/>
          <p:cNvSpPr txBox="1"/>
          <p:nvPr/>
        </p:nvSpPr>
        <p:spPr>
          <a:xfrm>
            <a:off x="548640" y="1645920"/>
            <a:ext cx="5410048" cy="320040"/>
          </a:xfrm>
          <a:prstGeom prst="rect">
            <a:avLst/>
          </a:prstGeom>
          <a:noFill/>
          <a:ln/>
        </p:spPr>
        <p:txBody>
          <a:bodyPr wrap="square" lIns="0" tIns="0" rIns="0" bIns="0" rtlCol="0" anchor="t"/>
          <a:lstStyle/>
          <a:p>
            <a:pPr marL="0" indent="0">
              <a:buNone/>
            </a:pPr>
            <a:r>
              <a:rPr lang="en-US" sz="1400" b="1" dirty="0">
                <a:solidFill>
                  <a:srgbClr val="E89B2D"/>
                </a:solidFill>
                <a:latin typeface="Calibri" pitchFamily="34" charset="0"/>
                <a:ea typeface="Calibri" pitchFamily="34" charset="-122"/>
                <a:cs typeface="Calibri" pitchFamily="34" charset="-120"/>
              </a:rPr>
              <a:t>Step 3 · Slice: region = Queensland</a:t>
            </a:r>
            <a:endParaRPr lang="en-US" sz="1400" dirty="0"/>
          </a:p>
        </p:txBody>
      </p:sp>
      <p:sp>
        <p:nvSpPr>
          <p:cNvPr id="9" name="Shape 6"/>
          <p:cNvSpPr/>
          <p:nvPr/>
        </p:nvSpPr>
        <p:spPr>
          <a:xfrm>
            <a:off x="548640" y="2011680"/>
            <a:ext cx="5410048" cy="2148840"/>
          </a:xfrm>
          <a:prstGeom prst="roundRect">
            <a:avLst>
              <a:gd name="adj" fmla="val 2553"/>
            </a:avLst>
          </a:prstGeom>
          <a:solidFill>
            <a:srgbClr val="0F1E2E"/>
          </a:solidFill>
          <a:ln w="9525">
            <a:solidFill>
              <a:srgbClr val="0F1E2E"/>
            </a:solidFill>
            <a:prstDash val="solid"/>
          </a:ln>
        </p:spPr>
        <p:txBody>
          <a:bodyPr/>
          <a:lstStyle/>
          <a:p>
            <a:endParaRPr lang="en-US"/>
          </a:p>
        </p:txBody>
      </p:sp>
      <p:sp>
        <p:nvSpPr>
          <p:cNvPr id="10" name="Text 7"/>
          <p:cNvSpPr txBox="1"/>
          <p:nvPr/>
        </p:nvSpPr>
        <p:spPr>
          <a:xfrm>
            <a:off x="4769968" y="210312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11" name="Text 8"/>
          <p:cNvSpPr txBox="1"/>
          <p:nvPr/>
        </p:nvSpPr>
        <p:spPr>
          <a:xfrm>
            <a:off x="749808" y="2304288"/>
            <a:ext cx="5044288" cy="1764792"/>
          </a:xfrm>
          <a:prstGeom prst="rect">
            <a:avLst/>
          </a:prstGeom>
          <a:noFill/>
          <a:ln/>
        </p:spPr>
        <p:txBody>
          <a:bodyPr wrap="square" lIns="0" tIns="0" rIns="0" bIns="0" rtlCol="0" anchor="t"/>
          <a:lstStyle/>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SELECT st.store_name, SUM(f.sales_amount) AS revenue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FROM   gold.fact_sales f</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gold.dim_date  d  ON f.date_key  = d.date_key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gold.dim_store st ON f.store_key = st.store_key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WHERE  st.region = 'Queensland'          -- one dimension</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AND  d.year = 2026 AND d.quarter = 3</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GROUP  BY st.store_name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ORDER  BY revenue;</a:t>
            </a:r>
            <a:endParaRPr lang="en-US" sz="1050" dirty="0"/>
          </a:p>
        </p:txBody>
      </p:sp>
      <p:sp>
        <p:nvSpPr>
          <p:cNvPr id="12" name="Text 9"/>
          <p:cNvSpPr txBox="1"/>
          <p:nvPr/>
        </p:nvSpPr>
        <p:spPr>
          <a:xfrm>
            <a:off x="548640" y="4297680"/>
            <a:ext cx="5410048" cy="457200"/>
          </a:xfrm>
          <a:prstGeom prst="rect">
            <a:avLst/>
          </a:prstGeom>
          <a:noFill/>
          <a:ln/>
        </p:spPr>
        <p:txBody>
          <a:bodyPr wrap="square" lIns="0" tIns="0" rIns="0" bIns="0" rtlCol="0" anchor="t"/>
          <a:lstStyle/>
          <a:p>
            <a:pPr marL="0" indent="0">
              <a:buNone/>
            </a:pPr>
            <a:r>
              <a:rPr lang="en-US" sz="1250" i="1" dirty="0">
                <a:solidFill>
                  <a:srgbClr val="5B6B7B"/>
                </a:solidFill>
                <a:latin typeface="Calibri" pitchFamily="34" charset="0"/>
                <a:ea typeface="Calibri" pitchFamily="34" charset="-122"/>
                <a:cs typeface="Calibri" pitchFamily="34" charset="-120"/>
              </a:rPr>
              <a:t>Result: two Brisbane stores account for most of the fall.</a:t>
            </a:r>
            <a:endParaRPr lang="en-US" sz="1250" dirty="0"/>
          </a:p>
        </p:txBody>
      </p:sp>
      <p:sp>
        <p:nvSpPr>
          <p:cNvPr id="13" name="Text 10"/>
          <p:cNvSpPr txBox="1"/>
          <p:nvPr/>
        </p:nvSpPr>
        <p:spPr>
          <a:xfrm>
            <a:off x="6233008" y="1645920"/>
            <a:ext cx="5410048" cy="320040"/>
          </a:xfrm>
          <a:prstGeom prst="rect">
            <a:avLst/>
          </a:prstGeom>
          <a:noFill/>
          <a:ln/>
        </p:spPr>
        <p:txBody>
          <a:bodyPr wrap="square" lIns="0" tIns="0" rIns="0" bIns="0" rtlCol="0" anchor="t"/>
          <a:lstStyle/>
          <a:p>
            <a:pPr marL="0" indent="0">
              <a:buNone/>
            </a:pPr>
            <a:r>
              <a:rPr lang="en-US" sz="1400" b="1" dirty="0">
                <a:solidFill>
                  <a:srgbClr val="C8414F"/>
                </a:solidFill>
                <a:latin typeface="Calibri" pitchFamily="34" charset="0"/>
                <a:ea typeface="Calibri" pitchFamily="34" charset="-122"/>
                <a:cs typeface="Calibri" pitchFamily="34" charset="-120"/>
              </a:rPr>
              <a:t>Step 4 · Dice: quarter × regions × categories</a:t>
            </a:r>
            <a:endParaRPr lang="en-US" sz="1400" dirty="0"/>
          </a:p>
        </p:txBody>
      </p:sp>
      <p:sp>
        <p:nvSpPr>
          <p:cNvPr id="14" name="Shape 11"/>
          <p:cNvSpPr/>
          <p:nvPr/>
        </p:nvSpPr>
        <p:spPr>
          <a:xfrm>
            <a:off x="6233008" y="2011680"/>
            <a:ext cx="5410048" cy="2148840"/>
          </a:xfrm>
          <a:prstGeom prst="roundRect">
            <a:avLst>
              <a:gd name="adj" fmla="val 2553"/>
            </a:avLst>
          </a:prstGeom>
          <a:solidFill>
            <a:srgbClr val="0F1E2E"/>
          </a:solidFill>
          <a:ln w="9525">
            <a:solidFill>
              <a:srgbClr val="0F1E2E"/>
            </a:solidFill>
            <a:prstDash val="solid"/>
          </a:ln>
        </p:spPr>
        <p:txBody>
          <a:bodyPr/>
          <a:lstStyle/>
          <a:p>
            <a:endParaRPr lang="en-US"/>
          </a:p>
        </p:txBody>
      </p:sp>
      <p:sp>
        <p:nvSpPr>
          <p:cNvPr id="15" name="Text 12"/>
          <p:cNvSpPr txBox="1"/>
          <p:nvPr/>
        </p:nvSpPr>
        <p:spPr>
          <a:xfrm>
            <a:off x="10454335" y="210312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16" name="Text 13"/>
          <p:cNvSpPr txBox="1"/>
          <p:nvPr/>
        </p:nvSpPr>
        <p:spPr>
          <a:xfrm>
            <a:off x="6434176" y="2304288"/>
            <a:ext cx="5044288" cy="1764792"/>
          </a:xfrm>
          <a:prstGeom prst="rect">
            <a:avLst/>
          </a:prstGeom>
          <a:noFill/>
          <a:ln/>
        </p:spPr>
        <p:txBody>
          <a:bodyPr wrap="square" lIns="0" tIns="0" rIns="0" bIns="0" rtlCol="0" anchor="t"/>
          <a:lstStyle/>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SELECT st.region, p.category,</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SUM(f.sales_amount) AS revenue</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FROM   gold.fact_sales f</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JOIN   gold.dim_date    d  ON f.date_key    = d.date_key</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JOIN   gold.dim_store   st ON f.store_key   = st.store_key</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JOIN   gold.dim_product p  ON f.product_key = p.product_key</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WHERE  d.year = 2026 AND d.quarter IN (2, 3)</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AND  st.region IN ('Queensland', 'New South Wales')</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AND  p.category IN ('Computers', 'Accessories')</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GROUP  BY st.region, p.category;</a:t>
            </a:r>
            <a:endParaRPr lang="en-US" sz="1000" dirty="0"/>
          </a:p>
        </p:txBody>
      </p:sp>
      <p:sp>
        <p:nvSpPr>
          <p:cNvPr id="17" name="Text 14"/>
          <p:cNvSpPr txBox="1"/>
          <p:nvPr/>
        </p:nvSpPr>
        <p:spPr>
          <a:xfrm>
            <a:off x="6233008" y="4297680"/>
            <a:ext cx="5410048" cy="457200"/>
          </a:xfrm>
          <a:prstGeom prst="rect">
            <a:avLst/>
          </a:prstGeom>
          <a:noFill/>
          <a:ln/>
        </p:spPr>
        <p:txBody>
          <a:bodyPr wrap="square" lIns="0" tIns="0" rIns="0" bIns="0" rtlCol="0" anchor="t"/>
          <a:lstStyle/>
          <a:p>
            <a:pPr marL="0" indent="0">
              <a:buNone/>
            </a:pPr>
            <a:r>
              <a:rPr lang="en-US" sz="1250" i="1" dirty="0">
                <a:solidFill>
                  <a:srgbClr val="5B6B7B"/>
                </a:solidFill>
                <a:latin typeface="Calibri" pitchFamily="34" charset="0"/>
                <a:ea typeface="Calibri" pitchFamily="34" charset="-122"/>
                <a:cs typeface="Calibri" pitchFamily="34" charset="-120"/>
              </a:rPr>
              <a:t>Result: Computers in Queensland fell; Accessories held steady.</a:t>
            </a:r>
            <a:endParaRPr lang="en-US" sz="1250" dirty="0"/>
          </a:p>
        </p:txBody>
      </p:sp>
      <p:sp>
        <p:nvSpPr>
          <p:cNvPr id="18" name="Shape 15"/>
          <p:cNvSpPr/>
          <p:nvPr/>
        </p:nvSpPr>
        <p:spPr>
          <a:xfrm>
            <a:off x="548640" y="4892040"/>
            <a:ext cx="11094415" cy="685800"/>
          </a:xfrm>
          <a:prstGeom prst="roundRect">
            <a:avLst>
              <a:gd name="adj" fmla="val 10667"/>
            </a:avLst>
          </a:prstGeom>
          <a:solidFill>
            <a:srgbClr val="F3F6F9"/>
          </a:solidFill>
          <a:ln w="9525">
            <a:solidFill>
              <a:srgbClr val="F3F6F9"/>
            </a:solidFill>
            <a:prstDash val="solid"/>
          </a:ln>
        </p:spPr>
        <p:txBody>
          <a:bodyPr/>
          <a:lstStyle/>
          <a:p>
            <a:endParaRPr lang="en-US"/>
          </a:p>
        </p:txBody>
      </p:sp>
      <p:sp>
        <p:nvSpPr>
          <p:cNvPr id="19" name="Text 16"/>
          <p:cNvSpPr txBox="1"/>
          <p:nvPr/>
        </p:nvSpPr>
        <p:spPr>
          <a:xfrm>
            <a:off x="777240" y="4892040"/>
            <a:ext cx="10637215" cy="685800"/>
          </a:xfrm>
          <a:prstGeom prst="rect">
            <a:avLst/>
          </a:prstGeom>
          <a:noFill/>
          <a:ln/>
        </p:spPr>
        <p:txBody>
          <a:bodyPr wrap="square" lIns="0" tIns="0" rIns="0" bIns="0" rtlCol="0" anchor="ctr"/>
          <a:lstStyle/>
          <a:p>
            <a:pPr marL="0" indent="0">
              <a:buNone/>
            </a:pPr>
            <a:r>
              <a:rPr lang="en-US" sz="1350" b="1" dirty="0">
                <a:solidFill>
                  <a:srgbClr val="12263A"/>
                </a:solidFill>
                <a:latin typeface="Calibri" pitchFamily="34" charset="0"/>
                <a:ea typeface="Calibri" pitchFamily="34" charset="-122"/>
                <a:cs typeface="Calibri" pitchFamily="34" charset="-120"/>
              </a:rPr>
              <a:t>Slice vs dice: </a:t>
            </a:r>
            <a:r>
              <a:rPr lang="en-US" sz="1350" dirty="0">
                <a:solidFill>
                  <a:srgbClr val="1F2A37"/>
                </a:solidFill>
                <a:latin typeface="Calibri" pitchFamily="34" charset="0"/>
                <a:ea typeface="Calibri" pitchFamily="34" charset="-122"/>
                <a:cs typeface="Calibri" pitchFamily="34" charset="-120"/>
              </a:rPr>
              <a:t>both are WHERE conditions. A slice fixes one dimension to one value; a dice restricts several dimensions at once.</a:t>
            </a:r>
            <a:endParaRPr lang="en-US" sz="1350" dirty="0"/>
          </a:p>
        </p:txBody>
      </p:sp>
      <p:sp>
        <p:nvSpPr>
          <p:cNvPr id="20" name="Shape 17"/>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21" name="Shape 18"/>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22"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23" name="Text 19"/>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Slicing and dicing narrow the cube with WHERE; the measure and GROUP BY stay the same.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35</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SCENARIO, STEP 5</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Pivot: rotate the view to compare side by side</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B · OLAP</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6309360" cy="2743200"/>
          </a:xfrm>
          <a:prstGeom prst="roundRect">
            <a:avLst>
              <a:gd name="adj" fmla="val 2000"/>
            </a:avLst>
          </a:prstGeom>
          <a:solidFill>
            <a:srgbClr val="0F1E2E"/>
          </a:solidFill>
          <a:ln w="9525">
            <a:solidFill>
              <a:srgbClr val="0F1E2E"/>
            </a:solidFill>
            <a:prstDash val="solid"/>
          </a:ln>
        </p:spPr>
        <p:txBody>
          <a:bodyPr/>
          <a:lstStyle/>
          <a:p>
            <a:endParaRPr lang="en-US"/>
          </a:p>
        </p:txBody>
      </p:sp>
      <p:sp>
        <p:nvSpPr>
          <p:cNvPr id="9" name="Text 6"/>
          <p:cNvSpPr txBox="1"/>
          <p:nvPr/>
        </p:nvSpPr>
        <p:spPr>
          <a:xfrm>
            <a:off x="5669280" y="178308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10" name="Text 7"/>
          <p:cNvSpPr txBox="1"/>
          <p:nvPr/>
        </p:nvSpPr>
        <p:spPr>
          <a:xfrm>
            <a:off x="749808" y="1984248"/>
            <a:ext cx="5943600" cy="2359152"/>
          </a:xfrm>
          <a:prstGeom prst="rect">
            <a:avLst/>
          </a:prstGeom>
          <a:noFill/>
          <a:ln/>
        </p:spPr>
        <p:txBody>
          <a:bodyPr wrap="square" lIns="0" tIns="0" rIns="0" bIns="0" rtlCol="0" anchor="t"/>
          <a:lstStyle/>
          <a:p>
            <a:pPr marL="0" indent="0">
              <a:lnSpc>
                <a:spcPct val="105000"/>
              </a:lnSpc>
              <a:buNone/>
            </a:pPr>
            <a:r>
              <a:rPr lang="en-US" sz="1150" dirty="0">
                <a:solidFill>
                  <a:srgbClr val="E6EDF3"/>
                </a:solidFill>
                <a:latin typeface="Courier New" pitchFamily="34" charset="0"/>
                <a:ea typeface="Courier New" pitchFamily="34" charset="-122"/>
                <a:cs typeface="Courier New" pitchFamily="34" charset="-120"/>
              </a:rPr>
              <a:t>SELECT * FROM (</a:t>
            </a:r>
            <a:endParaRPr lang="en-US" sz="1150" dirty="0"/>
          </a:p>
          <a:p>
            <a:pPr marL="0" indent="0">
              <a:lnSpc>
                <a:spcPct val="105000"/>
              </a:lnSpc>
              <a:buNone/>
            </a:pPr>
            <a:r>
              <a:rPr lang="en-US" sz="1150" dirty="0">
                <a:solidFill>
                  <a:srgbClr val="E6EDF3"/>
                </a:solidFill>
                <a:latin typeface="Courier New" pitchFamily="34" charset="0"/>
                <a:ea typeface="Courier New" pitchFamily="34" charset="-122"/>
                <a:cs typeface="Courier New" pitchFamily="34" charset="-120"/>
              </a:rPr>
              <a:t>  SELECT st.region, d.quarter, f.sales_amount</a:t>
            </a:r>
            <a:endParaRPr lang="en-US" sz="1150" dirty="0"/>
          </a:p>
          <a:p>
            <a:pPr marL="0" indent="0">
              <a:lnSpc>
                <a:spcPct val="105000"/>
              </a:lnSpc>
              <a:buNone/>
            </a:pPr>
            <a:r>
              <a:rPr lang="en-US" sz="1150" dirty="0">
                <a:solidFill>
                  <a:srgbClr val="E6EDF3"/>
                </a:solidFill>
                <a:latin typeface="Courier New" pitchFamily="34" charset="0"/>
                <a:ea typeface="Courier New" pitchFamily="34" charset="-122"/>
                <a:cs typeface="Courier New" pitchFamily="34" charset="-120"/>
              </a:rPr>
              <a:t>  FROM   gold.fact_sales f</a:t>
            </a:r>
            <a:endParaRPr lang="en-US" sz="1150" dirty="0"/>
          </a:p>
          <a:p>
            <a:pPr marL="0" indent="0">
              <a:lnSpc>
                <a:spcPct val="105000"/>
              </a:lnSpc>
              <a:buNone/>
            </a:pPr>
            <a:r>
              <a:rPr lang="en-US" sz="1150" dirty="0">
                <a:solidFill>
                  <a:srgbClr val="E6EDF3"/>
                </a:solidFill>
                <a:latin typeface="Courier New" pitchFamily="34" charset="0"/>
                <a:ea typeface="Courier New" pitchFamily="34" charset="-122"/>
                <a:cs typeface="Courier New" pitchFamily="34" charset="-120"/>
              </a:rPr>
              <a:t>  JOIN   gold.dim_date  d  ON f.date_key  = d.date_key</a:t>
            </a:r>
            <a:endParaRPr lang="en-US" sz="1150" dirty="0"/>
          </a:p>
          <a:p>
            <a:pPr marL="0" indent="0">
              <a:lnSpc>
                <a:spcPct val="105000"/>
              </a:lnSpc>
              <a:buNone/>
            </a:pPr>
            <a:r>
              <a:rPr lang="en-US" sz="1150" dirty="0">
                <a:solidFill>
                  <a:srgbClr val="E6EDF3"/>
                </a:solidFill>
                <a:latin typeface="Courier New" pitchFamily="34" charset="0"/>
                <a:ea typeface="Courier New" pitchFamily="34" charset="-122"/>
                <a:cs typeface="Courier New" pitchFamily="34" charset="-120"/>
              </a:rPr>
              <a:t>  JOIN   gold.dim_store st ON f.store_key = st.store_key</a:t>
            </a:r>
            <a:endParaRPr lang="en-US" sz="1150" dirty="0"/>
          </a:p>
          <a:p>
            <a:pPr marL="0" indent="0">
              <a:lnSpc>
                <a:spcPct val="105000"/>
              </a:lnSpc>
              <a:buNone/>
            </a:pPr>
            <a:r>
              <a:rPr lang="en-US" sz="1150" dirty="0">
                <a:solidFill>
                  <a:srgbClr val="E6EDF3"/>
                </a:solidFill>
                <a:latin typeface="Courier New" pitchFamily="34" charset="0"/>
                <a:ea typeface="Courier New" pitchFamily="34" charset="-122"/>
                <a:cs typeface="Courier New" pitchFamily="34" charset="-120"/>
              </a:rPr>
              <a:t>  WHERE  d.year = 2026</a:t>
            </a:r>
            <a:endParaRPr lang="en-US" sz="1150" dirty="0"/>
          </a:p>
          <a:p>
            <a:pPr marL="0" indent="0">
              <a:lnSpc>
                <a:spcPct val="105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marL="0" indent="0">
              <a:lnSpc>
                <a:spcPct val="105000"/>
              </a:lnSpc>
              <a:buNone/>
            </a:pPr>
            <a:r>
              <a:rPr lang="en-US" sz="1150" dirty="0">
                <a:solidFill>
                  <a:srgbClr val="E6EDF3"/>
                </a:solidFill>
                <a:latin typeface="Courier New" pitchFamily="34" charset="0"/>
                <a:ea typeface="Courier New" pitchFamily="34" charset="-122"/>
                <a:cs typeface="Courier New" pitchFamily="34" charset="-120"/>
              </a:rPr>
              <a:t>PIVOT (</a:t>
            </a:r>
            <a:endParaRPr lang="en-US" sz="1150" dirty="0"/>
          </a:p>
          <a:p>
            <a:pPr marL="0" indent="0">
              <a:lnSpc>
                <a:spcPct val="105000"/>
              </a:lnSpc>
              <a:buNone/>
            </a:pPr>
            <a:r>
              <a:rPr lang="en-US" sz="1150" dirty="0">
                <a:solidFill>
                  <a:srgbClr val="E6EDF3"/>
                </a:solidFill>
                <a:latin typeface="Courier New" pitchFamily="34" charset="0"/>
                <a:ea typeface="Courier New" pitchFamily="34" charset="-122"/>
                <a:cs typeface="Courier New" pitchFamily="34" charset="-120"/>
              </a:rPr>
              <a:t>  SUM(sales_amount)</a:t>
            </a:r>
            <a:endParaRPr lang="en-US" sz="1150" dirty="0"/>
          </a:p>
          <a:p>
            <a:pPr marL="0" indent="0">
              <a:lnSpc>
                <a:spcPct val="105000"/>
              </a:lnSpc>
              <a:buNone/>
            </a:pPr>
            <a:r>
              <a:rPr lang="en-US" sz="1150" dirty="0">
                <a:solidFill>
                  <a:srgbClr val="E6EDF3"/>
                </a:solidFill>
                <a:latin typeface="Courier New" pitchFamily="34" charset="0"/>
                <a:ea typeface="Courier New" pitchFamily="34" charset="-122"/>
                <a:cs typeface="Courier New" pitchFamily="34" charset="-120"/>
              </a:rPr>
              <a:t>  FOR quarter IN (1 AS Q1, 2 AS Q2, 3 AS Q3, 4 AS Q4)</a:t>
            </a:r>
            <a:endParaRPr lang="en-US" sz="1150" dirty="0"/>
          </a:p>
          <a:p>
            <a:pPr marL="0" indent="0">
              <a:lnSpc>
                <a:spcPct val="105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p:txBody>
      </p:sp>
      <p:sp>
        <p:nvSpPr>
          <p:cNvPr id="11" name="Text 8"/>
          <p:cNvSpPr txBox="1"/>
          <p:nvPr/>
        </p:nvSpPr>
        <p:spPr>
          <a:xfrm>
            <a:off x="7132320" y="1691640"/>
            <a:ext cx="4510735" cy="320040"/>
          </a:xfrm>
          <a:prstGeom prst="rect">
            <a:avLst/>
          </a:prstGeom>
          <a:noFill/>
          <a:ln/>
        </p:spPr>
        <p:txBody>
          <a:bodyPr wrap="square" lIns="0" tIns="0" rIns="0" bIns="0" rtlCol="0" anchor="t"/>
          <a:lstStyle/>
          <a:p>
            <a:pPr marL="0" indent="0">
              <a:buNone/>
            </a:pPr>
            <a:r>
              <a:rPr lang="en-US" sz="1350" b="1" dirty="0">
                <a:solidFill>
                  <a:srgbClr val="12263A"/>
                </a:solidFill>
                <a:latin typeface="Calibri" pitchFamily="34" charset="0"/>
                <a:ea typeface="Calibri" pitchFamily="34" charset="-122"/>
                <a:cs typeface="Calibri" pitchFamily="34" charset="-120"/>
              </a:rPr>
              <a:t>Result — regions as rows, quarters as columns</a:t>
            </a:r>
            <a:endParaRPr lang="en-US" sz="13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132320" y="2057400"/>
          <a:ext cx="4510734" cy="1645920"/>
        </p:xfrm>
        <a:graphic>
          <a:graphicData uri="http://schemas.openxmlformats.org/drawingml/2006/table">
            <a:tbl>
              <a:tblPr/>
              <a:tblGrid>
                <a:gridCol w="1737360">
                  <a:extLst>
                    <a:ext uri="{9D8B030D-6E8A-4147-A177-3AD203B41FA5}">
                      <a16:colId xmlns:a16="http://schemas.microsoft.com/office/drawing/2014/main" val="20000"/>
                    </a:ext>
                  </a:extLst>
                </a:gridCol>
                <a:gridCol w="924458">
                  <a:extLst>
                    <a:ext uri="{9D8B030D-6E8A-4147-A177-3AD203B41FA5}">
                      <a16:colId xmlns:a16="http://schemas.microsoft.com/office/drawing/2014/main" val="20001"/>
                    </a:ext>
                  </a:extLst>
                </a:gridCol>
                <a:gridCol w="924458">
                  <a:extLst>
                    <a:ext uri="{9D8B030D-6E8A-4147-A177-3AD203B41FA5}">
                      <a16:colId xmlns:a16="http://schemas.microsoft.com/office/drawing/2014/main" val="20002"/>
                    </a:ext>
                  </a:extLst>
                </a:gridCol>
                <a:gridCol w="924458">
                  <a:extLst>
                    <a:ext uri="{9D8B030D-6E8A-4147-A177-3AD203B41FA5}">
                      <a16:colId xmlns:a16="http://schemas.microsoft.com/office/drawing/2014/main" val="20003"/>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region</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5B4BA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Q1</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5B4BA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Q2</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5B4BA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Q3</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5B4BA6"/>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New South Wales</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480,100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471,900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455,200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200" b="1" dirty="0">
                          <a:solidFill>
                            <a:srgbClr val="C8414F"/>
                          </a:solidFill>
                          <a:latin typeface="Calibri" pitchFamily="34" charset="0"/>
                          <a:ea typeface="Calibri" pitchFamily="34" charset="-122"/>
                          <a:cs typeface="Calibri" pitchFamily="34" charset="-120"/>
                        </a:rPr>
                        <a:t>Queensland</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402,700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398,500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00" b="1" dirty="0">
                          <a:solidFill>
                            <a:srgbClr val="C8414F"/>
                          </a:solidFill>
                          <a:latin typeface="Calibri" pitchFamily="34" charset="0"/>
                          <a:ea typeface="Calibri" pitchFamily="34" charset="-122"/>
                          <a:cs typeface="Calibri" pitchFamily="34" charset="-120"/>
                        </a:rPr>
                        <a:t>231,600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411480">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Victoria</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327,600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325,400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275,500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3" name="Text 9"/>
          <p:cNvSpPr txBox="1"/>
          <p:nvPr/>
        </p:nvSpPr>
        <p:spPr>
          <a:xfrm>
            <a:off x="7132320" y="3794760"/>
            <a:ext cx="4510735" cy="274320"/>
          </a:xfrm>
          <a:prstGeom prst="rect">
            <a:avLst/>
          </a:prstGeom>
          <a:noFill/>
          <a:ln/>
        </p:spPr>
        <p:txBody>
          <a:bodyPr wrap="square" lIns="0" tIns="0" rIns="0" bIns="0" rtlCol="0" anchor="t"/>
          <a:lstStyle/>
          <a:p>
            <a:pPr marL="0" indent="0">
              <a:buNone/>
            </a:pPr>
            <a:r>
              <a:rPr lang="en-US" sz="1150" i="1" dirty="0">
                <a:solidFill>
                  <a:srgbClr val="5B6B7B"/>
                </a:solidFill>
                <a:latin typeface="Calibri" pitchFamily="34" charset="0"/>
                <a:ea typeface="Calibri" pitchFamily="34" charset="-122"/>
                <a:cs typeface="Calibri" pitchFamily="34" charset="-120"/>
              </a:rPr>
              <a:t>Q4 is empty until the quarter has data.</a:t>
            </a:r>
            <a:endParaRPr lang="en-US" sz="1150" dirty="0"/>
          </a:p>
        </p:txBody>
      </p:sp>
      <p:sp>
        <p:nvSpPr>
          <p:cNvPr id="14" name="Shape 10"/>
          <p:cNvSpPr/>
          <p:nvPr/>
        </p:nvSpPr>
        <p:spPr>
          <a:xfrm>
            <a:off x="548640" y="4617720"/>
            <a:ext cx="11094415" cy="960120"/>
          </a:xfrm>
          <a:prstGeom prst="roundRect">
            <a:avLst>
              <a:gd name="adj" fmla="val 7619"/>
            </a:avLst>
          </a:prstGeom>
          <a:solidFill>
            <a:srgbClr val="ECE9F7"/>
          </a:solidFill>
          <a:ln w="9525">
            <a:solidFill>
              <a:srgbClr val="ECE9F7"/>
            </a:solidFill>
            <a:prstDash val="solid"/>
          </a:ln>
        </p:spPr>
        <p:txBody>
          <a:bodyPr/>
          <a:lstStyle/>
          <a:p>
            <a:endParaRPr lang="en-US"/>
          </a:p>
        </p:txBody>
      </p:sp>
      <p:sp>
        <p:nvSpPr>
          <p:cNvPr id="15" name="Text 11"/>
          <p:cNvSpPr txBox="1"/>
          <p:nvPr/>
        </p:nvSpPr>
        <p:spPr>
          <a:xfrm>
            <a:off x="777240" y="4617720"/>
            <a:ext cx="10637215" cy="960120"/>
          </a:xfrm>
          <a:prstGeom prst="rect">
            <a:avLst/>
          </a:prstGeom>
          <a:noFill/>
          <a:ln/>
        </p:spPr>
        <p:txBody>
          <a:bodyPr wrap="square" lIns="0" tIns="0" rIns="0" bIns="0" rtlCol="0" anchor="ctr"/>
          <a:lstStyle/>
          <a:p>
            <a:pPr marL="0" indent="0">
              <a:buNone/>
            </a:pPr>
            <a:r>
              <a:rPr lang="en-US" sz="1350" b="1" dirty="0">
                <a:solidFill>
                  <a:srgbClr val="5B4BA6"/>
                </a:solidFill>
                <a:latin typeface="Calibri" pitchFamily="34" charset="0"/>
                <a:ea typeface="Calibri" pitchFamily="34" charset="-122"/>
                <a:cs typeface="Calibri" pitchFamily="34" charset="-120"/>
              </a:rPr>
              <a:t>Scenario summary: </a:t>
            </a:r>
            <a:r>
              <a:rPr lang="en-US" sz="1350" dirty="0">
                <a:solidFill>
                  <a:srgbClr val="1F2A37"/>
                </a:solidFill>
                <a:latin typeface="Calibri" pitchFamily="34" charset="0"/>
                <a:ea typeface="Calibri" pitchFamily="34" charset="-122"/>
                <a:cs typeface="Calibri" pitchFamily="34" charset="-120"/>
              </a:rPr>
              <a:t>roll-up found the Q3 drop → drill-down located Queensland, Aug–Sep → slice found two Brisbane stores → dice isolated Computers → pivot showed it clearly beside the other regions. Five small SQL edits, no new report.</a:t>
            </a:r>
            <a:endParaRPr lang="en-US" sz="1350" dirty="0"/>
          </a:p>
        </p:txBody>
      </p:sp>
      <p:sp>
        <p:nvSpPr>
          <p:cNvPr id="16" name="Shape 12"/>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17" name="Shape 13"/>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18"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19" name="Text 14"/>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Pivot changes the layout, not the numbers — it turns a long result into a comparison table.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36</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SUBTOTALS IN ONE QUERY</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GROUP BY ROLLUP: every level of a hierarchy at once</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B · OLAP</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6035040" cy="2331720"/>
          </a:xfrm>
          <a:prstGeom prst="roundRect">
            <a:avLst>
              <a:gd name="adj" fmla="val 2353"/>
            </a:avLst>
          </a:prstGeom>
          <a:solidFill>
            <a:srgbClr val="0F1E2E"/>
          </a:solidFill>
          <a:ln w="9525">
            <a:solidFill>
              <a:srgbClr val="0F1E2E"/>
            </a:solidFill>
            <a:prstDash val="solid"/>
          </a:ln>
        </p:spPr>
        <p:txBody>
          <a:bodyPr/>
          <a:lstStyle/>
          <a:p>
            <a:endParaRPr lang="en-US"/>
          </a:p>
        </p:txBody>
      </p:sp>
      <p:sp>
        <p:nvSpPr>
          <p:cNvPr id="9" name="Text 6"/>
          <p:cNvSpPr txBox="1"/>
          <p:nvPr/>
        </p:nvSpPr>
        <p:spPr>
          <a:xfrm>
            <a:off x="5394960" y="178308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10" name="Text 7"/>
          <p:cNvSpPr txBox="1"/>
          <p:nvPr/>
        </p:nvSpPr>
        <p:spPr>
          <a:xfrm>
            <a:off x="749808" y="1984248"/>
            <a:ext cx="5669280" cy="1947672"/>
          </a:xfrm>
          <a:prstGeom prst="rect">
            <a:avLst/>
          </a:prstGeom>
          <a:noFill/>
          <a:ln/>
        </p:spPr>
        <p:txBody>
          <a:bodyPr wrap="square" lIns="0" tIns="0" rIns="0" bIns="0" rtlCol="0" anchor="t"/>
          <a:lstStyle/>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SELECT d.year, d.quarter,</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       SUM(f.sales_amount)  AS revenue,</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       grouping(d.quarter)  AS is_year_total</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FROM   gold.fact_sales f</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JOIN   gold.dim_date d ON f.date_key = d.date_key</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GROUP  BY ROLLUP (d.year, d.quarter)</a:t>
            </a:r>
            <a:endParaRPr lang="en-US" sz="1100" dirty="0"/>
          </a:p>
          <a:p>
            <a:pPr marL="0" indent="0">
              <a:lnSpc>
                <a:spcPct val="105000"/>
              </a:lnSpc>
              <a:buNone/>
            </a:pPr>
            <a:r>
              <a:rPr lang="en-US" sz="1100" dirty="0">
                <a:solidFill>
                  <a:srgbClr val="E6EDF3"/>
                </a:solidFill>
                <a:latin typeface="Courier New" pitchFamily="34" charset="0"/>
                <a:ea typeface="Courier New" pitchFamily="34" charset="-122"/>
                <a:cs typeface="Courier New" pitchFamily="34" charset="-120"/>
              </a:rPr>
              <a:t>ORDER  BY d.year NULLS LAST, d.quarter NULLS LAST;</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858000" y="1691640"/>
          <a:ext cx="4785055" cy="3072384"/>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310335">
                  <a:extLst>
                    <a:ext uri="{9D8B030D-6E8A-4147-A177-3AD203B41FA5}">
                      <a16:colId xmlns:a16="http://schemas.microsoft.com/office/drawing/2014/main" val="20003"/>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year</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0E7C7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quarter</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0E7C7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revenue</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0E7C7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is_year_total</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0E7C7B"/>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1,102,000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384048">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CF0DC"/>
                    </a:solidFill>
                  </a:tcPr>
                </a:tc>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NULL</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CF0DC"/>
                    </a:solidFill>
                  </a:tcPr>
                </a:tc>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4,650,300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CF0DC"/>
                    </a:solidFill>
                  </a:tcPr>
                </a:tc>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CF0DC"/>
                    </a:solidFill>
                  </a:tcPr>
                </a:tc>
                <a:extLst>
                  <a:ext uri="{0D108BD9-81ED-4DB2-BD59-A6C34878D82A}">
                    <a16:rowId xmlns:a16="http://schemas.microsoft.com/office/drawing/2014/main" val="10003"/>
                  </a:ext>
                </a:extLst>
              </a:tr>
              <a:tr h="384048">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2026</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1,210,400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4"/>
                  </a:ext>
                </a:extLst>
              </a:tr>
              <a:tr h="384048">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2026</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A3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2026</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CF0DC"/>
                    </a:solidFill>
                  </a:tcPr>
                </a:tc>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NULL</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CF0DC"/>
                    </a:solidFill>
                  </a:tcPr>
                </a:tc>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3,368,500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CF0DC"/>
                    </a:solidFill>
                  </a:tcPr>
                </a:tc>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CF0DC"/>
                    </a:solidFill>
                  </a:tcPr>
                </a:tc>
                <a:extLst>
                  <a:ext uri="{0D108BD9-81ED-4DB2-BD59-A6C34878D82A}">
                    <a16:rowId xmlns:a16="http://schemas.microsoft.com/office/drawing/2014/main" val="10006"/>
                  </a:ext>
                </a:extLst>
              </a:tr>
              <a:tr h="384048">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NULL</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BE6E8"/>
                    </a:solidFill>
                  </a:tcPr>
                </a:tc>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NULL</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BE6E8"/>
                    </a:solidFill>
                  </a:tcPr>
                </a:tc>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8,018,800</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BE6E8"/>
                    </a:solidFill>
                  </a:tcPr>
                </a:tc>
                <a:tc>
                  <a:txBody>
                    <a:bodyPr/>
                    <a:lstStyle/>
                    <a:p>
                      <a:pPr marL="0" indent="0">
                        <a:buNone/>
                      </a:pPr>
                      <a:r>
                        <a:rPr lang="en-US" sz="1200" b="1" dirty="0">
                          <a:solidFill>
                            <a:srgbClr val="1F2A3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BE6E8"/>
                    </a:solidFill>
                  </a:tcPr>
                </a:tc>
                <a:extLst>
                  <a:ext uri="{0D108BD9-81ED-4DB2-BD59-A6C34878D82A}">
                    <a16:rowId xmlns:a16="http://schemas.microsoft.com/office/drawing/2014/main" val="10007"/>
                  </a:ext>
                </a:extLst>
              </a:tr>
            </a:tbl>
          </a:graphicData>
        </a:graphic>
      </p:graphicFrame>
      <p:sp>
        <p:nvSpPr>
          <p:cNvPr id="12" name="Text 8"/>
          <p:cNvSpPr txBox="1"/>
          <p:nvPr/>
        </p:nvSpPr>
        <p:spPr>
          <a:xfrm>
            <a:off x="6858000" y="4846320"/>
            <a:ext cx="4785055" cy="274320"/>
          </a:xfrm>
          <a:prstGeom prst="rect">
            <a:avLst/>
          </a:prstGeom>
          <a:noFill/>
          <a:ln/>
        </p:spPr>
        <p:txBody>
          <a:bodyPr wrap="square" lIns="0" tIns="0" rIns="0" bIns="0" rtlCol="0" anchor="t"/>
          <a:lstStyle/>
          <a:p>
            <a:pPr marL="0" indent="0">
              <a:buNone/>
            </a:pPr>
            <a:r>
              <a:rPr lang="en-US" sz="1150" dirty="0">
                <a:solidFill>
                  <a:srgbClr val="E89B2D"/>
                </a:solidFill>
                <a:latin typeface="Calibri" pitchFamily="34" charset="0"/>
                <a:ea typeface="Calibri" pitchFamily="34" charset="-122"/>
                <a:cs typeface="Calibri" pitchFamily="34" charset="-120"/>
              </a:rPr>
              <a:t>■ </a:t>
            </a:r>
            <a:r>
              <a:rPr lang="en-US" sz="1150" dirty="0">
                <a:solidFill>
                  <a:srgbClr val="5B6B7B"/>
                </a:solidFill>
                <a:latin typeface="Calibri" pitchFamily="34" charset="0"/>
                <a:ea typeface="Calibri" pitchFamily="34" charset="-122"/>
                <a:cs typeface="Calibri" pitchFamily="34" charset="-120"/>
              </a:rPr>
              <a:t>year subtotals   </a:t>
            </a:r>
            <a:r>
              <a:rPr lang="en-US" sz="1150" dirty="0">
                <a:solidFill>
                  <a:srgbClr val="C8414F"/>
                </a:solidFill>
                <a:latin typeface="Calibri" pitchFamily="34" charset="0"/>
                <a:ea typeface="Calibri" pitchFamily="34" charset="-122"/>
                <a:cs typeface="Calibri" pitchFamily="34" charset="-120"/>
              </a:rPr>
              <a:t>■ </a:t>
            </a:r>
            <a:r>
              <a:rPr lang="en-US" sz="1150" dirty="0">
                <a:solidFill>
                  <a:srgbClr val="5B6B7B"/>
                </a:solidFill>
                <a:latin typeface="Calibri" pitchFamily="34" charset="0"/>
                <a:ea typeface="Calibri" pitchFamily="34" charset="-122"/>
                <a:cs typeface="Calibri" pitchFamily="34" charset="-120"/>
              </a:rPr>
              <a:t>grand total</a:t>
            </a:r>
            <a:endParaRPr lang="en-US" sz="1150" dirty="0"/>
          </a:p>
        </p:txBody>
      </p:sp>
      <p:sp>
        <p:nvSpPr>
          <p:cNvPr id="13" name="Shape 9"/>
          <p:cNvSpPr/>
          <p:nvPr/>
        </p:nvSpPr>
        <p:spPr>
          <a:xfrm>
            <a:off x="548640" y="4206240"/>
            <a:ext cx="6035040" cy="1371600"/>
          </a:xfrm>
          <a:prstGeom prst="roundRect">
            <a:avLst>
              <a:gd name="adj" fmla="val 5333"/>
            </a:avLst>
          </a:prstGeom>
          <a:solidFill>
            <a:srgbClr val="F3F6F9"/>
          </a:solidFill>
          <a:ln w="9525">
            <a:solidFill>
              <a:srgbClr val="F3F6F9"/>
            </a:solidFill>
            <a:prstDash val="solid"/>
          </a:ln>
        </p:spPr>
        <p:txBody>
          <a:bodyPr/>
          <a:lstStyle/>
          <a:p>
            <a:endParaRPr lang="en-US"/>
          </a:p>
        </p:txBody>
      </p:sp>
      <p:sp>
        <p:nvSpPr>
          <p:cNvPr id="14" name="Text 10"/>
          <p:cNvSpPr txBox="1"/>
          <p:nvPr/>
        </p:nvSpPr>
        <p:spPr>
          <a:xfrm>
            <a:off x="731520" y="4206240"/>
            <a:ext cx="5669280" cy="1371600"/>
          </a:xfrm>
          <a:prstGeom prst="rect">
            <a:avLst/>
          </a:prstGeom>
          <a:noFill/>
          <a:ln/>
        </p:spPr>
        <p:txBody>
          <a:bodyPr wrap="square" lIns="0" tIns="0" rIns="0" bIns="0" rtlCol="0" anchor="ctr"/>
          <a:lstStyle/>
          <a:p>
            <a:pPr marL="0" indent="0">
              <a:buNone/>
            </a:pPr>
            <a:r>
              <a:rPr lang="en-US" sz="1300" b="1" dirty="0">
                <a:solidFill>
                  <a:srgbClr val="12263A"/>
                </a:solidFill>
                <a:latin typeface="Calibri" pitchFamily="34" charset="0"/>
                <a:ea typeface="Calibri" pitchFamily="34" charset="-122"/>
                <a:cs typeface="Calibri" pitchFamily="34" charset="-120"/>
              </a:rPr>
              <a:t>ROLLUP(year, quarter) = three GROUP BYs: </a:t>
            </a:r>
            <a:r>
              <a:rPr lang="en-US" sz="1300" dirty="0">
                <a:solidFill>
                  <a:srgbClr val="1F2A37"/>
                </a:solidFill>
                <a:latin typeface="Calibri" pitchFamily="34" charset="0"/>
                <a:ea typeface="Calibri" pitchFamily="34" charset="-122"/>
                <a:cs typeface="Calibri" pitchFamily="34" charset="-120"/>
              </a:rPr>
              <a:t>(year, quarter) → detail;  (year) → subtotal;  () → grand total. Order matters: list columns from summary to detail.</a:t>
            </a:r>
            <a:endParaRPr lang="en-US" sz="1300" dirty="0"/>
          </a:p>
        </p:txBody>
      </p:sp>
      <p:sp>
        <p:nvSpPr>
          <p:cNvPr id="15" name="Shape 11"/>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16" name="Shape 12"/>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17"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18" name="Text 13"/>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ROLLUP follows a hierarchy; NULL in a subtotal row means “all” — grouping() tells you which NULLs are subtotals.</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37</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ALL COMBINATIONS — OR JUST THE ONES YOU NEED</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GROUP BY CUBE and GROUPING SETS</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B · OLAP</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Text 5"/>
          <p:cNvSpPr txBox="1"/>
          <p:nvPr/>
        </p:nvSpPr>
        <p:spPr>
          <a:xfrm>
            <a:off x="548640" y="1645920"/>
            <a:ext cx="5410048" cy="320040"/>
          </a:xfrm>
          <a:prstGeom prst="rect">
            <a:avLst/>
          </a:prstGeom>
          <a:noFill/>
          <a:ln/>
        </p:spPr>
        <p:txBody>
          <a:bodyPr wrap="square" lIns="0" tIns="0" rIns="0" bIns="0" rtlCol="0" anchor="t"/>
          <a:lstStyle/>
          <a:p>
            <a:pPr marL="0" indent="0">
              <a:buNone/>
            </a:pPr>
            <a:r>
              <a:rPr lang="en-US" sz="1400" b="1" dirty="0">
                <a:solidFill>
                  <a:srgbClr val="5B4BA6"/>
                </a:solidFill>
                <a:latin typeface="Calibri" pitchFamily="34" charset="0"/>
                <a:ea typeface="Calibri" pitchFamily="34" charset="-122"/>
                <a:cs typeface="Calibri" pitchFamily="34" charset="-120"/>
              </a:rPr>
              <a:t>CUBE — every combination (2ⁿ groupings)</a:t>
            </a:r>
            <a:endParaRPr lang="en-US" sz="1400" dirty="0"/>
          </a:p>
        </p:txBody>
      </p:sp>
      <p:sp>
        <p:nvSpPr>
          <p:cNvPr id="9" name="Shape 6"/>
          <p:cNvSpPr/>
          <p:nvPr/>
        </p:nvSpPr>
        <p:spPr>
          <a:xfrm>
            <a:off x="548640" y="2011680"/>
            <a:ext cx="5410048" cy="1920240"/>
          </a:xfrm>
          <a:prstGeom prst="roundRect">
            <a:avLst>
              <a:gd name="adj" fmla="val 2857"/>
            </a:avLst>
          </a:prstGeom>
          <a:solidFill>
            <a:srgbClr val="0F1E2E"/>
          </a:solidFill>
          <a:ln w="9525">
            <a:solidFill>
              <a:srgbClr val="0F1E2E"/>
            </a:solidFill>
            <a:prstDash val="solid"/>
          </a:ln>
        </p:spPr>
        <p:txBody>
          <a:bodyPr/>
          <a:lstStyle/>
          <a:p>
            <a:endParaRPr lang="en-US"/>
          </a:p>
        </p:txBody>
      </p:sp>
      <p:sp>
        <p:nvSpPr>
          <p:cNvPr id="10" name="Text 7"/>
          <p:cNvSpPr txBox="1"/>
          <p:nvPr/>
        </p:nvSpPr>
        <p:spPr>
          <a:xfrm>
            <a:off x="4769968" y="210312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11" name="Text 8"/>
          <p:cNvSpPr txBox="1"/>
          <p:nvPr/>
        </p:nvSpPr>
        <p:spPr>
          <a:xfrm>
            <a:off x="749808" y="2304288"/>
            <a:ext cx="5044288" cy="1536192"/>
          </a:xfrm>
          <a:prstGeom prst="rect">
            <a:avLst/>
          </a:prstGeom>
          <a:noFill/>
          <a:ln/>
        </p:spPr>
        <p:txBody>
          <a:bodyPr wrap="square" lIns="0" tIns="0" rIns="0" bIns="0" rtlCol="0" anchor="t"/>
          <a:lstStyle/>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SELECT st.region, p.category,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SUM(f.sales_amount) AS revenue,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grouping_id(st.region, p.category) AS level</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FROM   gold.fact_sales f</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gold.dim_store   st USING (store_key)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gold.dim_product p  USING (product_key)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GROUP  BY CUBE (st.region, p.category);</a:t>
            </a:r>
            <a:endParaRPr lang="en-US" sz="1050" dirty="0"/>
          </a:p>
        </p:txBody>
      </p:sp>
      <p:sp>
        <p:nvSpPr>
          <p:cNvPr id="12" name="Text 9"/>
          <p:cNvSpPr txBox="1"/>
          <p:nvPr/>
        </p:nvSpPr>
        <p:spPr>
          <a:xfrm>
            <a:off x="6233008" y="1645920"/>
            <a:ext cx="5410048" cy="320040"/>
          </a:xfrm>
          <a:prstGeom prst="rect">
            <a:avLst/>
          </a:prstGeom>
          <a:noFill/>
          <a:ln/>
        </p:spPr>
        <p:txBody>
          <a:bodyPr wrap="square" lIns="0" tIns="0" rIns="0" bIns="0" rtlCol="0" anchor="t"/>
          <a:lstStyle/>
          <a:p>
            <a:pPr marL="0" indent="0">
              <a:buNone/>
            </a:pPr>
            <a:r>
              <a:rPr lang="en-US" sz="1400" b="1" dirty="0">
                <a:solidFill>
                  <a:srgbClr val="0E7C7B"/>
                </a:solidFill>
                <a:latin typeface="Calibri" pitchFamily="34" charset="0"/>
                <a:ea typeface="Calibri" pitchFamily="34" charset="-122"/>
                <a:cs typeface="Calibri" pitchFamily="34" charset="-120"/>
              </a:rPr>
              <a:t>GROUPING SETS — only the groupings you list</a:t>
            </a:r>
            <a:endParaRPr lang="en-US" sz="1400" dirty="0"/>
          </a:p>
        </p:txBody>
      </p:sp>
      <p:sp>
        <p:nvSpPr>
          <p:cNvPr id="13" name="Shape 10"/>
          <p:cNvSpPr/>
          <p:nvPr/>
        </p:nvSpPr>
        <p:spPr>
          <a:xfrm>
            <a:off x="6233008" y="2011680"/>
            <a:ext cx="5410048" cy="1920240"/>
          </a:xfrm>
          <a:prstGeom prst="roundRect">
            <a:avLst>
              <a:gd name="adj" fmla="val 2857"/>
            </a:avLst>
          </a:prstGeom>
          <a:solidFill>
            <a:srgbClr val="0F1E2E"/>
          </a:solidFill>
          <a:ln w="9525">
            <a:solidFill>
              <a:srgbClr val="0F1E2E"/>
            </a:solidFill>
            <a:prstDash val="solid"/>
          </a:ln>
        </p:spPr>
        <p:txBody>
          <a:bodyPr/>
          <a:lstStyle/>
          <a:p>
            <a:endParaRPr lang="en-US"/>
          </a:p>
        </p:txBody>
      </p:sp>
      <p:sp>
        <p:nvSpPr>
          <p:cNvPr id="14" name="Text 11"/>
          <p:cNvSpPr txBox="1"/>
          <p:nvPr/>
        </p:nvSpPr>
        <p:spPr>
          <a:xfrm>
            <a:off x="10454335" y="210312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15" name="Text 12"/>
          <p:cNvSpPr txBox="1"/>
          <p:nvPr/>
        </p:nvSpPr>
        <p:spPr>
          <a:xfrm>
            <a:off x="6434176" y="2304288"/>
            <a:ext cx="5044288" cy="1536192"/>
          </a:xfrm>
          <a:prstGeom prst="rect">
            <a:avLst/>
          </a:prstGeom>
          <a:noFill/>
          <a:ln/>
        </p:spPr>
        <p:txBody>
          <a:bodyPr wrap="square" lIns="0" tIns="0" rIns="0" bIns="0" rtlCol="0" anchor="t"/>
          <a:lstStyle/>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SELECT st.region, p.category,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SUM(f.sales_amount) AS revenue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FROM   gold.fact_sales f</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gold.dim_store   st USING (store_key)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JOIN   gold.dim_product p  USING (product_key)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GROUP  BY GROUPING SETS ((st.region, p.category),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(st.region), ());</a:t>
            </a:r>
            <a:endParaRPr lang="en-US" sz="10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11094415" cy="1463040"/>
        </p:xfrm>
        <a:graphic>
          <a:graphicData uri="http://schemas.openxmlformats.org/drawingml/2006/table">
            <a:tbl>
              <a:tblPr/>
              <a:tblGrid>
                <a:gridCol w="2926080">
                  <a:extLst>
                    <a:ext uri="{9D8B030D-6E8A-4147-A177-3AD203B41FA5}">
                      <a16:colId xmlns:a16="http://schemas.microsoft.com/office/drawing/2014/main" val="20000"/>
                    </a:ext>
                  </a:extLst>
                </a:gridCol>
                <a:gridCol w="8168335">
                  <a:extLst>
                    <a:ext uri="{9D8B030D-6E8A-4147-A177-3AD203B41FA5}">
                      <a16:colId xmlns:a16="http://schemas.microsoft.com/office/drawing/2014/main" val="20001"/>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Clause</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Groupings produced for (region, category)</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365760">
                <a:tc>
                  <a:txBody>
                    <a:bodyPr/>
                    <a:lstStyle/>
                    <a:p>
                      <a:pPr marL="0" indent="0">
                        <a:buNone/>
                      </a:pPr>
                      <a:r>
                        <a:rPr lang="en-US" sz="1250" b="1" dirty="0">
                          <a:solidFill>
                            <a:srgbClr val="1F2A37"/>
                          </a:solidFill>
                          <a:latin typeface="Calibri" pitchFamily="34" charset="0"/>
                          <a:ea typeface="Calibri" pitchFamily="34" charset="-122"/>
                          <a:cs typeface="Calibri" pitchFamily="34" charset="-120"/>
                        </a:rPr>
                        <a:t>ROLLUP(region, category)</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50" dirty="0">
                          <a:solidFill>
                            <a:srgbClr val="1F2A37"/>
                          </a:solidFill>
                          <a:latin typeface="Calibri" pitchFamily="34" charset="0"/>
                          <a:ea typeface="Calibri" pitchFamily="34" charset="-122"/>
                          <a:cs typeface="Calibri" pitchFamily="34" charset="-120"/>
                        </a:rPr>
                        <a:t>(region, category) · (region) · ()</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250" b="1" dirty="0">
                          <a:solidFill>
                            <a:srgbClr val="1F2A37"/>
                          </a:solidFill>
                          <a:latin typeface="Calibri" pitchFamily="34" charset="0"/>
                          <a:ea typeface="Calibri" pitchFamily="34" charset="-122"/>
                          <a:cs typeface="Calibri" pitchFamily="34" charset="-120"/>
                        </a:rPr>
                        <a:t>CUBE(region, category)</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250" dirty="0">
                          <a:solidFill>
                            <a:srgbClr val="1F2A37"/>
                          </a:solidFill>
                          <a:latin typeface="Calibri" pitchFamily="34" charset="0"/>
                          <a:ea typeface="Calibri" pitchFamily="34" charset="-122"/>
                          <a:cs typeface="Calibri" pitchFamily="34" charset="-120"/>
                        </a:rPr>
                        <a:t>(region, category) · (region) · (category) · ()</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365760">
                <a:tc>
                  <a:txBody>
                    <a:bodyPr/>
                    <a:lstStyle/>
                    <a:p>
                      <a:pPr marL="0" indent="0">
                        <a:buNone/>
                      </a:pPr>
                      <a:r>
                        <a:rPr lang="en-US" sz="1250" b="1" dirty="0">
                          <a:solidFill>
                            <a:srgbClr val="1F2A37"/>
                          </a:solidFill>
                          <a:latin typeface="Calibri" pitchFamily="34" charset="0"/>
                          <a:ea typeface="Calibri" pitchFamily="34" charset="-122"/>
                          <a:cs typeface="Calibri" pitchFamily="34" charset="-120"/>
                        </a:rPr>
                        <a:t>GROUPING SETS(…)</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250" dirty="0">
                          <a:solidFill>
                            <a:srgbClr val="1F2A37"/>
                          </a:solidFill>
                          <a:latin typeface="Calibri" pitchFamily="34" charset="0"/>
                          <a:ea typeface="Calibri" pitchFamily="34" charset="-122"/>
                          <a:cs typeface="Calibri" pitchFamily="34" charset="-120"/>
                        </a:rPr>
                        <a:t>exactly the sets you list</a:t>
                      </a:r>
                      <a:endParaRPr lang="en-US" sz="12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Shape 13"/>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18" name="Shape 14"/>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19"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20" name="Text 15"/>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ROLLUP for hierarchies, CUBE for all combinations, GROUPING SETS when you know exactly which totals you need.</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38</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WHY CUBES GET BIG</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The cuboid lattice: every combination of dimensions is a GROUP BY</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B · OLAP</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flipH="1">
            <a:off x="1874520" y="2286000"/>
            <a:ext cx="2240280" cy="457200"/>
          </a:xfrm>
          <a:prstGeom prst="line">
            <a:avLst/>
          </a:prstGeom>
          <a:noFill/>
          <a:ln w="15875">
            <a:solidFill>
              <a:srgbClr val="D5DEE7"/>
            </a:solidFill>
            <a:prstDash val="solid"/>
          </a:ln>
        </p:spPr>
        <p:txBody>
          <a:bodyPr/>
          <a:lstStyle/>
          <a:p>
            <a:endParaRPr lang="en-US"/>
          </a:p>
        </p:txBody>
      </p:sp>
      <p:sp>
        <p:nvSpPr>
          <p:cNvPr id="9" name="Shape 6"/>
          <p:cNvSpPr/>
          <p:nvPr/>
        </p:nvSpPr>
        <p:spPr>
          <a:xfrm>
            <a:off x="4114800" y="2286000"/>
            <a:ext cx="914" cy="457200"/>
          </a:xfrm>
          <a:prstGeom prst="line">
            <a:avLst/>
          </a:prstGeom>
          <a:noFill/>
          <a:ln w="15875">
            <a:solidFill>
              <a:srgbClr val="D5DEE7"/>
            </a:solidFill>
            <a:prstDash val="solid"/>
          </a:ln>
        </p:spPr>
        <p:txBody>
          <a:bodyPr/>
          <a:lstStyle/>
          <a:p>
            <a:endParaRPr lang="en-US"/>
          </a:p>
        </p:txBody>
      </p:sp>
      <p:sp>
        <p:nvSpPr>
          <p:cNvPr id="10" name="Shape 7"/>
          <p:cNvSpPr/>
          <p:nvPr/>
        </p:nvSpPr>
        <p:spPr>
          <a:xfrm>
            <a:off x="4114800" y="2286000"/>
            <a:ext cx="2240280" cy="457200"/>
          </a:xfrm>
          <a:prstGeom prst="line">
            <a:avLst/>
          </a:prstGeom>
          <a:noFill/>
          <a:ln w="15875">
            <a:solidFill>
              <a:srgbClr val="D5DEE7"/>
            </a:solidFill>
            <a:prstDash val="solid"/>
          </a:ln>
        </p:spPr>
        <p:txBody>
          <a:bodyPr/>
          <a:lstStyle/>
          <a:p>
            <a:endParaRPr lang="en-US"/>
          </a:p>
        </p:txBody>
      </p:sp>
      <p:sp>
        <p:nvSpPr>
          <p:cNvPr id="11" name="Shape 8"/>
          <p:cNvSpPr/>
          <p:nvPr/>
        </p:nvSpPr>
        <p:spPr>
          <a:xfrm>
            <a:off x="1874520" y="3246120"/>
            <a:ext cx="914" cy="457200"/>
          </a:xfrm>
          <a:prstGeom prst="line">
            <a:avLst/>
          </a:prstGeom>
          <a:noFill/>
          <a:ln w="15875">
            <a:solidFill>
              <a:srgbClr val="D5DEE7"/>
            </a:solidFill>
            <a:prstDash val="solid"/>
          </a:ln>
        </p:spPr>
        <p:txBody>
          <a:bodyPr/>
          <a:lstStyle/>
          <a:p>
            <a:endParaRPr lang="en-US"/>
          </a:p>
        </p:txBody>
      </p:sp>
      <p:sp>
        <p:nvSpPr>
          <p:cNvPr id="12" name="Shape 9"/>
          <p:cNvSpPr/>
          <p:nvPr/>
        </p:nvSpPr>
        <p:spPr>
          <a:xfrm>
            <a:off x="1874520" y="3246120"/>
            <a:ext cx="2240280" cy="457200"/>
          </a:xfrm>
          <a:prstGeom prst="line">
            <a:avLst/>
          </a:prstGeom>
          <a:noFill/>
          <a:ln w="15875">
            <a:solidFill>
              <a:srgbClr val="D5DEE7"/>
            </a:solidFill>
            <a:prstDash val="solid"/>
          </a:ln>
        </p:spPr>
        <p:txBody>
          <a:bodyPr/>
          <a:lstStyle/>
          <a:p>
            <a:endParaRPr lang="en-US"/>
          </a:p>
        </p:txBody>
      </p:sp>
      <p:sp>
        <p:nvSpPr>
          <p:cNvPr id="13" name="Shape 10"/>
          <p:cNvSpPr/>
          <p:nvPr/>
        </p:nvSpPr>
        <p:spPr>
          <a:xfrm flipH="1">
            <a:off x="1874520" y="3246120"/>
            <a:ext cx="2240280" cy="457200"/>
          </a:xfrm>
          <a:prstGeom prst="line">
            <a:avLst/>
          </a:prstGeom>
          <a:noFill/>
          <a:ln w="15875">
            <a:solidFill>
              <a:srgbClr val="D5DEE7"/>
            </a:solidFill>
            <a:prstDash val="solid"/>
          </a:ln>
        </p:spPr>
        <p:txBody>
          <a:bodyPr/>
          <a:lstStyle/>
          <a:p>
            <a:endParaRPr lang="en-US"/>
          </a:p>
        </p:txBody>
      </p:sp>
      <p:sp>
        <p:nvSpPr>
          <p:cNvPr id="14" name="Shape 11"/>
          <p:cNvSpPr/>
          <p:nvPr/>
        </p:nvSpPr>
        <p:spPr>
          <a:xfrm>
            <a:off x="4114800" y="3246120"/>
            <a:ext cx="2240280" cy="457200"/>
          </a:xfrm>
          <a:prstGeom prst="line">
            <a:avLst/>
          </a:prstGeom>
          <a:noFill/>
          <a:ln w="15875">
            <a:solidFill>
              <a:srgbClr val="D5DEE7"/>
            </a:solidFill>
            <a:prstDash val="solid"/>
          </a:ln>
        </p:spPr>
        <p:txBody>
          <a:bodyPr/>
          <a:lstStyle/>
          <a:p>
            <a:endParaRPr lang="en-US"/>
          </a:p>
        </p:txBody>
      </p:sp>
      <p:sp>
        <p:nvSpPr>
          <p:cNvPr id="15" name="Shape 12"/>
          <p:cNvSpPr/>
          <p:nvPr/>
        </p:nvSpPr>
        <p:spPr>
          <a:xfrm flipH="1">
            <a:off x="4114800" y="3246120"/>
            <a:ext cx="2240280" cy="457200"/>
          </a:xfrm>
          <a:prstGeom prst="line">
            <a:avLst/>
          </a:prstGeom>
          <a:noFill/>
          <a:ln w="15875">
            <a:solidFill>
              <a:srgbClr val="D5DEE7"/>
            </a:solidFill>
            <a:prstDash val="solid"/>
          </a:ln>
        </p:spPr>
        <p:txBody>
          <a:bodyPr/>
          <a:lstStyle/>
          <a:p>
            <a:endParaRPr lang="en-US"/>
          </a:p>
        </p:txBody>
      </p:sp>
      <p:sp>
        <p:nvSpPr>
          <p:cNvPr id="16" name="Shape 13"/>
          <p:cNvSpPr/>
          <p:nvPr/>
        </p:nvSpPr>
        <p:spPr>
          <a:xfrm>
            <a:off x="6355080" y="3246120"/>
            <a:ext cx="914" cy="457200"/>
          </a:xfrm>
          <a:prstGeom prst="line">
            <a:avLst/>
          </a:prstGeom>
          <a:noFill/>
          <a:ln w="15875">
            <a:solidFill>
              <a:srgbClr val="D5DEE7"/>
            </a:solidFill>
            <a:prstDash val="solid"/>
          </a:ln>
        </p:spPr>
        <p:txBody>
          <a:bodyPr/>
          <a:lstStyle/>
          <a:p>
            <a:endParaRPr lang="en-US"/>
          </a:p>
        </p:txBody>
      </p:sp>
      <p:sp>
        <p:nvSpPr>
          <p:cNvPr id="17" name="Shape 14"/>
          <p:cNvSpPr/>
          <p:nvPr/>
        </p:nvSpPr>
        <p:spPr>
          <a:xfrm>
            <a:off x="1874520" y="4206240"/>
            <a:ext cx="2240280" cy="457200"/>
          </a:xfrm>
          <a:prstGeom prst="line">
            <a:avLst/>
          </a:prstGeom>
          <a:noFill/>
          <a:ln w="15875">
            <a:solidFill>
              <a:srgbClr val="D5DEE7"/>
            </a:solidFill>
            <a:prstDash val="solid"/>
          </a:ln>
        </p:spPr>
        <p:txBody>
          <a:bodyPr/>
          <a:lstStyle/>
          <a:p>
            <a:endParaRPr lang="en-US"/>
          </a:p>
        </p:txBody>
      </p:sp>
      <p:sp>
        <p:nvSpPr>
          <p:cNvPr id="18" name="Shape 15"/>
          <p:cNvSpPr/>
          <p:nvPr/>
        </p:nvSpPr>
        <p:spPr>
          <a:xfrm>
            <a:off x="4114800" y="4206240"/>
            <a:ext cx="914" cy="457200"/>
          </a:xfrm>
          <a:prstGeom prst="line">
            <a:avLst/>
          </a:prstGeom>
          <a:noFill/>
          <a:ln w="15875">
            <a:solidFill>
              <a:srgbClr val="D5DEE7"/>
            </a:solidFill>
            <a:prstDash val="solid"/>
          </a:ln>
        </p:spPr>
        <p:txBody>
          <a:bodyPr/>
          <a:lstStyle/>
          <a:p>
            <a:endParaRPr lang="en-US"/>
          </a:p>
        </p:txBody>
      </p:sp>
      <p:sp>
        <p:nvSpPr>
          <p:cNvPr id="19" name="Shape 16"/>
          <p:cNvSpPr/>
          <p:nvPr/>
        </p:nvSpPr>
        <p:spPr>
          <a:xfrm flipH="1">
            <a:off x="4114800" y="4206240"/>
            <a:ext cx="2240280" cy="457200"/>
          </a:xfrm>
          <a:prstGeom prst="line">
            <a:avLst/>
          </a:prstGeom>
          <a:noFill/>
          <a:ln w="15875">
            <a:solidFill>
              <a:srgbClr val="D5DEE7"/>
            </a:solidFill>
            <a:prstDash val="solid"/>
          </a:ln>
        </p:spPr>
        <p:txBody>
          <a:bodyPr/>
          <a:lstStyle/>
          <a:p>
            <a:endParaRPr lang="en-US"/>
          </a:p>
        </p:txBody>
      </p:sp>
      <p:sp>
        <p:nvSpPr>
          <p:cNvPr id="20" name="Shape 17"/>
          <p:cNvSpPr/>
          <p:nvPr/>
        </p:nvSpPr>
        <p:spPr>
          <a:xfrm>
            <a:off x="3154680" y="1783080"/>
            <a:ext cx="1920240" cy="502920"/>
          </a:xfrm>
          <a:prstGeom prst="roundRect">
            <a:avLst>
              <a:gd name="adj" fmla="val 18182"/>
            </a:avLst>
          </a:prstGeom>
          <a:solidFill>
            <a:srgbClr val="5B4BA6"/>
          </a:solidFill>
          <a:ln w="9525">
            <a:solidFill>
              <a:srgbClr val="5B4BA6"/>
            </a:solidFill>
            <a:prstDash val="solid"/>
          </a:ln>
        </p:spPr>
        <p:txBody>
          <a:bodyPr/>
          <a:lstStyle/>
          <a:p>
            <a:endParaRPr lang="en-US"/>
          </a:p>
        </p:txBody>
      </p:sp>
      <p:sp>
        <p:nvSpPr>
          <p:cNvPr id="21" name="Text 18"/>
          <p:cNvSpPr txBox="1"/>
          <p:nvPr/>
        </p:nvSpPr>
        <p:spPr>
          <a:xfrm>
            <a:off x="3154680" y="1783080"/>
            <a:ext cx="19202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19"/>
          <p:cNvSpPr txBox="1"/>
          <p:nvPr/>
        </p:nvSpPr>
        <p:spPr>
          <a:xfrm>
            <a:off x="7635240" y="1783080"/>
            <a:ext cx="1554480" cy="502920"/>
          </a:xfrm>
          <a:prstGeom prst="rect">
            <a:avLst/>
          </a:prstGeom>
          <a:noFill/>
          <a:ln/>
        </p:spPr>
        <p:txBody>
          <a:bodyPr wrap="square" lIns="0" tIns="0" rIns="0" bIns="0" rtlCol="0" anchor="ctr"/>
          <a:lstStyle/>
          <a:p>
            <a:pPr marL="0" indent="0">
              <a:buNone/>
            </a:pPr>
            <a:r>
              <a:rPr lang="en-US" sz="1100" i="1" dirty="0">
                <a:solidFill>
                  <a:srgbClr val="5B6B7B"/>
                </a:solidFill>
                <a:latin typeface="Calibri" pitchFamily="34" charset="0"/>
                <a:ea typeface="Calibri" pitchFamily="34" charset="-122"/>
                <a:cs typeface="Calibri" pitchFamily="34" charset="-120"/>
              </a:rPr>
              <a:t>apex: grand total</a:t>
            </a:r>
            <a:endParaRPr lang="en-US" sz="1100" dirty="0"/>
          </a:p>
        </p:txBody>
      </p:sp>
      <p:sp>
        <p:nvSpPr>
          <p:cNvPr id="23" name="Shape 20"/>
          <p:cNvSpPr/>
          <p:nvPr/>
        </p:nvSpPr>
        <p:spPr>
          <a:xfrm>
            <a:off x="914400" y="2743200"/>
            <a:ext cx="1920240" cy="502920"/>
          </a:xfrm>
          <a:prstGeom prst="roundRect">
            <a:avLst>
              <a:gd name="adj" fmla="val 18182"/>
            </a:avLst>
          </a:prstGeom>
          <a:solidFill>
            <a:srgbClr val="ECE9F7"/>
          </a:solidFill>
          <a:ln w="9525">
            <a:solidFill>
              <a:srgbClr val="5B4BA6"/>
            </a:solidFill>
            <a:prstDash val="solid"/>
          </a:ln>
        </p:spPr>
        <p:txBody>
          <a:bodyPr/>
          <a:lstStyle/>
          <a:p>
            <a:endParaRPr lang="en-US"/>
          </a:p>
        </p:txBody>
      </p:sp>
      <p:sp>
        <p:nvSpPr>
          <p:cNvPr id="24" name="Text 21"/>
          <p:cNvSpPr txBox="1"/>
          <p:nvPr/>
        </p:nvSpPr>
        <p:spPr>
          <a:xfrm>
            <a:off x="914400" y="2743200"/>
            <a:ext cx="1920240" cy="502920"/>
          </a:xfrm>
          <a:prstGeom prst="rect">
            <a:avLst/>
          </a:prstGeom>
          <a:noFill/>
          <a:ln/>
        </p:spPr>
        <p:txBody>
          <a:bodyPr wrap="square" lIns="0" tIns="0" rIns="0" bIns="0" rtlCol="0" anchor="ctr"/>
          <a:lstStyle/>
          <a:p>
            <a:pPr marL="0" indent="0" algn="ctr">
              <a:buNone/>
            </a:pPr>
            <a:r>
              <a:rPr lang="en-US" sz="1200" b="1" dirty="0">
                <a:solidFill>
                  <a:srgbClr val="12263A"/>
                </a:solidFill>
                <a:latin typeface="Calibri" pitchFamily="34" charset="0"/>
                <a:ea typeface="Calibri" pitchFamily="34" charset="-122"/>
                <a:cs typeface="Calibri" pitchFamily="34" charset="-120"/>
              </a:rPr>
              <a:t>(Date)</a:t>
            </a:r>
            <a:endParaRPr lang="en-US" sz="1200" dirty="0"/>
          </a:p>
        </p:txBody>
      </p:sp>
      <p:sp>
        <p:nvSpPr>
          <p:cNvPr id="25" name="Shape 22"/>
          <p:cNvSpPr/>
          <p:nvPr/>
        </p:nvSpPr>
        <p:spPr>
          <a:xfrm>
            <a:off x="3154680" y="2743200"/>
            <a:ext cx="1920240" cy="502920"/>
          </a:xfrm>
          <a:prstGeom prst="roundRect">
            <a:avLst>
              <a:gd name="adj" fmla="val 18182"/>
            </a:avLst>
          </a:prstGeom>
          <a:solidFill>
            <a:srgbClr val="ECE9F7"/>
          </a:solidFill>
          <a:ln w="9525">
            <a:solidFill>
              <a:srgbClr val="5B4BA6"/>
            </a:solidFill>
            <a:prstDash val="solid"/>
          </a:ln>
        </p:spPr>
        <p:txBody>
          <a:bodyPr/>
          <a:lstStyle/>
          <a:p>
            <a:endParaRPr lang="en-US"/>
          </a:p>
        </p:txBody>
      </p:sp>
      <p:sp>
        <p:nvSpPr>
          <p:cNvPr id="26" name="Text 23"/>
          <p:cNvSpPr txBox="1"/>
          <p:nvPr/>
        </p:nvSpPr>
        <p:spPr>
          <a:xfrm>
            <a:off x="3154680" y="2743200"/>
            <a:ext cx="1920240" cy="502920"/>
          </a:xfrm>
          <a:prstGeom prst="rect">
            <a:avLst/>
          </a:prstGeom>
          <a:noFill/>
          <a:ln/>
        </p:spPr>
        <p:txBody>
          <a:bodyPr wrap="square" lIns="0" tIns="0" rIns="0" bIns="0" rtlCol="0" anchor="ctr"/>
          <a:lstStyle/>
          <a:p>
            <a:pPr marL="0" indent="0" algn="ctr">
              <a:buNone/>
            </a:pPr>
            <a:r>
              <a:rPr lang="en-US" sz="1200" b="1" dirty="0">
                <a:solidFill>
                  <a:srgbClr val="12263A"/>
                </a:solidFill>
                <a:latin typeface="Calibri" pitchFamily="34" charset="0"/>
                <a:ea typeface="Calibri" pitchFamily="34" charset="-122"/>
                <a:cs typeface="Calibri" pitchFamily="34" charset="-120"/>
              </a:rPr>
              <a:t>(Product)</a:t>
            </a:r>
            <a:endParaRPr lang="en-US" sz="1200" dirty="0"/>
          </a:p>
        </p:txBody>
      </p:sp>
      <p:sp>
        <p:nvSpPr>
          <p:cNvPr id="27" name="Shape 24"/>
          <p:cNvSpPr/>
          <p:nvPr/>
        </p:nvSpPr>
        <p:spPr>
          <a:xfrm>
            <a:off x="5394960" y="2743200"/>
            <a:ext cx="1920240" cy="502920"/>
          </a:xfrm>
          <a:prstGeom prst="roundRect">
            <a:avLst>
              <a:gd name="adj" fmla="val 18182"/>
            </a:avLst>
          </a:prstGeom>
          <a:solidFill>
            <a:srgbClr val="ECE9F7"/>
          </a:solidFill>
          <a:ln w="9525">
            <a:solidFill>
              <a:srgbClr val="5B4BA6"/>
            </a:solidFill>
            <a:prstDash val="solid"/>
          </a:ln>
        </p:spPr>
        <p:txBody>
          <a:bodyPr/>
          <a:lstStyle/>
          <a:p>
            <a:endParaRPr lang="en-US"/>
          </a:p>
        </p:txBody>
      </p:sp>
      <p:sp>
        <p:nvSpPr>
          <p:cNvPr id="28" name="Text 25"/>
          <p:cNvSpPr txBox="1"/>
          <p:nvPr/>
        </p:nvSpPr>
        <p:spPr>
          <a:xfrm>
            <a:off x="5394960" y="2743200"/>
            <a:ext cx="1920240" cy="502920"/>
          </a:xfrm>
          <a:prstGeom prst="rect">
            <a:avLst/>
          </a:prstGeom>
          <a:noFill/>
          <a:ln/>
        </p:spPr>
        <p:txBody>
          <a:bodyPr wrap="square" lIns="0" tIns="0" rIns="0" bIns="0" rtlCol="0" anchor="ctr"/>
          <a:lstStyle/>
          <a:p>
            <a:pPr marL="0" indent="0" algn="ctr">
              <a:buNone/>
            </a:pPr>
            <a:r>
              <a:rPr lang="en-US" sz="1200" b="1" dirty="0">
                <a:solidFill>
                  <a:srgbClr val="12263A"/>
                </a:solidFill>
                <a:latin typeface="Calibri" pitchFamily="34" charset="0"/>
                <a:ea typeface="Calibri" pitchFamily="34" charset="-122"/>
                <a:cs typeface="Calibri" pitchFamily="34" charset="-120"/>
              </a:rPr>
              <a:t>(Store)</a:t>
            </a:r>
            <a:endParaRPr lang="en-US" sz="1200" dirty="0"/>
          </a:p>
        </p:txBody>
      </p:sp>
      <p:sp>
        <p:nvSpPr>
          <p:cNvPr id="29" name="Text 26"/>
          <p:cNvSpPr txBox="1"/>
          <p:nvPr/>
        </p:nvSpPr>
        <p:spPr>
          <a:xfrm>
            <a:off x="7635240" y="2743200"/>
            <a:ext cx="1554480" cy="502920"/>
          </a:xfrm>
          <a:prstGeom prst="rect">
            <a:avLst/>
          </a:prstGeom>
          <a:noFill/>
          <a:ln/>
        </p:spPr>
        <p:txBody>
          <a:bodyPr wrap="square" lIns="0" tIns="0" rIns="0" bIns="0" rtlCol="0" anchor="ctr"/>
          <a:lstStyle/>
          <a:p>
            <a:pPr marL="0" indent="0">
              <a:buNone/>
            </a:pPr>
            <a:r>
              <a:rPr lang="en-US" sz="1100" i="1" dirty="0">
                <a:solidFill>
                  <a:srgbClr val="5B6B7B"/>
                </a:solidFill>
                <a:latin typeface="Calibri" pitchFamily="34" charset="0"/>
                <a:ea typeface="Calibri" pitchFamily="34" charset="-122"/>
                <a:cs typeface="Calibri" pitchFamily="34" charset="-120"/>
              </a:rPr>
              <a:t>1-D cuboids</a:t>
            </a:r>
            <a:endParaRPr lang="en-US" sz="1100" dirty="0"/>
          </a:p>
        </p:txBody>
      </p:sp>
      <p:sp>
        <p:nvSpPr>
          <p:cNvPr id="30" name="Shape 27"/>
          <p:cNvSpPr/>
          <p:nvPr/>
        </p:nvSpPr>
        <p:spPr>
          <a:xfrm>
            <a:off x="914400" y="3703320"/>
            <a:ext cx="1920240" cy="502920"/>
          </a:xfrm>
          <a:prstGeom prst="roundRect">
            <a:avLst>
              <a:gd name="adj" fmla="val 18182"/>
            </a:avLst>
          </a:prstGeom>
          <a:solidFill>
            <a:srgbClr val="ECE9F7"/>
          </a:solidFill>
          <a:ln w="9525">
            <a:solidFill>
              <a:srgbClr val="5B4BA6"/>
            </a:solidFill>
            <a:prstDash val="solid"/>
          </a:ln>
        </p:spPr>
        <p:txBody>
          <a:bodyPr/>
          <a:lstStyle/>
          <a:p>
            <a:endParaRPr lang="en-US"/>
          </a:p>
        </p:txBody>
      </p:sp>
      <p:sp>
        <p:nvSpPr>
          <p:cNvPr id="31" name="Text 28"/>
          <p:cNvSpPr txBox="1"/>
          <p:nvPr/>
        </p:nvSpPr>
        <p:spPr>
          <a:xfrm>
            <a:off x="914400" y="3703320"/>
            <a:ext cx="1920240" cy="502920"/>
          </a:xfrm>
          <a:prstGeom prst="rect">
            <a:avLst/>
          </a:prstGeom>
          <a:noFill/>
          <a:ln/>
        </p:spPr>
        <p:txBody>
          <a:bodyPr wrap="square" lIns="0" tIns="0" rIns="0" bIns="0" rtlCol="0" anchor="ctr"/>
          <a:lstStyle/>
          <a:p>
            <a:pPr marL="0" indent="0" algn="ctr">
              <a:buNone/>
            </a:pPr>
            <a:r>
              <a:rPr lang="en-US" sz="1200" b="1" dirty="0">
                <a:solidFill>
                  <a:srgbClr val="12263A"/>
                </a:solidFill>
                <a:latin typeface="Calibri" pitchFamily="34" charset="0"/>
                <a:ea typeface="Calibri" pitchFamily="34" charset="-122"/>
                <a:cs typeface="Calibri" pitchFamily="34" charset="-120"/>
              </a:rPr>
              <a:t>(Date, Product)</a:t>
            </a:r>
            <a:endParaRPr lang="en-US" sz="1200" dirty="0"/>
          </a:p>
        </p:txBody>
      </p:sp>
      <p:sp>
        <p:nvSpPr>
          <p:cNvPr id="32" name="Shape 29"/>
          <p:cNvSpPr/>
          <p:nvPr/>
        </p:nvSpPr>
        <p:spPr>
          <a:xfrm>
            <a:off x="3154680" y="3703320"/>
            <a:ext cx="1920240" cy="502920"/>
          </a:xfrm>
          <a:prstGeom prst="roundRect">
            <a:avLst>
              <a:gd name="adj" fmla="val 18182"/>
            </a:avLst>
          </a:prstGeom>
          <a:solidFill>
            <a:srgbClr val="ECE9F7"/>
          </a:solidFill>
          <a:ln w="9525">
            <a:solidFill>
              <a:srgbClr val="5B4BA6"/>
            </a:solidFill>
            <a:prstDash val="solid"/>
          </a:ln>
        </p:spPr>
        <p:txBody>
          <a:bodyPr/>
          <a:lstStyle/>
          <a:p>
            <a:endParaRPr lang="en-US"/>
          </a:p>
        </p:txBody>
      </p:sp>
      <p:sp>
        <p:nvSpPr>
          <p:cNvPr id="33" name="Text 30"/>
          <p:cNvSpPr txBox="1"/>
          <p:nvPr/>
        </p:nvSpPr>
        <p:spPr>
          <a:xfrm>
            <a:off x="3154680" y="3703320"/>
            <a:ext cx="1920240" cy="502920"/>
          </a:xfrm>
          <a:prstGeom prst="rect">
            <a:avLst/>
          </a:prstGeom>
          <a:noFill/>
          <a:ln/>
        </p:spPr>
        <p:txBody>
          <a:bodyPr wrap="square" lIns="0" tIns="0" rIns="0" bIns="0" rtlCol="0" anchor="ctr"/>
          <a:lstStyle/>
          <a:p>
            <a:pPr marL="0" indent="0" algn="ctr">
              <a:buNone/>
            </a:pPr>
            <a:r>
              <a:rPr lang="en-US" sz="1200" b="1" dirty="0">
                <a:solidFill>
                  <a:srgbClr val="12263A"/>
                </a:solidFill>
                <a:latin typeface="Calibri" pitchFamily="34" charset="0"/>
                <a:ea typeface="Calibri" pitchFamily="34" charset="-122"/>
                <a:cs typeface="Calibri" pitchFamily="34" charset="-120"/>
              </a:rPr>
              <a:t>(Date, Store)</a:t>
            </a:r>
            <a:endParaRPr lang="en-US" sz="1200" dirty="0"/>
          </a:p>
        </p:txBody>
      </p:sp>
      <p:sp>
        <p:nvSpPr>
          <p:cNvPr id="34" name="Shape 31"/>
          <p:cNvSpPr/>
          <p:nvPr/>
        </p:nvSpPr>
        <p:spPr>
          <a:xfrm>
            <a:off x="5394960" y="3703320"/>
            <a:ext cx="1920240" cy="502920"/>
          </a:xfrm>
          <a:prstGeom prst="roundRect">
            <a:avLst>
              <a:gd name="adj" fmla="val 18182"/>
            </a:avLst>
          </a:prstGeom>
          <a:solidFill>
            <a:srgbClr val="ECE9F7"/>
          </a:solidFill>
          <a:ln w="9525">
            <a:solidFill>
              <a:srgbClr val="5B4BA6"/>
            </a:solidFill>
            <a:prstDash val="solid"/>
          </a:ln>
        </p:spPr>
        <p:txBody>
          <a:bodyPr/>
          <a:lstStyle/>
          <a:p>
            <a:endParaRPr lang="en-US"/>
          </a:p>
        </p:txBody>
      </p:sp>
      <p:sp>
        <p:nvSpPr>
          <p:cNvPr id="35" name="Text 32"/>
          <p:cNvSpPr txBox="1"/>
          <p:nvPr/>
        </p:nvSpPr>
        <p:spPr>
          <a:xfrm>
            <a:off x="5394960" y="3703320"/>
            <a:ext cx="1920240" cy="502920"/>
          </a:xfrm>
          <a:prstGeom prst="rect">
            <a:avLst/>
          </a:prstGeom>
          <a:noFill/>
          <a:ln/>
        </p:spPr>
        <p:txBody>
          <a:bodyPr wrap="square" lIns="0" tIns="0" rIns="0" bIns="0" rtlCol="0" anchor="ctr"/>
          <a:lstStyle/>
          <a:p>
            <a:pPr marL="0" indent="0" algn="ctr">
              <a:buNone/>
            </a:pPr>
            <a:r>
              <a:rPr lang="en-US" sz="1200" b="1" dirty="0">
                <a:solidFill>
                  <a:srgbClr val="12263A"/>
                </a:solidFill>
                <a:latin typeface="Calibri" pitchFamily="34" charset="0"/>
                <a:ea typeface="Calibri" pitchFamily="34" charset="-122"/>
                <a:cs typeface="Calibri" pitchFamily="34" charset="-120"/>
              </a:rPr>
              <a:t>(Product, Store)</a:t>
            </a:r>
            <a:endParaRPr lang="en-US" sz="1200" dirty="0"/>
          </a:p>
        </p:txBody>
      </p:sp>
      <p:sp>
        <p:nvSpPr>
          <p:cNvPr id="36" name="Text 33"/>
          <p:cNvSpPr txBox="1"/>
          <p:nvPr/>
        </p:nvSpPr>
        <p:spPr>
          <a:xfrm>
            <a:off x="7635240" y="3703320"/>
            <a:ext cx="1554480" cy="502920"/>
          </a:xfrm>
          <a:prstGeom prst="rect">
            <a:avLst/>
          </a:prstGeom>
          <a:noFill/>
          <a:ln/>
        </p:spPr>
        <p:txBody>
          <a:bodyPr wrap="square" lIns="0" tIns="0" rIns="0" bIns="0" rtlCol="0" anchor="ctr"/>
          <a:lstStyle/>
          <a:p>
            <a:pPr marL="0" indent="0">
              <a:buNone/>
            </a:pPr>
            <a:r>
              <a:rPr lang="en-US" sz="1100" i="1" dirty="0">
                <a:solidFill>
                  <a:srgbClr val="5B6B7B"/>
                </a:solidFill>
                <a:latin typeface="Calibri" pitchFamily="34" charset="0"/>
                <a:ea typeface="Calibri" pitchFamily="34" charset="-122"/>
                <a:cs typeface="Calibri" pitchFamily="34" charset="-120"/>
              </a:rPr>
              <a:t>2-D cuboids</a:t>
            </a:r>
            <a:endParaRPr lang="en-US" sz="1100" dirty="0"/>
          </a:p>
        </p:txBody>
      </p:sp>
      <p:sp>
        <p:nvSpPr>
          <p:cNvPr id="37" name="Shape 34"/>
          <p:cNvSpPr/>
          <p:nvPr/>
        </p:nvSpPr>
        <p:spPr>
          <a:xfrm>
            <a:off x="3154680" y="4663440"/>
            <a:ext cx="1920240" cy="502920"/>
          </a:xfrm>
          <a:prstGeom prst="roundRect">
            <a:avLst>
              <a:gd name="adj" fmla="val 18182"/>
            </a:avLst>
          </a:prstGeom>
          <a:solidFill>
            <a:srgbClr val="C8414F"/>
          </a:solidFill>
          <a:ln w="9525">
            <a:solidFill>
              <a:srgbClr val="5B4BA6"/>
            </a:solidFill>
            <a:prstDash val="solid"/>
          </a:ln>
        </p:spPr>
        <p:txBody>
          <a:bodyPr/>
          <a:lstStyle/>
          <a:p>
            <a:endParaRPr lang="en-US"/>
          </a:p>
        </p:txBody>
      </p:sp>
      <p:sp>
        <p:nvSpPr>
          <p:cNvPr id="38" name="Text 35"/>
          <p:cNvSpPr txBox="1"/>
          <p:nvPr/>
        </p:nvSpPr>
        <p:spPr>
          <a:xfrm>
            <a:off x="3154680" y="4663440"/>
            <a:ext cx="19202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(Date, Product, Store)</a:t>
            </a:r>
            <a:endParaRPr lang="en-US" sz="1200" dirty="0"/>
          </a:p>
        </p:txBody>
      </p:sp>
      <p:sp>
        <p:nvSpPr>
          <p:cNvPr id="39" name="Text 36"/>
          <p:cNvSpPr txBox="1"/>
          <p:nvPr/>
        </p:nvSpPr>
        <p:spPr>
          <a:xfrm>
            <a:off x="7635240" y="4663440"/>
            <a:ext cx="1554480" cy="502920"/>
          </a:xfrm>
          <a:prstGeom prst="rect">
            <a:avLst/>
          </a:prstGeom>
          <a:noFill/>
          <a:ln/>
        </p:spPr>
        <p:txBody>
          <a:bodyPr wrap="square" lIns="0" tIns="0" rIns="0" bIns="0" rtlCol="0" anchor="ctr"/>
          <a:lstStyle/>
          <a:p>
            <a:pPr marL="0" indent="0">
              <a:buNone/>
            </a:pPr>
            <a:r>
              <a:rPr lang="en-US" sz="1100" i="1" dirty="0">
                <a:solidFill>
                  <a:srgbClr val="5B6B7B"/>
                </a:solidFill>
                <a:latin typeface="Calibri" pitchFamily="34" charset="0"/>
                <a:ea typeface="Calibri" pitchFamily="34" charset="-122"/>
                <a:cs typeface="Calibri" pitchFamily="34" charset="-120"/>
              </a:rPr>
              <a:t>base cuboid: finest</a:t>
            </a:r>
            <a:endParaRPr lang="en-US" sz="1100" dirty="0"/>
          </a:p>
        </p:txBody>
      </p:sp>
      <p:sp>
        <p:nvSpPr>
          <p:cNvPr id="40" name="Shape 37"/>
          <p:cNvSpPr/>
          <p:nvPr/>
        </p:nvSpPr>
        <p:spPr>
          <a:xfrm>
            <a:off x="9326880" y="1691640"/>
            <a:ext cx="2316175" cy="3886200"/>
          </a:xfrm>
          <a:prstGeom prst="roundRect">
            <a:avLst>
              <a:gd name="adj" fmla="val 3158"/>
            </a:avLst>
          </a:prstGeom>
          <a:solidFill>
            <a:srgbClr val="F3F6F9"/>
          </a:solidFill>
          <a:ln w="9525">
            <a:solidFill>
              <a:srgbClr val="F3F6F9"/>
            </a:solidFill>
            <a:prstDash val="solid"/>
          </a:ln>
        </p:spPr>
        <p:txBody>
          <a:bodyPr/>
          <a:lstStyle/>
          <a:p>
            <a:endParaRPr lang="en-US"/>
          </a:p>
        </p:txBody>
      </p:sp>
      <p:sp>
        <p:nvSpPr>
          <p:cNvPr id="41" name="Shape 38"/>
          <p:cNvSpPr/>
          <p:nvPr/>
        </p:nvSpPr>
        <p:spPr>
          <a:xfrm>
            <a:off x="9509760" y="1874520"/>
            <a:ext cx="402336" cy="402336"/>
          </a:xfrm>
          <a:prstGeom prst="ellipse">
            <a:avLst/>
          </a:prstGeom>
          <a:solidFill>
            <a:srgbClr val="5B4BA6"/>
          </a:solidFill>
          <a:ln w="12700">
            <a:solidFill>
              <a:srgbClr val="5B4BA6"/>
            </a:solidFill>
            <a:prstDash val="solid"/>
          </a:ln>
        </p:spPr>
        <p:txBody>
          <a:bodyPr/>
          <a:lstStyle/>
          <a:p>
            <a:endParaRPr lang="en-US"/>
          </a:p>
        </p:txBody>
      </p:sp>
      <p:pic>
        <p:nvPicPr>
          <p:cNvPr id="42" name="Image 0" descr="preencoded.png"/>
          <p:cNvPicPr>
            <a:picLocks noChangeAspect="1"/>
          </p:cNvPicPr>
          <p:nvPr/>
        </p:nvPicPr>
        <p:blipFill>
          <a:blip r:embed="rId3"/>
          <a:stretch>
            <a:fillRect/>
          </a:stretch>
        </p:blipFill>
        <p:spPr>
          <a:xfrm>
            <a:off x="9614367" y="1979127"/>
            <a:ext cx="193121" cy="193121"/>
          </a:xfrm>
          <a:prstGeom prst="rect">
            <a:avLst/>
          </a:prstGeom>
        </p:spPr>
      </p:pic>
      <p:sp>
        <p:nvSpPr>
          <p:cNvPr id="43" name="Text 39"/>
          <p:cNvSpPr txBox="1"/>
          <p:nvPr/>
        </p:nvSpPr>
        <p:spPr>
          <a:xfrm>
            <a:off x="10040112" y="1874520"/>
            <a:ext cx="1420063"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So what?</a:t>
            </a:r>
            <a:endParaRPr lang="en-US" sz="1550" dirty="0"/>
          </a:p>
        </p:txBody>
      </p:sp>
      <p:sp>
        <p:nvSpPr>
          <p:cNvPr id="44" name="Text 40"/>
          <p:cNvSpPr txBox="1"/>
          <p:nvPr/>
        </p:nvSpPr>
        <p:spPr>
          <a:xfrm>
            <a:off x="9509760" y="2386584"/>
            <a:ext cx="1950415" cy="3008376"/>
          </a:xfrm>
          <a:prstGeom prst="rect">
            <a:avLst/>
          </a:prstGeom>
          <a:noFill/>
          <a:ln/>
        </p:spPr>
        <p:txBody>
          <a:bodyPr wrap="square" lIns="0" tIns="0" rIns="0" bIns="0" rtlCol="0" anchor="t"/>
          <a:lstStyle/>
          <a:p>
            <a:pPr marL="165100" indent="-165100">
              <a:spcAft>
                <a:spcPts val="600"/>
              </a:spcAft>
              <a:buSzPct val="100000"/>
              <a:buChar char="•"/>
            </a:pPr>
            <a:r>
              <a:rPr lang="en-US" sz="1250" dirty="0">
                <a:solidFill>
                  <a:srgbClr val="1F2A37"/>
                </a:solidFill>
                <a:latin typeface="Calibri" pitchFamily="34" charset="0"/>
                <a:ea typeface="Calibri" pitchFamily="34" charset="-122"/>
                <a:cs typeface="Calibri" pitchFamily="34" charset="-120"/>
              </a:rPr>
              <a:t>3 dimensions → 8 group-bys.</a:t>
            </a:r>
            <a:endParaRPr lang="en-US" sz="1250" dirty="0"/>
          </a:p>
          <a:p>
            <a:pPr marL="165100" indent="-165100">
              <a:spcAft>
                <a:spcPts val="600"/>
              </a:spcAft>
              <a:buSzPct val="100000"/>
              <a:buChar char="•"/>
            </a:pPr>
            <a:r>
              <a:rPr lang="en-US" sz="1250" dirty="0">
                <a:solidFill>
                  <a:srgbClr val="1F2A37"/>
                </a:solidFill>
                <a:latin typeface="Calibri" pitchFamily="34" charset="0"/>
                <a:ea typeface="Calibri" pitchFamily="34" charset="-122"/>
                <a:cs typeface="Calibri" pitchFamily="34" charset="-120"/>
              </a:rPr>
              <a:t>Add hierarchies (4 date levels × 3 product × 3 store) → dozens.</a:t>
            </a:r>
            <a:endParaRPr lang="en-US" sz="1250" dirty="0"/>
          </a:p>
          <a:p>
            <a:pPr marL="165100" indent="-165100">
              <a:spcAft>
                <a:spcPts val="600"/>
              </a:spcAft>
              <a:buSzPct val="100000"/>
              <a:buChar char="•"/>
            </a:pPr>
            <a:r>
              <a:rPr lang="en-US" sz="1250" dirty="0">
                <a:solidFill>
                  <a:srgbClr val="1F2A37"/>
                </a:solidFill>
                <a:latin typeface="Calibri" pitchFamily="34" charset="0"/>
                <a:ea typeface="Calibri" pitchFamily="34" charset="-122"/>
                <a:cs typeface="Calibri" pitchFamily="34" charset="-120"/>
              </a:rPr>
              <a:t>Pre-computing all of them is costly.</a:t>
            </a:r>
            <a:endParaRPr lang="en-US" sz="1250" dirty="0"/>
          </a:p>
          <a:p>
            <a:pPr marL="165100" indent="-165100">
              <a:spcAft>
                <a:spcPts val="600"/>
              </a:spcAft>
              <a:buSzPct val="100000"/>
              <a:buChar char="•"/>
            </a:pPr>
            <a:r>
              <a:rPr lang="en-US" sz="1250" dirty="0">
                <a:solidFill>
                  <a:srgbClr val="1F2A37"/>
                </a:solidFill>
                <a:latin typeface="Calibri" pitchFamily="34" charset="0"/>
                <a:ea typeface="Calibri" pitchFamily="34" charset="-122"/>
                <a:cs typeface="Calibri" pitchFamily="34" charset="-120"/>
              </a:rPr>
              <a:t>Pre-compute the popular ones; derive the rest (a coarser cuboid can be rolled up from a finer one).</a:t>
            </a:r>
            <a:endParaRPr lang="en-US" sz="1250" dirty="0"/>
          </a:p>
        </p:txBody>
      </p:sp>
      <p:sp>
        <p:nvSpPr>
          <p:cNvPr id="45" name="Shape 41"/>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46" name="Shape 42"/>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47" name="Image 1" descr="preencoded.png"/>
          <p:cNvPicPr>
            <a:picLocks noChangeAspect="1"/>
          </p:cNvPicPr>
          <p:nvPr/>
        </p:nvPicPr>
        <p:blipFill>
          <a:blip r:embed="rId4"/>
          <a:stretch>
            <a:fillRect/>
          </a:stretch>
        </p:blipFill>
        <p:spPr>
          <a:xfrm>
            <a:off x="790042" y="5956402"/>
            <a:ext cx="175565" cy="175565"/>
          </a:xfrm>
          <a:prstGeom prst="rect">
            <a:avLst/>
          </a:prstGeom>
        </p:spPr>
      </p:pic>
      <p:sp>
        <p:nvSpPr>
          <p:cNvPr id="48" name="Text 43"/>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The lattice explains why OLAP systems pre-aggregate selectively — in Databricks, with materialized views over Gold.</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39</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OLAP ARCHITECTURES</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MOLAP, ROLAP, HOLAP — and where Databricks sits</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B · OLAP</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2542032"/>
        </p:xfrm>
        <a:graphic>
          <a:graphicData uri="http://schemas.openxmlformats.org/drawingml/2006/table">
            <a:tbl>
              <a:tblPr/>
              <a:tblGrid>
                <a:gridCol w="15544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136392">
                  <a:extLst>
                    <a:ext uri="{9D8B030D-6E8A-4147-A177-3AD203B41FA5}">
                      <a16:colId xmlns:a16="http://schemas.microsoft.com/office/drawing/2014/main" val="20003"/>
                    </a:ext>
                  </a:extLst>
                </a:gridCol>
              </a:tblGrid>
              <a:tr h="384048">
                <a:tc>
                  <a:txBody>
                    <a:bodyPr/>
                    <a:lstStyle/>
                    <a:p>
                      <a:pPr marL="0" indent="0">
                        <a:buNone/>
                      </a:pP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MOLAP</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ROLAP</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HOLAP</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1F2A37"/>
                          </a:solidFill>
                          <a:latin typeface="Calibri" pitchFamily="34" charset="0"/>
                          <a:ea typeface="Calibri" pitchFamily="34" charset="-122"/>
                          <a:cs typeface="Calibri" pitchFamily="34" charset="-120"/>
                        </a:rPr>
                        <a:t>Stores</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Pre-aggregated multidimensional cubes</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Relational tables (star schema)</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Cube summaries + relational detail</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1F2A37"/>
                          </a:solidFill>
                          <a:latin typeface="Calibri" pitchFamily="34" charset="0"/>
                          <a:ea typeface="Calibri" pitchFamily="34" charset="-122"/>
                          <a:cs typeface="Calibri" pitchFamily="34" charset="-120"/>
                        </a:rPr>
                        <a:t>Strength</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Very fast, predictable; easy hierarchy navigation</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Scales to large data; flexible; plain SQL</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Fast summaries plus detailed drill-down</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1F2A37"/>
                          </a:solidFill>
                          <a:latin typeface="Calibri" pitchFamily="34" charset="0"/>
                          <a:ea typeface="Calibri" pitchFamily="34" charset="-122"/>
                          <a:cs typeface="Calibri" pitchFamily="34" charset="-120"/>
                        </a:rPr>
                        <a:t>Limitation</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More storage; new data waits for cube refresh</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Can be slow without pre-aggregation</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Complex to keep in sync</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1F2A37"/>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Classic cube servers</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SQL on a warehouse / lakehouse</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Cubes over a relational store</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4"/>
                  </a:ext>
                </a:extLst>
              </a:tr>
            </a:tbl>
          </a:graphicData>
        </a:graphic>
      </p:graphicFrame>
      <p:sp>
        <p:nvSpPr>
          <p:cNvPr id="9" name="Shape 5"/>
          <p:cNvSpPr/>
          <p:nvPr/>
        </p:nvSpPr>
        <p:spPr>
          <a:xfrm>
            <a:off x="548640" y="4434840"/>
            <a:ext cx="11094415" cy="1143000"/>
          </a:xfrm>
          <a:prstGeom prst="roundRect">
            <a:avLst>
              <a:gd name="adj" fmla="val 6400"/>
            </a:avLst>
          </a:prstGeom>
          <a:solidFill>
            <a:srgbClr val="E2F1F0"/>
          </a:solidFill>
          <a:ln w="9525">
            <a:solidFill>
              <a:srgbClr val="0E7C7B"/>
            </a:solidFill>
            <a:prstDash val="solid"/>
          </a:ln>
        </p:spPr>
        <p:txBody>
          <a:bodyPr/>
          <a:lstStyle/>
          <a:p>
            <a:endParaRPr lang="en-US"/>
          </a:p>
        </p:txBody>
      </p:sp>
      <p:sp>
        <p:nvSpPr>
          <p:cNvPr id="10" name="Text 6"/>
          <p:cNvSpPr txBox="1"/>
          <p:nvPr/>
        </p:nvSpPr>
        <p:spPr>
          <a:xfrm>
            <a:off x="777240" y="4434840"/>
            <a:ext cx="10637215" cy="1143000"/>
          </a:xfrm>
          <a:prstGeom prst="rect">
            <a:avLst/>
          </a:prstGeom>
          <a:noFill/>
          <a:ln/>
        </p:spPr>
        <p:txBody>
          <a:bodyPr wrap="square" lIns="0" tIns="0" rIns="0" bIns="0" rtlCol="0" anchor="ctr"/>
          <a:lstStyle/>
          <a:p>
            <a:pPr marL="0" indent="0">
              <a:buNone/>
            </a:pPr>
            <a:r>
              <a:rPr lang="en-US" sz="1350" b="1" dirty="0">
                <a:solidFill>
                  <a:srgbClr val="0E7C7B"/>
                </a:solidFill>
                <a:latin typeface="Calibri" pitchFamily="34" charset="0"/>
                <a:ea typeface="Calibri" pitchFamily="34" charset="-122"/>
                <a:cs typeface="Calibri" pitchFamily="34" charset="-120"/>
              </a:rPr>
              <a:t>Databricks = ROLAP on Delta tables, made fast: </a:t>
            </a:r>
            <a:r>
              <a:rPr lang="en-US" sz="1350" dirty="0">
                <a:solidFill>
                  <a:srgbClr val="1F2A37"/>
                </a:solidFill>
                <a:latin typeface="Calibri" pitchFamily="34" charset="0"/>
                <a:ea typeface="Calibri" pitchFamily="34" charset="-122"/>
                <a:cs typeface="Calibri" pitchFamily="34" charset="-120"/>
              </a:rPr>
              <a:t>queries run directly on the Gold star; Photon, caching, data skipping and liquid clustering speed them up; materialized views add MOLAP-style pre-aggregation where it pays — with no separate cube and the same data used for ML.</a:t>
            </a:r>
            <a:endParaRPr lang="en-US" sz="1350" dirty="0"/>
          </a:p>
        </p:txBody>
      </p:sp>
      <p:sp>
        <p:nvSpPr>
          <p:cNvPr id="11" name="Shape 7"/>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12" name="Shape 8"/>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13"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14" name="Text 9"/>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The lakehouse keeps ROLAP’s flexibility and borrows MOLAP’s speed trick (pre-aggregation) only where it is needed.</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40</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PRE-AGGREGATION, THE DATABRICKS WAY</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Materialized views: store the popular cuboids</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B · OLAP</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6583680" cy="2834640"/>
          </a:xfrm>
          <a:prstGeom prst="roundRect">
            <a:avLst>
              <a:gd name="adj" fmla="val 1935"/>
            </a:avLst>
          </a:prstGeom>
          <a:solidFill>
            <a:srgbClr val="0F1E2E"/>
          </a:solidFill>
          <a:ln w="9525">
            <a:solidFill>
              <a:srgbClr val="0F1E2E"/>
            </a:solidFill>
            <a:prstDash val="solid"/>
          </a:ln>
        </p:spPr>
        <p:txBody>
          <a:bodyPr/>
          <a:lstStyle/>
          <a:p>
            <a:endParaRPr lang="en-US"/>
          </a:p>
        </p:txBody>
      </p:sp>
      <p:sp>
        <p:nvSpPr>
          <p:cNvPr id="9" name="Text 6"/>
          <p:cNvSpPr txBox="1"/>
          <p:nvPr/>
        </p:nvSpPr>
        <p:spPr>
          <a:xfrm>
            <a:off x="5943600" y="178308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a:t>
            </a:r>
            <a:endParaRPr lang="en-US" sz="900" dirty="0"/>
          </a:p>
        </p:txBody>
      </p:sp>
      <p:sp>
        <p:nvSpPr>
          <p:cNvPr id="10" name="Text 7"/>
          <p:cNvSpPr txBox="1"/>
          <p:nvPr/>
        </p:nvSpPr>
        <p:spPr>
          <a:xfrm>
            <a:off x="749808" y="1984248"/>
            <a:ext cx="6217920" cy="2450592"/>
          </a:xfrm>
          <a:prstGeom prst="rect">
            <a:avLst/>
          </a:prstGeom>
          <a:noFill/>
          <a:ln/>
        </p:spPr>
        <p:txBody>
          <a:bodyPr wrap="square" lIns="0" tIns="0" rIns="0" bIns="0" rtlCol="0" anchor="t"/>
          <a:lstStyle/>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CREATE MATERIALIZED VIEW gold.mv_sales_region_cat_month</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SCHEDULE EVERY 1 DAY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AS SELECT st.region, p.category, d.year, d.month,</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SUM(f.sales_amount)        AS revenue,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COUNT(DISTINCT f.order_id) AS orders</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FROM   gold.fact_sales f</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JOIN   gold.dim_store   st ON f.store_key   = st.store_key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JOIN   gold.dim_product p  ON f.product_key = p.product_key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JOIN   gold.dim_date    d  ON f.date_key    = d.date_key</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GROUP  BY st.region, p.category, d.year, d.month;</a:t>
            </a:r>
            <a:endParaRPr lang="en-US" sz="1050" dirty="0"/>
          </a:p>
        </p:txBody>
      </p:sp>
      <p:sp>
        <p:nvSpPr>
          <p:cNvPr id="11" name="Shape 8"/>
          <p:cNvSpPr/>
          <p:nvPr/>
        </p:nvSpPr>
        <p:spPr>
          <a:xfrm>
            <a:off x="548640" y="4663440"/>
            <a:ext cx="6583680" cy="914400"/>
          </a:xfrm>
          <a:prstGeom prst="roundRect">
            <a:avLst>
              <a:gd name="adj" fmla="val 6000"/>
            </a:avLst>
          </a:prstGeom>
          <a:solidFill>
            <a:srgbClr val="0F1E2E"/>
          </a:solidFill>
          <a:ln w="9525">
            <a:solidFill>
              <a:srgbClr val="0F1E2E"/>
            </a:solidFill>
            <a:prstDash val="solid"/>
          </a:ln>
        </p:spPr>
        <p:txBody>
          <a:bodyPr/>
          <a:lstStyle/>
          <a:p>
            <a:endParaRPr lang="en-US"/>
          </a:p>
        </p:txBody>
      </p:sp>
      <p:sp>
        <p:nvSpPr>
          <p:cNvPr id="12" name="Text 9"/>
          <p:cNvSpPr txBox="1"/>
          <p:nvPr/>
        </p:nvSpPr>
        <p:spPr>
          <a:xfrm>
            <a:off x="749808" y="4828032"/>
            <a:ext cx="6217920" cy="640080"/>
          </a:xfrm>
          <a:prstGeom prst="rect">
            <a:avLst/>
          </a:prstGeom>
          <a:noFill/>
          <a:ln/>
        </p:spPr>
        <p:txBody>
          <a:bodyPr wrap="square" lIns="0" tIns="0" rIns="0" bIns="0" rtlCol="0" anchor="t"/>
          <a:lstStyle/>
          <a:p>
            <a:pPr marL="0" indent="0">
              <a:lnSpc>
                <a:spcPct val="105000"/>
              </a:lnSpc>
              <a:buNone/>
            </a:pPr>
            <a:r>
              <a:rPr lang="en-US" sz="1050" i="1" dirty="0">
                <a:solidFill>
                  <a:srgbClr val="8CC7B0"/>
                </a:solidFill>
                <a:latin typeface="Courier New" pitchFamily="34" charset="0"/>
                <a:ea typeface="Courier New" pitchFamily="34" charset="-122"/>
                <a:cs typeface="Courier New" pitchFamily="34" charset="-120"/>
              </a:rPr>
              <a:t>-- roll-up from the stored cuboid, not from millions of fact rows</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SELECT region, year, SUM(revenue) FROM gold.mv_sales_region_cat_month</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GROUP BY region, year;</a:t>
            </a:r>
            <a:endParaRPr lang="en-US" sz="1050" dirty="0"/>
          </a:p>
        </p:txBody>
      </p:sp>
      <p:sp>
        <p:nvSpPr>
          <p:cNvPr id="13" name="Text 10"/>
          <p:cNvSpPr txBox="1"/>
          <p:nvPr/>
        </p:nvSpPr>
        <p:spPr>
          <a:xfrm>
            <a:off x="7406640" y="1691640"/>
            <a:ext cx="4236415" cy="914400"/>
          </a:xfrm>
          <a:prstGeom prst="rect">
            <a:avLst/>
          </a:prstGeom>
          <a:noFill/>
          <a:ln/>
        </p:spPr>
        <p:txBody>
          <a:bodyPr wrap="square" lIns="0" tIns="0" rIns="0" bIns="0" rtlCol="0" anchor="t"/>
          <a:lstStyle/>
          <a:p>
            <a:pPr marL="0" indent="0">
              <a:buNone/>
            </a:pPr>
            <a:r>
              <a:rPr lang="en-US" sz="1250" b="1" dirty="0">
                <a:solidFill>
                  <a:srgbClr val="12263A"/>
                </a:solidFill>
                <a:latin typeface="Calibri" pitchFamily="34" charset="0"/>
                <a:ea typeface="Calibri" pitchFamily="34" charset="-122"/>
                <a:cs typeface="Calibri" pitchFamily="34" charset="-120"/>
              </a:rPr>
              <a:t>Stored result</a:t>
            </a:r>
            <a:endParaRPr lang="en-US" sz="1250" dirty="0"/>
          </a:p>
          <a:p>
            <a:pPr marL="0" indent="0">
              <a:buNone/>
            </a:pPr>
            <a:r>
              <a:rPr lang="en-US" sz="1250" dirty="0">
                <a:solidFill>
                  <a:srgbClr val="1F2A37"/>
                </a:solidFill>
                <a:latin typeface="Calibri" pitchFamily="34" charset="0"/>
                <a:ea typeface="Calibri" pitchFamily="34" charset="-122"/>
                <a:cs typeface="Calibri" pitchFamily="34" charset="-120"/>
              </a:rPr>
              <a:t>the aggregate is computed once and saved as a table.</a:t>
            </a:r>
            <a:endParaRPr lang="en-US" sz="1250" dirty="0"/>
          </a:p>
        </p:txBody>
      </p:sp>
      <p:sp>
        <p:nvSpPr>
          <p:cNvPr id="14" name="Text 11"/>
          <p:cNvSpPr txBox="1"/>
          <p:nvPr/>
        </p:nvSpPr>
        <p:spPr>
          <a:xfrm>
            <a:off x="7406640" y="2670048"/>
            <a:ext cx="4236415" cy="914400"/>
          </a:xfrm>
          <a:prstGeom prst="rect">
            <a:avLst/>
          </a:prstGeom>
          <a:noFill/>
          <a:ln/>
        </p:spPr>
        <p:txBody>
          <a:bodyPr wrap="square" lIns="0" tIns="0" rIns="0" bIns="0" rtlCol="0" anchor="t"/>
          <a:lstStyle/>
          <a:p>
            <a:pPr marL="0" indent="0">
              <a:buNone/>
            </a:pPr>
            <a:r>
              <a:rPr lang="en-US" sz="1250" b="1" dirty="0">
                <a:solidFill>
                  <a:srgbClr val="12263A"/>
                </a:solidFill>
                <a:latin typeface="Calibri" pitchFamily="34" charset="0"/>
                <a:ea typeface="Calibri" pitchFamily="34" charset="-122"/>
                <a:cs typeface="Calibri" pitchFamily="34" charset="-120"/>
              </a:rPr>
              <a:t>Kept fresh</a:t>
            </a:r>
            <a:endParaRPr lang="en-US" sz="1250" dirty="0"/>
          </a:p>
          <a:p>
            <a:pPr marL="0" indent="0">
              <a:buNone/>
            </a:pPr>
            <a:r>
              <a:rPr lang="en-US" sz="1250" dirty="0">
                <a:solidFill>
                  <a:srgbClr val="1F2A37"/>
                </a:solidFill>
                <a:latin typeface="Calibri" pitchFamily="34" charset="0"/>
                <a:ea typeface="Calibri" pitchFamily="34" charset="-122"/>
                <a:cs typeface="Calibri" pitchFamily="34" charset="-120"/>
              </a:rPr>
              <a:t>refreshed on a schedule or with REFRESH MATERIALIZED VIEW; incrementally when possible.</a:t>
            </a:r>
            <a:endParaRPr lang="en-US" sz="1250" dirty="0"/>
          </a:p>
        </p:txBody>
      </p:sp>
      <p:sp>
        <p:nvSpPr>
          <p:cNvPr id="15" name="Text 12"/>
          <p:cNvSpPr txBox="1"/>
          <p:nvPr/>
        </p:nvSpPr>
        <p:spPr>
          <a:xfrm>
            <a:off x="7406640" y="3648456"/>
            <a:ext cx="4236415" cy="914400"/>
          </a:xfrm>
          <a:prstGeom prst="rect">
            <a:avLst/>
          </a:prstGeom>
          <a:noFill/>
          <a:ln/>
        </p:spPr>
        <p:txBody>
          <a:bodyPr wrap="square" lIns="0" tIns="0" rIns="0" bIns="0" rtlCol="0" anchor="t"/>
          <a:lstStyle/>
          <a:p>
            <a:pPr marL="0" indent="0">
              <a:buNone/>
            </a:pPr>
            <a:r>
              <a:rPr lang="en-US" sz="1250" b="1" dirty="0">
                <a:solidFill>
                  <a:srgbClr val="12263A"/>
                </a:solidFill>
                <a:latin typeface="Calibri" pitchFamily="34" charset="0"/>
                <a:ea typeface="Calibri" pitchFamily="34" charset="-122"/>
                <a:cs typeface="Calibri" pitchFamily="34" charset="-120"/>
              </a:rPr>
              <a:t>Rolls up further</a:t>
            </a:r>
            <a:endParaRPr lang="en-US" sz="1250" dirty="0"/>
          </a:p>
          <a:p>
            <a:pPr marL="0" indent="0">
              <a:buNone/>
            </a:pPr>
            <a:r>
              <a:rPr lang="en-US" sz="1250" dirty="0">
                <a:solidFill>
                  <a:srgbClr val="1F2A37"/>
                </a:solidFill>
                <a:latin typeface="Calibri" pitchFamily="34" charset="0"/>
                <a:ea typeface="Calibri" pitchFamily="34" charset="-122"/>
                <a:cs typeface="Calibri" pitchFamily="34" charset="-120"/>
              </a:rPr>
              <a:t>coarser questions (region × year) are answered from it.</a:t>
            </a:r>
            <a:endParaRPr lang="en-US" sz="1250" dirty="0"/>
          </a:p>
        </p:txBody>
      </p:sp>
      <p:sp>
        <p:nvSpPr>
          <p:cNvPr id="16" name="Text 13"/>
          <p:cNvSpPr txBox="1"/>
          <p:nvPr/>
        </p:nvSpPr>
        <p:spPr>
          <a:xfrm>
            <a:off x="7406640" y="4626864"/>
            <a:ext cx="4236415" cy="914400"/>
          </a:xfrm>
          <a:prstGeom prst="rect">
            <a:avLst/>
          </a:prstGeom>
          <a:noFill/>
          <a:ln/>
        </p:spPr>
        <p:txBody>
          <a:bodyPr wrap="square" lIns="0" tIns="0" rIns="0" bIns="0" rtlCol="0" anchor="t"/>
          <a:lstStyle/>
          <a:p>
            <a:pPr marL="0" indent="0">
              <a:buNone/>
            </a:pPr>
            <a:r>
              <a:rPr lang="en-US" sz="1250" b="1" dirty="0">
                <a:solidFill>
                  <a:srgbClr val="12263A"/>
                </a:solidFill>
                <a:latin typeface="Calibri" pitchFamily="34" charset="0"/>
                <a:ea typeface="Calibri" pitchFamily="34" charset="-122"/>
                <a:cs typeface="Calibri" pitchFamily="34" charset="-120"/>
              </a:rPr>
              <a:t>Careful with measures</a:t>
            </a:r>
            <a:endParaRPr lang="en-US" sz="1250" dirty="0"/>
          </a:p>
          <a:p>
            <a:pPr marL="0" indent="0">
              <a:buNone/>
            </a:pPr>
            <a:r>
              <a:rPr lang="en-US" sz="1250" dirty="0">
                <a:solidFill>
                  <a:srgbClr val="1F2A37"/>
                </a:solidFill>
                <a:latin typeface="Calibri" pitchFamily="34" charset="0"/>
                <a:ea typeface="Calibri" pitchFamily="34" charset="-122"/>
                <a:cs typeface="Calibri" pitchFamily="34" charset="-120"/>
              </a:rPr>
              <a:t>store additive ones (SUM, counts); recompute ratios on read. COUNT DISTINCT does not roll up — re-count from facts.</a:t>
            </a:r>
            <a:endParaRPr lang="en-US" sz="1250" dirty="0"/>
          </a:p>
        </p:txBody>
      </p:sp>
      <p:sp>
        <p:nvSpPr>
          <p:cNvPr id="17" name="Shape 14"/>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18" name="Shape 15"/>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19"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20" name="Text 16"/>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Materialize the cuboids people ask for most; let everything else be computed on demand from the star.</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41</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SEMANTIC LAYER</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Metric views: define “revenue” once, in Unity Catalog</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B · OLAP</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6400800" cy="3886200"/>
          </a:xfrm>
          <a:prstGeom prst="roundRect">
            <a:avLst>
              <a:gd name="adj" fmla="val 1412"/>
            </a:avLst>
          </a:prstGeom>
          <a:solidFill>
            <a:srgbClr val="0F1E2E"/>
          </a:solidFill>
          <a:ln w="9525">
            <a:solidFill>
              <a:srgbClr val="0F1E2E"/>
            </a:solidFill>
            <a:prstDash val="solid"/>
          </a:ln>
        </p:spPr>
        <p:txBody>
          <a:bodyPr/>
          <a:lstStyle/>
          <a:p>
            <a:endParaRPr lang="en-US"/>
          </a:p>
        </p:txBody>
      </p:sp>
      <p:sp>
        <p:nvSpPr>
          <p:cNvPr id="9" name="Text 6"/>
          <p:cNvSpPr txBox="1"/>
          <p:nvPr/>
        </p:nvSpPr>
        <p:spPr>
          <a:xfrm>
            <a:off x="5760720" y="1783080"/>
            <a:ext cx="1051560" cy="228600"/>
          </a:xfrm>
          <a:prstGeom prst="rect">
            <a:avLst/>
          </a:prstGeom>
          <a:noFill/>
          <a:ln/>
        </p:spPr>
        <p:txBody>
          <a:bodyPr wrap="square" lIns="0" tIns="0" rIns="0" bIns="0" rtlCol="0" anchor="t"/>
          <a:lstStyle/>
          <a:p>
            <a:pPr marL="0" indent="0" algn="r">
              <a:buNone/>
            </a:pPr>
            <a:r>
              <a:rPr lang="en-US" sz="900" b="1" kern="0" spc="100" dirty="0">
                <a:solidFill>
                  <a:srgbClr val="7F93A8"/>
                </a:solidFill>
                <a:latin typeface="Calibri" pitchFamily="34" charset="0"/>
                <a:ea typeface="Calibri" pitchFamily="34" charset="-122"/>
                <a:cs typeface="Calibri" pitchFamily="34" charset="-120"/>
              </a:rPr>
              <a:t>SQL + YAML</a:t>
            </a:r>
            <a:endParaRPr lang="en-US" sz="900" dirty="0"/>
          </a:p>
        </p:txBody>
      </p:sp>
      <p:sp>
        <p:nvSpPr>
          <p:cNvPr id="10" name="Text 7"/>
          <p:cNvSpPr txBox="1"/>
          <p:nvPr/>
        </p:nvSpPr>
        <p:spPr>
          <a:xfrm>
            <a:off x="749808" y="1984248"/>
            <a:ext cx="6035040" cy="3502152"/>
          </a:xfrm>
          <a:prstGeom prst="rect">
            <a:avLst/>
          </a:prstGeom>
          <a:noFill/>
          <a:ln/>
        </p:spPr>
        <p:txBody>
          <a:bodyPr wrap="square" lIns="0" tIns="0" rIns="0" bIns="0" rtlCol="0" anchor="t"/>
          <a:lstStyle/>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CREATE OR REPLACE VIEW gold.sales_metrics</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WITH METRICS LANGUAGE YAML AS $$</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version: 1.1</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source: gold.fact_sales</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joins:</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 name: dt</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source: gold.dim_date</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'on': source.date_key = dt.date_key</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 name: st</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source: gold.dim_store</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'on': source.store_key = st.store_key</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fields:</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 name: Region</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expr: st.region</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 name: Quarter</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expr: dt.quarter</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measures:</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 name: Revenue</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expr: SUM(sales_amount)</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 name: Orders</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      expr: COUNT(DISTINCT order_id)</a:t>
            </a:r>
            <a:endParaRPr lang="en-US" sz="950" dirty="0"/>
          </a:p>
          <a:p>
            <a:pPr marL="0" indent="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p:txBody>
      </p:sp>
      <p:sp>
        <p:nvSpPr>
          <p:cNvPr id="11" name="Text 8"/>
          <p:cNvSpPr txBox="1"/>
          <p:nvPr/>
        </p:nvSpPr>
        <p:spPr>
          <a:xfrm>
            <a:off x="7223760" y="1691640"/>
            <a:ext cx="4419295" cy="320040"/>
          </a:xfrm>
          <a:prstGeom prst="rect">
            <a:avLst/>
          </a:prstGeom>
          <a:noFill/>
          <a:ln/>
        </p:spPr>
        <p:txBody>
          <a:bodyPr wrap="square" lIns="0" tIns="0" rIns="0" bIns="0" rtlCol="0" anchor="t"/>
          <a:lstStyle/>
          <a:p>
            <a:pPr marL="0" indent="0">
              <a:buNone/>
            </a:pPr>
            <a:r>
              <a:rPr lang="en-US" sz="1400" b="1" dirty="0">
                <a:solidFill>
                  <a:srgbClr val="12263A"/>
                </a:solidFill>
                <a:latin typeface="Calibri" pitchFamily="34" charset="0"/>
                <a:ea typeface="Calibri" pitchFamily="34" charset="-122"/>
                <a:cs typeface="Calibri" pitchFamily="34" charset="-120"/>
              </a:rPr>
              <a:t>Query it — measures via MEASURE()</a:t>
            </a:r>
            <a:endParaRPr lang="en-US" sz="1400" dirty="0"/>
          </a:p>
        </p:txBody>
      </p:sp>
      <p:sp>
        <p:nvSpPr>
          <p:cNvPr id="12" name="Shape 9"/>
          <p:cNvSpPr/>
          <p:nvPr/>
        </p:nvSpPr>
        <p:spPr>
          <a:xfrm>
            <a:off x="7223760" y="2057400"/>
            <a:ext cx="4419295" cy="1188720"/>
          </a:xfrm>
          <a:prstGeom prst="roundRect">
            <a:avLst>
              <a:gd name="adj" fmla="val 4615"/>
            </a:avLst>
          </a:prstGeom>
          <a:solidFill>
            <a:srgbClr val="0F1E2E"/>
          </a:solidFill>
          <a:ln w="9525">
            <a:solidFill>
              <a:srgbClr val="0F1E2E"/>
            </a:solidFill>
            <a:prstDash val="solid"/>
          </a:ln>
        </p:spPr>
        <p:txBody>
          <a:bodyPr/>
          <a:lstStyle/>
          <a:p>
            <a:endParaRPr lang="en-US"/>
          </a:p>
        </p:txBody>
      </p:sp>
      <p:sp>
        <p:nvSpPr>
          <p:cNvPr id="13" name="Text 10"/>
          <p:cNvSpPr txBox="1"/>
          <p:nvPr/>
        </p:nvSpPr>
        <p:spPr>
          <a:xfrm>
            <a:off x="7424928" y="2221992"/>
            <a:ext cx="4053535" cy="914400"/>
          </a:xfrm>
          <a:prstGeom prst="rect">
            <a:avLst/>
          </a:prstGeom>
          <a:noFill/>
          <a:ln/>
        </p:spPr>
        <p:txBody>
          <a:bodyPr wrap="square" lIns="0" tIns="0" rIns="0" bIns="0" rtlCol="0" anchor="t"/>
          <a:lstStyle/>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SELECT Region, Quarter,</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MEASURE(Revenue), MEASURE(Orders)</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FROM   gold.sales_metrics</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GROUP  BY ALL;</a:t>
            </a:r>
            <a:endParaRPr lang="en-US" sz="1050" dirty="0"/>
          </a:p>
        </p:txBody>
      </p:sp>
      <p:sp>
        <p:nvSpPr>
          <p:cNvPr id="14" name="Text 11"/>
          <p:cNvSpPr txBox="1"/>
          <p:nvPr/>
        </p:nvSpPr>
        <p:spPr>
          <a:xfrm>
            <a:off x="7223760" y="3429000"/>
            <a:ext cx="4419295" cy="2103120"/>
          </a:xfrm>
          <a:prstGeom prst="rect">
            <a:avLst/>
          </a:prstGeom>
          <a:noFill/>
          <a:ln/>
        </p:spPr>
        <p:txBody>
          <a:bodyPr wrap="square" lIns="0" tIns="0" rIns="0" bIns="0" rtlCol="0" anchor="t"/>
          <a:lstStyle/>
          <a:p>
            <a:pPr marL="165100" indent="-165100">
              <a:spcAft>
                <a:spcPts val="600"/>
              </a:spcAft>
              <a:buSzPct val="100000"/>
              <a:buChar char="•"/>
            </a:pPr>
            <a:r>
              <a:rPr lang="en-US" sz="1250" dirty="0">
                <a:solidFill>
                  <a:srgbClr val="1F2A37"/>
                </a:solidFill>
                <a:latin typeface="Calibri" pitchFamily="34" charset="0"/>
                <a:ea typeface="Calibri" pitchFamily="34" charset="-122"/>
                <a:cs typeface="Calibri" pitchFamily="34" charset="-120"/>
              </a:rPr>
              <a:t>One governed definition for dashboards, notebooks and Genie — no “metric drift”.</a:t>
            </a:r>
            <a:endParaRPr lang="en-US" sz="1250" dirty="0"/>
          </a:p>
          <a:p>
            <a:pPr marL="165100" indent="-165100">
              <a:spcAft>
                <a:spcPts val="600"/>
              </a:spcAft>
              <a:buSzPct val="100000"/>
              <a:buChar char="•"/>
            </a:pPr>
            <a:r>
              <a:rPr lang="en-US" sz="1250" dirty="0">
                <a:solidFill>
                  <a:srgbClr val="1F2A37"/>
                </a:solidFill>
                <a:latin typeface="Calibri" pitchFamily="34" charset="0"/>
                <a:ea typeface="Calibri" pitchFamily="34" charset="-122"/>
                <a:cs typeface="Calibri" pitchFamily="34" charset="-120"/>
              </a:rPr>
              <a:t>Analysts pick fields and measures; joins are already defined.</a:t>
            </a:r>
            <a:endParaRPr lang="en-US" sz="1250" dirty="0"/>
          </a:p>
          <a:p>
            <a:pPr marL="165100" indent="-165100">
              <a:spcAft>
                <a:spcPts val="600"/>
              </a:spcAft>
              <a:buSzPct val="100000"/>
              <a:buChar char="•"/>
            </a:pPr>
            <a:r>
              <a:rPr lang="en-US" sz="1250" dirty="0">
                <a:solidFill>
                  <a:srgbClr val="1F2A37"/>
                </a:solidFill>
                <a:latin typeface="Calibri" pitchFamily="34" charset="0"/>
                <a:ea typeface="Calibri" pitchFamily="34" charset="-122"/>
                <a:cs typeface="Calibri" pitchFamily="34" charset="-120"/>
              </a:rPr>
              <a:t>Measures aggregate correctly at any level (no averaging of ratios).</a:t>
            </a:r>
            <a:endParaRPr lang="en-US" sz="1250" dirty="0"/>
          </a:p>
        </p:txBody>
      </p:sp>
      <p:sp>
        <p:nvSpPr>
          <p:cNvPr id="15" name="Shape 12"/>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16" name="Shape 13"/>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17"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18" name="Text 14"/>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A metric view is the modern semantic layer: the cube’s measures and dimensions, defined once and governed.</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42</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MAKING OLAP FAST</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What makes interactive analysis fast on Databricks</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B · OLAP</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3515258" cy="1481328"/>
          </a:xfrm>
          <a:prstGeom prst="roundRect">
            <a:avLst>
              <a:gd name="adj" fmla="val 4938"/>
            </a:avLst>
          </a:prstGeom>
          <a:solidFill>
            <a:srgbClr val="F3F6F9"/>
          </a:solidFill>
          <a:ln w="9525">
            <a:solidFill>
              <a:srgbClr val="F3F6F9"/>
            </a:solidFill>
            <a:prstDash val="solid"/>
          </a:ln>
        </p:spPr>
        <p:txBody>
          <a:bodyPr/>
          <a:lstStyle/>
          <a:p>
            <a:endParaRPr lang="en-US"/>
          </a:p>
        </p:txBody>
      </p:sp>
      <p:sp>
        <p:nvSpPr>
          <p:cNvPr id="9" name="Shape 6"/>
          <p:cNvSpPr/>
          <p:nvPr/>
        </p:nvSpPr>
        <p:spPr>
          <a:xfrm>
            <a:off x="731520" y="1874520"/>
            <a:ext cx="402336" cy="402336"/>
          </a:xfrm>
          <a:prstGeom prst="ellipse">
            <a:avLst/>
          </a:prstGeom>
          <a:solidFill>
            <a:srgbClr val="E89B2D"/>
          </a:solidFill>
          <a:ln w="12700">
            <a:solidFill>
              <a:srgbClr val="E89B2D"/>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836127" y="1979127"/>
            <a:ext cx="193121" cy="193121"/>
          </a:xfrm>
          <a:prstGeom prst="rect">
            <a:avLst/>
          </a:prstGeom>
        </p:spPr>
      </p:pic>
      <p:sp>
        <p:nvSpPr>
          <p:cNvPr id="11" name="Text 7"/>
          <p:cNvSpPr txBox="1"/>
          <p:nvPr/>
        </p:nvSpPr>
        <p:spPr>
          <a:xfrm>
            <a:off x="1261872" y="1874520"/>
            <a:ext cx="2619146" cy="365760"/>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Photon engine</a:t>
            </a:r>
            <a:endParaRPr lang="en-US" sz="1550" dirty="0"/>
          </a:p>
        </p:txBody>
      </p:sp>
      <p:sp>
        <p:nvSpPr>
          <p:cNvPr id="12" name="Text 8"/>
          <p:cNvSpPr txBox="1"/>
          <p:nvPr/>
        </p:nvSpPr>
        <p:spPr>
          <a:xfrm>
            <a:off x="731520" y="2350008"/>
            <a:ext cx="3149498" cy="640080"/>
          </a:xfrm>
          <a:prstGeom prst="rect">
            <a:avLst/>
          </a:prstGeom>
          <a:noFill/>
          <a:ln/>
        </p:spPr>
        <p:txBody>
          <a:bodyPr wrap="square" lIns="0" tIns="0" rIns="0" bIns="0" rtlCol="0" anchor="t"/>
          <a:lstStyle/>
          <a:p>
            <a:pPr marL="0" indent="0">
              <a:spcAft>
                <a:spcPts val="400"/>
              </a:spcAft>
              <a:buNone/>
            </a:pPr>
            <a:r>
              <a:rPr lang="en-US" sz="1250" dirty="0">
                <a:solidFill>
                  <a:srgbClr val="1F2A37"/>
                </a:solidFill>
                <a:latin typeface="Calibri" pitchFamily="34" charset="0"/>
                <a:ea typeface="Calibri" pitchFamily="34" charset="-122"/>
                <a:cs typeface="Calibri" pitchFamily="34" charset="-120"/>
              </a:rPr>
              <a:t>Vectorised execution in SQL warehouses — fast scans, joins and aggregations.</a:t>
            </a:r>
            <a:endParaRPr lang="en-US" sz="1250" dirty="0"/>
          </a:p>
        </p:txBody>
      </p:sp>
      <p:sp>
        <p:nvSpPr>
          <p:cNvPr id="13" name="Shape 9"/>
          <p:cNvSpPr/>
          <p:nvPr/>
        </p:nvSpPr>
        <p:spPr>
          <a:xfrm>
            <a:off x="4338218" y="1691640"/>
            <a:ext cx="3515258" cy="1481328"/>
          </a:xfrm>
          <a:prstGeom prst="roundRect">
            <a:avLst>
              <a:gd name="adj" fmla="val 4938"/>
            </a:avLst>
          </a:prstGeom>
          <a:solidFill>
            <a:srgbClr val="F3F6F9"/>
          </a:solidFill>
          <a:ln w="9525">
            <a:solidFill>
              <a:srgbClr val="F3F6F9"/>
            </a:solidFill>
            <a:prstDash val="solid"/>
          </a:ln>
        </p:spPr>
        <p:txBody>
          <a:bodyPr/>
          <a:lstStyle/>
          <a:p>
            <a:endParaRPr lang="en-US"/>
          </a:p>
        </p:txBody>
      </p:sp>
      <p:sp>
        <p:nvSpPr>
          <p:cNvPr id="14" name="Shape 10"/>
          <p:cNvSpPr/>
          <p:nvPr/>
        </p:nvSpPr>
        <p:spPr>
          <a:xfrm>
            <a:off x="4521098" y="1874520"/>
            <a:ext cx="402336" cy="402336"/>
          </a:xfrm>
          <a:prstGeom prst="ellipse">
            <a:avLst/>
          </a:prstGeom>
          <a:solidFill>
            <a:srgbClr val="0E7C7B"/>
          </a:solidFill>
          <a:ln w="12700">
            <a:solidFill>
              <a:srgbClr val="0E7C7B"/>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625706" y="1979127"/>
            <a:ext cx="193121" cy="193121"/>
          </a:xfrm>
          <a:prstGeom prst="rect">
            <a:avLst/>
          </a:prstGeom>
        </p:spPr>
      </p:pic>
      <p:sp>
        <p:nvSpPr>
          <p:cNvPr id="16" name="Text 11"/>
          <p:cNvSpPr txBox="1"/>
          <p:nvPr/>
        </p:nvSpPr>
        <p:spPr>
          <a:xfrm>
            <a:off x="5051450" y="1874520"/>
            <a:ext cx="2619146" cy="365760"/>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Data skipping</a:t>
            </a:r>
            <a:endParaRPr lang="en-US" sz="1550" dirty="0"/>
          </a:p>
        </p:txBody>
      </p:sp>
      <p:sp>
        <p:nvSpPr>
          <p:cNvPr id="17" name="Text 12"/>
          <p:cNvSpPr txBox="1"/>
          <p:nvPr/>
        </p:nvSpPr>
        <p:spPr>
          <a:xfrm>
            <a:off x="4521098" y="2350008"/>
            <a:ext cx="3149498" cy="640080"/>
          </a:xfrm>
          <a:prstGeom prst="rect">
            <a:avLst/>
          </a:prstGeom>
          <a:noFill/>
          <a:ln/>
        </p:spPr>
        <p:txBody>
          <a:bodyPr wrap="square" lIns="0" tIns="0" rIns="0" bIns="0" rtlCol="0" anchor="t"/>
          <a:lstStyle/>
          <a:p>
            <a:pPr marL="0" indent="0">
              <a:spcAft>
                <a:spcPts val="400"/>
              </a:spcAft>
              <a:buNone/>
            </a:pPr>
            <a:r>
              <a:rPr lang="en-US" sz="1250" dirty="0">
                <a:solidFill>
                  <a:srgbClr val="1F2A37"/>
                </a:solidFill>
                <a:latin typeface="Calibri" pitchFamily="34" charset="0"/>
                <a:ea typeface="Calibri" pitchFamily="34" charset="-122"/>
                <a:cs typeface="Calibri" pitchFamily="34" charset="-120"/>
              </a:rPr>
              <a:t>Delta stores min/max statistics per file; filters skip files that cannot match.</a:t>
            </a:r>
            <a:endParaRPr lang="en-US" sz="1250" dirty="0"/>
          </a:p>
        </p:txBody>
      </p:sp>
      <p:sp>
        <p:nvSpPr>
          <p:cNvPr id="18" name="Shape 13"/>
          <p:cNvSpPr/>
          <p:nvPr/>
        </p:nvSpPr>
        <p:spPr>
          <a:xfrm>
            <a:off x="8127797" y="1691640"/>
            <a:ext cx="3515258" cy="1481328"/>
          </a:xfrm>
          <a:prstGeom prst="roundRect">
            <a:avLst>
              <a:gd name="adj" fmla="val 4938"/>
            </a:avLst>
          </a:prstGeom>
          <a:solidFill>
            <a:srgbClr val="F3F6F9"/>
          </a:solidFill>
          <a:ln w="9525">
            <a:solidFill>
              <a:srgbClr val="F3F6F9"/>
            </a:solidFill>
            <a:prstDash val="solid"/>
          </a:ln>
        </p:spPr>
        <p:txBody>
          <a:bodyPr/>
          <a:lstStyle/>
          <a:p>
            <a:endParaRPr lang="en-US"/>
          </a:p>
        </p:txBody>
      </p:sp>
      <p:sp>
        <p:nvSpPr>
          <p:cNvPr id="19" name="Shape 14"/>
          <p:cNvSpPr/>
          <p:nvPr/>
        </p:nvSpPr>
        <p:spPr>
          <a:xfrm>
            <a:off x="8310677" y="1874520"/>
            <a:ext cx="402336" cy="402336"/>
          </a:xfrm>
          <a:prstGeom prst="ellipse">
            <a:avLst/>
          </a:prstGeom>
          <a:solidFill>
            <a:srgbClr val="2F6DB5"/>
          </a:solidFill>
          <a:ln w="12700">
            <a:solidFill>
              <a:srgbClr val="2F6DB5"/>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415284" y="1979127"/>
            <a:ext cx="193121" cy="193121"/>
          </a:xfrm>
          <a:prstGeom prst="rect">
            <a:avLst/>
          </a:prstGeom>
        </p:spPr>
      </p:pic>
      <p:sp>
        <p:nvSpPr>
          <p:cNvPr id="21" name="Text 15"/>
          <p:cNvSpPr txBox="1"/>
          <p:nvPr/>
        </p:nvSpPr>
        <p:spPr>
          <a:xfrm>
            <a:off x="8841029" y="1874520"/>
            <a:ext cx="2619146" cy="365760"/>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Liquid clustering</a:t>
            </a:r>
            <a:endParaRPr lang="en-US" sz="1550" dirty="0"/>
          </a:p>
        </p:txBody>
      </p:sp>
      <p:sp>
        <p:nvSpPr>
          <p:cNvPr id="22" name="Text 16"/>
          <p:cNvSpPr txBox="1"/>
          <p:nvPr/>
        </p:nvSpPr>
        <p:spPr>
          <a:xfrm>
            <a:off x="8310677" y="2350008"/>
            <a:ext cx="3149498" cy="640080"/>
          </a:xfrm>
          <a:prstGeom prst="rect">
            <a:avLst/>
          </a:prstGeom>
          <a:noFill/>
          <a:ln/>
        </p:spPr>
        <p:txBody>
          <a:bodyPr wrap="square" lIns="0" tIns="0" rIns="0" bIns="0" rtlCol="0" anchor="t"/>
          <a:lstStyle/>
          <a:p>
            <a:pPr marL="0" indent="0">
              <a:spcAft>
                <a:spcPts val="400"/>
              </a:spcAft>
              <a:buNone/>
            </a:pPr>
            <a:r>
              <a:rPr lang="en-US" sz="1250" dirty="0">
                <a:solidFill>
                  <a:srgbClr val="1F2A37"/>
                </a:solidFill>
                <a:latin typeface="Calibri" pitchFamily="34" charset="0"/>
                <a:ea typeface="Calibri" pitchFamily="34" charset="-122"/>
                <a:cs typeface="Calibri" pitchFamily="34" charset="-120"/>
              </a:rPr>
              <a:t>CLUSTER BY (date_key, store_key) co-locates rows that are filtered together.</a:t>
            </a:r>
            <a:endParaRPr lang="en-US" sz="1250" dirty="0"/>
          </a:p>
        </p:txBody>
      </p:sp>
      <p:sp>
        <p:nvSpPr>
          <p:cNvPr id="23" name="Shape 17"/>
          <p:cNvSpPr/>
          <p:nvPr/>
        </p:nvSpPr>
        <p:spPr>
          <a:xfrm>
            <a:off x="548640" y="3355848"/>
            <a:ext cx="3515258" cy="1481328"/>
          </a:xfrm>
          <a:prstGeom prst="roundRect">
            <a:avLst>
              <a:gd name="adj" fmla="val 4938"/>
            </a:avLst>
          </a:prstGeom>
          <a:solidFill>
            <a:srgbClr val="F3F6F9"/>
          </a:solidFill>
          <a:ln w="9525">
            <a:solidFill>
              <a:srgbClr val="F3F6F9"/>
            </a:solidFill>
            <a:prstDash val="solid"/>
          </a:ln>
        </p:spPr>
        <p:txBody>
          <a:bodyPr/>
          <a:lstStyle/>
          <a:p>
            <a:endParaRPr lang="en-US"/>
          </a:p>
        </p:txBody>
      </p:sp>
      <p:sp>
        <p:nvSpPr>
          <p:cNvPr id="24" name="Shape 18"/>
          <p:cNvSpPr/>
          <p:nvPr/>
        </p:nvSpPr>
        <p:spPr>
          <a:xfrm>
            <a:off x="731520" y="3538728"/>
            <a:ext cx="402336" cy="402336"/>
          </a:xfrm>
          <a:prstGeom prst="ellipse">
            <a:avLst/>
          </a:prstGeom>
          <a:solidFill>
            <a:srgbClr val="5B4BA6"/>
          </a:solidFill>
          <a:ln w="12700">
            <a:solidFill>
              <a:srgbClr val="5B4BA6"/>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836127" y="3643335"/>
            <a:ext cx="193121" cy="193121"/>
          </a:xfrm>
          <a:prstGeom prst="rect">
            <a:avLst/>
          </a:prstGeom>
        </p:spPr>
      </p:pic>
      <p:sp>
        <p:nvSpPr>
          <p:cNvPr id="26" name="Text 19"/>
          <p:cNvSpPr txBox="1"/>
          <p:nvPr/>
        </p:nvSpPr>
        <p:spPr>
          <a:xfrm>
            <a:off x="1261872" y="3538728"/>
            <a:ext cx="2619146" cy="365760"/>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Caching</a:t>
            </a:r>
            <a:endParaRPr lang="en-US" sz="1550" dirty="0"/>
          </a:p>
        </p:txBody>
      </p:sp>
      <p:sp>
        <p:nvSpPr>
          <p:cNvPr id="27" name="Text 20"/>
          <p:cNvSpPr txBox="1"/>
          <p:nvPr/>
        </p:nvSpPr>
        <p:spPr>
          <a:xfrm>
            <a:off x="731520" y="4014216"/>
            <a:ext cx="3149498" cy="640080"/>
          </a:xfrm>
          <a:prstGeom prst="rect">
            <a:avLst/>
          </a:prstGeom>
          <a:noFill/>
          <a:ln/>
        </p:spPr>
        <p:txBody>
          <a:bodyPr wrap="square" lIns="0" tIns="0" rIns="0" bIns="0" rtlCol="0" anchor="t"/>
          <a:lstStyle/>
          <a:p>
            <a:pPr marL="0" indent="0">
              <a:spcAft>
                <a:spcPts val="400"/>
              </a:spcAft>
              <a:buNone/>
            </a:pPr>
            <a:r>
              <a:rPr lang="en-US" sz="1250" dirty="0">
                <a:solidFill>
                  <a:srgbClr val="1F2A37"/>
                </a:solidFill>
                <a:latin typeface="Calibri" pitchFamily="34" charset="0"/>
                <a:ea typeface="Calibri" pitchFamily="34" charset="-122"/>
                <a:cs typeface="Calibri" pitchFamily="34" charset="-120"/>
              </a:rPr>
              <a:t>Repeated dashboard queries are served from result and disk caches.</a:t>
            </a:r>
            <a:endParaRPr lang="en-US" sz="1250" dirty="0"/>
          </a:p>
        </p:txBody>
      </p:sp>
      <p:sp>
        <p:nvSpPr>
          <p:cNvPr id="28" name="Shape 21"/>
          <p:cNvSpPr/>
          <p:nvPr/>
        </p:nvSpPr>
        <p:spPr>
          <a:xfrm>
            <a:off x="4338218" y="3355848"/>
            <a:ext cx="3515258" cy="1481328"/>
          </a:xfrm>
          <a:prstGeom prst="roundRect">
            <a:avLst>
              <a:gd name="adj" fmla="val 4938"/>
            </a:avLst>
          </a:prstGeom>
          <a:solidFill>
            <a:srgbClr val="F3F6F9"/>
          </a:solidFill>
          <a:ln w="9525">
            <a:solidFill>
              <a:srgbClr val="F3F6F9"/>
            </a:solidFill>
            <a:prstDash val="solid"/>
          </a:ln>
        </p:spPr>
        <p:txBody>
          <a:bodyPr/>
          <a:lstStyle/>
          <a:p>
            <a:endParaRPr lang="en-US"/>
          </a:p>
        </p:txBody>
      </p:sp>
      <p:sp>
        <p:nvSpPr>
          <p:cNvPr id="29" name="Shape 22"/>
          <p:cNvSpPr/>
          <p:nvPr/>
        </p:nvSpPr>
        <p:spPr>
          <a:xfrm>
            <a:off x="4521098" y="3538728"/>
            <a:ext cx="402336" cy="402336"/>
          </a:xfrm>
          <a:prstGeom prst="ellipse">
            <a:avLst/>
          </a:prstGeom>
          <a:solidFill>
            <a:srgbClr val="C8414F"/>
          </a:solidFill>
          <a:ln w="12700">
            <a:solidFill>
              <a:srgbClr val="C8414F"/>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4625706" y="3643335"/>
            <a:ext cx="193121" cy="193121"/>
          </a:xfrm>
          <a:prstGeom prst="rect">
            <a:avLst/>
          </a:prstGeom>
        </p:spPr>
      </p:pic>
      <p:sp>
        <p:nvSpPr>
          <p:cNvPr id="31" name="Text 23"/>
          <p:cNvSpPr txBox="1"/>
          <p:nvPr/>
        </p:nvSpPr>
        <p:spPr>
          <a:xfrm>
            <a:off x="5051450" y="3538728"/>
            <a:ext cx="2619146" cy="365760"/>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Pre-aggregation</a:t>
            </a:r>
            <a:endParaRPr lang="en-US" sz="1550" dirty="0"/>
          </a:p>
        </p:txBody>
      </p:sp>
      <p:sp>
        <p:nvSpPr>
          <p:cNvPr id="32" name="Text 24"/>
          <p:cNvSpPr txBox="1"/>
          <p:nvPr/>
        </p:nvSpPr>
        <p:spPr>
          <a:xfrm>
            <a:off x="4521098" y="4014216"/>
            <a:ext cx="3149498" cy="640080"/>
          </a:xfrm>
          <a:prstGeom prst="rect">
            <a:avLst/>
          </a:prstGeom>
          <a:noFill/>
          <a:ln/>
        </p:spPr>
        <p:txBody>
          <a:bodyPr wrap="square" lIns="0" tIns="0" rIns="0" bIns="0" rtlCol="0" anchor="t"/>
          <a:lstStyle/>
          <a:p>
            <a:pPr marL="0" indent="0">
              <a:spcAft>
                <a:spcPts val="400"/>
              </a:spcAft>
              <a:buNone/>
            </a:pPr>
            <a:r>
              <a:rPr lang="en-US" sz="1250" dirty="0">
                <a:solidFill>
                  <a:srgbClr val="1F2A37"/>
                </a:solidFill>
                <a:latin typeface="Calibri" pitchFamily="34" charset="0"/>
                <a:ea typeface="Calibri" pitchFamily="34" charset="-122"/>
                <a:cs typeface="Calibri" pitchFamily="34" charset="-120"/>
              </a:rPr>
              <a:t>Materialized views answer popular questions without scanning facts.</a:t>
            </a:r>
            <a:endParaRPr lang="en-US" sz="1250" dirty="0"/>
          </a:p>
        </p:txBody>
      </p:sp>
      <p:sp>
        <p:nvSpPr>
          <p:cNvPr id="33" name="Shape 25"/>
          <p:cNvSpPr/>
          <p:nvPr/>
        </p:nvSpPr>
        <p:spPr>
          <a:xfrm>
            <a:off x="8127797" y="3355848"/>
            <a:ext cx="3515258" cy="1481328"/>
          </a:xfrm>
          <a:prstGeom prst="roundRect">
            <a:avLst>
              <a:gd name="adj" fmla="val 4938"/>
            </a:avLst>
          </a:prstGeom>
          <a:solidFill>
            <a:srgbClr val="F3F6F9"/>
          </a:solidFill>
          <a:ln w="9525">
            <a:solidFill>
              <a:srgbClr val="F3F6F9"/>
            </a:solidFill>
            <a:prstDash val="solid"/>
          </a:ln>
        </p:spPr>
        <p:txBody>
          <a:bodyPr/>
          <a:lstStyle/>
          <a:p>
            <a:endParaRPr lang="en-US"/>
          </a:p>
        </p:txBody>
      </p:sp>
      <p:sp>
        <p:nvSpPr>
          <p:cNvPr id="34" name="Shape 26"/>
          <p:cNvSpPr/>
          <p:nvPr/>
        </p:nvSpPr>
        <p:spPr>
          <a:xfrm>
            <a:off x="8310677" y="3538728"/>
            <a:ext cx="402336" cy="402336"/>
          </a:xfrm>
          <a:prstGeom prst="ellipse">
            <a:avLst/>
          </a:prstGeom>
          <a:solidFill>
            <a:srgbClr val="B8860B"/>
          </a:solidFill>
          <a:ln w="12700">
            <a:solidFill>
              <a:srgbClr val="B8860B"/>
            </a:solidFill>
            <a:prstDash val="solid"/>
          </a:ln>
        </p:spPr>
        <p:txBody>
          <a:bodyPr/>
          <a:lstStyle/>
          <a:p>
            <a:endParaRPr lang="en-US"/>
          </a:p>
        </p:txBody>
      </p:sp>
      <p:pic>
        <p:nvPicPr>
          <p:cNvPr id="35" name="Image 5" descr="preencoded.png"/>
          <p:cNvPicPr>
            <a:picLocks noChangeAspect="1"/>
          </p:cNvPicPr>
          <p:nvPr/>
        </p:nvPicPr>
        <p:blipFill>
          <a:blip r:embed="rId8"/>
          <a:stretch>
            <a:fillRect/>
          </a:stretch>
        </p:blipFill>
        <p:spPr>
          <a:xfrm>
            <a:off x="8415284" y="3643335"/>
            <a:ext cx="193121" cy="193121"/>
          </a:xfrm>
          <a:prstGeom prst="rect">
            <a:avLst/>
          </a:prstGeom>
        </p:spPr>
      </p:pic>
      <p:sp>
        <p:nvSpPr>
          <p:cNvPr id="36" name="Text 27"/>
          <p:cNvSpPr txBox="1"/>
          <p:nvPr/>
        </p:nvSpPr>
        <p:spPr>
          <a:xfrm>
            <a:off x="8841029" y="3538728"/>
            <a:ext cx="2619146" cy="365760"/>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Good modelling</a:t>
            </a:r>
            <a:endParaRPr lang="en-US" sz="1550" dirty="0"/>
          </a:p>
        </p:txBody>
      </p:sp>
      <p:sp>
        <p:nvSpPr>
          <p:cNvPr id="37" name="Text 28"/>
          <p:cNvSpPr txBox="1"/>
          <p:nvPr/>
        </p:nvSpPr>
        <p:spPr>
          <a:xfrm>
            <a:off x="8310677" y="4014216"/>
            <a:ext cx="3149498" cy="640080"/>
          </a:xfrm>
          <a:prstGeom prst="rect">
            <a:avLst/>
          </a:prstGeom>
          <a:noFill/>
          <a:ln/>
        </p:spPr>
        <p:txBody>
          <a:bodyPr wrap="square" lIns="0" tIns="0" rIns="0" bIns="0" rtlCol="0" anchor="t"/>
          <a:lstStyle/>
          <a:p>
            <a:pPr marL="0" indent="0">
              <a:spcAft>
                <a:spcPts val="400"/>
              </a:spcAft>
              <a:buNone/>
            </a:pPr>
            <a:r>
              <a:rPr lang="en-US" sz="1250" dirty="0">
                <a:solidFill>
                  <a:srgbClr val="1F2A37"/>
                </a:solidFill>
                <a:latin typeface="Calibri" pitchFamily="34" charset="0"/>
                <a:ea typeface="Calibri" pitchFamily="34" charset="-122"/>
                <a:cs typeface="Calibri" pitchFamily="34" charset="-120"/>
              </a:rPr>
              <a:t>A clean star: few joins, integer keys, right grain.</a:t>
            </a:r>
            <a:endParaRPr lang="en-US" sz="1250" dirty="0"/>
          </a:p>
        </p:txBody>
      </p:sp>
      <p:sp>
        <p:nvSpPr>
          <p:cNvPr id="38" name="Shape 29"/>
          <p:cNvSpPr/>
          <p:nvPr/>
        </p:nvSpPr>
        <p:spPr>
          <a:xfrm>
            <a:off x="548640" y="5074920"/>
            <a:ext cx="11094415" cy="502920"/>
          </a:xfrm>
          <a:prstGeom prst="roundRect">
            <a:avLst>
              <a:gd name="adj" fmla="val 14545"/>
            </a:avLst>
          </a:prstGeom>
          <a:solidFill>
            <a:srgbClr val="FCF0DC"/>
          </a:solidFill>
          <a:ln w="9525">
            <a:solidFill>
              <a:srgbClr val="FCF0DC"/>
            </a:solidFill>
            <a:prstDash val="solid"/>
          </a:ln>
        </p:spPr>
        <p:txBody>
          <a:bodyPr/>
          <a:lstStyle/>
          <a:p>
            <a:endParaRPr lang="en-US"/>
          </a:p>
        </p:txBody>
      </p:sp>
      <p:sp>
        <p:nvSpPr>
          <p:cNvPr id="39" name="Text 30"/>
          <p:cNvSpPr txBox="1"/>
          <p:nvPr/>
        </p:nvSpPr>
        <p:spPr>
          <a:xfrm>
            <a:off x="777240" y="5074920"/>
            <a:ext cx="10637215" cy="502920"/>
          </a:xfrm>
          <a:prstGeom prst="rect">
            <a:avLst/>
          </a:prstGeom>
          <a:noFill/>
          <a:ln/>
        </p:spPr>
        <p:txBody>
          <a:bodyPr wrap="square" lIns="0" tIns="0" rIns="0" bIns="0" rtlCol="0" anchor="ctr"/>
          <a:lstStyle/>
          <a:p>
            <a:pPr marL="0" indent="0">
              <a:buNone/>
            </a:pPr>
            <a:r>
              <a:rPr lang="en-US" sz="1300" b="1" dirty="0">
                <a:solidFill>
                  <a:srgbClr val="9A5A00"/>
                </a:solidFill>
                <a:latin typeface="Calibri" pitchFamily="34" charset="0"/>
                <a:ea typeface="Calibri" pitchFamily="34" charset="-122"/>
                <a:cs typeface="Calibri" pitchFamily="34" charset="-120"/>
              </a:rPr>
              <a:t>Free Edition: one 2X-Small SQL warehouse — so clustering, pre-aggregation and a clean star matter even more.</a:t>
            </a:r>
            <a:endParaRPr lang="en-US" sz="1300" dirty="0"/>
          </a:p>
        </p:txBody>
      </p:sp>
      <p:sp>
        <p:nvSpPr>
          <p:cNvPr id="40" name="Shape 31"/>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41" name="Shape 32"/>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42" name="Image 6" descr="preencoded.png"/>
          <p:cNvPicPr>
            <a:picLocks noChangeAspect="1"/>
          </p:cNvPicPr>
          <p:nvPr/>
        </p:nvPicPr>
        <p:blipFill>
          <a:blip r:embed="rId9"/>
          <a:stretch>
            <a:fillRect/>
          </a:stretch>
        </p:blipFill>
        <p:spPr>
          <a:xfrm>
            <a:off x="790042" y="5956402"/>
            <a:ext cx="175565" cy="175565"/>
          </a:xfrm>
          <a:prstGeom prst="rect">
            <a:avLst/>
          </a:prstGeom>
        </p:spPr>
      </p:pic>
      <p:sp>
        <p:nvSpPr>
          <p:cNvPr id="43" name="Text 33"/>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Speed comes from the engine plus good design: a clean star, clustered files and a few well-chosen aggregates.</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43</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SELF-SERVICE OLAP</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AI/BI dashboards and Genie put OLAP in users’ hands</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B · OLAP</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2459736"/>
        </p:xfrm>
        <a:graphic>
          <a:graphicData uri="http://schemas.openxmlformats.org/drawingml/2006/table">
            <a:tbl>
              <a:tblPr/>
              <a:tblGrid>
                <a:gridCol w="23774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tblGrid>
              <a:tr h="36576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OLAP operation</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In an AI/BI dashboard</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In Genie</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1F2A37"/>
                          </a:solidFill>
                          <a:latin typeface="Calibri" pitchFamily="34" charset="0"/>
                          <a:ea typeface="Calibri" pitchFamily="34" charset="-122"/>
                          <a:cs typeface="Calibri" pitchFamily="34" charset="-120"/>
                        </a:rPr>
                        <a:t>Roll-up / drill-down</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Change the axis field (quarter ↔ month); drill-through to a detail page</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“Break that down by month”</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1F2A37"/>
                          </a:solidFill>
                          <a:latin typeface="Calibri" pitchFamily="34" charset="0"/>
                          <a:ea typeface="Calibri" pitchFamily="34" charset="-122"/>
                          <a:cs typeface="Calibri" pitchFamily="34" charset="-120"/>
                        </a:rPr>
                        <a:t>Slice</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A filter widget: region = Queensland</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“Only Queensland”</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1F2A37"/>
                          </a:solidFill>
                          <a:latin typeface="Calibri" pitchFamily="34" charset="0"/>
                          <a:ea typeface="Calibri" pitchFamily="34" charset="-122"/>
                          <a:cs typeface="Calibri" pitchFamily="34" charset="-120"/>
                        </a:rPr>
                        <a:t>Dice</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Several filters, or click a bar to cross-filter the page</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“Computers in QLD and NSW, Q2 vs Q3”</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1F2A37"/>
                          </a:solidFill>
                          <a:latin typeface="Calibri" pitchFamily="34" charset="0"/>
                          <a:ea typeface="Calibri" pitchFamily="34" charset="-122"/>
                          <a:cs typeface="Calibri" pitchFamily="34" charset="-120"/>
                        </a:rPr>
                        <a:t>Pivot</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Pivot table visual: fields on rows vs columns</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00" dirty="0">
                          <a:solidFill>
                            <a:srgbClr val="1F2A37"/>
                          </a:solidFill>
                          <a:latin typeface="Calibri" pitchFamily="34" charset="0"/>
                          <a:ea typeface="Calibri" pitchFamily="34" charset="-122"/>
                          <a:cs typeface="Calibri" pitchFamily="34" charset="-120"/>
                        </a:rPr>
                        <a:t>“Show regions as rows and quarters as columns”</a:t>
                      </a:r>
                      <a:endParaRPr lang="en-US" sz="130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4"/>
                  </a:ext>
                </a:extLst>
              </a:tr>
            </a:tbl>
          </a:graphicData>
        </a:graphic>
      </p:graphicFrame>
      <p:sp>
        <p:nvSpPr>
          <p:cNvPr id="9" name="Shape 5"/>
          <p:cNvSpPr/>
          <p:nvPr/>
        </p:nvSpPr>
        <p:spPr>
          <a:xfrm>
            <a:off x="548640" y="4297680"/>
            <a:ext cx="5410048" cy="1298448"/>
          </a:xfrm>
          <a:prstGeom prst="roundRect">
            <a:avLst>
              <a:gd name="adj" fmla="val 5634"/>
            </a:avLst>
          </a:prstGeom>
          <a:solidFill>
            <a:srgbClr val="F3F6F9"/>
          </a:solidFill>
          <a:ln w="9525">
            <a:solidFill>
              <a:srgbClr val="F3F6F9"/>
            </a:solidFill>
            <a:prstDash val="solid"/>
          </a:ln>
        </p:spPr>
        <p:txBody>
          <a:bodyPr/>
          <a:lstStyle/>
          <a:p>
            <a:endParaRPr lang="en-US"/>
          </a:p>
        </p:txBody>
      </p:sp>
      <p:sp>
        <p:nvSpPr>
          <p:cNvPr id="10" name="Shape 6"/>
          <p:cNvSpPr/>
          <p:nvPr/>
        </p:nvSpPr>
        <p:spPr>
          <a:xfrm>
            <a:off x="731520" y="4480560"/>
            <a:ext cx="402336" cy="402336"/>
          </a:xfrm>
          <a:prstGeom prst="ellipse">
            <a:avLst/>
          </a:prstGeom>
          <a:solidFill>
            <a:srgbClr val="2F6DB5"/>
          </a:solidFill>
          <a:ln w="12700">
            <a:solidFill>
              <a:srgbClr val="2F6DB5"/>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836127" y="4585167"/>
            <a:ext cx="193121" cy="193121"/>
          </a:xfrm>
          <a:prstGeom prst="rect">
            <a:avLst/>
          </a:prstGeom>
        </p:spPr>
      </p:pic>
      <p:sp>
        <p:nvSpPr>
          <p:cNvPr id="12" name="Text 7"/>
          <p:cNvSpPr txBox="1"/>
          <p:nvPr/>
        </p:nvSpPr>
        <p:spPr>
          <a:xfrm>
            <a:off x="1261872" y="4480560"/>
            <a:ext cx="4513936" cy="310896"/>
          </a:xfrm>
          <a:prstGeom prst="rect">
            <a:avLst/>
          </a:prstGeom>
          <a:noFill/>
          <a:ln/>
        </p:spPr>
        <p:txBody>
          <a:bodyPr wrap="square" lIns="0" tIns="0" rIns="0" bIns="0" rtlCol="0" anchor="ctr"/>
          <a:lstStyle/>
          <a:p>
            <a:pPr marL="0" indent="0">
              <a:buNone/>
            </a:pPr>
            <a:r>
              <a:rPr lang="en-US" sz="1350" b="1" dirty="0">
                <a:solidFill>
                  <a:srgbClr val="12263A"/>
                </a:solidFill>
                <a:latin typeface="Calibri" pitchFamily="34" charset="0"/>
                <a:ea typeface="Calibri" pitchFamily="34" charset="-122"/>
                <a:cs typeface="Calibri" pitchFamily="34" charset="-120"/>
              </a:rPr>
              <a:t>Dashboards</a:t>
            </a:r>
            <a:endParaRPr lang="en-US" sz="1350" dirty="0"/>
          </a:p>
        </p:txBody>
      </p:sp>
      <p:sp>
        <p:nvSpPr>
          <p:cNvPr id="13" name="Text 8"/>
          <p:cNvSpPr txBox="1"/>
          <p:nvPr/>
        </p:nvSpPr>
        <p:spPr>
          <a:xfrm>
            <a:off x="731520" y="4901184"/>
            <a:ext cx="5044288" cy="512064"/>
          </a:xfrm>
          <a:prstGeom prst="rect">
            <a:avLst/>
          </a:prstGeom>
          <a:noFill/>
          <a:ln/>
        </p:spPr>
        <p:txBody>
          <a:bodyPr wrap="square" lIns="0" tIns="0" rIns="0" bIns="0" rtlCol="0" anchor="t"/>
          <a:lstStyle/>
          <a:p>
            <a:pPr marL="0" indent="0">
              <a:spcAft>
                <a:spcPts val="400"/>
              </a:spcAft>
              <a:buNone/>
            </a:pPr>
            <a:r>
              <a:rPr lang="en-US" sz="1200" dirty="0">
                <a:solidFill>
                  <a:srgbClr val="1F2A37"/>
                </a:solidFill>
                <a:latin typeface="Calibri" pitchFamily="34" charset="0"/>
                <a:ea typeface="Calibri" pitchFamily="34" charset="-122"/>
                <a:cs typeface="Calibri" pitchFamily="34" charset="-120"/>
              </a:rPr>
              <a:t>Point datasets at Gold tables or the metric view so every chart shares one definition; add filters, cross-filtering and drill-through pages.</a:t>
            </a:r>
            <a:endParaRPr lang="en-US" sz="1200" dirty="0"/>
          </a:p>
        </p:txBody>
      </p:sp>
      <p:sp>
        <p:nvSpPr>
          <p:cNvPr id="14" name="Shape 9"/>
          <p:cNvSpPr/>
          <p:nvPr/>
        </p:nvSpPr>
        <p:spPr>
          <a:xfrm>
            <a:off x="6233008" y="4297680"/>
            <a:ext cx="5410048" cy="1298448"/>
          </a:xfrm>
          <a:prstGeom prst="roundRect">
            <a:avLst>
              <a:gd name="adj" fmla="val 5634"/>
            </a:avLst>
          </a:prstGeom>
          <a:solidFill>
            <a:srgbClr val="F3F6F9"/>
          </a:solidFill>
          <a:ln w="9525">
            <a:solidFill>
              <a:srgbClr val="F3F6F9"/>
            </a:solidFill>
            <a:prstDash val="solid"/>
          </a:ln>
        </p:spPr>
        <p:txBody>
          <a:bodyPr/>
          <a:lstStyle/>
          <a:p>
            <a:endParaRPr lang="en-US"/>
          </a:p>
        </p:txBody>
      </p:sp>
      <p:sp>
        <p:nvSpPr>
          <p:cNvPr id="15" name="Shape 10"/>
          <p:cNvSpPr/>
          <p:nvPr/>
        </p:nvSpPr>
        <p:spPr>
          <a:xfrm>
            <a:off x="6415888" y="4480560"/>
            <a:ext cx="402336" cy="402336"/>
          </a:xfrm>
          <a:prstGeom prst="ellipse">
            <a:avLst/>
          </a:prstGeom>
          <a:solidFill>
            <a:srgbClr val="5B4BA6"/>
          </a:solidFill>
          <a:ln w="12700">
            <a:solidFill>
              <a:srgbClr val="5B4BA6"/>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6520495" y="4585167"/>
            <a:ext cx="193121" cy="193121"/>
          </a:xfrm>
          <a:prstGeom prst="rect">
            <a:avLst/>
          </a:prstGeom>
        </p:spPr>
      </p:pic>
      <p:sp>
        <p:nvSpPr>
          <p:cNvPr id="17" name="Text 11"/>
          <p:cNvSpPr txBox="1"/>
          <p:nvPr/>
        </p:nvSpPr>
        <p:spPr>
          <a:xfrm>
            <a:off x="6946240" y="4480560"/>
            <a:ext cx="4513936" cy="310896"/>
          </a:xfrm>
          <a:prstGeom prst="rect">
            <a:avLst/>
          </a:prstGeom>
          <a:noFill/>
          <a:ln/>
        </p:spPr>
        <p:txBody>
          <a:bodyPr wrap="square" lIns="0" tIns="0" rIns="0" bIns="0" rtlCol="0" anchor="ctr"/>
          <a:lstStyle/>
          <a:p>
            <a:pPr marL="0" indent="0">
              <a:buNone/>
            </a:pPr>
            <a:r>
              <a:rPr lang="en-US" sz="1350" b="1" dirty="0">
                <a:solidFill>
                  <a:srgbClr val="12263A"/>
                </a:solidFill>
                <a:latin typeface="Calibri" pitchFamily="34" charset="0"/>
                <a:ea typeface="Calibri" pitchFamily="34" charset="-122"/>
                <a:cs typeface="Calibri" pitchFamily="34" charset="-120"/>
              </a:rPr>
              <a:t>Genie</a:t>
            </a:r>
            <a:endParaRPr lang="en-US" sz="1350" dirty="0"/>
          </a:p>
        </p:txBody>
      </p:sp>
      <p:sp>
        <p:nvSpPr>
          <p:cNvPr id="18" name="Text 12"/>
          <p:cNvSpPr txBox="1"/>
          <p:nvPr/>
        </p:nvSpPr>
        <p:spPr>
          <a:xfrm>
            <a:off x="6415888" y="4901184"/>
            <a:ext cx="5044288" cy="512064"/>
          </a:xfrm>
          <a:prstGeom prst="rect">
            <a:avLst/>
          </a:prstGeom>
          <a:noFill/>
          <a:ln/>
        </p:spPr>
        <p:txBody>
          <a:bodyPr wrap="square" lIns="0" tIns="0" rIns="0" bIns="0" rtlCol="0" anchor="t"/>
          <a:lstStyle/>
          <a:p>
            <a:pPr marL="0" indent="0">
              <a:spcAft>
                <a:spcPts val="400"/>
              </a:spcAft>
              <a:buNone/>
            </a:pPr>
            <a:r>
              <a:rPr lang="en-US" sz="1200" dirty="0">
                <a:solidFill>
                  <a:srgbClr val="1F2A37"/>
                </a:solidFill>
                <a:latin typeface="Calibri" pitchFamily="34" charset="0"/>
                <a:ea typeface="Calibri" pitchFamily="34" charset="-122"/>
                <a:cs typeface="Calibri" pitchFamily="34" charset="-120"/>
              </a:rPr>
              <a:t>Turns questions into SQL over governed tables. Add table comments and example questions — and always check the SQL it generated.</a:t>
            </a:r>
            <a:endParaRPr lang="en-US" sz="1200" dirty="0"/>
          </a:p>
        </p:txBody>
      </p:sp>
      <p:sp>
        <p:nvSpPr>
          <p:cNvPr id="19" name="Shape 13"/>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20" name="Shape 14"/>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790042" y="5956402"/>
            <a:ext cx="175565" cy="175565"/>
          </a:xfrm>
          <a:prstGeom prst="rect">
            <a:avLst/>
          </a:prstGeom>
        </p:spPr>
      </p:pic>
      <p:sp>
        <p:nvSpPr>
          <p:cNvPr id="22" name="Text 15"/>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The same five operations work in SQL, in dashboards and in Genie — because the star schema is underneath.</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44</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LOOKING AHEAD</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How today’s design feeds the mining half of the course</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PART B · OLAP</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3291840"/>
        </p:xfrm>
        <a:graphic>
          <a:graphicData uri="http://schemas.openxmlformats.org/drawingml/2006/table">
            <a:tbl>
              <a:tblPr/>
              <a:tblGrid>
                <a:gridCol w="4754880">
                  <a:extLst>
                    <a:ext uri="{9D8B030D-6E8A-4147-A177-3AD203B41FA5}">
                      <a16:colId xmlns:a16="http://schemas.microsoft.com/office/drawing/2014/main" val="20000"/>
                    </a:ext>
                  </a:extLst>
                </a:gridCol>
                <a:gridCol w="6339535">
                  <a:extLst>
                    <a:ext uri="{9D8B030D-6E8A-4147-A177-3AD203B41FA5}">
                      <a16:colId xmlns:a16="http://schemas.microsoft.com/office/drawing/2014/main" val="20001"/>
                    </a:ext>
                  </a:extLst>
                </a:gridCol>
              </a:tblGrid>
              <a:tr h="54864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Today’s concept</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5B4BA6"/>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Used in the mining half for…</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5B4BA6"/>
                    </a:solidFill>
                  </a:tcPr>
                </a:tc>
                <a:extLst>
                  <a:ext uri="{0D108BD9-81ED-4DB2-BD59-A6C34878D82A}">
                    <a16:rowId xmlns:a16="http://schemas.microsoft.com/office/drawing/2014/main" val="10000"/>
                  </a:ext>
                </a:extLst>
              </a:tr>
              <a:tr h="548640">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Line-item grain + degenerate order_id</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Baskets for association rules: GROUP BY order_id</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Roll-up by customer (GROUP BY customer_key)</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Clustering features such as recency, frequency, monetary value</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548640">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dim_date + SCD Type 2 point-in-time lookup</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Leakage-free features for classification</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Additive measures, recomputed ratios</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Correct numeric features</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4"/>
                  </a:ext>
                </a:extLst>
              </a:tr>
              <a:tr h="548640">
                <a:tc>
                  <a:txBody>
                    <a:bodyPr/>
                    <a:lstStyle/>
                    <a:p>
                      <a:pPr marL="0" indent="0">
                        <a:buNone/>
                      </a:pPr>
                      <a:r>
                        <a:rPr lang="en-US" sz="1350" b="1" dirty="0">
                          <a:solidFill>
                            <a:srgbClr val="1F2A37"/>
                          </a:solidFill>
                          <a:latin typeface="Calibri" pitchFamily="34" charset="0"/>
                          <a:ea typeface="Calibri" pitchFamily="34" charset="-122"/>
                          <a:cs typeface="Calibri" pitchFamily="34" charset="-120"/>
                        </a:rPr>
                        <a:t>OLAP exploration (slice, dice, drill)</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50" dirty="0">
                          <a:solidFill>
                            <a:srgbClr val="1F2A37"/>
                          </a:solidFill>
                          <a:latin typeface="Calibri" pitchFamily="34" charset="0"/>
                          <a:ea typeface="Calibri" pitchFamily="34" charset="-122"/>
                          <a:cs typeface="Calibri" pitchFamily="34" charset="-120"/>
                        </a:rPr>
                        <a:t>Understanding the data before modelling it</a:t>
                      </a:r>
                      <a:endParaRPr lang="en-US" sz="13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5"/>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10" name="Shape 6"/>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12" name="Text 7"/>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OLAP answers “what happened, where?”; mining asks “which patterns, what next?” — both run on the star you design today.</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45</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HANDS-ON</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Lab 2 — design, build and explore the SmartRetail star</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LAB 2</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5410048" cy="1170432"/>
          </a:xfrm>
          <a:prstGeom prst="roundRect">
            <a:avLst>
              <a:gd name="adj" fmla="val 6250"/>
            </a:avLst>
          </a:prstGeom>
          <a:solidFill>
            <a:srgbClr val="F3F6F9"/>
          </a:solidFill>
          <a:ln w="9525">
            <a:solidFill>
              <a:srgbClr val="F3F6F9"/>
            </a:solidFill>
            <a:prstDash val="solid"/>
          </a:ln>
        </p:spPr>
        <p:txBody>
          <a:bodyPr/>
          <a:lstStyle/>
          <a:p>
            <a:endParaRPr lang="en-US"/>
          </a:p>
        </p:txBody>
      </p:sp>
      <p:sp>
        <p:nvSpPr>
          <p:cNvPr id="9" name="Shape 6"/>
          <p:cNvSpPr/>
          <p:nvPr/>
        </p:nvSpPr>
        <p:spPr>
          <a:xfrm>
            <a:off x="713232" y="2020824"/>
            <a:ext cx="475488" cy="475488"/>
          </a:xfrm>
          <a:prstGeom prst="ellipse">
            <a:avLst/>
          </a:prstGeom>
          <a:solidFill>
            <a:srgbClr val="E89B2D"/>
          </a:solidFill>
          <a:ln w="12700">
            <a:solidFill>
              <a:srgbClr val="E89B2D"/>
            </a:solidFill>
            <a:prstDash val="solid"/>
          </a:ln>
        </p:spPr>
        <p:txBody>
          <a:bodyPr/>
          <a:lstStyle/>
          <a:p>
            <a:endParaRPr lang="en-US"/>
          </a:p>
        </p:txBody>
      </p:sp>
      <p:sp>
        <p:nvSpPr>
          <p:cNvPr id="10" name="Text 7"/>
          <p:cNvSpPr txBox="1"/>
          <p:nvPr/>
        </p:nvSpPr>
        <p:spPr>
          <a:xfrm>
            <a:off x="713232" y="2020824"/>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8"/>
          <p:cNvSpPr txBox="1"/>
          <p:nvPr/>
        </p:nvSpPr>
        <p:spPr>
          <a:xfrm>
            <a:off x="1325880" y="1691640"/>
            <a:ext cx="4495648" cy="1170432"/>
          </a:xfrm>
          <a:prstGeom prst="rect">
            <a:avLst/>
          </a:prstGeom>
          <a:noFill/>
          <a:ln/>
        </p:spPr>
        <p:txBody>
          <a:bodyPr wrap="square" lIns="0" tIns="0" rIns="0" bIns="0" rtlCol="0" anchor="ctr"/>
          <a:lstStyle/>
          <a:p>
            <a:pPr marL="0" indent="0">
              <a:buNone/>
            </a:pPr>
            <a:r>
              <a:rPr lang="en-US" sz="1500" b="1" dirty="0">
                <a:solidFill>
                  <a:srgbClr val="12263A"/>
                </a:solidFill>
                <a:latin typeface="Calibri" pitchFamily="34" charset="0"/>
                <a:ea typeface="Calibri" pitchFamily="34" charset="-122"/>
                <a:cs typeface="Calibri" pitchFamily="34" charset="-120"/>
              </a:rPr>
              <a:t>Design</a:t>
            </a:r>
            <a:endParaRPr lang="en-US" sz="1250" dirty="0"/>
          </a:p>
          <a:p>
            <a:pPr marL="0" indent="0">
              <a:buNone/>
            </a:pPr>
            <a:r>
              <a:rPr lang="en-US" sz="1250" dirty="0">
                <a:solidFill>
                  <a:srgbClr val="1F2A37"/>
                </a:solidFill>
                <a:latin typeface="Calibri" pitchFamily="34" charset="0"/>
                <a:ea typeface="Calibri" pitchFamily="34" charset="-122"/>
                <a:cs typeface="Calibri" pitchFamily="34" charset="-120"/>
              </a:rPr>
              <a:t>Write the grain; list dimensions, facts and SCD types (use the checklist).</a:t>
            </a:r>
            <a:endParaRPr lang="en-US" sz="1250" dirty="0"/>
          </a:p>
        </p:txBody>
      </p:sp>
      <p:sp>
        <p:nvSpPr>
          <p:cNvPr id="12" name="Shape 9"/>
          <p:cNvSpPr/>
          <p:nvPr/>
        </p:nvSpPr>
        <p:spPr>
          <a:xfrm>
            <a:off x="6233008" y="1691640"/>
            <a:ext cx="5410048" cy="1170432"/>
          </a:xfrm>
          <a:prstGeom prst="roundRect">
            <a:avLst>
              <a:gd name="adj" fmla="val 6250"/>
            </a:avLst>
          </a:prstGeom>
          <a:solidFill>
            <a:srgbClr val="F3F6F9"/>
          </a:solidFill>
          <a:ln w="9525">
            <a:solidFill>
              <a:srgbClr val="F3F6F9"/>
            </a:solidFill>
            <a:prstDash val="solid"/>
          </a:ln>
        </p:spPr>
        <p:txBody>
          <a:bodyPr/>
          <a:lstStyle/>
          <a:p>
            <a:endParaRPr lang="en-US"/>
          </a:p>
        </p:txBody>
      </p:sp>
      <p:sp>
        <p:nvSpPr>
          <p:cNvPr id="13" name="Shape 10"/>
          <p:cNvSpPr/>
          <p:nvPr/>
        </p:nvSpPr>
        <p:spPr>
          <a:xfrm>
            <a:off x="6397600" y="2020824"/>
            <a:ext cx="475488" cy="475488"/>
          </a:xfrm>
          <a:prstGeom prst="ellipse">
            <a:avLst/>
          </a:prstGeom>
          <a:solidFill>
            <a:srgbClr val="E89B2D"/>
          </a:solidFill>
          <a:ln w="12700">
            <a:solidFill>
              <a:srgbClr val="E89B2D"/>
            </a:solidFill>
            <a:prstDash val="solid"/>
          </a:ln>
        </p:spPr>
        <p:txBody>
          <a:bodyPr/>
          <a:lstStyle/>
          <a:p>
            <a:endParaRPr lang="en-US"/>
          </a:p>
        </p:txBody>
      </p:sp>
      <p:sp>
        <p:nvSpPr>
          <p:cNvPr id="14" name="Text 11"/>
          <p:cNvSpPr txBox="1"/>
          <p:nvPr/>
        </p:nvSpPr>
        <p:spPr>
          <a:xfrm>
            <a:off x="6397600" y="2020824"/>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7010248" y="1691640"/>
            <a:ext cx="4495648" cy="1170432"/>
          </a:xfrm>
          <a:prstGeom prst="rect">
            <a:avLst/>
          </a:prstGeom>
          <a:noFill/>
          <a:ln/>
        </p:spPr>
        <p:txBody>
          <a:bodyPr wrap="square" lIns="0" tIns="0" rIns="0" bIns="0" rtlCol="0" anchor="ctr"/>
          <a:lstStyle/>
          <a:p>
            <a:pPr marL="0" indent="0">
              <a:buNone/>
            </a:pPr>
            <a:r>
              <a:rPr lang="en-US" sz="1500" b="1" dirty="0">
                <a:solidFill>
                  <a:srgbClr val="12263A"/>
                </a:solidFill>
                <a:latin typeface="Calibri" pitchFamily="34" charset="0"/>
                <a:ea typeface="Calibri" pitchFamily="34" charset="-122"/>
                <a:cs typeface="Calibri" pitchFamily="34" charset="-120"/>
              </a:rPr>
              <a:t>Build</a:t>
            </a:r>
            <a:endParaRPr lang="en-US" sz="1250" dirty="0"/>
          </a:p>
          <a:p>
            <a:pPr marL="0" indent="0">
              <a:buNone/>
            </a:pPr>
            <a:r>
              <a:rPr lang="en-US" sz="1250" dirty="0">
                <a:solidFill>
                  <a:srgbClr val="1F2A37"/>
                </a:solidFill>
                <a:latin typeface="Calibri" pitchFamily="34" charset="0"/>
                <a:ea typeface="Calibri" pitchFamily="34" charset="-122"/>
                <a:cs typeface="Calibri" pitchFamily="34" charset="-120"/>
              </a:rPr>
              <a:t>Generate dim_date; create dims and fact_sales with identity keys, PK/FK, CHECK and CLUSTER BY.</a:t>
            </a:r>
            <a:endParaRPr lang="en-US" sz="1250" dirty="0"/>
          </a:p>
        </p:txBody>
      </p:sp>
      <p:sp>
        <p:nvSpPr>
          <p:cNvPr id="16" name="Shape 13"/>
          <p:cNvSpPr/>
          <p:nvPr/>
        </p:nvSpPr>
        <p:spPr>
          <a:xfrm>
            <a:off x="548640" y="2990088"/>
            <a:ext cx="5410048" cy="1170432"/>
          </a:xfrm>
          <a:prstGeom prst="roundRect">
            <a:avLst>
              <a:gd name="adj" fmla="val 6250"/>
            </a:avLst>
          </a:prstGeom>
          <a:solidFill>
            <a:srgbClr val="F3F6F9"/>
          </a:solidFill>
          <a:ln w="9525">
            <a:solidFill>
              <a:srgbClr val="F3F6F9"/>
            </a:solidFill>
            <a:prstDash val="solid"/>
          </a:ln>
        </p:spPr>
        <p:txBody>
          <a:bodyPr/>
          <a:lstStyle/>
          <a:p>
            <a:endParaRPr lang="en-US"/>
          </a:p>
        </p:txBody>
      </p:sp>
      <p:sp>
        <p:nvSpPr>
          <p:cNvPr id="17" name="Shape 14"/>
          <p:cNvSpPr/>
          <p:nvPr/>
        </p:nvSpPr>
        <p:spPr>
          <a:xfrm>
            <a:off x="713232" y="3319272"/>
            <a:ext cx="475488" cy="475488"/>
          </a:xfrm>
          <a:prstGeom prst="ellipse">
            <a:avLst/>
          </a:prstGeom>
          <a:solidFill>
            <a:srgbClr val="E89B2D"/>
          </a:solidFill>
          <a:ln w="12700">
            <a:solidFill>
              <a:srgbClr val="E89B2D"/>
            </a:solidFill>
            <a:prstDash val="solid"/>
          </a:ln>
        </p:spPr>
        <p:txBody>
          <a:bodyPr/>
          <a:lstStyle/>
          <a:p>
            <a:endParaRPr lang="en-US"/>
          </a:p>
        </p:txBody>
      </p:sp>
      <p:sp>
        <p:nvSpPr>
          <p:cNvPr id="18" name="Text 15"/>
          <p:cNvSpPr txBox="1"/>
          <p:nvPr/>
        </p:nvSpPr>
        <p:spPr>
          <a:xfrm>
            <a:off x="713232" y="331927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1325880" y="2990088"/>
            <a:ext cx="4495648" cy="1170432"/>
          </a:xfrm>
          <a:prstGeom prst="rect">
            <a:avLst/>
          </a:prstGeom>
          <a:noFill/>
          <a:ln/>
        </p:spPr>
        <p:txBody>
          <a:bodyPr wrap="square" lIns="0" tIns="0" rIns="0" bIns="0" rtlCol="0" anchor="ctr"/>
          <a:lstStyle/>
          <a:p>
            <a:pPr marL="0" indent="0">
              <a:buNone/>
            </a:pPr>
            <a:r>
              <a:rPr lang="en-US" sz="1500" b="1" dirty="0">
                <a:solidFill>
                  <a:srgbClr val="12263A"/>
                </a:solidFill>
                <a:latin typeface="Calibri" pitchFamily="34" charset="0"/>
                <a:ea typeface="Calibri" pitchFamily="34" charset="-122"/>
                <a:cs typeface="Calibri" pitchFamily="34" charset="-120"/>
              </a:rPr>
              <a:t>Load &amp; check</a:t>
            </a:r>
            <a:endParaRPr lang="en-US" sz="1250" dirty="0"/>
          </a:p>
          <a:p>
            <a:pPr marL="0" indent="0">
              <a:buNone/>
            </a:pPr>
            <a:r>
              <a:rPr lang="en-US" sz="1250" dirty="0">
                <a:solidFill>
                  <a:srgbClr val="1F2A37"/>
                </a:solidFill>
                <a:latin typeface="Calibri" pitchFamily="34" charset="0"/>
                <a:ea typeface="Calibri" pitchFamily="34" charset="-122"/>
                <a:cs typeface="Calibri" pitchFamily="34" charset="-120"/>
              </a:rPr>
              <a:t>Load the provided extract; add -1 unknown members; count orphans and duplicates.</a:t>
            </a:r>
            <a:endParaRPr lang="en-US" sz="1250" dirty="0"/>
          </a:p>
        </p:txBody>
      </p:sp>
      <p:sp>
        <p:nvSpPr>
          <p:cNvPr id="20" name="Shape 17"/>
          <p:cNvSpPr/>
          <p:nvPr/>
        </p:nvSpPr>
        <p:spPr>
          <a:xfrm>
            <a:off x="6233008" y="2990088"/>
            <a:ext cx="5410048" cy="1170432"/>
          </a:xfrm>
          <a:prstGeom prst="roundRect">
            <a:avLst>
              <a:gd name="adj" fmla="val 6250"/>
            </a:avLst>
          </a:prstGeom>
          <a:solidFill>
            <a:srgbClr val="F3F6F9"/>
          </a:solidFill>
          <a:ln w="9525">
            <a:solidFill>
              <a:srgbClr val="F3F6F9"/>
            </a:solidFill>
            <a:prstDash val="solid"/>
          </a:ln>
        </p:spPr>
        <p:txBody>
          <a:bodyPr/>
          <a:lstStyle/>
          <a:p>
            <a:endParaRPr lang="en-US"/>
          </a:p>
        </p:txBody>
      </p:sp>
      <p:sp>
        <p:nvSpPr>
          <p:cNvPr id="21" name="Shape 18"/>
          <p:cNvSpPr/>
          <p:nvPr/>
        </p:nvSpPr>
        <p:spPr>
          <a:xfrm>
            <a:off x="6397600" y="3319272"/>
            <a:ext cx="475488" cy="475488"/>
          </a:xfrm>
          <a:prstGeom prst="ellipse">
            <a:avLst/>
          </a:prstGeom>
          <a:solidFill>
            <a:srgbClr val="E89B2D"/>
          </a:solidFill>
          <a:ln w="12700">
            <a:solidFill>
              <a:srgbClr val="E89B2D"/>
            </a:solidFill>
            <a:prstDash val="solid"/>
          </a:ln>
        </p:spPr>
        <p:txBody>
          <a:bodyPr/>
          <a:lstStyle/>
          <a:p>
            <a:endParaRPr lang="en-US"/>
          </a:p>
        </p:txBody>
      </p:sp>
      <p:sp>
        <p:nvSpPr>
          <p:cNvPr id="22" name="Text 19"/>
          <p:cNvSpPr txBox="1"/>
          <p:nvPr/>
        </p:nvSpPr>
        <p:spPr>
          <a:xfrm>
            <a:off x="6397600" y="331927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0"/>
          <p:cNvSpPr txBox="1"/>
          <p:nvPr/>
        </p:nvSpPr>
        <p:spPr>
          <a:xfrm>
            <a:off x="7010248" y="2990088"/>
            <a:ext cx="4495648" cy="1170432"/>
          </a:xfrm>
          <a:prstGeom prst="rect">
            <a:avLst/>
          </a:prstGeom>
          <a:noFill/>
          <a:ln/>
        </p:spPr>
        <p:txBody>
          <a:bodyPr wrap="square" lIns="0" tIns="0" rIns="0" bIns="0" rtlCol="0" anchor="ctr"/>
          <a:lstStyle/>
          <a:p>
            <a:pPr marL="0" indent="0">
              <a:buNone/>
            </a:pPr>
            <a:r>
              <a:rPr lang="en-US" sz="1500" b="1" dirty="0">
                <a:solidFill>
                  <a:srgbClr val="12263A"/>
                </a:solidFill>
                <a:latin typeface="Calibri" pitchFamily="34" charset="0"/>
                <a:ea typeface="Calibri" pitchFamily="34" charset="-122"/>
                <a:cs typeface="Calibri" pitchFamily="34" charset="-120"/>
              </a:rPr>
              <a:t>Explore</a:t>
            </a:r>
            <a:endParaRPr lang="en-US" sz="1250" dirty="0"/>
          </a:p>
          <a:p>
            <a:pPr marL="0" indent="0">
              <a:buNone/>
            </a:pPr>
            <a:r>
              <a:rPr lang="en-US" sz="1250" dirty="0">
                <a:solidFill>
                  <a:srgbClr val="1F2A37"/>
                </a:solidFill>
                <a:latin typeface="Calibri" pitchFamily="34" charset="0"/>
                <a:ea typeface="Calibri" pitchFamily="34" charset="-122"/>
                <a:cs typeface="Calibri" pitchFamily="34" charset="-120"/>
              </a:rPr>
              <a:t>Run the five scenario queries; explain each result in one sentence.</a:t>
            </a:r>
            <a:endParaRPr lang="en-US" sz="1250" dirty="0"/>
          </a:p>
        </p:txBody>
      </p:sp>
      <p:sp>
        <p:nvSpPr>
          <p:cNvPr id="24" name="Shape 21"/>
          <p:cNvSpPr/>
          <p:nvPr/>
        </p:nvSpPr>
        <p:spPr>
          <a:xfrm>
            <a:off x="548640" y="4288536"/>
            <a:ext cx="5410048" cy="1170432"/>
          </a:xfrm>
          <a:prstGeom prst="roundRect">
            <a:avLst>
              <a:gd name="adj" fmla="val 6250"/>
            </a:avLst>
          </a:prstGeom>
          <a:solidFill>
            <a:srgbClr val="F3F6F9"/>
          </a:solidFill>
          <a:ln w="9525">
            <a:solidFill>
              <a:srgbClr val="F3F6F9"/>
            </a:solidFill>
            <a:prstDash val="solid"/>
          </a:ln>
        </p:spPr>
        <p:txBody>
          <a:bodyPr/>
          <a:lstStyle/>
          <a:p>
            <a:endParaRPr lang="en-US"/>
          </a:p>
        </p:txBody>
      </p:sp>
      <p:sp>
        <p:nvSpPr>
          <p:cNvPr id="25" name="Shape 22"/>
          <p:cNvSpPr/>
          <p:nvPr/>
        </p:nvSpPr>
        <p:spPr>
          <a:xfrm>
            <a:off x="713232" y="4617720"/>
            <a:ext cx="475488" cy="475488"/>
          </a:xfrm>
          <a:prstGeom prst="ellipse">
            <a:avLst/>
          </a:prstGeom>
          <a:solidFill>
            <a:srgbClr val="E89B2D"/>
          </a:solidFill>
          <a:ln w="12700">
            <a:solidFill>
              <a:srgbClr val="E89B2D"/>
            </a:solidFill>
            <a:prstDash val="solid"/>
          </a:ln>
        </p:spPr>
        <p:txBody>
          <a:bodyPr/>
          <a:lstStyle/>
          <a:p>
            <a:endParaRPr lang="en-US"/>
          </a:p>
        </p:txBody>
      </p:sp>
      <p:sp>
        <p:nvSpPr>
          <p:cNvPr id="26" name="Text 23"/>
          <p:cNvSpPr txBox="1"/>
          <p:nvPr/>
        </p:nvSpPr>
        <p:spPr>
          <a:xfrm>
            <a:off x="713232" y="4617720"/>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4"/>
          <p:cNvSpPr txBox="1"/>
          <p:nvPr/>
        </p:nvSpPr>
        <p:spPr>
          <a:xfrm>
            <a:off x="1325880" y="4288536"/>
            <a:ext cx="4495648" cy="1170432"/>
          </a:xfrm>
          <a:prstGeom prst="rect">
            <a:avLst/>
          </a:prstGeom>
          <a:noFill/>
          <a:ln/>
        </p:spPr>
        <p:txBody>
          <a:bodyPr wrap="square" lIns="0" tIns="0" rIns="0" bIns="0" rtlCol="0" anchor="ctr"/>
          <a:lstStyle/>
          <a:p>
            <a:pPr marL="0" indent="0">
              <a:buNone/>
            </a:pPr>
            <a:r>
              <a:rPr lang="en-US" sz="1500" b="1" dirty="0">
                <a:solidFill>
                  <a:srgbClr val="12263A"/>
                </a:solidFill>
                <a:latin typeface="Calibri" pitchFamily="34" charset="0"/>
                <a:ea typeface="Calibri" pitchFamily="34" charset="-122"/>
                <a:cs typeface="Calibri" pitchFamily="34" charset="-120"/>
              </a:rPr>
              <a:t>Aggregate</a:t>
            </a:r>
            <a:endParaRPr lang="en-US" sz="1250" dirty="0"/>
          </a:p>
          <a:p>
            <a:pPr marL="0" indent="0">
              <a:buNone/>
            </a:pPr>
            <a:r>
              <a:rPr lang="en-US" sz="1250" dirty="0">
                <a:solidFill>
                  <a:srgbClr val="1F2A37"/>
                </a:solidFill>
                <a:latin typeface="Calibri" pitchFamily="34" charset="0"/>
                <a:ea typeface="Calibri" pitchFamily="34" charset="-122"/>
                <a:cs typeface="Calibri" pitchFamily="34" charset="-120"/>
              </a:rPr>
              <a:t>Write one ROLLUP and one CUBE query; interpret the NULL rows with grouping().</a:t>
            </a:r>
            <a:endParaRPr lang="en-US" sz="1250" dirty="0"/>
          </a:p>
        </p:txBody>
      </p:sp>
      <p:sp>
        <p:nvSpPr>
          <p:cNvPr id="28" name="Shape 25"/>
          <p:cNvSpPr/>
          <p:nvPr/>
        </p:nvSpPr>
        <p:spPr>
          <a:xfrm>
            <a:off x="6233008" y="4288536"/>
            <a:ext cx="5410048" cy="1170432"/>
          </a:xfrm>
          <a:prstGeom prst="roundRect">
            <a:avLst>
              <a:gd name="adj" fmla="val 6250"/>
            </a:avLst>
          </a:prstGeom>
          <a:solidFill>
            <a:srgbClr val="F3F6F9"/>
          </a:solidFill>
          <a:ln w="9525">
            <a:solidFill>
              <a:srgbClr val="F3F6F9"/>
            </a:solidFill>
            <a:prstDash val="solid"/>
          </a:ln>
        </p:spPr>
        <p:txBody>
          <a:bodyPr/>
          <a:lstStyle/>
          <a:p>
            <a:endParaRPr lang="en-US"/>
          </a:p>
        </p:txBody>
      </p:sp>
      <p:sp>
        <p:nvSpPr>
          <p:cNvPr id="29" name="Shape 26"/>
          <p:cNvSpPr/>
          <p:nvPr/>
        </p:nvSpPr>
        <p:spPr>
          <a:xfrm>
            <a:off x="6397600" y="4617720"/>
            <a:ext cx="475488" cy="475488"/>
          </a:xfrm>
          <a:prstGeom prst="ellipse">
            <a:avLst/>
          </a:prstGeom>
          <a:solidFill>
            <a:srgbClr val="E89B2D"/>
          </a:solidFill>
          <a:ln w="12700">
            <a:solidFill>
              <a:srgbClr val="E89B2D"/>
            </a:solidFill>
            <a:prstDash val="solid"/>
          </a:ln>
        </p:spPr>
        <p:txBody>
          <a:bodyPr/>
          <a:lstStyle/>
          <a:p>
            <a:endParaRPr lang="en-US"/>
          </a:p>
        </p:txBody>
      </p:sp>
      <p:sp>
        <p:nvSpPr>
          <p:cNvPr id="30" name="Text 27"/>
          <p:cNvSpPr txBox="1"/>
          <p:nvPr/>
        </p:nvSpPr>
        <p:spPr>
          <a:xfrm>
            <a:off x="6397600" y="4617720"/>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1" name="Text 28"/>
          <p:cNvSpPr txBox="1"/>
          <p:nvPr/>
        </p:nvSpPr>
        <p:spPr>
          <a:xfrm>
            <a:off x="7010248" y="4288536"/>
            <a:ext cx="4495648" cy="1170432"/>
          </a:xfrm>
          <a:prstGeom prst="rect">
            <a:avLst/>
          </a:prstGeom>
          <a:noFill/>
          <a:ln/>
        </p:spPr>
        <p:txBody>
          <a:bodyPr wrap="square" lIns="0" tIns="0" rIns="0" bIns="0" rtlCol="0" anchor="ctr"/>
          <a:lstStyle/>
          <a:p>
            <a:pPr marL="0" indent="0">
              <a:buNone/>
            </a:pPr>
            <a:r>
              <a:rPr lang="en-US" sz="1500" b="1" dirty="0">
                <a:solidFill>
                  <a:srgbClr val="12263A"/>
                </a:solidFill>
                <a:latin typeface="Calibri" pitchFamily="34" charset="0"/>
                <a:ea typeface="Calibri" pitchFamily="34" charset="-122"/>
                <a:cs typeface="Calibri" pitchFamily="34" charset="-120"/>
              </a:rPr>
              <a:t>Serve</a:t>
            </a:r>
            <a:endParaRPr lang="en-US" sz="1250" dirty="0"/>
          </a:p>
          <a:p>
            <a:pPr marL="0" indent="0">
              <a:buNone/>
            </a:pPr>
            <a:r>
              <a:rPr lang="en-US" sz="1250" dirty="0">
                <a:solidFill>
                  <a:srgbClr val="1F2A37"/>
                </a:solidFill>
                <a:latin typeface="Calibri" pitchFamily="34" charset="0"/>
                <a:ea typeface="Calibri" pitchFamily="34" charset="-122"/>
                <a:cs typeface="Calibri" pitchFamily="34" charset="-120"/>
              </a:rPr>
              <a:t>Create one materialized view and one metric view; build a dashboard with filters and drill-through; ask Genie one question and check its SQL.</a:t>
            </a:r>
            <a:endParaRPr lang="en-US" sz="1250" dirty="0"/>
          </a:p>
        </p:txBody>
      </p:sp>
      <p:sp>
        <p:nvSpPr>
          <p:cNvPr id="32" name="Shape 29"/>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33" name="Shape 30"/>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34"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35" name="Text 31"/>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By the end of Lab 2 you have a working Gold star in Unity Catalog — the target that Lecture 3’s pipeline will fill.</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46</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Key takeaways</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REVIEW</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91640"/>
            <a:ext cx="3515258" cy="1828800"/>
          </a:xfrm>
          <a:prstGeom prst="roundRect">
            <a:avLst>
              <a:gd name="adj" fmla="val 4000"/>
            </a:avLst>
          </a:prstGeom>
          <a:solidFill>
            <a:srgbClr val="F3F6F9"/>
          </a:solidFill>
          <a:ln w="9525">
            <a:solidFill>
              <a:srgbClr val="F3F6F9"/>
            </a:solidFill>
            <a:prstDash val="solid"/>
          </a:ln>
        </p:spPr>
        <p:txBody>
          <a:bodyPr/>
          <a:lstStyle/>
          <a:p>
            <a:endParaRPr lang="en-US"/>
          </a:p>
        </p:txBody>
      </p:sp>
      <p:sp>
        <p:nvSpPr>
          <p:cNvPr id="9" name="Shape 6"/>
          <p:cNvSpPr/>
          <p:nvPr/>
        </p:nvSpPr>
        <p:spPr>
          <a:xfrm>
            <a:off x="731520" y="1874520"/>
            <a:ext cx="402336" cy="402336"/>
          </a:xfrm>
          <a:prstGeom prst="ellipse">
            <a:avLst/>
          </a:prstGeom>
          <a:solidFill>
            <a:srgbClr val="E89B2D"/>
          </a:solidFill>
          <a:ln w="12700">
            <a:solidFill>
              <a:srgbClr val="E89B2D"/>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836127" y="1979127"/>
            <a:ext cx="193121" cy="193121"/>
          </a:xfrm>
          <a:prstGeom prst="rect">
            <a:avLst/>
          </a:prstGeom>
        </p:spPr>
      </p:pic>
      <p:sp>
        <p:nvSpPr>
          <p:cNvPr id="11" name="Text 7"/>
          <p:cNvSpPr txBox="1"/>
          <p:nvPr/>
        </p:nvSpPr>
        <p:spPr>
          <a:xfrm>
            <a:off x="1261872" y="187452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Grain first</a:t>
            </a:r>
            <a:endParaRPr lang="en-US" sz="1550" dirty="0"/>
          </a:p>
        </p:txBody>
      </p:sp>
      <p:sp>
        <p:nvSpPr>
          <p:cNvPr id="12" name="Text 8"/>
          <p:cNvSpPr txBox="1"/>
          <p:nvPr/>
        </p:nvSpPr>
        <p:spPr>
          <a:xfrm>
            <a:off x="731520" y="2386584"/>
            <a:ext cx="3149498" cy="9509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Write one sentence for what a fact row means; every measure and dimension must be true at it.</a:t>
            </a:r>
            <a:endParaRPr lang="en-US" sz="1300" dirty="0"/>
          </a:p>
        </p:txBody>
      </p:sp>
      <p:sp>
        <p:nvSpPr>
          <p:cNvPr id="13" name="Shape 9"/>
          <p:cNvSpPr/>
          <p:nvPr/>
        </p:nvSpPr>
        <p:spPr>
          <a:xfrm>
            <a:off x="4338218" y="1691640"/>
            <a:ext cx="3515258" cy="1828800"/>
          </a:xfrm>
          <a:prstGeom prst="roundRect">
            <a:avLst>
              <a:gd name="adj" fmla="val 4000"/>
            </a:avLst>
          </a:prstGeom>
          <a:solidFill>
            <a:srgbClr val="F3F6F9"/>
          </a:solidFill>
          <a:ln w="9525">
            <a:solidFill>
              <a:srgbClr val="F3F6F9"/>
            </a:solidFill>
            <a:prstDash val="solid"/>
          </a:ln>
        </p:spPr>
        <p:txBody>
          <a:bodyPr/>
          <a:lstStyle/>
          <a:p>
            <a:endParaRPr lang="en-US"/>
          </a:p>
        </p:txBody>
      </p:sp>
      <p:sp>
        <p:nvSpPr>
          <p:cNvPr id="14" name="Shape 10"/>
          <p:cNvSpPr/>
          <p:nvPr/>
        </p:nvSpPr>
        <p:spPr>
          <a:xfrm>
            <a:off x="4521098" y="1874520"/>
            <a:ext cx="402336" cy="402336"/>
          </a:xfrm>
          <a:prstGeom prst="ellipse">
            <a:avLst/>
          </a:prstGeom>
          <a:solidFill>
            <a:srgbClr val="C8414F"/>
          </a:solidFill>
          <a:ln w="12700">
            <a:solidFill>
              <a:srgbClr val="C8414F"/>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625706" y="1979127"/>
            <a:ext cx="193121" cy="193121"/>
          </a:xfrm>
          <a:prstGeom prst="rect">
            <a:avLst/>
          </a:prstGeom>
        </p:spPr>
      </p:pic>
      <p:sp>
        <p:nvSpPr>
          <p:cNvPr id="16" name="Text 11"/>
          <p:cNvSpPr txBox="1"/>
          <p:nvPr/>
        </p:nvSpPr>
        <p:spPr>
          <a:xfrm>
            <a:off x="5051450" y="187452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Facts &amp; measures</a:t>
            </a:r>
            <a:endParaRPr lang="en-US" sz="1550" dirty="0"/>
          </a:p>
        </p:txBody>
      </p:sp>
      <p:sp>
        <p:nvSpPr>
          <p:cNvPr id="17" name="Text 12"/>
          <p:cNvSpPr txBox="1"/>
          <p:nvPr/>
        </p:nvSpPr>
        <p:spPr>
          <a:xfrm>
            <a:off x="4521098" y="2386584"/>
            <a:ext cx="3149498" cy="9509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Transaction, periodic or accumulating snapshot; additive vs semi- and non-additive measures.</a:t>
            </a:r>
            <a:endParaRPr lang="en-US" sz="1300" dirty="0"/>
          </a:p>
        </p:txBody>
      </p:sp>
      <p:sp>
        <p:nvSpPr>
          <p:cNvPr id="18" name="Shape 13"/>
          <p:cNvSpPr/>
          <p:nvPr/>
        </p:nvSpPr>
        <p:spPr>
          <a:xfrm>
            <a:off x="8127797" y="1691640"/>
            <a:ext cx="3515258" cy="1828800"/>
          </a:xfrm>
          <a:prstGeom prst="roundRect">
            <a:avLst>
              <a:gd name="adj" fmla="val 4000"/>
            </a:avLst>
          </a:prstGeom>
          <a:solidFill>
            <a:srgbClr val="F3F6F9"/>
          </a:solidFill>
          <a:ln w="9525">
            <a:solidFill>
              <a:srgbClr val="F3F6F9"/>
            </a:solidFill>
            <a:prstDash val="solid"/>
          </a:ln>
        </p:spPr>
        <p:txBody>
          <a:bodyPr/>
          <a:lstStyle/>
          <a:p>
            <a:endParaRPr lang="en-US"/>
          </a:p>
        </p:txBody>
      </p:sp>
      <p:sp>
        <p:nvSpPr>
          <p:cNvPr id="19" name="Shape 14"/>
          <p:cNvSpPr/>
          <p:nvPr/>
        </p:nvSpPr>
        <p:spPr>
          <a:xfrm>
            <a:off x="8310677" y="1874520"/>
            <a:ext cx="402336" cy="402336"/>
          </a:xfrm>
          <a:prstGeom prst="ellipse">
            <a:avLst/>
          </a:prstGeom>
          <a:solidFill>
            <a:srgbClr val="0E7C7B"/>
          </a:solidFill>
          <a:ln w="12700">
            <a:solidFill>
              <a:srgbClr val="0E7C7B"/>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415284" y="1979127"/>
            <a:ext cx="193121" cy="193121"/>
          </a:xfrm>
          <a:prstGeom prst="rect">
            <a:avLst/>
          </a:prstGeom>
        </p:spPr>
      </p:pic>
      <p:sp>
        <p:nvSpPr>
          <p:cNvPr id="21" name="Text 15"/>
          <p:cNvSpPr txBox="1"/>
          <p:nvPr/>
        </p:nvSpPr>
        <p:spPr>
          <a:xfrm>
            <a:off x="8841029" y="1874520"/>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Dimensions &amp; history</a:t>
            </a:r>
            <a:endParaRPr lang="en-US" sz="1550" dirty="0"/>
          </a:p>
        </p:txBody>
      </p:sp>
      <p:sp>
        <p:nvSpPr>
          <p:cNvPr id="22" name="Text 16"/>
          <p:cNvSpPr txBox="1"/>
          <p:nvPr/>
        </p:nvSpPr>
        <p:spPr>
          <a:xfrm>
            <a:off x="8310677" y="2386584"/>
            <a:ext cx="3149498" cy="9509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Generated dim_date, role-playing / degenerate / junk dimensions, SCD types per attribute.</a:t>
            </a:r>
            <a:endParaRPr lang="en-US" sz="1300" dirty="0"/>
          </a:p>
        </p:txBody>
      </p:sp>
      <p:sp>
        <p:nvSpPr>
          <p:cNvPr id="23" name="Shape 17"/>
          <p:cNvSpPr/>
          <p:nvPr/>
        </p:nvSpPr>
        <p:spPr>
          <a:xfrm>
            <a:off x="548640" y="3721608"/>
            <a:ext cx="3515258" cy="1828800"/>
          </a:xfrm>
          <a:prstGeom prst="roundRect">
            <a:avLst>
              <a:gd name="adj" fmla="val 4000"/>
            </a:avLst>
          </a:prstGeom>
          <a:solidFill>
            <a:srgbClr val="F3F6F9"/>
          </a:solidFill>
          <a:ln w="9525">
            <a:solidFill>
              <a:srgbClr val="F3F6F9"/>
            </a:solidFill>
            <a:prstDash val="solid"/>
          </a:ln>
        </p:spPr>
        <p:txBody>
          <a:bodyPr/>
          <a:lstStyle/>
          <a:p>
            <a:endParaRPr lang="en-US"/>
          </a:p>
        </p:txBody>
      </p:sp>
      <p:sp>
        <p:nvSpPr>
          <p:cNvPr id="24" name="Shape 18"/>
          <p:cNvSpPr/>
          <p:nvPr/>
        </p:nvSpPr>
        <p:spPr>
          <a:xfrm>
            <a:off x="731520" y="3904488"/>
            <a:ext cx="402336" cy="402336"/>
          </a:xfrm>
          <a:prstGeom prst="ellipse">
            <a:avLst/>
          </a:prstGeom>
          <a:solidFill>
            <a:srgbClr val="A8622F"/>
          </a:solidFill>
          <a:ln w="12700">
            <a:solidFill>
              <a:srgbClr val="A8622F"/>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836127" y="4009095"/>
            <a:ext cx="193121" cy="193121"/>
          </a:xfrm>
          <a:prstGeom prst="rect">
            <a:avLst/>
          </a:prstGeom>
        </p:spPr>
      </p:pic>
      <p:sp>
        <p:nvSpPr>
          <p:cNvPr id="26" name="Text 19"/>
          <p:cNvSpPr txBox="1"/>
          <p:nvPr/>
        </p:nvSpPr>
        <p:spPr>
          <a:xfrm>
            <a:off x="1261872" y="3904488"/>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Built in Databricks</a:t>
            </a:r>
            <a:endParaRPr lang="en-US" sz="1550" dirty="0"/>
          </a:p>
        </p:txBody>
      </p:sp>
      <p:sp>
        <p:nvSpPr>
          <p:cNvPr id="27" name="Text 20"/>
          <p:cNvSpPr txBox="1"/>
          <p:nvPr/>
        </p:nvSpPr>
        <p:spPr>
          <a:xfrm>
            <a:off x="731520" y="4416552"/>
            <a:ext cx="3149498" cy="9509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Identity surrogate keys, informational PK/FK, enforced NOT NULL/CHECK, -1 unknown members, CLUSTER BY.</a:t>
            </a:r>
            <a:endParaRPr lang="en-US" sz="1300" dirty="0"/>
          </a:p>
        </p:txBody>
      </p:sp>
      <p:sp>
        <p:nvSpPr>
          <p:cNvPr id="28" name="Shape 21"/>
          <p:cNvSpPr/>
          <p:nvPr/>
        </p:nvSpPr>
        <p:spPr>
          <a:xfrm>
            <a:off x="4338218" y="3721608"/>
            <a:ext cx="3515258" cy="1828800"/>
          </a:xfrm>
          <a:prstGeom prst="roundRect">
            <a:avLst>
              <a:gd name="adj" fmla="val 4000"/>
            </a:avLst>
          </a:prstGeom>
          <a:solidFill>
            <a:srgbClr val="F3F6F9"/>
          </a:solidFill>
          <a:ln w="9525">
            <a:solidFill>
              <a:srgbClr val="F3F6F9"/>
            </a:solidFill>
            <a:prstDash val="solid"/>
          </a:ln>
        </p:spPr>
        <p:txBody>
          <a:bodyPr/>
          <a:lstStyle/>
          <a:p>
            <a:endParaRPr lang="en-US"/>
          </a:p>
        </p:txBody>
      </p:sp>
      <p:sp>
        <p:nvSpPr>
          <p:cNvPr id="29" name="Shape 22"/>
          <p:cNvSpPr/>
          <p:nvPr/>
        </p:nvSpPr>
        <p:spPr>
          <a:xfrm>
            <a:off x="4521098" y="3904488"/>
            <a:ext cx="402336" cy="402336"/>
          </a:xfrm>
          <a:prstGeom prst="ellipse">
            <a:avLst/>
          </a:prstGeom>
          <a:solidFill>
            <a:srgbClr val="5B4BA6"/>
          </a:solidFill>
          <a:ln w="12700">
            <a:solidFill>
              <a:srgbClr val="5B4BA6"/>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4625706" y="4009095"/>
            <a:ext cx="193121" cy="193121"/>
          </a:xfrm>
          <a:prstGeom prst="rect">
            <a:avLst/>
          </a:prstGeom>
        </p:spPr>
      </p:pic>
      <p:sp>
        <p:nvSpPr>
          <p:cNvPr id="31" name="Text 23"/>
          <p:cNvSpPr txBox="1"/>
          <p:nvPr/>
        </p:nvSpPr>
        <p:spPr>
          <a:xfrm>
            <a:off x="5051450" y="3904488"/>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OLAP = edits to SQL</a:t>
            </a:r>
            <a:endParaRPr lang="en-US" sz="1550" dirty="0"/>
          </a:p>
        </p:txBody>
      </p:sp>
      <p:sp>
        <p:nvSpPr>
          <p:cNvPr id="32" name="Text 24"/>
          <p:cNvSpPr txBox="1"/>
          <p:nvPr/>
        </p:nvSpPr>
        <p:spPr>
          <a:xfrm>
            <a:off x="4521098" y="4416552"/>
            <a:ext cx="3149498" cy="9509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Roll-up/drill-down change GROUP BY; slice/dice add WHERE; pivot rotates; ROLLUP/CUBE give subtotals.</a:t>
            </a:r>
            <a:endParaRPr lang="en-US" sz="1300" dirty="0"/>
          </a:p>
        </p:txBody>
      </p:sp>
      <p:sp>
        <p:nvSpPr>
          <p:cNvPr id="33" name="Shape 25"/>
          <p:cNvSpPr/>
          <p:nvPr/>
        </p:nvSpPr>
        <p:spPr>
          <a:xfrm>
            <a:off x="8127797" y="3721608"/>
            <a:ext cx="3515258" cy="1828800"/>
          </a:xfrm>
          <a:prstGeom prst="roundRect">
            <a:avLst>
              <a:gd name="adj" fmla="val 4000"/>
            </a:avLst>
          </a:prstGeom>
          <a:solidFill>
            <a:srgbClr val="F3F6F9"/>
          </a:solidFill>
          <a:ln w="9525">
            <a:solidFill>
              <a:srgbClr val="F3F6F9"/>
            </a:solidFill>
            <a:prstDash val="solid"/>
          </a:ln>
        </p:spPr>
        <p:txBody>
          <a:bodyPr/>
          <a:lstStyle/>
          <a:p>
            <a:endParaRPr lang="en-US"/>
          </a:p>
        </p:txBody>
      </p:sp>
      <p:sp>
        <p:nvSpPr>
          <p:cNvPr id="34" name="Shape 26"/>
          <p:cNvSpPr/>
          <p:nvPr/>
        </p:nvSpPr>
        <p:spPr>
          <a:xfrm>
            <a:off x="8310677" y="3904488"/>
            <a:ext cx="402336" cy="402336"/>
          </a:xfrm>
          <a:prstGeom prst="ellipse">
            <a:avLst/>
          </a:prstGeom>
          <a:solidFill>
            <a:srgbClr val="2F6DB5"/>
          </a:solidFill>
          <a:ln w="12700">
            <a:solidFill>
              <a:srgbClr val="2F6DB5"/>
            </a:solidFill>
            <a:prstDash val="solid"/>
          </a:ln>
        </p:spPr>
        <p:txBody>
          <a:bodyPr/>
          <a:lstStyle/>
          <a:p>
            <a:endParaRPr lang="en-US"/>
          </a:p>
        </p:txBody>
      </p:sp>
      <p:pic>
        <p:nvPicPr>
          <p:cNvPr id="35" name="Image 5" descr="preencoded.png"/>
          <p:cNvPicPr>
            <a:picLocks noChangeAspect="1"/>
          </p:cNvPicPr>
          <p:nvPr/>
        </p:nvPicPr>
        <p:blipFill>
          <a:blip r:embed="rId8"/>
          <a:stretch>
            <a:fillRect/>
          </a:stretch>
        </p:blipFill>
        <p:spPr>
          <a:xfrm>
            <a:off x="8415284" y="4009095"/>
            <a:ext cx="193121" cy="193121"/>
          </a:xfrm>
          <a:prstGeom prst="rect">
            <a:avLst/>
          </a:prstGeom>
        </p:spPr>
      </p:pic>
      <p:sp>
        <p:nvSpPr>
          <p:cNvPr id="36" name="Text 27"/>
          <p:cNvSpPr txBox="1"/>
          <p:nvPr/>
        </p:nvSpPr>
        <p:spPr>
          <a:xfrm>
            <a:off x="8841029" y="3904488"/>
            <a:ext cx="2619146" cy="402336"/>
          </a:xfrm>
          <a:prstGeom prst="rect">
            <a:avLst/>
          </a:prstGeom>
          <a:noFill/>
          <a:ln/>
        </p:spPr>
        <p:txBody>
          <a:bodyPr wrap="square" lIns="0" tIns="0" rIns="0" bIns="0" rtlCol="0" anchor="ctr"/>
          <a:lstStyle/>
          <a:p>
            <a:pPr marL="0" indent="0">
              <a:buNone/>
            </a:pPr>
            <a:r>
              <a:rPr lang="en-US" sz="1550" b="1" dirty="0">
                <a:solidFill>
                  <a:srgbClr val="12263A"/>
                </a:solidFill>
                <a:latin typeface="Calibri" pitchFamily="34" charset="0"/>
                <a:ea typeface="Calibri" pitchFamily="34" charset="-122"/>
                <a:cs typeface="Calibri" pitchFamily="34" charset="-120"/>
              </a:rPr>
              <a:t>Fast &amp; self-service</a:t>
            </a:r>
            <a:endParaRPr lang="en-US" sz="1550" dirty="0"/>
          </a:p>
        </p:txBody>
      </p:sp>
      <p:sp>
        <p:nvSpPr>
          <p:cNvPr id="37" name="Text 28"/>
          <p:cNvSpPr txBox="1"/>
          <p:nvPr/>
        </p:nvSpPr>
        <p:spPr>
          <a:xfrm>
            <a:off x="8310677" y="4416552"/>
            <a:ext cx="3149498" cy="950976"/>
          </a:xfrm>
          <a:prstGeom prst="rect">
            <a:avLst/>
          </a:prstGeom>
          <a:noFill/>
          <a:ln/>
        </p:spPr>
        <p:txBody>
          <a:bodyPr wrap="square" lIns="0" tIns="0" rIns="0" bIns="0" rtlCol="0" anchor="t"/>
          <a:lstStyle/>
          <a:p>
            <a:pPr marL="0" indent="0">
              <a:spcAft>
                <a:spcPts val="400"/>
              </a:spcAft>
              <a:buNone/>
            </a:pPr>
            <a:r>
              <a:rPr lang="en-US" sz="1300" dirty="0">
                <a:solidFill>
                  <a:srgbClr val="1F2A37"/>
                </a:solidFill>
                <a:latin typeface="Calibri" pitchFamily="34" charset="0"/>
                <a:ea typeface="Calibri" pitchFamily="34" charset="-122"/>
                <a:cs typeface="Calibri" pitchFamily="34" charset="-120"/>
              </a:rPr>
              <a:t>ROLAP on Delta + Photon, clustering and materialized views; metric views, dashboards and Genie.</a:t>
            </a:r>
            <a:endParaRPr lang="en-US" sz="1300" dirty="0"/>
          </a:p>
        </p:txBody>
      </p:sp>
      <p:sp>
        <p:nvSpPr>
          <p:cNvPr id="38" name="Shape 29"/>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39" name="Shape 30"/>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40" name="Image 6" descr="preencoded.png"/>
          <p:cNvPicPr>
            <a:picLocks noChangeAspect="1"/>
          </p:cNvPicPr>
          <p:nvPr/>
        </p:nvPicPr>
        <p:blipFill>
          <a:blip r:embed="rId9"/>
          <a:stretch>
            <a:fillRect/>
          </a:stretch>
        </p:blipFill>
        <p:spPr>
          <a:xfrm>
            <a:off x="790042" y="5956402"/>
            <a:ext cx="175565" cy="175565"/>
          </a:xfrm>
          <a:prstGeom prst="rect">
            <a:avLst/>
          </a:prstGeom>
        </p:spPr>
      </p:pic>
      <p:sp>
        <p:nvSpPr>
          <p:cNvPr id="41" name="Text 31"/>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A well-designed star makes OLAP simple today and mining reliable later.</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47</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TEST YOURSELF</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Self-check questions</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REVIEW</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sp>
        <p:nvSpPr>
          <p:cNvPr id="8" name="Shape 5"/>
          <p:cNvSpPr/>
          <p:nvPr/>
        </p:nvSpPr>
        <p:spPr>
          <a:xfrm>
            <a:off x="548640" y="1645920"/>
            <a:ext cx="5410048" cy="694944"/>
          </a:xfrm>
          <a:prstGeom prst="roundRect">
            <a:avLst>
              <a:gd name="adj" fmla="val 10526"/>
            </a:avLst>
          </a:prstGeom>
          <a:solidFill>
            <a:srgbClr val="F3F6F9"/>
          </a:solidFill>
          <a:ln w="9525">
            <a:solidFill>
              <a:srgbClr val="F3F6F9"/>
            </a:solidFill>
            <a:prstDash val="solid"/>
          </a:ln>
        </p:spPr>
        <p:txBody>
          <a:bodyPr/>
          <a:lstStyle/>
          <a:p>
            <a:endParaRPr lang="en-US"/>
          </a:p>
        </p:txBody>
      </p:sp>
      <p:sp>
        <p:nvSpPr>
          <p:cNvPr id="9" name="Shape 6"/>
          <p:cNvSpPr/>
          <p:nvPr/>
        </p:nvSpPr>
        <p:spPr>
          <a:xfrm>
            <a:off x="685800" y="1801368"/>
            <a:ext cx="384048" cy="384048"/>
          </a:xfrm>
          <a:prstGeom prst="ellipse">
            <a:avLst/>
          </a:prstGeom>
          <a:solidFill>
            <a:srgbClr val="0E7C7B"/>
          </a:solidFill>
          <a:ln w="12700">
            <a:solidFill>
              <a:srgbClr val="0E7C7B"/>
            </a:solidFill>
            <a:prstDash val="solid"/>
          </a:ln>
        </p:spPr>
        <p:txBody>
          <a:bodyPr/>
          <a:lstStyle/>
          <a:p>
            <a:endParaRPr lang="en-US"/>
          </a:p>
        </p:txBody>
      </p:sp>
      <p:sp>
        <p:nvSpPr>
          <p:cNvPr id="10" name="Text 7"/>
          <p:cNvSpPr txBox="1"/>
          <p:nvPr/>
        </p:nvSpPr>
        <p:spPr>
          <a:xfrm>
            <a:off x="685800" y="18013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8"/>
          <p:cNvSpPr txBox="1"/>
          <p:nvPr/>
        </p:nvSpPr>
        <p:spPr>
          <a:xfrm>
            <a:off x="1207008" y="1645920"/>
            <a:ext cx="4632808" cy="694944"/>
          </a:xfrm>
          <a:prstGeom prst="rect">
            <a:avLst/>
          </a:prstGeom>
          <a:noFill/>
          <a:ln/>
        </p:spPr>
        <p:txBody>
          <a:bodyPr wrap="square" lIns="0" tIns="0" rIns="0" bIns="0" rtlCol="0" anchor="ctr"/>
          <a:lstStyle/>
          <a:p>
            <a:pPr marL="0" indent="0">
              <a:buNone/>
            </a:pPr>
            <a:r>
              <a:rPr lang="en-US" sz="1250" dirty="0">
                <a:solidFill>
                  <a:srgbClr val="1F2A37"/>
                </a:solidFill>
                <a:latin typeface="Calibri" pitchFamily="34" charset="0"/>
                <a:ea typeface="Calibri" pitchFamily="34" charset="-122"/>
                <a:cs typeface="Calibri" pitchFamily="34" charset="-120"/>
              </a:rPr>
              <a:t>Why is the grain declared before choosing dimensions and facts?</a:t>
            </a:r>
            <a:endParaRPr lang="en-US" sz="1250" dirty="0"/>
          </a:p>
        </p:txBody>
      </p:sp>
      <p:sp>
        <p:nvSpPr>
          <p:cNvPr id="12" name="Shape 9"/>
          <p:cNvSpPr/>
          <p:nvPr/>
        </p:nvSpPr>
        <p:spPr>
          <a:xfrm>
            <a:off x="6233008" y="1645920"/>
            <a:ext cx="5410048" cy="694944"/>
          </a:xfrm>
          <a:prstGeom prst="roundRect">
            <a:avLst>
              <a:gd name="adj" fmla="val 10526"/>
            </a:avLst>
          </a:prstGeom>
          <a:solidFill>
            <a:srgbClr val="F3F6F9"/>
          </a:solidFill>
          <a:ln w="9525">
            <a:solidFill>
              <a:srgbClr val="F3F6F9"/>
            </a:solidFill>
            <a:prstDash val="solid"/>
          </a:ln>
        </p:spPr>
        <p:txBody>
          <a:bodyPr/>
          <a:lstStyle/>
          <a:p>
            <a:endParaRPr lang="en-US"/>
          </a:p>
        </p:txBody>
      </p:sp>
      <p:sp>
        <p:nvSpPr>
          <p:cNvPr id="13" name="Shape 10"/>
          <p:cNvSpPr/>
          <p:nvPr/>
        </p:nvSpPr>
        <p:spPr>
          <a:xfrm>
            <a:off x="6370168" y="1801368"/>
            <a:ext cx="384048" cy="384048"/>
          </a:xfrm>
          <a:prstGeom prst="ellipse">
            <a:avLst/>
          </a:prstGeom>
          <a:solidFill>
            <a:srgbClr val="0E7C7B"/>
          </a:solidFill>
          <a:ln w="12700">
            <a:solidFill>
              <a:srgbClr val="0E7C7B"/>
            </a:solidFill>
            <a:prstDash val="solid"/>
          </a:ln>
        </p:spPr>
        <p:txBody>
          <a:bodyPr/>
          <a:lstStyle/>
          <a:p>
            <a:endParaRPr lang="en-US"/>
          </a:p>
        </p:txBody>
      </p:sp>
      <p:sp>
        <p:nvSpPr>
          <p:cNvPr id="14" name="Text 11"/>
          <p:cNvSpPr txBox="1"/>
          <p:nvPr/>
        </p:nvSpPr>
        <p:spPr>
          <a:xfrm>
            <a:off x="6370168" y="18013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6891376" y="1645920"/>
            <a:ext cx="4632808" cy="694944"/>
          </a:xfrm>
          <a:prstGeom prst="rect">
            <a:avLst/>
          </a:prstGeom>
          <a:noFill/>
          <a:ln/>
        </p:spPr>
        <p:txBody>
          <a:bodyPr wrap="square" lIns="0" tIns="0" rIns="0" bIns="0" rtlCol="0" anchor="ctr"/>
          <a:lstStyle/>
          <a:p>
            <a:pPr marL="0" indent="0">
              <a:buNone/>
            </a:pPr>
            <a:r>
              <a:rPr lang="en-US" sz="1250" dirty="0">
                <a:solidFill>
                  <a:srgbClr val="1F2A37"/>
                </a:solidFill>
                <a:latin typeface="Calibri" pitchFamily="34" charset="0"/>
                <a:ea typeface="Calibri" pitchFamily="34" charset="-122"/>
                <a:cs typeface="Calibri" pitchFamily="34" charset="-120"/>
              </a:rPr>
              <a:t>Which fact-table type records daily stock levels per product and store?</a:t>
            </a:r>
            <a:endParaRPr lang="en-US" sz="1250" dirty="0"/>
          </a:p>
        </p:txBody>
      </p:sp>
      <p:sp>
        <p:nvSpPr>
          <p:cNvPr id="16" name="Shape 13"/>
          <p:cNvSpPr/>
          <p:nvPr/>
        </p:nvSpPr>
        <p:spPr>
          <a:xfrm>
            <a:off x="548640" y="2432304"/>
            <a:ext cx="5410048" cy="694944"/>
          </a:xfrm>
          <a:prstGeom prst="roundRect">
            <a:avLst>
              <a:gd name="adj" fmla="val 10526"/>
            </a:avLst>
          </a:prstGeom>
          <a:solidFill>
            <a:srgbClr val="F3F6F9"/>
          </a:solidFill>
          <a:ln w="9525">
            <a:solidFill>
              <a:srgbClr val="F3F6F9"/>
            </a:solidFill>
            <a:prstDash val="solid"/>
          </a:ln>
        </p:spPr>
        <p:txBody>
          <a:bodyPr/>
          <a:lstStyle/>
          <a:p>
            <a:endParaRPr lang="en-US"/>
          </a:p>
        </p:txBody>
      </p:sp>
      <p:sp>
        <p:nvSpPr>
          <p:cNvPr id="17" name="Shape 14"/>
          <p:cNvSpPr/>
          <p:nvPr/>
        </p:nvSpPr>
        <p:spPr>
          <a:xfrm>
            <a:off x="685800" y="2587752"/>
            <a:ext cx="384048" cy="384048"/>
          </a:xfrm>
          <a:prstGeom prst="ellipse">
            <a:avLst/>
          </a:prstGeom>
          <a:solidFill>
            <a:srgbClr val="0E7C7B"/>
          </a:solidFill>
          <a:ln w="12700">
            <a:solidFill>
              <a:srgbClr val="0E7C7B"/>
            </a:solidFill>
            <a:prstDash val="solid"/>
          </a:ln>
        </p:spPr>
        <p:txBody>
          <a:bodyPr/>
          <a:lstStyle/>
          <a:p>
            <a:endParaRPr lang="en-US"/>
          </a:p>
        </p:txBody>
      </p:sp>
      <p:sp>
        <p:nvSpPr>
          <p:cNvPr id="18" name="Text 15"/>
          <p:cNvSpPr txBox="1"/>
          <p:nvPr/>
        </p:nvSpPr>
        <p:spPr>
          <a:xfrm>
            <a:off x="685800" y="258775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txBox="1"/>
          <p:nvPr/>
        </p:nvSpPr>
        <p:spPr>
          <a:xfrm>
            <a:off x="1207008" y="2432304"/>
            <a:ext cx="4632808" cy="694944"/>
          </a:xfrm>
          <a:prstGeom prst="rect">
            <a:avLst/>
          </a:prstGeom>
          <a:noFill/>
          <a:ln/>
        </p:spPr>
        <p:txBody>
          <a:bodyPr wrap="square" lIns="0" tIns="0" rIns="0" bIns="0" rtlCol="0" anchor="ctr"/>
          <a:lstStyle/>
          <a:p>
            <a:pPr marL="0" indent="0">
              <a:buNone/>
            </a:pPr>
            <a:r>
              <a:rPr lang="en-US" sz="1250" dirty="0">
                <a:solidFill>
                  <a:srgbClr val="1F2A37"/>
                </a:solidFill>
                <a:latin typeface="Calibri" pitchFamily="34" charset="0"/>
                <a:ea typeface="Calibri" pitchFamily="34" charset="-122"/>
                <a:cs typeface="Calibri" pitchFamily="34" charset="-120"/>
              </a:rPr>
              <a:t>Why can’t stock-on-hand be summed across days? What do you do instead?</a:t>
            </a:r>
            <a:endParaRPr lang="en-US" sz="1250" dirty="0"/>
          </a:p>
        </p:txBody>
      </p:sp>
      <p:sp>
        <p:nvSpPr>
          <p:cNvPr id="20" name="Shape 17"/>
          <p:cNvSpPr/>
          <p:nvPr/>
        </p:nvSpPr>
        <p:spPr>
          <a:xfrm>
            <a:off x="6233008" y="2432304"/>
            <a:ext cx="5410048" cy="694944"/>
          </a:xfrm>
          <a:prstGeom prst="roundRect">
            <a:avLst>
              <a:gd name="adj" fmla="val 10526"/>
            </a:avLst>
          </a:prstGeom>
          <a:solidFill>
            <a:srgbClr val="F3F6F9"/>
          </a:solidFill>
          <a:ln w="9525">
            <a:solidFill>
              <a:srgbClr val="F3F6F9"/>
            </a:solidFill>
            <a:prstDash val="solid"/>
          </a:ln>
        </p:spPr>
        <p:txBody>
          <a:bodyPr/>
          <a:lstStyle/>
          <a:p>
            <a:endParaRPr lang="en-US"/>
          </a:p>
        </p:txBody>
      </p:sp>
      <p:sp>
        <p:nvSpPr>
          <p:cNvPr id="21" name="Shape 18"/>
          <p:cNvSpPr/>
          <p:nvPr/>
        </p:nvSpPr>
        <p:spPr>
          <a:xfrm>
            <a:off x="6370168" y="2587752"/>
            <a:ext cx="384048" cy="384048"/>
          </a:xfrm>
          <a:prstGeom prst="ellipse">
            <a:avLst/>
          </a:prstGeom>
          <a:solidFill>
            <a:srgbClr val="0E7C7B"/>
          </a:solidFill>
          <a:ln w="12700">
            <a:solidFill>
              <a:srgbClr val="0E7C7B"/>
            </a:solidFill>
            <a:prstDash val="solid"/>
          </a:ln>
        </p:spPr>
        <p:txBody>
          <a:bodyPr/>
          <a:lstStyle/>
          <a:p>
            <a:endParaRPr lang="en-US"/>
          </a:p>
        </p:txBody>
      </p:sp>
      <p:sp>
        <p:nvSpPr>
          <p:cNvPr id="22" name="Text 19"/>
          <p:cNvSpPr txBox="1"/>
          <p:nvPr/>
        </p:nvSpPr>
        <p:spPr>
          <a:xfrm>
            <a:off x="6370168" y="258775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txBox="1"/>
          <p:nvPr/>
        </p:nvSpPr>
        <p:spPr>
          <a:xfrm>
            <a:off x="6891376" y="2432304"/>
            <a:ext cx="4632808" cy="694944"/>
          </a:xfrm>
          <a:prstGeom prst="rect">
            <a:avLst/>
          </a:prstGeom>
          <a:noFill/>
          <a:ln/>
        </p:spPr>
        <p:txBody>
          <a:bodyPr wrap="square" lIns="0" tIns="0" rIns="0" bIns="0" rtlCol="0" anchor="ctr"/>
          <a:lstStyle/>
          <a:p>
            <a:pPr marL="0" indent="0">
              <a:buNone/>
            </a:pPr>
            <a:r>
              <a:rPr lang="en-US" sz="1250" dirty="0">
                <a:solidFill>
                  <a:srgbClr val="1F2A37"/>
                </a:solidFill>
                <a:latin typeface="Calibri" pitchFamily="34" charset="0"/>
                <a:ea typeface="Calibri" pitchFamily="34" charset="-122"/>
                <a:cs typeface="Calibri" pitchFamily="34" charset="-120"/>
              </a:rPr>
              <a:t>How do you model and query order date and ship date with one dim_date?</a:t>
            </a:r>
            <a:endParaRPr lang="en-US" sz="1250" dirty="0"/>
          </a:p>
        </p:txBody>
      </p:sp>
      <p:sp>
        <p:nvSpPr>
          <p:cNvPr id="24" name="Shape 21"/>
          <p:cNvSpPr/>
          <p:nvPr/>
        </p:nvSpPr>
        <p:spPr>
          <a:xfrm>
            <a:off x="548640" y="3218688"/>
            <a:ext cx="5410048" cy="694944"/>
          </a:xfrm>
          <a:prstGeom prst="roundRect">
            <a:avLst>
              <a:gd name="adj" fmla="val 10526"/>
            </a:avLst>
          </a:prstGeom>
          <a:solidFill>
            <a:srgbClr val="F3F6F9"/>
          </a:solidFill>
          <a:ln w="9525">
            <a:solidFill>
              <a:srgbClr val="F3F6F9"/>
            </a:solidFill>
            <a:prstDash val="solid"/>
          </a:ln>
        </p:spPr>
        <p:txBody>
          <a:bodyPr/>
          <a:lstStyle/>
          <a:p>
            <a:endParaRPr lang="en-US"/>
          </a:p>
        </p:txBody>
      </p:sp>
      <p:sp>
        <p:nvSpPr>
          <p:cNvPr id="25" name="Shape 22"/>
          <p:cNvSpPr/>
          <p:nvPr/>
        </p:nvSpPr>
        <p:spPr>
          <a:xfrm>
            <a:off x="685800" y="3374136"/>
            <a:ext cx="384048" cy="384048"/>
          </a:xfrm>
          <a:prstGeom prst="ellipse">
            <a:avLst/>
          </a:prstGeom>
          <a:solidFill>
            <a:srgbClr val="0E7C7B"/>
          </a:solidFill>
          <a:ln w="12700">
            <a:solidFill>
              <a:srgbClr val="0E7C7B"/>
            </a:solidFill>
            <a:prstDash val="solid"/>
          </a:ln>
        </p:spPr>
        <p:txBody>
          <a:bodyPr/>
          <a:lstStyle/>
          <a:p>
            <a:endParaRPr lang="en-US"/>
          </a:p>
        </p:txBody>
      </p:sp>
      <p:sp>
        <p:nvSpPr>
          <p:cNvPr id="26" name="Text 23"/>
          <p:cNvSpPr txBox="1"/>
          <p:nvPr/>
        </p:nvSpPr>
        <p:spPr>
          <a:xfrm>
            <a:off x="685800" y="33741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4"/>
          <p:cNvSpPr txBox="1"/>
          <p:nvPr/>
        </p:nvSpPr>
        <p:spPr>
          <a:xfrm>
            <a:off x="1207008" y="3218688"/>
            <a:ext cx="4632808" cy="694944"/>
          </a:xfrm>
          <a:prstGeom prst="rect">
            <a:avLst/>
          </a:prstGeom>
          <a:noFill/>
          <a:ln/>
        </p:spPr>
        <p:txBody>
          <a:bodyPr wrap="square" lIns="0" tIns="0" rIns="0" bIns="0" rtlCol="0" anchor="ctr"/>
          <a:lstStyle/>
          <a:p>
            <a:pPr marL="0" indent="0">
              <a:buNone/>
            </a:pPr>
            <a:r>
              <a:rPr lang="en-US" sz="1250" dirty="0">
                <a:solidFill>
                  <a:srgbClr val="1F2A37"/>
                </a:solidFill>
                <a:latin typeface="Calibri" pitchFamily="34" charset="0"/>
                <a:ea typeface="Calibri" pitchFamily="34" charset="-122"/>
                <a:cs typeface="Calibri" pitchFamily="34" charset="-120"/>
              </a:rPr>
              <a:t>Describe what happens in an SCD Type 2 dimension when a customer moves.</a:t>
            </a:r>
            <a:endParaRPr lang="en-US" sz="1250" dirty="0"/>
          </a:p>
        </p:txBody>
      </p:sp>
      <p:sp>
        <p:nvSpPr>
          <p:cNvPr id="28" name="Shape 25"/>
          <p:cNvSpPr/>
          <p:nvPr/>
        </p:nvSpPr>
        <p:spPr>
          <a:xfrm>
            <a:off x="6233008" y="3218688"/>
            <a:ext cx="5410048" cy="694944"/>
          </a:xfrm>
          <a:prstGeom prst="roundRect">
            <a:avLst>
              <a:gd name="adj" fmla="val 10526"/>
            </a:avLst>
          </a:prstGeom>
          <a:solidFill>
            <a:srgbClr val="F3F6F9"/>
          </a:solidFill>
          <a:ln w="9525">
            <a:solidFill>
              <a:srgbClr val="F3F6F9"/>
            </a:solidFill>
            <a:prstDash val="solid"/>
          </a:ln>
        </p:spPr>
        <p:txBody>
          <a:bodyPr/>
          <a:lstStyle/>
          <a:p>
            <a:endParaRPr lang="en-US"/>
          </a:p>
        </p:txBody>
      </p:sp>
      <p:sp>
        <p:nvSpPr>
          <p:cNvPr id="29" name="Shape 26"/>
          <p:cNvSpPr/>
          <p:nvPr/>
        </p:nvSpPr>
        <p:spPr>
          <a:xfrm>
            <a:off x="6370168" y="3374136"/>
            <a:ext cx="384048" cy="384048"/>
          </a:xfrm>
          <a:prstGeom prst="ellipse">
            <a:avLst/>
          </a:prstGeom>
          <a:solidFill>
            <a:srgbClr val="0E7C7B"/>
          </a:solidFill>
          <a:ln w="12700">
            <a:solidFill>
              <a:srgbClr val="0E7C7B"/>
            </a:solidFill>
            <a:prstDash val="solid"/>
          </a:ln>
        </p:spPr>
        <p:txBody>
          <a:bodyPr/>
          <a:lstStyle/>
          <a:p>
            <a:endParaRPr lang="en-US"/>
          </a:p>
        </p:txBody>
      </p:sp>
      <p:sp>
        <p:nvSpPr>
          <p:cNvPr id="30" name="Text 27"/>
          <p:cNvSpPr txBox="1"/>
          <p:nvPr/>
        </p:nvSpPr>
        <p:spPr>
          <a:xfrm>
            <a:off x="6370168" y="33741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1" name="Text 28"/>
          <p:cNvSpPr txBox="1"/>
          <p:nvPr/>
        </p:nvSpPr>
        <p:spPr>
          <a:xfrm>
            <a:off x="6891376" y="3218688"/>
            <a:ext cx="4632808" cy="694944"/>
          </a:xfrm>
          <a:prstGeom prst="rect">
            <a:avLst/>
          </a:prstGeom>
          <a:noFill/>
          <a:ln/>
        </p:spPr>
        <p:txBody>
          <a:bodyPr wrap="square" lIns="0" tIns="0" rIns="0" bIns="0" rtlCol="0" anchor="ctr"/>
          <a:lstStyle/>
          <a:p>
            <a:pPr marL="0" indent="0">
              <a:buNone/>
            </a:pPr>
            <a:r>
              <a:rPr lang="en-US" sz="1250" dirty="0">
                <a:solidFill>
                  <a:srgbClr val="1F2A37"/>
                </a:solidFill>
                <a:latin typeface="Calibri" pitchFamily="34" charset="0"/>
                <a:ea typeface="Calibri" pitchFamily="34" charset="-122"/>
                <a:cs typeface="Calibri" pitchFamily="34" charset="-120"/>
              </a:rPr>
              <a:t>Are PK/FK constraints enforced in Databricks? What does that mean for your pipeline?</a:t>
            </a:r>
            <a:endParaRPr lang="en-US" sz="1250" dirty="0"/>
          </a:p>
        </p:txBody>
      </p:sp>
      <p:sp>
        <p:nvSpPr>
          <p:cNvPr id="32" name="Shape 29"/>
          <p:cNvSpPr/>
          <p:nvPr/>
        </p:nvSpPr>
        <p:spPr>
          <a:xfrm>
            <a:off x="548640" y="4005072"/>
            <a:ext cx="5410048" cy="694944"/>
          </a:xfrm>
          <a:prstGeom prst="roundRect">
            <a:avLst>
              <a:gd name="adj" fmla="val 10526"/>
            </a:avLst>
          </a:prstGeom>
          <a:solidFill>
            <a:srgbClr val="F3F6F9"/>
          </a:solidFill>
          <a:ln w="9525">
            <a:solidFill>
              <a:srgbClr val="F3F6F9"/>
            </a:solidFill>
            <a:prstDash val="solid"/>
          </a:ln>
        </p:spPr>
        <p:txBody>
          <a:bodyPr/>
          <a:lstStyle/>
          <a:p>
            <a:endParaRPr lang="en-US"/>
          </a:p>
        </p:txBody>
      </p:sp>
      <p:sp>
        <p:nvSpPr>
          <p:cNvPr id="33" name="Shape 30"/>
          <p:cNvSpPr/>
          <p:nvPr/>
        </p:nvSpPr>
        <p:spPr>
          <a:xfrm>
            <a:off x="685800" y="4160520"/>
            <a:ext cx="384048" cy="384048"/>
          </a:xfrm>
          <a:prstGeom prst="ellipse">
            <a:avLst/>
          </a:prstGeom>
          <a:solidFill>
            <a:srgbClr val="0E7C7B"/>
          </a:solidFill>
          <a:ln w="12700">
            <a:solidFill>
              <a:srgbClr val="0E7C7B"/>
            </a:solidFill>
            <a:prstDash val="solid"/>
          </a:ln>
        </p:spPr>
        <p:txBody>
          <a:bodyPr/>
          <a:lstStyle/>
          <a:p>
            <a:endParaRPr lang="en-US"/>
          </a:p>
        </p:txBody>
      </p:sp>
      <p:sp>
        <p:nvSpPr>
          <p:cNvPr id="34" name="Text 31"/>
          <p:cNvSpPr txBox="1"/>
          <p:nvPr/>
        </p:nvSpPr>
        <p:spPr>
          <a:xfrm>
            <a:off x="685800" y="41605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5" name="Text 32"/>
          <p:cNvSpPr txBox="1"/>
          <p:nvPr/>
        </p:nvSpPr>
        <p:spPr>
          <a:xfrm>
            <a:off x="1207008" y="4005072"/>
            <a:ext cx="4632808" cy="694944"/>
          </a:xfrm>
          <a:prstGeom prst="rect">
            <a:avLst/>
          </a:prstGeom>
          <a:noFill/>
          <a:ln/>
        </p:spPr>
        <p:txBody>
          <a:bodyPr wrap="square" lIns="0" tIns="0" rIns="0" bIns="0" rtlCol="0" anchor="ctr"/>
          <a:lstStyle/>
          <a:p>
            <a:pPr marL="0" indent="0">
              <a:buNone/>
            </a:pPr>
            <a:r>
              <a:rPr lang="en-US" sz="1250" dirty="0">
                <a:solidFill>
                  <a:srgbClr val="1F2A37"/>
                </a:solidFill>
                <a:latin typeface="Calibri" pitchFamily="34" charset="0"/>
                <a:ea typeface="Calibri" pitchFamily="34" charset="-122"/>
                <a:cs typeface="Calibri" pitchFamily="34" charset="-120"/>
              </a:rPr>
              <a:t>Write roll-up, slice and dice as SQL changes to one query.</a:t>
            </a:r>
            <a:endParaRPr lang="en-US" sz="1250" dirty="0"/>
          </a:p>
        </p:txBody>
      </p:sp>
      <p:sp>
        <p:nvSpPr>
          <p:cNvPr id="36" name="Shape 33"/>
          <p:cNvSpPr/>
          <p:nvPr/>
        </p:nvSpPr>
        <p:spPr>
          <a:xfrm>
            <a:off x="6233008" y="4005072"/>
            <a:ext cx="5410048" cy="694944"/>
          </a:xfrm>
          <a:prstGeom prst="roundRect">
            <a:avLst>
              <a:gd name="adj" fmla="val 10526"/>
            </a:avLst>
          </a:prstGeom>
          <a:solidFill>
            <a:srgbClr val="F3F6F9"/>
          </a:solidFill>
          <a:ln w="9525">
            <a:solidFill>
              <a:srgbClr val="F3F6F9"/>
            </a:solidFill>
            <a:prstDash val="solid"/>
          </a:ln>
        </p:spPr>
        <p:txBody>
          <a:bodyPr/>
          <a:lstStyle/>
          <a:p>
            <a:endParaRPr lang="en-US"/>
          </a:p>
        </p:txBody>
      </p:sp>
      <p:sp>
        <p:nvSpPr>
          <p:cNvPr id="37" name="Shape 34"/>
          <p:cNvSpPr/>
          <p:nvPr/>
        </p:nvSpPr>
        <p:spPr>
          <a:xfrm>
            <a:off x="6370168" y="4160520"/>
            <a:ext cx="384048" cy="384048"/>
          </a:xfrm>
          <a:prstGeom prst="ellipse">
            <a:avLst/>
          </a:prstGeom>
          <a:solidFill>
            <a:srgbClr val="0E7C7B"/>
          </a:solidFill>
          <a:ln w="12700">
            <a:solidFill>
              <a:srgbClr val="0E7C7B"/>
            </a:solidFill>
            <a:prstDash val="solid"/>
          </a:ln>
        </p:spPr>
        <p:txBody>
          <a:bodyPr/>
          <a:lstStyle/>
          <a:p>
            <a:endParaRPr lang="en-US"/>
          </a:p>
        </p:txBody>
      </p:sp>
      <p:sp>
        <p:nvSpPr>
          <p:cNvPr id="38" name="Text 35"/>
          <p:cNvSpPr txBox="1"/>
          <p:nvPr/>
        </p:nvSpPr>
        <p:spPr>
          <a:xfrm>
            <a:off x="6370168" y="41605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9" name="Text 36"/>
          <p:cNvSpPr txBox="1"/>
          <p:nvPr/>
        </p:nvSpPr>
        <p:spPr>
          <a:xfrm>
            <a:off x="6891376" y="4005072"/>
            <a:ext cx="4632808" cy="694944"/>
          </a:xfrm>
          <a:prstGeom prst="rect">
            <a:avLst/>
          </a:prstGeom>
          <a:noFill/>
          <a:ln/>
        </p:spPr>
        <p:txBody>
          <a:bodyPr wrap="square" lIns="0" tIns="0" rIns="0" bIns="0" rtlCol="0" anchor="ctr"/>
          <a:lstStyle/>
          <a:p>
            <a:pPr marL="0" indent="0">
              <a:buNone/>
            </a:pPr>
            <a:r>
              <a:rPr lang="en-US" sz="1250" dirty="0">
                <a:solidFill>
                  <a:srgbClr val="1F2A37"/>
                </a:solidFill>
                <a:latin typeface="Calibri" pitchFamily="34" charset="0"/>
                <a:ea typeface="Calibri" pitchFamily="34" charset="-122"/>
                <a:cs typeface="Calibri" pitchFamily="34" charset="-120"/>
              </a:rPr>
              <a:t>What rows does GROUP BY ROLLUP(year, quarter) return, and how do you spot subtotals?</a:t>
            </a:r>
            <a:endParaRPr lang="en-US" sz="1250" dirty="0"/>
          </a:p>
        </p:txBody>
      </p:sp>
      <p:sp>
        <p:nvSpPr>
          <p:cNvPr id="40" name="Shape 37"/>
          <p:cNvSpPr/>
          <p:nvPr/>
        </p:nvSpPr>
        <p:spPr>
          <a:xfrm>
            <a:off x="548640" y="4791456"/>
            <a:ext cx="5410048" cy="694944"/>
          </a:xfrm>
          <a:prstGeom prst="roundRect">
            <a:avLst>
              <a:gd name="adj" fmla="val 10526"/>
            </a:avLst>
          </a:prstGeom>
          <a:solidFill>
            <a:srgbClr val="F3F6F9"/>
          </a:solidFill>
          <a:ln w="9525">
            <a:solidFill>
              <a:srgbClr val="F3F6F9"/>
            </a:solidFill>
            <a:prstDash val="solid"/>
          </a:ln>
        </p:spPr>
        <p:txBody>
          <a:bodyPr/>
          <a:lstStyle/>
          <a:p>
            <a:endParaRPr lang="en-US"/>
          </a:p>
        </p:txBody>
      </p:sp>
      <p:sp>
        <p:nvSpPr>
          <p:cNvPr id="41" name="Shape 38"/>
          <p:cNvSpPr/>
          <p:nvPr/>
        </p:nvSpPr>
        <p:spPr>
          <a:xfrm>
            <a:off x="685800" y="4946904"/>
            <a:ext cx="384048" cy="384048"/>
          </a:xfrm>
          <a:prstGeom prst="ellipse">
            <a:avLst/>
          </a:prstGeom>
          <a:solidFill>
            <a:srgbClr val="0E7C7B"/>
          </a:solidFill>
          <a:ln w="12700">
            <a:solidFill>
              <a:srgbClr val="0E7C7B"/>
            </a:solidFill>
            <a:prstDash val="solid"/>
          </a:ln>
        </p:spPr>
        <p:txBody>
          <a:bodyPr/>
          <a:lstStyle/>
          <a:p>
            <a:endParaRPr lang="en-US"/>
          </a:p>
        </p:txBody>
      </p:sp>
      <p:sp>
        <p:nvSpPr>
          <p:cNvPr id="42" name="Text 39"/>
          <p:cNvSpPr txBox="1"/>
          <p:nvPr/>
        </p:nvSpPr>
        <p:spPr>
          <a:xfrm>
            <a:off x="685800" y="49469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3" name="Text 40"/>
          <p:cNvSpPr txBox="1"/>
          <p:nvPr/>
        </p:nvSpPr>
        <p:spPr>
          <a:xfrm>
            <a:off x="1207008" y="4791456"/>
            <a:ext cx="4632808" cy="694944"/>
          </a:xfrm>
          <a:prstGeom prst="rect">
            <a:avLst/>
          </a:prstGeom>
          <a:noFill/>
          <a:ln/>
        </p:spPr>
        <p:txBody>
          <a:bodyPr wrap="square" lIns="0" tIns="0" rIns="0" bIns="0" rtlCol="0" anchor="ctr"/>
          <a:lstStyle/>
          <a:p>
            <a:pPr marL="0" indent="0">
              <a:buNone/>
            </a:pPr>
            <a:r>
              <a:rPr lang="en-US" sz="1250" dirty="0">
                <a:solidFill>
                  <a:srgbClr val="1F2A37"/>
                </a:solidFill>
                <a:latin typeface="Calibri" pitchFamily="34" charset="0"/>
                <a:ea typeface="Calibri" pitchFamily="34" charset="-122"/>
                <a:cs typeface="Calibri" pitchFamily="34" charset="-120"/>
              </a:rPr>
              <a:t>How many cuboids does a cube over Date, Product and Store have (no hierarchies)?</a:t>
            </a:r>
            <a:endParaRPr lang="en-US" sz="1250" dirty="0"/>
          </a:p>
        </p:txBody>
      </p:sp>
      <p:sp>
        <p:nvSpPr>
          <p:cNvPr id="44" name="Shape 41"/>
          <p:cNvSpPr/>
          <p:nvPr/>
        </p:nvSpPr>
        <p:spPr>
          <a:xfrm>
            <a:off x="6233008" y="4791456"/>
            <a:ext cx="5410048" cy="694944"/>
          </a:xfrm>
          <a:prstGeom prst="roundRect">
            <a:avLst>
              <a:gd name="adj" fmla="val 10526"/>
            </a:avLst>
          </a:prstGeom>
          <a:solidFill>
            <a:srgbClr val="F3F6F9"/>
          </a:solidFill>
          <a:ln w="9525">
            <a:solidFill>
              <a:srgbClr val="F3F6F9"/>
            </a:solidFill>
            <a:prstDash val="solid"/>
          </a:ln>
        </p:spPr>
        <p:txBody>
          <a:bodyPr/>
          <a:lstStyle/>
          <a:p>
            <a:endParaRPr lang="en-US"/>
          </a:p>
        </p:txBody>
      </p:sp>
      <p:sp>
        <p:nvSpPr>
          <p:cNvPr id="45" name="Shape 42"/>
          <p:cNvSpPr/>
          <p:nvPr/>
        </p:nvSpPr>
        <p:spPr>
          <a:xfrm>
            <a:off x="6370168" y="4946904"/>
            <a:ext cx="384048" cy="384048"/>
          </a:xfrm>
          <a:prstGeom prst="ellipse">
            <a:avLst/>
          </a:prstGeom>
          <a:solidFill>
            <a:srgbClr val="0E7C7B"/>
          </a:solidFill>
          <a:ln w="12700">
            <a:solidFill>
              <a:srgbClr val="0E7C7B"/>
            </a:solidFill>
            <a:prstDash val="solid"/>
          </a:ln>
        </p:spPr>
        <p:txBody>
          <a:bodyPr/>
          <a:lstStyle/>
          <a:p>
            <a:endParaRPr lang="en-US"/>
          </a:p>
        </p:txBody>
      </p:sp>
      <p:sp>
        <p:nvSpPr>
          <p:cNvPr id="46" name="Text 43"/>
          <p:cNvSpPr txBox="1"/>
          <p:nvPr/>
        </p:nvSpPr>
        <p:spPr>
          <a:xfrm>
            <a:off x="6370168" y="49469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7" name="Text 44"/>
          <p:cNvSpPr txBox="1"/>
          <p:nvPr/>
        </p:nvSpPr>
        <p:spPr>
          <a:xfrm>
            <a:off x="6891376" y="4791456"/>
            <a:ext cx="4632808" cy="694944"/>
          </a:xfrm>
          <a:prstGeom prst="rect">
            <a:avLst/>
          </a:prstGeom>
          <a:noFill/>
          <a:ln/>
        </p:spPr>
        <p:txBody>
          <a:bodyPr wrap="square" lIns="0" tIns="0" rIns="0" bIns="0" rtlCol="0" anchor="ctr"/>
          <a:lstStyle/>
          <a:p>
            <a:pPr marL="0" indent="0">
              <a:buNone/>
            </a:pPr>
            <a:r>
              <a:rPr lang="en-US" sz="1250" dirty="0">
                <a:solidFill>
                  <a:srgbClr val="1F2A37"/>
                </a:solidFill>
                <a:latin typeface="Calibri" pitchFamily="34" charset="0"/>
                <a:ea typeface="Calibri" pitchFamily="34" charset="-122"/>
                <a:cs typeface="Calibri" pitchFamily="34" charset="-120"/>
              </a:rPr>
              <a:t>Is Databricks MOLAP, ROLAP or HOLAP? Justify in one sentence.</a:t>
            </a:r>
            <a:endParaRPr lang="en-US" sz="1250" dirty="0"/>
          </a:p>
        </p:txBody>
      </p:sp>
      <p:sp>
        <p:nvSpPr>
          <p:cNvPr id="48" name="Shape 45"/>
          <p:cNvSpPr/>
          <p:nvPr/>
        </p:nvSpPr>
        <p:spPr>
          <a:xfrm>
            <a:off x="548640" y="5760720"/>
            <a:ext cx="11094415" cy="566928"/>
          </a:xfrm>
          <a:prstGeom prst="roundRect">
            <a:avLst>
              <a:gd name="adj" fmla="val 16129"/>
            </a:avLst>
          </a:prstGeom>
          <a:solidFill>
            <a:srgbClr val="FCF0DC"/>
          </a:solidFill>
          <a:ln w="9525">
            <a:solidFill>
              <a:srgbClr val="FCF0DC"/>
            </a:solidFill>
            <a:prstDash val="solid"/>
          </a:ln>
        </p:spPr>
        <p:txBody>
          <a:bodyPr/>
          <a:lstStyle/>
          <a:p>
            <a:endParaRPr lang="en-US"/>
          </a:p>
        </p:txBody>
      </p:sp>
      <p:sp>
        <p:nvSpPr>
          <p:cNvPr id="49" name="Shape 46"/>
          <p:cNvSpPr/>
          <p:nvPr/>
        </p:nvSpPr>
        <p:spPr>
          <a:xfrm>
            <a:off x="694944" y="5861304"/>
            <a:ext cx="365760" cy="365760"/>
          </a:xfrm>
          <a:prstGeom prst="ellipse">
            <a:avLst/>
          </a:prstGeom>
          <a:solidFill>
            <a:srgbClr val="E89B2D"/>
          </a:solidFill>
          <a:ln w="12700">
            <a:solidFill>
              <a:srgbClr val="E89B2D"/>
            </a:solidFill>
            <a:prstDash val="solid"/>
          </a:ln>
        </p:spPr>
        <p:txBody>
          <a:bodyPr/>
          <a:lstStyle/>
          <a:p>
            <a:endParaRPr lang="en-US"/>
          </a:p>
        </p:txBody>
      </p:sp>
      <p:pic>
        <p:nvPicPr>
          <p:cNvPr id="50" name="Image 0" descr="preencoded.png"/>
          <p:cNvPicPr>
            <a:picLocks noChangeAspect="1"/>
          </p:cNvPicPr>
          <p:nvPr/>
        </p:nvPicPr>
        <p:blipFill>
          <a:blip r:embed="rId3"/>
          <a:stretch>
            <a:fillRect/>
          </a:stretch>
        </p:blipFill>
        <p:spPr>
          <a:xfrm>
            <a:off x="790042" y="5956402"/>
            <a:ext cx="175565" cy="175565"/>
          </a:xfrm>
          <a:prstGeom prst="rect">
            <a:avLst/>
          </a:prstGeom>
        </p:spPr>
      </p:pic>
      <p:sp>
        <p:nvSpPr>
          <p:cNvPr id="51" name="Text 47"/>
          <p:cNvSpPr txBox="1"/>
          <p:nvPr/>
        </p:nvSpPr>
        <p:spPr>
          <a:xfrm>
            <a:off x="1207008" y="5760720"/>
            <a:ext cx="10271455" cy="566928"/>
          </a:xfrm>
          <a:prstGeom prst="rect">
            <a:avLst/>
          </a:prstGeom>
          <a:noFill/>
          <a:ln/>
        </p:spPr>
        <p:txBody>
          <a:bodyPr wrap="square" lIns="0" tIns="0" rIns="0" bIns="0" rtlCol="0" anchor="ctr"/>
          <a:lstStyle/>
          <a:p>
            <a:pPr marL="0" indent="0">
              <a:buNone/>
            </a:pPr>
            <a:r>
              <a:rPr lang="en-US" sz="1400" b="1" dirty="0">
                <a:solidFill>
                  <a:srgbClr val="9A5A00"/>
                </a:solidFill>
                <a:latin typeface="Calibri" pitchFamily="34" charset="0"/>
                <a:ea typeface="Calibri" pitchFamily="34" charset="-122"/>
                <a:cs typeface="Calibri" pitchFamily="34" charset="-120"/>
              </a:rPr>
              <a:t>Key idea  </a:t>
            </a:r>
            <a:r>
              <a:rPr lang="en-US" sz="1400" dirty="0">
                <a:solidFill>
                  <a:srgbClr val="1F2A37"/>
                </a:solidFill>
                <a:latin typeface="Calibri" pitchFamily="34" charset="0"/>
                <a:ea typeface="Calibri" pitchFamily="34" charset="-122"/>
                <a:cs typeface="Calibri" pitchFamily="34" charset="-120"/>
              </a:rPr>
              <a:t>Suggested answers are in the speaker notes of this slide — try first, then check.</a:t>
            </a:r>
            <a:endParaRPr lang="en-US" sz="1400" dirty="0"/>
          </a:p>
        </p:txBody>
      </p:sp>
      <p:sp>
        <p:nvSpPr>
          <p:cNvPr id="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48</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GLOSSARY</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Glossary (1 of 2)</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REVIEW</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410048" cy="3163824"/>
        </p:xfrm>
        <a:graphic>
          <a:graphicData uri="http://schemas.openxmlformats.org/drawingml/2006/table">
            <a:tbl>
              <a:tblPr/>
              <a:tblGrid>
                <a:gridCol w="1783080">
                  <a:extLst>
                    <a:ext uri="{9D8B030D-6E8A-4147-A177-3AD203B41FA5}">
                      <a16:colId xmlns:a16="http://schemas.microsoft.com/office/drawing/2014/main" val="20000"/>
                    </a:ext>
                  </a:extLst>
                </a:gridCol>
                <a:gridCol w="3626968">
                  <a:extLst>
                    <a:ext uri="{9D8B030D-6E8A-4147-A177-3AD203B41FA5}">
                      <a16:colId xmlns:a16="http://schemas.microsoft.com/office/drawing/2014/main" val="20001"/>
                    </a:ext>
                  </a:extLst>
                </a:gridCol>
              </a:tblGrid>
              <a:tr h="32918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Term</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Accumulating snapshot</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Fact with one row per process instance, updated at each milestone.</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Additive measure</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Can be summed across all dimensions (sales_amount).</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Bus matrix</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Grid of business processes × dimensions used to plan conformed stars.</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Conformed dimension</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A dimension shared, with identical meaning, by several fact tables.</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4"/>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Cube / cuboid</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Multidimensional view of measures; one cuboid per GROUP BY combination.</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97" name="Table 1"/>
          <p:cNvGraphicFramePr>
            <a:graphicFrameLocks noGrp="1"/>
          </p:cNvGraphicFramePr>
          <p:nvPr>
            <p:extLst>
              <p:ext uri="{D42A27DB-BD31-4B8C-83A1-F6EECF244321}">
                <p14:modId xmlns:p14="http://schemas.microsoft.com/office/powerpoint/2010/main" val="1579011935"/>
              </p:ext>
            </p:extLst>
          </p:nvPr>
        </p:nvGraphicFramePr>
        <p:xfrm>
          <a:off x="6233008" y="1645920"/>
          <a:ext cx="5410048" cy="2596896"/>
        </p:xfrm>
        <a:graphic>
          <a:graphicData uri="http://schemas.openxmlformats.org/drawingml/2006/table">
            <a:tbl>
              <a:tblPr/>
              <a:tblGrid>
                <a:gridCol w="1783080">
                  <a:extLst>
                    <a:ext uri="{9D8B030D-6E8A-4147-A177-3AD203B41FA5}">
                      <a16:colId xmlns:a16="http://schemas.microsoft.com/office/drawing/2014/main" val="20000"/>
                    </a:ext>
                  </a:extLst>
                </a:gridCol>
                <a:gridCol w="3626968">
                  <a:extLst>
                    <a:ext uri="{9D8B030D-6E8A-4147-A177-3AD203B41FA5}">
                      <a16:colId xmlns:a16="http://schemas.microsoft.com/office/drawing/2014/main" val="20001"/>
                    </a:ext>
                  </a:extLst>
                </a:gridCol>
              </a:tblGrid>
              <a:tr h="32918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Term</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Degenerate dimension</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An identifier kept in the fact with no dimension table (order_id).</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Dice / slice</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Restrict several dimensions / fix one dimension to a single value.</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Drill-down / roll-up</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Move to finer / coarser levels of a hierarchy.</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GROUPING SETS</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SQL clause computing several GROUP BYs in one query; ROLLUP and CUBE are shorthands.</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49</a:t>
            </a: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100" b="1" kern="0" spc="150" dirty="0">
                <a:solidFill>
                  <a:srgbClr val="0E7C7B"/>
                </a:solidFill>
                <a:latin typeface="Calibri" pitchFamily="34" charset="0"/>
                <a:ea typeface="Calibri" pitchFamily="34" charset="-122"/>
                <a:cs typeface="Calibri" pitchFamily="34" charset="-120"/>
              </a:rPr>
              <a:t>GLOSSARY</a:t>
            </a:r>
            <a:endParaRPr lang="en-US" sz="1100" dirty="0"/>
          </a:p>
        </p:txBody>
      </p:sp>
      <p:sp>
        <p:nvSpPr>
          <p:cNvPr id="3" name="Text 1"/>
          <p:cNvSpPr txBox="1"/>
          <p:nvPr/>
        </p:nvSpPr>
        <p:spPr>
          <a:xfrm>
            <a:off x="548640" y="640080"/>
            <a:ext cx="11094415" cy="822960"/>
          </a:xfrm>
          <a:prstGeom prst="rect">
            <a:avLst/>
          </a:prstGeom>
          <a:noFill/>
          <a:ln/>
        </p:spPr>
        <p:txBody>
          <a:bodyPr wrap="square" lIns="0" tIns="0" rIns="0" bIns="0" rtlCol="0" anchor="t"/>
          <a:lstStyle/>
          <a:p>
            <a:pPr marL="0" indent="0">
              <a:buNone/>
            </a:pPr>
            <a:r>
              <a:rPr lang="en-US" sz="2800" b="1" dirty="0">
                <a:solidFill>
                  <a:srgbClr val="12263A"/>
                </a:solidFill>
                <a:latin typeface="Cambria" pitchFamily="34" charset="0"/>
                <a:ea typeface="Cambria" pitchFamily="34" charset="-122"/>
                <a:cs typeface="Cambria" pitchFamily="34" charset="-120"/>
              </a:rPr>
              <a:t>Glossary (2 of 2)</a:t>
            </a:r>
            <a:endParaRPr lang="en-US" sz="2800" dirty="0"/>
          </a:p>
        </p:txBody>
      </p:sp>
      <p:sp>
        <p:nvSpPr>
          <p:cNvPr id="4" name="Shape 2"/>
          <p:cNvSpPr/>
          <p:nvPr/>
        </p:nvSpPr>
        <p:spPr>
          <a:xfrm>
            <a:off x="9494215" y="310896"/>
            <a:ext cx="2148840" cy="310896"/>
          </a:xfrm>
          <a:prstGeom prst="roundRect">
            <a:avLst>
              <a:gd name="adj" fmla="val 50000"/>
            </a:avLst>
          </a:prstGeom>
          <a:solidFill>
            <a:srgbClr val="E2F1F0"/>
          </a:solidFill>
          <a:ln w="9525">
            <a:solidFill>
              <a:srgbClr val="E2F1F0"/>
            </a:solidFill>
            <a:prstDash val="solid"/>
          </a:ln>
        </p:spPr>
        <p:txBody>
          <a:bodyPr/>
          <a:lstStyle/>
          <a:p>
            <a:endParaRPr lang="en-US"/>
          </a:p>
        </p:txBody>
      </p:sp>
      <p:sp>
        <p:nvSpPr>
          <p:cNvPr id="5" name="Text 3"/>
          <p:cNvSpPr txBox="1"/>
          <p:nvPr/>
        </p:nvSpPr>
        <p:spPr>
          <a:xfrm>
            <a:off x="9494215" y="310896"/>
            <a:ext cx="2148840" cy="310896"/>
          </a:xfrm>
          <a:prstGeom prst="rect">
            <a:avLst/>
          </a:prstGeom>
          <a:noFill/>
          <a:ln/>
        </p:spPr>
        <p:txBody>
          <a:bodyPr wrap="square" lIns="0" tIns="0" rIns="0" bIns="0" rtlCol="0" anchor="ctr"/>
          <a:lstStyle/>
          <a:p>
            <a:pPr marL="0" indent="0" algn="ctr">
              <a:buNone/>
            </a:pPr>
            <a:r>
              <a:rPr lang="en-US" sz="950" b="1" kern="0" spc="100" dirty="0">
                <a:solidFill>
                  <a:srgbClr val="0E7C7B"/>
                </a:solidFill>
                <a:latin typeface="Calibri" pitchFamily="34" charset="0"/>
                <a:ea typeface="Calibri" pitchFamily="34" charset="-122"/>
                <a:cs typeface="Calibri" pitchFamily="34" charset="-120"/>
              </a:rPr>
              <a:t>REVIEW</a:t>
            </a:r>
            <a:endParaRPr lang="en-US" sz="950" dirty="0"/>
          </a:p>
        </p:txBody>
      </p:sp>
      <p:sp>
        <p:nvSpPr>
          <p:cNvPr id="6" name="Text 4"/>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COMP454 · Lecture 2 · Dimensional Modelling &amp; OLAP in Databricks</a:t>
            </a:r>
            <a:endParaRPr lang="en-US" sz="9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410048" cy="3163824"/>
        </p:xfrm>
        <a:graphic>
          <a:graphicData uri="http://schemas.openxmlformats.org/drawingml/2006/table">
            <a:tbl>
              <a:tblPr/>
              <a:tblGrid>
                <a:gridCol w="1783080">
                  <a:extLst>
                    <a:ext uri="{9D8B030D-6E8A-4147-A177-3AD203B41FA5}">
                      <a16:colId xmlns:a16="http://schemas.microsoft.com/office/drawing/2014/main" val="20000"/>
                    </a:ext>
                  </a:extLst>
                </a:gridCol>
                <a:gridCol w="3626968">
                  <a:extLst>
                    <a:ext uri="{9D8B030D-6E8A-4147-A177-3AD203B41FA5}">
                      <a16:colId xmlns:a16="http://schemas.microsoft.com/office/drawing/2014/main" val="20001"/>
                    </a:ext>
                  </a:extLst>
                </a:gridCol>
              </a:tblGrid>
              <a:tr h="32918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Term</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Junk dimension</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Small dimension bundling low-cardinality flags.</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Materialized view</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Stored, automatically refreshed query result — pre-aggregation in Databricks.</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Metric view</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Unity Catalog view defining measures and fields once; queried with MEASURE().</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MOLAP / ROLAP / HOLAP</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Cube storage / relational tables / a hybrid of both.</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4"/>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Periodic snapshot</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Fact recording a state at regular intervals (daily stock).</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99" name="Table 1"/>
          <p:cNvGraphicFramePr>
            <a:graphicFrameLocks noGrp="1"/>
          </p:cNvGraphicFramePr>
          <p:nvPr>
            <p:extLst>
              <p:ext uri="{D42A27DB-BD31-4B8C-83A1-F6EECF244321}">
                <p14:modId xmlns:p14="http://schemas.microsoft.com/office/powerpoint/2010/main" val="1579011935"/>
              </p:ext>
            </p:extLst>
          </p:nvPr>
        </p:nvGraphicFramePr>
        <p:xfrm>
          <a:off x="6233008" y="1645920"/>
          <a:ext cx="5410048" cy="2596896"/>
        </p:xfrm>
        <a:graphic>
          <a:graphicData uri="http://schemas.openxmlformats.org/drawingml/2006/table">
            <a:tbl>
              <a:tblPr/>
              <a:tblGrid>
                <a:gridCol w="1783080">
                  <a:extLst>
                    <a:ext uri="{9D8B030D-6E8A-4147-A177-3AD203B41FA5}">
                      <a16:colId xmlns:a16="http://schemas.microsoft.com/office/drawing/2014/main" val="20000"/>
                    </a:ext>
                  </a:extLst>
                </a:gridCol>
                <a:gridCol w="3626968">
                  <a:extLst>
                    <a:ext uri="{9D8B030D-6E8A-4147-A177-3AD203B41FA5}">
                      <a16:colId xmlns:a16="http://schemas.microsoft.com/office/drawing/2014/main" val="20001"/>
                    </a:ext>
                  </a:extLst>
                </a:gridCol>
              </a:tblGrid>
              <a:tr h="32918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Term</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Role-playing dimension</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One dimension used in several roles (order date, ship date).</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SCD Type 0/1/2/3</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Keep original / overwrite / add row / add previous-value column.</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2"/>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Semi-additive measure</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Summable across some dimensions but not time (balances).</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150" b="1" dirty="0">
                          <a:solidFill>
                            <a:srgbClr val="1F2A37"/>
                          </a:solidFill>
                          <a:latin typeface="Calibri" pitchFamily="34" charset="0"/>
                          <a:ea typeface="Calibri" pitchFamily="34" charset="-122"/>
                          <a:cs typeface="Calibri" pitchFamily="34" charset="-120"/>
                        </a:rPr>
                        <a:t>Unknown member</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tc>
                  <a:txBody>
                    <a:bodyPr/>
                    <a:lstStyle/>
                    <a:p>
                      <a:pPr marL="0" indent="0">
                        <a:buNone/>
                      </a:pPr>
                      <a:r>
                        <a:rPr lang="en-US" sz="1150" dirty="0">
                          <a:solidFill>
                            <a:srgbClr val="1F2A37"/>
                          </a:solidFill>
                          <a:latin typeface="Calibri" pitchFamily="34" charset="0"/>
                          <a:ea typeface="Calibri" pitchFamily="34" charset="-122"/>
                          <a:cs typeface="Calibri" pitchFamily="34" charset="-120"/>
                        </a:rPr>
                        <a:t>Dimension row (key -1) receiving facts whose key is missing.</a:t>
                      </a:r>
                      <a:endParaRPr lang="en-US" sz="1150" dirty="0">
                        <a:latin typeface="Calibri" charset="0"/>
                        <a:ea typeface="Calibri" charset="0"/>
                        <a:cs typeface="Calibri" charset="0"/>
                      </a:endParaRPr>
                    </a:p>
                  </a:txBody>
                  <a:tcPr marL="76200" marR="76200" marT="38100" marB="3810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3F6F9"/>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B"/>
                </a:solidFill>
                <a:latin typeface="Calibri"/>
                <a:ea typeface="Calibri"/>
                <a:cs typeface="Calibri"/>
              </a:defRPr>
            </a:lvl1pPr>
          </a:lstStyle>
          <a:p>
            <a:pPr algn="r"/>
            <a:r>
              <a:rPr sz="850">
                <a:solidFill>
                  <a:srgbClr val="5D6C7B"/>
                </a:solidFill>
                <a:latin typeface="Aptos"/>
              </a:rPr>
              <a:t>50</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2263A"/>
        </a:solidFill>
        <a:effectLst/>
      </p:bgPr>
    </p:bg>
    <p:spTree>
      <p:nvGrpSpPr>
        <p:cNvPr id="1" name=""/>
        <p:cNvGrpSpPr/>
        <p:nvPr/>
      </p:nvGrpSpPr>
      <p:grpSpPr>
        <a:xfrm>
          <a:off x="0" y="0"/>
          <a:ext cx="0" cy="0"/>
          <a:chOff x="0" y="0"/>
          <a:chExt cx="0" cy="0"/>
        </a:xfrm>
      </p:grpSpPr>
      <p:sp>
        <p:nvSpPr>
          <p:cNvPr id="2" name="Text 0"/>
          <p:cNvSpPr txBox="1"/>
          <p:nvPr/>
        </p:nvSpPr>
        <p:spPr>
          <a:xfrm>
            <a:off x="640080" y="914400"/>
            <a:ext cx="5486400" cy="82296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Questions &amp; next steps</a:t>
            </a:r>
            <a:endParaRPr lang="en-US" sz="3800" dirty="0"/>
          </a:p>
        </p:txBody>
      </p:sp>
      <p:sp>
        <p:nvSpPr>
          <p:cNvPr id="3" name="Text 1"/>
          <p:cNvSpPr txBox="1"/>
          <p:nvPr/>
        </p:nvSpPr>
        <p:spPr>
          <a:xfrm>
            <a:off x="640080" y="1828800"/>
            <a:ext cx="5120640" cy="1005840"/>
          </a:xfrm>
          <a:prstGeom prst="rect">
            <a:avLst/>
          </a:prstGeom>
          <a:noFill/>
          <a:ln/>
        </p:spPr>
        <p:txBody>
          <a:bodyPr wrap="square" lIns="0" tIns="0" rIns="0" bIns="0" rtlCol="0" anchor="t"/>
          <a:lstStyle/>
          <a:p>
            <a:pPr marL="0" indent="0">
              <a:buNone/>
            </a:pPr>
            <a:r>
              <a:rPr lang="en-US" sz="1700" dirty="0">
                <a:solidFill>
                  <a:srgbClr val="D5DEE7"/>
                </a:solidFill>
                <a:latin typeface="Calibri" pitchFamily="34" charset="0"/>
                <a:ea typeface="Calibri" pitchFamily="34" charset="-122"/>
                <a:cs typeface="Calibri" pitchFamily="34" charset="-120"/>
              </a:rPr>
              <a:t>Next: Lecture 3 — ETL / ELT in Databricks. We build the Bronze → Silver → Gold pipeline that fills today’s star.</a:t>
            </a:r>
            <a:endParaRPr lang="en-US" sz="1700" dirty="0"/>
          </a:p>
        </p:txBody>
      </p:sp>
      <p:sp>
        <p:nvSpPr>
          <p:cNvPr id="4" name="Shape 2"/>
          <p:cNvSpPr/>
          <p:nvPr/>
        </p:nvSpPr>
        <p:spPr>
          <a:xfrm>
            <a:off x="640080" y="3108960"/>
            <a:ext cx="4937760" cy="1005840"/>
          </a:xfrm>
          <a:prstGeom prst="roundRect">
            <a:avLst>
              <a:gd name="adj" fmla="val 7273"/>
            </a:avLst>
          </a:prstGeom>
          <a:solidFill>
            <a:srgbClr val="1C3754"/>
          </a:solidFill>
          <a:ln w="9525">
            <a:solidFill>
              <a:srgbClr val="1C3754"/>
            </a:solidFill>
            <a:prstDash val="solid"/>
          </a:ln>
        </p:spPr>
        <p:txBody>
          <a:bodyPr/>
          <a:lstStyle/>
          <a:p>
            <a:endParaRPr lang="en-US"/>
          </a:p>
        </p:txBody>
      </p:sp>
      <p:sp>
        <p:nvSpPr>
          <p:cNvPr id="5" name="Text 3"/>
          <p:cNvSpPr txBox="1"/>
          <p:nvPr/>
        </p:nvSpPr>
        <p:spPr>
          <a:xfrm>
            <a:off x="822960" y="3108960"/>
            <a:ext cx="4572000" cy="1005840"/>
          </a:xfrm>
          <a:prstGeom prst="rect">
            <a:avLst/>
          </a:prstGeom>
          <a:noFill/>
          <a:ln/>
        </p:spPr>
        <p:txBody>
          <a:bodyPr wrap="square" lIns="0" tIns="0" rIns="0" bIns="0" rtlCol="0" anchor="ctr"/>
          <a:lstStyle/>
          <a:p>
            <a:pPr marL="0" indent="0">
              <a:buNone/>
            </a:pPr>
            <a:r>
              <a:rPr lang="en-US" sz="1400" b="1" dirty="0">
                <a:solidFill>
                  <a:srgbClr val="E89B2D"/>
                </a:solidFill>
                <a:latin typeface="Calibri" pitchFamily="34" charset="0"/>
                <a:ea typeface="Calibri" pitchFamily="34" charset="-122"/>
                <a:cs typeface="Calibri" pitchFamily="34" charset="-120"/>
              </a:rPr>
              <a:t>Before Lecture 3: </a:t>
            </a:r>
            <a:r>
              <a:rPr lang="en-US" sz="1400" dirty="0">
                <a:solidFill>
                  <a:srgbClr val="FFFFFF"/>
                </a:solidFill>
                <a:latin typeface="Calibri" pitchFamily="34" charset="0"/>
                <a:ea typeface="Calibri" pitchFamily="34" charset="-122"/>
                <a:cs typeface="Calibri" pitchFamily="34" charset="-120"/>
              </a:rPr>
              <a:t>finish Lab 2 and the self-check questions.</a:t>
            </a:r>
            <a:endParaRPr lang="en-US" sz="1400" dirty="0"/>
          </a:p>
        </p:txBody>
      </p:sp>
      <p:sp>
        <p:nvSpPr>
          <p:cNvPr id="6" name="Shape 4"/>
          <p:cNvSpPr/>
          <p:nvPr/>
        </p:nvSpPr>
        <p:spPr>
          <a:xfrm>
            <a:off x="5989320" y="822960"/>
            <a:ext cx="5669280" cy="5120640"/>
          </a:xfrm>
          <a:prstGeom prst="roundRect">
            <a:avLst>
              <a:gd name="adj" fmla="val 1071"/>
            </a:avLst>
          </a:prstGeom>
          <a:solidFill>
            <a:srgbClr val="1C3754"/>
          </a:solidFill>
          <a:ln w="9525">
            <a:solidFill>
              <a:srgbClr val="1C3754"/>
            </a:solidFill>
            <a:prstDash val="solid"/>
          </a:ln>
        </p:spPr>
        <p:txBody>
          <a:bodyPr/>
          <a:lstStyle/>
          <a:p>
            <a:endParaRPr lang="en-US"/>
          </a:p>
        </p:txBody>
      </p:sp>
      <p:sp>
        <p:nvSpPr>
          <p:cNvPr id="7" name="Text 5"/>
          <p:cNvSpPr txBox="1"/>
          <p:nvPr/>
        </p:nvSpPr>
        <p:spPr>
          <a:xfrm>
            <a:off x="6263640" y="1005840"/>
            <a:ext cx="4572000" cy="274320"/>
          </a:xfrm>
          <a:prstGeom prst="rect">
            <a:avLst/>
          </a:prstGeom>
          <a:noFill/>
          <a:ln/>
        </p:spPr>
        <p:txBody>
          <a:bodyPr wrap="square" lIns="0" tIns="0" rIns="0" bIns="0" rtlCol="0" anchor="t"/>
          <a:lstStyle/>
          <a:p>
            <a:pPr marL="0" indent="0">
              <a:buNone/>
            </a:pPr>
            <a:r>
              <a:rPr lang="en-US" sz="1200" b="1" kern="0" spc="200" dirty="0">
                <a:solidFill>
                  <a:srgbClr val="E89B2D"/>
                </a:solidFill>
                <a:latin typeface="Calibri" pitchFamily="34" charset="0"/>
                <a:ea typeface="Calibri" pitchFamily="34" charset="-122"/>
                <a:cs typeface="Calibri" pitchFamily="34" charset="-120"/>
              </a:rPr>
              <a:t>REFERENCES</a:t>
            </a:r>
            <a:endParaRPr lang="en-US" sz="1200" dirty="0"/>
          </a:p>
        </p:txBody>
      </p:sp>
      <p:sp>
        <p:nvSpPr>
          <p:cNvPr id="8" name="Text 6"/>
          <p:cNvSpPr txBox="1"/>
          <p:nvPr/>
        </p:nvSpPr>
        <p:spPr>
          <a:xfrm>
            <a:off x="6263640" y="1371600"/>
            <a:ext cx="5166360" cy="4480560"/>
          </a:xfrm>
          <a:prstGeom prst="rect">
            <a:avLst/>
          </a:prstGeom>
          <a:noFill/>
          <a:ln/>
        </p:spPr>
        <p:txBody>
          <a:bodyPr wrap="square" lIns="0" tIns="0" rIns="0" bIns="0" rtlCol="0" anchor="t"/>
          <a:lstStyle/>
          <a:p>
            <a:pPr marL="165100" indent="-165100">
              <a:spcAft>
                <a:spcPts val="800"/>
              </a:spcAft>
              <a:buSzPct val="100000"/>
              <a:buChar char="•"/>
            </a:pPr>
            <a:r>
              <a:rPr lang="en-US" sz="1250" dirty="0">
                <a:solidFill>
                  <a:srgbClr val="D5DEE7"/>
                </a:solidFill>
                <a:latin typeface="Calibri" pitchFamily="34" charset="0"/>
                <a:ea typeface="Calibri" pitchFamily="34" charset="-122"/>
                <a:cs typeface="Calibri" pitchFamily="34" charset="-120"/>
              </a:rPr>
              <a:t>Databricks (2026). What is OLAP? Databricks blog, databricks.com/blog/what-is-olap.</a:t>
            </a:r>
            <a:endParaRPr lang="en-US" sz="1250" dirty="0"/>
          </a:p>
          <a:p>
            <a:pPr marL="165100" indent="-165100">
              <a:spcAft>
                <a:spcPts val="800"/>
              </a:spcAft>
              <a:buSzPct val="100000"/>
              <a:buChar char="•"/>
            </a:pPr>
            <a:r>
              <a:rPr lang="en-US" sz="1250" dirty="0">
                <a:solidFill>
                  <a:srgbClr val="D5DEE7"/>
                </a:solidFill>
                <a:latin typeface="Calibri" pitchFamily="34" charset="0"/>
                <a:ea typeface="Calibri" pitchFamily="34" charset="-122"/>
                <a:cs typeface="Calibri" pitchFamily="34" charset="-120"/>
              </a:rPr>
              <a:t>Databricks (2025). The Big Book of Data Warehousing and BI (sections 1.5, 2.4, 2.6).</a:t>
            </a:r>
            <a:endParaRPr lang="en-US" sz="1250" dirty="0"/>
          </a:p>
          <a:p>
            <a:pPr marL="165100" indent="-165100">
              <a:spcAft>
                <a:spcPts val="800"/>
              </a:spcAft>
              <a:buSzPct val="100000"/>
              <a:buChar char="•"/>
            </a:pPr>
            <a:r>
              <a:rPr lang="en-US" sz="1250" dirty="0">
                <a:solidFill>
                  <a:srgbClr val="D5DEE7"/>
                </a:solidFill>
                <a:latin typeface="Calibri" pitchFamily="34" charset="0"/>
                <a:ea typeface="Calibri" pitchFamily="34" charset="-122"/>
                <a:cs typeface="Calibri" pitchFamily="34" charset="-120"/>
              </a:rPr>
              <a:t>Databricks (2025). A Guide to Building ETL Pipelines With SQL (materialized views, SCD Type 2).</a:t>
            </a:r>
            <a:endParaRPr lang="en-US" sz="1250" dirty="0"/>
          </a:p>
          <a:p>
            <a:pPr marL="165100" indent="-165100">
              <a:spcAft>
                <a:spcPts val="800"/>
              </a:spcAft>
              <a:buSzPct val="100000"/>
              <a:buChar char="•"/>
            </a:pPr>
            <a:r>
              <a:rPr lang="en-US" sz="1250" dirty="0">
                <a:solidFill>
                  <a:srgbClr val="D5DEE7"/>
                </a:solidFill>
                <a:latin typeface="Calibri" pitchFamily="34" charset="0"/>
                <a:ea typeface="Calibri" pitchFamily="34" charset="-122"/>
                <a:cs typeface="Calibri" pitchFamily="34" charset="-120"/>
              </a:rPr>
              <a:t>Kimball, R. &amp; Ross, M. (2013). The Data Warehouse Toolkit (3rd ed.). Wiley.</a:t>
            </a:r>
            <a:endParaRPr lang="en-US" sz="1250" dirty="0"/>
          </a:p>
          <a:p>
            <a:pPr marL="165100" indent="-165100">
              <a:spcAft>
                <a:spcPts val="800"/>
              </a:spcAft>
              <a:buSzPct val="100000"/>
              <a:buChar char="•"/>
            </a:pPr>
            <a:r>
              <a:rPr lang="en-US" sz="1250" dirty="0">
                <a:solidFill>
                  <a:srgbClr val="D5DEE7"/>
                </a:solidFill>
                <a:latin typeface="Calibri" pitchFamily="34" charset="0"/>
                <a:ea typeface="Calibri" pitchFamily="34" charset="-122"/>
                <a:cs typeface="Calibri" pitchFamily="34" charset="-120"/>
              </a:rPr>
              <a:t>Databricks documentation: GROUP BY (ROLLUP, CUBE, GROUPING SETS), table constraints, identity columns, liquid clustering, materialized views, metric views, AI/BI dashboards, Genie, Free Edition limitations.</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8FA3B8"/>
                </a:solidFill>
                <a:latin typeface="Calibri"/>
                <a:ea typeface="Calibri"/>
                <a:cs typeface="Calibri"/>
              </a:defRPr>
            </a:lvl1pPr>
          </a:lstStyle>
          <a:p>
            <a:pPr algn="r"/>
            <a:r>
              <a:rPr sz="850">
                <a:solidFill>
                  <a:srgbClr val="5D6C7B"/>
                </a:solidFill>
                <a:latin typeface="Aptos"/>
              </a:rPr>
              <a:t>51</a:t>
            </a:r>
            <a:endParaRPr lang="en-US"/>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4754880" cy="228600"/>
          </a:xfrm>
          <a:prstGeom prst="rect">
            <a:avLst/>
          </a:prstGeom>
          <a:noFill/>
        </p:spPr>
        <p:txBody>
          <a:bodyPr wrap="square" lIns="0" rIns="0" tIns="0" bIns="0">
            <a:spAutoFit/>
          </a:bodyPr>
          <a:lstStyle/>
          <a:p>
            <a:pPr algn="l"/>
            <a:r>
              <a:rPr sz="1050" b="1" i="0">
                <a:solidFill>
                  <a:srgbClr val="0E7F7A"/>
                </a:solidFill>
                <a:latin typeface="Aptos"/>
              </a:rPr>
              <a:t>MEASURES IN SQL</a:t>
            </a:r>
          </a:p>
        </p:txBody>
      </p:sp>
      <p:sp>
        <p:nvSpPr>
          <p:cNvPr id="3" name="TextBox 2"/>
          <p:cNvSpPr txBox="1"/>
          <p:nvPr/>
        </p:nvSpPr>
        <p:spPr>
          <a:xfrm>
            <a:off x="548640" y="658368"/>
            <a:ext cx="7772400" cy="566928"/>
          </a:xfrm>
          <a:prstGeom prst="rect">
            <a:avLst/>
          </a:prstGeom>
          <a:noFill/>
        </p:spPr>
        <p:txBody>
          <a:bodyPr wrap="square" lIns="0" rIns="0" tIns="0" bIns="0">
            <a:spAutoFit/>
          </a:bodyPr>
          <a:lstStyle/>
          <a:p>
            <a:pPr algn="l"/>
            <a:r>
              <a:rPr sz="2700" b="1" i="0">
                <a:solidFill>
                  <a:srgbClr val="172A3A"/>
                </a:solidFill>
                <a:latin typeface="Aptos Display"/>
              </a:rPr>
              <a:t>Choose the aggregation that matches the business meaning</a:t>
            </a:r>
          </a:p>
        </p:txBody>
      </p:sp>
      <p:sp>
        <p:nvSpPr>
          <p:cNvPr id="4" name="Rounded Rectangle 3"/>
          <p:cNvSpPr/>
          <p:nvPr/>
        </p:nvSpPr>
        <p:spPr>
          <a:xfrm>
            <a:off x="9418320" y="310896"/>
            <a:ext cx="2240280" cy="384048"/>
          </a:xfrm>
          <a:prstGeom prst="roundRect">
            <a:avLst/>
          </a:prstGeom>
          <a:solidFill>
            <a:srgbClr val="D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18320" y="416052"/>
            <a:ext cx="2240280" cy="164592"/>
          </a:xfrm>
          <a:prstGeom prst="rect">
            <a:avLst/>
          </a:prstGeom>
          <a:noFill/>
        </p:spPr>
        <p:txBody>
          <a:bodyPr wrap="square" lIns="0" rIns="0" tIns="0" bIns="0">
            <a:spAutoFit/>
          </a:bodyPr>
          <a:lstStyle/>
          <a:p>
            <a:pPr algn="ctr"/>
            <a:r>
              <a:rPr sz="950" b="1" i="0">
                <a:solidFill>
                  <a:srgbClr val="0E7F7A"/>
                </a:solidFill>
                <a:latin typeface="Aptos"/>
              </a:rPr>
              <a:t>PART A · MODELLING</a:t>
            </a:r>
          </a:p>
        </p:txBody>
      </p:sp>
      <p:sp>
        <p:nvSpPr>
          <p:cNvPr id="6" name="Rounded Rectangle 5"/>
          <p:cNvSpPr/>
          <p:nvPr/>
        </p:nvSpPr>
        <p:spPr>
          <a:xfrm>
            <a:off x="548640" y="1591056"/>
            <a:ext cx="3593592" cy="3639312"/>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773936"/>
            <a:ext cx="384048" cy="384048"/>
          </a:xfrm>
          <a:prstGeom prst="ellipse">
            <a:avLst/>
          </a:prstGeom>
          <a:solidFill>
            <a:srgbClr val="0E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07008" y="1819656"/>
            <a:ext cx="2697480" cy="256032"/>
          </a:xfrm>
          <a:prstGeom prst="rect">
            <a:avLst/>
          </a:prstGeom>
          <a:noFill/>
        </p:spPr>
        <p:txBody>
          <a:bodyPr wrap="square" lIns="0" rIns="0" tIns="0" bIns="0">
            <a:spAutoFit/>
          </a:bodyPr>
          <a:lstStyle/>
          <a:p>
            <a:pPr algn="l"/>
            <a:r>
              <a:rPr sz="1700" b="1" i="0">
                <a:solidFill>
                  <a:srgbClr val="172A3A"/>
                </a:solidFill>
                <a:latin typeface="Aptos"/>
              </a:rPr>
              <a:t>1  Additive</a:t>
            </a:r>
          </a:p>
        </p:txBody>
      </p:sp>
      <p:sp>
        <p:nvSpPr>
          <p:cNvPr id="9" name="TextBox 8"/>
          <p:cNvSpPr txBox="1"/>
          <p:nvPr/>
        </p:nvSpPr>
        <p:spPr>
          <a:xfrm>
            <a:off x="731520" y="2286000"/>
            <a:ext cx="3218688" cy="420624"/>
          </a:xfrm>
          <a:prstGeom prst="rect">
            <a:avLst/>
          </a:prstGeom>
          <a:noFill/>
        </p:spPr>
        <p:txBody>
          <a:bodyPr wrap="square" lIns="0" rIns="0" tIns="0" bIns="0">
            <a:spAutoFit/>
          </a:bodyPr>
          <a:lstStyle/>
          <a:p>
            <a:pPr algn="l"/>
            <a:r>
              <a:rPr sz="1250" b="0" i="0">
                <a:solidFill>
                  <a:srgbClr val="5D6C7B"/>
                </a:solidFill>
                <a:latin typeface="Aptos"/>
              </a:rPr>
              <a:t>Safe to SUM across store, product and time</a:t>
            </a:r>
          </a:p>
        </p:txBody>
      </p:sp>
      <p:sp>
        <p:nvSpPr>
          <p:cNvPr id="10" name="TextBox 9"/>
          <p:cNvSpPr txBox="1"/>
          <p:nvPr/>
        </p:nvSpPr>
        <p:spPr>
          <a:xfrm>
            <a:off x="731520" y="2761488"/>
            <a:ext cx="3200400" cy="246888"/>
          </a:xfrm>
          <a:prstGeom prst="rect">
            <a:avLst/>
          </a:prstGeom>
          <a:noFill/>
        </p:spPr>
        <p:txBody>
          <a:bodyPr wrap="square" lIns="0" rIns="0" tIns="0" bIns="0">
            <a:spAutoFit/>
          </a:bodyPr>
          <a:lstStyle/>
          <a:p>
            <a:pPr algn="l"/>
            <a:r>
              <a:rPr sz="1300" b="1" i="0">
                <a:solidFill>
                  <a:srgbClr val="172A3A"/>
                </a:solidFill>
                <a:latin typeface="Aptos"/>
              </a:rPr>
              <a:t>Example: revenue by region</a:t>
            </a:r>
          </a:p>
        </p:txBody>
      </p:sp>
      <p:sp>
        <p:nvSpPr>
          <p:cNvPr id="11" name="Rounded Rectangle 10"/>
          <p:cNvSpPr/>
          <p:nvPr/>
        </p:nvSpPr>
        <p:spPr>
          <a:xfrm>
            <a:off x="731520" y="3063240"/>
            <a:ext cx="3218688" cy="1298448"/>
          </a:xfrm>
          <a:prstGeom prst="roundRect">
            <a:avLst/>
          </a:prstGeom>
          <a:solidFill>
            <a:srgbClr val="102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3154680"/>
            <a:ext cx="2999232" cy="1133856"/>
          </a:xfrm>
          <a:prstGeom prst="rect">
            <a:avLst/>
          </a:prstGeom>
          <a:noFill/>
        </p:spPr>
        <p:txBody>
          <a:bodyPr wrap="square" lIns="0" rIns="0" tIns="0" bIns="0">
            <a:spAutoFit/>
          </a:bodyPr>
          <a:lstStyle/>
          <a:p>
            <a:pPr>
              <a:spcBef>
                <a:spcPts val="0"/>
              </a:spcBef>
              <a:spcAft>
                <a:spcPts val="0"/>
              </a:spcAft>
            </a:pPr>
            <a:r>
              <a:rPr sz="1050" b="0">
                <a:solidFill>
                  <a:srgbClr val="FFFFFF"/>
                </a:solidFill>
                <a:latin typeface="Aptos Mono"/>
              </a:rPr>
              <a:t>SELECT s.region,</a:t>
            </a:r>
          </a:p>
          <a:p>
            <a:pPr>
              <a:spcBef>
                <a:spcPts val="0"/>
              </a:spcBef>
              <a:spcAft>
                <a:spcPts val="0"/>
              </a:spcAft>
            </a:pPr>
            <a:r>
              <a:rPr sz="1050" b="1">
                <a:solidFill>
                  <a:srgbClr val="0E7F7A"/>
                </a:solidFill>
                <a:latin typeface="Aptos Mono"/>
              </a:rPr>
              <a:t>       SUM(f.sales_amount) AS revenue</a:t>
            </a:r>
          </a:p>
          <a:p>
            <a:pPr>
              <a:spcBef>
                <a:spcPts val="0"/>
              </a:spcBef>
              <a:spcAft>
                <a:spcPts val="0"/>
              </a:spcAft>
            </a:pPr>
            <a:r>
              <a:rPr sz="1050" b="0">
                <a:solidFill>
                  <a:srgbClr val="FFFFFF"/>
                </a:solidFill>
                <a:latin typeface="Aptos Mono"/>
              </a:rPr>
              <a:t>FROM gold.fact_sales f</a:t>
            </a:r>
          </a:p>
          <a:p>
            <a:pPr>
              <a:spcBef>
                <a:spcPts val="0"/>
              </a:spcBef>
              <a:spcAft>
                <a:spcPts val="0"/>
              </a:spcAft>
            </a:pPr>
            <a:r>
              <a:rPr sz="1050" b="0">
                <a:solidFill>
                  <a:srgbClr val="FFFFFF"/>
                </a:solidFill>
                <a:latin typeface="Aptos Mono"/>
              </a:rPr>
              <a:t>JOIN gold.dim_store s USING (store_key)</a:t>
            </a:r>
          </a:p>
          <a:p>
            <a:pPr>
              <a:spcBef>
                <a:spcPts val="0"/>
              </a:spcBef>
              <a:spcAft>
                <a:spcPts val="0"/>
              </a:spcAft>
            </a:pPr>
            <a:r>
              <a:rPr sz="1050" b="0">
                <a:solidFill>
                  <a:srgbClr val="FFFFFF"/>
                </a:solidFill>
                <a:latin typeface="Aptos Mono"/>
              </a:rPr>
              <a:t>GROUP BY s.region;</a:t>
            </a:r>
          </a:p>
        </p:txBody>
      </p:sp>
      <p:sp>
        <p:nvSpPr>
          <p:cNvPr id="13" name="TextBox 12"/>
          <p:cNvSpPr txBox="1"/>
          <p:nvPr/>
        </p:nvSpPr>
        <p:spPr>
          <a:xfrm>
            <a:off x="731520" y="4526280"/>
            <a:ext cx="3200400" cy="457200"/>
          </a:xfrm>
          <a:prstGeom prst="rect">
            <a:avLst/>
          </a:prstGeom>
          <a:noFill/>
        </p:spPr>
        <p:txBody>
          <a:bodyPr wrap="square" lIns="0" rIns="0" tIns="0" bIns="0">
            <a:spAutoFit/>
          </a:bodyPr>
          <a:lstStyle/>
          <a:p>
            <a:pPr algn="l"/>
            <a:r>
              <a:rPr sz="1150" b="1" i="0">
                <a:solidFill>
                  <a:srgbClr val="0E7F7A"/>
                </a:solidFill>
                <a:latin typeface="Aptos"/>
              </a:rPr>
              <a:t>✓ Each sale contributes to a meaningful total.</a:t>
            </a:r>
          </a:p>
        </p:txBody>
      </p:sp>
      <p:sp>
        <p:nvSpPr>
          <p:cNvPr id="14" name="Rounded Rectangle 13"/>
          <p:cNvSpPr/>
          <p:nvPr/>
        </p:nvSpPr>
        <p:spPr>
          <a:xfrm>
            <a:off x="4297680" y="1591056"/>
            <a:ext cx="3593592" cy="3639312"/>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80560" y="1773936"/>
            <a:ext cx="384048" cy="384048"/>
          </a:xfrm>
          <a:prstGeom prst="ellipse">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56048" y="1819656"/>
            <a:ext cx="2697480" cy="256032"/>
          </a:xfrm>
          <a:prstGeom prst="rect">
            <a:avLst/>
          </a:prstGeom>
          <a:noFill/>
        </p:spPr>
        <p:txBody>
          <a:bodyPr wrap="square" lIns="0" rIns="0" tIns="0" bIns="0">
            <a:spAutoFit/>
          </a:bodyPr>
          <a:lstStyle/>
          <a:p>
            <a:pPr algn="l"/>
            <a:r>
              <a:rPr sz="1700" b="1" i="0">
                <a:solidFill>
                  <a:srgbClr val="172A3A"/>
                </a:solidFill>
                <a:latin typeface="Aptos"/>
              </a:rPr>
              <a:t>2  Semi-additive</a:t>
            </a:r>
          </a:p>
        </p:txBody>
      </p:sp>
      <p:sp>
        <p:nvSpPr>
          <p:cNvPr id="17" name="TextBox 16"/>
          <p:cNvSpPr txBox="1"/>
          <p:nvPr/>
        </p:nvSpPr>
        <p:spPr>
          <a:xfrm>
            <a:off x="4480560" y="2286000"/>
            <a:ext cx="3218688" cy="420624"/>
          </a:xfrm>
          <a:prstGeom prst="rect">
            <a:avLst/>
          </a:prstGeom>
          <a:noFill/>
        </p:spPr>
        <p:txBody>
          <a:bodyPr wrap="square" lIns="0" rIns="0" tIns="0" bIns="0">
            <a:spAutoFit/>
          </a:bodyPr>
          <a:lstStyle/>
          <a:p>
            <a:pPr algn="l"/>
            <a:r>
              <a:rPr sz="1250" b="0" i="0">
                <a:solidFill>
                  <a:srgbClr val="5D6C7B"/>
                </a:solidFill>
                <a:latin typeface="Aptos"/>
              </a:rPr>
              <a:t>SUM across stores at one date — not across dates</a:t>
            </a:r>
          </a:p>
        </p:txBody>
      </p:sp>
      <p:sp>
        <p:nvSpPr>
          <p:cNvPr id="18" name="TextBox 17"/>
          <p:cNvSpPr txBox="1"/>
          <p:nvPr/>
        </p:nvSpPr>
        <p:spPr>
          <a:xfrm>
            <a:off x="4480560" y="2761488"/>
            <a:ext cx="3200400" cy="246888"/>
          </a:xfrm>
          <a:prstGeom prst="rect">
            <a:avLst/>
          </a:prstGeom>
          <a:noFill/>
        </p:spPr>
        <p:txBody>
          <a:bodyPr wrap="square" lIns="0" rIns="0" tIns="0" bIns="0">
            <a:spAutoFit/>
          </a:bodyPr>
          <a:lstStyle/>
          <a:p>
            <a:pPr algn="l"/>
            <a:r>
              <a:rPr sz="1300" b="1" i="0">
                <a:solidFill>
                  <a:srgbClr val="172A3A"/>
                </a:solidFill>
                <a:latin typeface="Aptos"/>
              </a:rPr>
              <a:t>Valid: total stock today</a:t>
            </a:r>
          </a:p>
        </p:txBody>
      </p:sp>
      <p:sp>
        <p:nvSpPr>
          <p:cNvPr id="19" name="Rounded Rectangle 18"/>
          <p:cNvSpPr/>
          <p:nvPr/>
        </p:nvSpPr>
        <p:spPr>
          <a:xfrm>
            <a:off x="4480560" y="3063240"/>
            <a:ext cx="3218688" cy="969264"/>
          </a:xfrm>
          <a:prstGeom prst="roundRect">
            <a:avLst/>
          </a:prstGeom>
          <a:solidFill>
            <a:srgbClr val="102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0288" y="3154680"/>
            <a:ext cx="2999232" cy="804672"/>
          </a:xfrm>
          <a:prstGeom prst="rect">
            <a:avLst/>
          </a:prstGeom>
          <a:noFill/>
        </p:spPr>
        <p:txBody>
          <a:bodyPr wrap="square" lIns="0" rIns="0" tIns="0" bIns="0">
            <a:spAutoFit/>
          </a:bodyPr>
          <a:lstStyle/>
          <a:p>
            <a:pPr>
              <a:spcBef>
                <a:spcPts val="0"/>
              </a:spcBef>
              <a:spcAft>
                <a:spcPts val="0"/>
              </a:spcAft>
            </a:pPr>
            <a:r>
              <a:rPr sz="1050" b="1">
                <a:solidFill>
                  <a:srgbClr val="F0A020"/>
                </a:solidFill>
                <a:latin typeface="Aptos Mono"/>
              </a:rPr>
              <a:t>SELECT SUM(stock_on_hand) AS stock</a:t>
            </a:r>
          </a:p>
          <a:p>
            <a:pPr>
              <a:spcBef>
                <a:spcPts val="0"/>
              </a:spcBef>
              <a:spcAft>
                <a:spcPts val="0"/>
              </a:spcAft>
            </a:pPr>
            <a:r>
              <a:rPr sz="1050" b="0">
                <a:solidFill>
                  <a:srgbClr val="FFFFFF"/>
                </a:solidFill>
                <a:latin typeface="Aptos Mono"/>
              </a:rPr>
              <a:t>FROM gold.fact_inventory_daily</a:t>
            </a:r>
          </a:p>
          <a:p>
            <a:pPr>
              <a:spcBef>
                <a:spcPts val="0"/>
              </a:spcBef>
              <a:spcAft>
                <a:spcPts val="0"/>
              </a:spcAft>
            </a:pPr>
            <a:r>
              <a:rPr sz="1050" b="0">
                <a:solidFill>
                  <a:srgbClr val="FFFFFF"/>
                </a:solidFill>
                <a:latin typeface="Aptos Mono"/>
              </a:rPr>
              <a:t>WHERE date_key = 20261012;</a:t>
            </a:r>
          </a:p>
        </p:txBody>
      </p:sp>
      <p:sp>
        <p:nvSpPr>
          <p:cNvPr id="21" name="TextBox 20"/>
          <p:cNvSpPr txBox="1"/>
          <p:nvPr/>
        </p:nvSpPr>
        <p:spPr>
          <a:xfrm>
            <a:off x="4480560" y="4160520"/>
            <a:ext cx="3200400" cy="237744"/>
          </a:xfrm>
          <a:prstGeom prst="rect">
            <a:avLst/>
          </a:prstGeom>
          <a:noFill/>
        </p:spPr>
        <p:txBody>
          <a:bodyPr wrap="square" lIns="0" rIns="0" tIns="0" bIns="0">
            <a:spAutoFit/>
          </a:bodyPr>
          <a:lstStyle/>
          <a:p>
            <a:pPr algn="l"/>
            <a:r>
              <a:rPr sz="1150" b="1" i="0">
                <a:solidFill>
                  <a:srgbClr val="CF3E4A"/>
                </a:solidFill>
                <a:latin typeface="Aptos"/>
              </a:rPr>
              <a:t>✗ Wrong across many dates:</a:t>
            </a:r>
          </a:p>
        </p:txBody>
      </p:sp>
      <p:sp>
        <p:nvSpPr>
          <p:cNvPr id="22" name="Rounded Rectangle 21"/>
          <p:cNvSpPr/>
          <p:nvPr/>
        </p:nvSpPr>
        <p:spPr>
          <a:xfrm>
            <a:off x="4480560" y="4443984"/>
            <a:ext cx="3218688" cy="457200"/>
          </a:xfrm>
          <a:prstGeom prst="roundRect">
            <a:avLst/>
          </a:prstGeom>
          <a:solidFill>
            <a:srgbClr val="102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0288" y="4535424"/>
            <a:ext cx="2999232" cy="292608"/>
          </a:xfrm>
          <a:prstGeom prst="rect">
            <a:avLst/>
          </a:prstGeom>
          <a:noFill/>
        </p:spPr>
        <p:txBody>
          <a:bodyPr wrap="square" lIns="0" rIns="0" tIns="0" bIns="0">
            <a:spAutoFit/>
          </a:bodyPr>
          <a:lstStyle/>
          <a:p>
            <a:pPr>
              <a:spcBef>
                <a:spcPts val="0"/>
              </a:spcBef>
              <a:spcAft>
                <a:spcPts val="0"/>
              </a:spcAft>
            </a:pPr>
            <a:r>
              <a:rPr sz="1050" b="1">
                <a:solidFill>
                  <a:srgbClr val="CF3E4A"/>
                </a:solidFill>
                <a:latin typeface="Aptos Mono"/>
              </a:rPr>
              <a:t>SUM(stock_on_hand)</a:t>
            </a:r>
          </a:p>
        </p:txBody>
      </p:sp>
      <p:sp>
        <p:nvSpPr>
          <p:cNvPr id="24" name="TextBox 23"/>
          <p:cNvSpPr txBox="1"/>
          <p:nvPr/>
        </p:nvSpPr>
        <p:spPr>
          <a:xfrm>
            <a:off x="4480560" y="4956048"/>
            <a:ext cx="3200400" cy="182880"/>
          </a:xfrm>
          <a:prstGeom prst="rect">
            <a:avLst/>
          </a:prstGeom>
          <a:noFill/>
        </p:spPr>
        <p:txBody>
          <a:bodyPr wrap="square" lIns="0" rIns="0" tIns="0" bIns="0">
            <a:spAutoFit/>
          </a:bodyPr>
          <a:lstStyle/>
          <a:p>
            <a:pPr algn="l"/>
            <a:r>
              <a:rPr sz="1080" b="1" i="0">
                <a:solidFill>
                  <a:srgbClr val="F0A020"/>
                </a:solidFill>
                <a:latin typeface="Aptos"/>
              </a:rPr>
              <a:t>→ use period-end value or AVG</a:t>
            </a:r>
          </a:p>
        </p:txBody>
      </p:sp>
      <p:sp>
        <p:nvSpPr>
          <p:cNvPr id="25" name="Rounded Rectangle 24"/>
          <p:cNvSpPr/>
          <p:nvPr/>
        </p:nvSpPr>
        <p:spPr>
          <a:xfrm>
            <a:off x="8046720" y="1591056"/>
            <a:ext cx="3593592" cy="3639312"/>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29600" y="1773936"/>
            <a:ext cx="384048" cy="384048"/>
          </a:xfrm>
          <a:prstGeom prst="ellipse">
            <a:avLst/>
          </a:prstGeom>
          <a:solidFill>
            <a:srgbClr val="CF3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05088" y="1819656"/>
            <a:ext cx="2697480" cy="256032"/>
          </a:xfrm>
          <a:prstGeom prst="rect">
            <a:avLst/>
          </a:prstGeom>
          <a:noFill/>
        </p:spPr>
        <p:txBody>
          <a:bodyPr wrap="square" lIns="0" rIns="0" tIns="0" bIns="0">
            <a:spAutoFit/>
          </a:bodyPr>
          <a:lstStyle/>
          <a:p>
            <a:pPr algn="l"/>
            <a:r>
              <a:rPr sz="1700" b="1" i="0">
                <a:solidFill>
                  <a:srgbClr val="172A3A"/>
                </a:solidFill>
                <a:latin typeface="Aptos"/>
              </a:rPr>
              <a:t>3  Non-additive</a:t>
            </a:r>
          </a:p>
        </p:txBody>
      </p:sp>
      <p:sp>
        <p:nvSpPr>
          <p:cNvPr id="28" name="TextBox 27"/>
          <p:cNvSpPr txBox="1"/>
          <p:nvPr/>
        </p:nvSpPr>
        <p:spPr>
          <a:xfrm>
            <a:off x="8229600" y="2286000"/>
            <a:ext cx="3218688" cy="420624"/>
          </a:xfrm>
          <a:prstGeom prst="rect">
            <a:avLst/>
          </a:prstGeom>
          <a:noFill/>
        </p:spPr>
        <p:txBody>
          <a:bodyPr wrap="square" lIns="0" rIns="0" tIns="0" bIns="0">
            <a:spAutoFit/>
          </a:bodyPr>
          <a:lstStyle/>
          <a:p>
            <a:pPr algn="l"/>
            <a:r>
              <a:rPr sz="1250" b="0" i="0">
                <a:solidFill>
                  <a:srgbClr val="5D6C7B"/>
                </a:solidFill>
                <a:latin typeface="Aptos"/>
              </a:rPr>
              <a:t>Ratios and percentages must be recomputed</a:t>
            </a:r>
          </a:p>
        </p:txBody>
      </p:sp>
      <p:sp>
        <p:nvSpPr>
          <p:cNvPr id="29" name="TextBox 28"/>
          <p:cNvSpPr txBox="1"/>
          <p:nvPr/>
        </p:nvSpPr>
        <p:spPr>
          <a:xfrm>
            <a:off x="8229600" y="2761488"/>
            <a:ext cx="3200400" cy="246888"/>
          </a:xfrm>
          <a:prstGeom prst="rect">
            <a:avLst/>
          </a:prstGeom>
          <a:noFill/>
        </p:spPr>
        <p:txBody>
          <a:bodyPr wrap="square" lIns="0" rIns="0" tIns="0" bIns="0">
            <a:spAutoFit/>
          </a:bodyPr>
          <a:lstStyle/>
          <a:p>
            <a:pPr algn="l"/>
            <a:r>
              <a:rPr sz="1250" b="1" i="0">
                <a:solidFill>
                  <a:srgbClr val="CF3E4A"/>
                </a:solidFill>
                <a:latin typeface="Aptos"/>
              </a:rPr>
              <a:t>✗ Wrong</a:t>
            </a:r>
          </a:p>
        </p:txBody>
      </p:sp>
      <p:sp>
        <p:nvSpPr>
          <p:cNvPr id="30" name="Rounded Rectangle 29"/>
          <p:cNvSpPr/>
          <p:nvPr/>
        </p:nvSpPr>
        <p:spPr>
          <a:xfrm>
            <a:off x="8229600" y="3044952"/>
            <a:ext cx="3218688" cy="621792"/>
          </a:xfrm>
          <a:prstGeom prst="roundRect">
            <a:avLst/>
          </a:prstGeom>
          <a:solidFill>
            <a:srgbClr val="102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39328" y="3136392"/>
            <a:ext cx="2999232" cy="457200"/>
          </a:xfrm>
          <a:prstGeom prst="rect">
            <a:avLst/>
          </a:prstGeom>
          <a:noFill/>
        </p:spPr>
        <p:txBody>
          <a:bodyPr wrap="square" lIns="0" rIns="0" tIns="0" bIns="0">
            <a:spAutoFit/>
          </a:bodyPr>
          <a:lstStyle/>
          <a:p>
            <a:pPr>
              <a:spcBef>
                <a:spcPts val="0"/>
              </a:spcBef>
              <a:spcAft>
                <a:spcPts val="0"/>
              </a:spcAft>
            </a:pPr>
            <a:r>
              <a:rPr sz="1050" b="1">
                <a:solidFill>
                  <a:srgbClr val="CF3E4A"/>
                </a:solidFill>
                <a:latin typeface="Aptos Mono"/>
              </a:rPr>
              <a:t>SELECT AVG(margin_pct)</a:t>
            </a:r>
          </a:p>
          <a:p>
            <a:pPr>
              <a:spcBef>
                <a:spcPts val="0"/>
              </a:spcBef>
              <a:spcAft>
                <a:spcPts val="0"/>
              </a:spcAft>
            </a:pPr>
            <a:r>
              <a:rPr sz="1050" b="0">
                <a:solidFill>
                  <a:srgbClr val="FFFFFF"/>
                </a:solidFill>
                <a:latin typeface="Aptos Mono"/>
              </a:rPr>
              <a:t>FROM gold.fact_sales;</a:t>
            </a:r>
          </a:p>
        </p:txBody>
      </p:sp>
      <p:sp>
        <p:nvSpPr>
          <p:cNvPr id="32" name="TextBox 31"/>
          <p:cNvSpPr txBox="1"/>
          <p:nvPr/>
        </p:nvSpPr>
        <p:spPr>
          <a:xfrm>
            <a:off x="8229600" y="3785615"/>
            <a:ext cx="3200400" cy="246888"/>
          </a:xfrm>
          <a:prstGeom prst="rect">
            <a:avLst/>
          </a:prstGeom>
          <a:noFill/>
        </p:spPr>
        <p:txBody>
          <a:bodyPr wrap="square" lIns="0" rIns="0" tIns="0" bIns="0">
            <a:spAutoFit/>
          </a:bodyPr>
          <a:lstStyle/>
          <a:p>
            <a:pPr algn="l"/>
            <a:r>
              <a:rPr sz="1250" b="1" i="0">
                <a:solidFill>
                  <a:srgbClr val="0E7F7A"/>
                </a:solidFill>
                <a:latin typeface="Aptos"/>
              </a:rPr>
              <a:t>✓ Right</a:t>
            </a:r>
          </a:p>
        </p:txBody>
      </p:sp>
      <p:sp>
        <p:nvSpPr>
          <p:cNvPr id="33" name="Rounded Rectangle 32"/>
          <p:cNvSpPr/>
          <p:nvPr/>
        </p:nvSpPr>
        <p:spPr>
          <a:xfrm>
            <a:off x="8229600" y="4069080"/>
            <a:ext cx="3218688" cy="877824"/>
          </a:xfrm>
          <a:prstGeom prst="roundRect">
            <a:avLst/>
          </a:prstGeom>
          <a:solidFill>
            <a:srgbClr val="102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9328" y="4160520"/>
            <a:ext cx="2999232" cy="713232"/>
          </a:xfrm>
          <a:prstGeom prst="rect">
            <a:avLst/>
          </a:prstGeom>
          <a:noFill/>
        </p:spPr>
        <p:txBody>
          <a:bodyPr wrap="square" lIns="0" rIns="0" tIns="0" bIns="0">
            <a:spAutoFit/>
          </a:bodyPr>
          <a:lstStyle/>
          <a:p>
            <a:pPr>
              <a:spcBef>
                <a:spcPts val="0"/>
              </a:spcBef>
              <a:spcAft>
                <a:spcPts val="0"/>
              </a:spcAft>
            </a:pPr>
            <a:r>
              <a:rPr sz="1050" b="1">
                <a:solidFill>
                  <a:srgbClr val="0E7F7A"/>
                </a:solidFill>
                <a:latin typeface="Aptos Mono"/>
              </a:rPr>
              <a:t>SELECT SUM(profit) /</a:t>
            </a:r>
          </a:p>
          <a:p>
            <a:pPr>
              <a:spcBef>
                <a:spcPts val="0"/>
              </a:spcBef>
              <a:spcAft>
                <a:spcPts val="0"/>
              </a:spcAft>
            </a:pPr>
            <a:r>
              <a:rPr sz="1050" b="1">
                <a:solidFill>
                  <a:srgbClr val="0E7F7A"/>
                </a:solidFill>
                <a:latin typeface="Aptos Mono"/>
              </a:rPr>
              <a:t>       SUM(sales_amount) AS margin_pct</a:t>
            </a:r>
          </a:p>
          <a:p>
            <a:pPr>
              <a:spcBef>
                <a:spcPts val="0"/>
              </a:spcBef>
              <a:spcAft>
                <a:spcPts val="0"/>
              </a:spcAft>
            </a:pPr>
            <a:r>
              <a:rPr sz="1050" b="0">
                <a:solidFill>
                  <a:srgbClr val="FFFFFF"/>
                </a:solidFill>
                <a:latin typeface="Aptos Mono"/>
              </a:rPr>
              <a:t>FROM gold.fact_sales;</a:t>
            </a:r>
          </a:p>
        </p:txBody>
      </p:sp>
      <p:sp>
        <p:nvSpPr>
          <p:cNvPr id="35" name="TextBox 34"/>
          <p:cNvSpPr txBox="1"/>
          <p:nvPr/>
        </p:nvSpPr>
        <p:spPr>
          <a:xfrm>
            <a:off x="8229600" y="5010912"/>
            <a:ext cx="3200400" cy="182880"/>
          </a:xfrm>
          <a:prstGeom prst="rect">
            <a:avLst/>
          </a:prstGeom>
          <a:noFill/>
        </p:spPr>
        <p:txBody>
          <a:bodyPr wrap="square" lIns="0" rIns="0" tIns="0" bIns="0">
            <a:spAutoFit/>
          </a:bodyPr>
          <a:lstStyle/>
          <a:p>
            <a:pPr algn="l"/>
            <a:r>
              <a:rPr sz="1080" b="1" i="0">
                <a:solidFill>
                  <a:srgbClr val="CF3E4A"/>
                </a:solidFill>
                <a:latin typeface="Aptos"/>
              </a:rPr>
              <a:t>→ aggregate components, then divide</a:t>
            </a:r>
          </a:p>
        </p:txBody>
      </p:sp>
      <p:sp>
        <p:nvSpPr>
          <p:cNvPr id="36" name="Rounded Rectangle 35"/>
          <p:cNvSpPr/>
          <p:nvPr/>
        </p:nvSpPr>
        <p:spPr>
          <a:xfrm>
            <a:off x="548640" y="5468112"/>
            <a:ext cx="11082528" cy="530352"/>
          </a:xfrm>
          <a:prstGeom prst="roundRect">
            <a:avLst/>
          </a:prstGeom>
          <a:solidFill>
            <a:srgbClr val="FD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8952" y="5614416"/>
            <a:ext cx="914400" cy="182880"/>
          </a:xfrm>
          <a:prstGeom prst="rect">
            <a:avLst/>
          </a:prstGeom>
          <a:noFill/>
        </p:spPr>
        <p:txBody>
          <a:bodyPr wrap="square" lIns="0" rIns="0" tIns="0" bIns="0">
            <a:spAutoFit/>
          </a:bodyPr>
          <a:lstStyle/>
          <a:p>
            <a:pPr algn="l"/>
            <a:r>
              <a:rPr sz="1250" b="1" i="0">
                <a:solidFill>
                  <a:srgbClr val="9C6000"/>
                </a:solidFill>
                <a:latin typeface="Aptos"/>
              </a:rPr>
              <a:t>Key idea</a:t>
            </a:r>
          </a:p>
        </p:txBody>
      </p:sp>
      <p:sp>
        <p:nvSpPr>
          <p:cNvPr id="38" name="TextBox 37"/>
          <p:cNvSpPr txBox="1"/>
          <p:nvPr/>
        </p:nvSpPr>
        <p:spPr>
          <a:xfrm>
            <a:off x="1527048" y="5614416"/>
            <a:ext cx="9692640" cy="182880"/>
          </a:xfrm>
          <a:prstGeom prst="rect">
            <a:avLst/>
          </a:prstGeom>
          <a:noFill/>
        </p:spPr>
        <p:txBody>
          <a:bodyPr wrap="square" lIns="0" rIns="0" tIns="0" bIns="0">
            <a:spAutoFit/>
          </a:bodyPr>
          <a:lstStyle/>
          <a:p>
            <a:pPr algn="l"/>
            <a:r>
              <a:rPr sz="1250" b="0" i="0">
                <a:solidFill>
                  <a:srgbClr val="172A3A"/>
                </a:solidFill>
                <a:latin typeface="Aptos"/>
              </a:rPr>
              <a:t>Choose aggregation from the measure’s business meaning — not simply because the column is numeric.</a:t>
            </a:r>
          </a:p>
        </p:txBody>
      </p:sp>
      <p:sp>
        <p:nvSpPr>
          <p:cNvPr id="39" name="TextBox 38"/>
          <p:cNvSpPr txBox="1"/>
          <p:nvPr/>
        </p:nvSpPr>
        <p:spPr>
          <a:xfrm>
            <a:off x="548640" y="6272784"/>
            <a:ext cx="6858000" cy="164592"/>
          </a:xfrm>
          <a:prstGeom prst="rect">
            <a:avLst/>
          </a:prstGeom>
          <a:noFill/>
        </p:spPr>
        <p:txBody>
          <a:bodyPr wrap="square" lIns="0" rIns="0" tIns="0" bIns="0">
            <a:spAutoFit/>
          </a:bodyPr>
          <a:lstStyle/>
          <a:p>
            <a:pPr algn="l"/>
            <a:r>
              <a:rPr sz="850" b="0" i="0">
                <a:solidFill>
                  <a:srgbClr val="5D6C7B"/>
                </a:solidFill>
                <a:latin typeface="Aptos"/>
              </a:rPr>
              <a:t>COMP454 · Lecture 2 · Dimensional Modelling &amp; OLAP in Databricks</a:t>
            </a:r>
          </a:p>
        </p:txBody>
      </p:sp>
      <p:sp>
        <p:nvSpPr>
          <p:cNvPr id="40" name="TextBox 39"/>
          <p:cNvSpPr txBox="1"/>
          <p:nvPr/>
        </p:nvSpPr>
        <p:spPr>
          <a:xfrm>
            <a:off x="11082528" y="6245352"/>
            <a:ext cx="320040" cy="164592"/>
          </a:xfrm>
          <a:prstGeom prst="rect">
            <a:avLst/>
          </a:prstGeom>
          <a:noFill/>
        </p:spPr>
        <p:txBody>
          <a:bodyPr wrap="square" lIns="0" rIns="0" tIns="0" bIns="0">
            <a:spAutoFit/>
          </a:bodyPr>
          <a:lstStyle/>
          <a:p>
            <a:pPr algn="r"/>
            <a:r>
              <a:rPr sz="850">
                <a:solidFill>
                  <a:srgbClr val="5D6C7B"/>
                </a:solidFill>
                <a:latin typeface="Aptos"/>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3704</TotalTime>
  <Words>13610</Words>
  <Application>Microsoft Macintosh PowerPoint</Application>
  <PresentationFormat>Widescreen</PresentationFormat>
  <Paragraphs>1477</Paragraphs>
  <Slides>50</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COMP454 Lecture 2 — Dimensional Modelling &amp; OLAP in Databricks</dc:title>
  <dc:subject>PptxGenJS Presentation</dc:subject>
  <dc:creator>COMP454</dc:creator>
  <cp:lastModifiedBy>Ismail Sabei</cp:lastModifiedBy>
  <cp:revision>3</cp:revision>
  <dcterms:created xsi:type="dcterms:W3CDTF">2026-09-26T23:50:19Z</dcterms:created>
  <dcterms:modified xsi:type="dcterms:W3CDTF">2026-10-07T10:08:20Z</dcterms:modified>
</cp:coreProperties>
</file>