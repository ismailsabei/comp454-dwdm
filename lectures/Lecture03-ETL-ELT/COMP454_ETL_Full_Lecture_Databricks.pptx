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lecture by framing ETL as the engineering discipline that makes analytics, BI and AI possible. The two primary references approach ETL from complementary directions. Palmer gives the full lifecycle: ingestion, transformation, orchestration, troubleshooting, efficiency and scalability. The Databricks SQL guide shows how these ideas are implemented using modern declarative pipeline constructs. Tell students that the lecture will first establish tool-independent principles, then map those principles directly to Databricks Lakeflow. Emphasize that ETL is not merely moving data between systems; it is a repeatable process for producing trusted, timely, useful data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ETL with the rest of the course. Palmer explicitly links ETL to reports, machine learning datasets and modern AI. The point is that data engineering is upstream of analytics: errors introduced during ingestion or transformation become errors in dashboards and models. You can ask students to think of one business decision that could go wrong if a source field were duplicated, delayed, or interpreted with the wrong data type. This sets up the idea that ETL quality is not a purely technical concern—it directly affects business decisions and model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outcomes as a roadmap. The lecture is intentionally balanced between conceptual knowledge and implementation knowledge. Students should leave able to reason about a source before writing code, choose an appropriate processing model, design transformations that are reproducible and observable, and then map the design into Databricks. The final objective is important: there is no universal “best” pipeline pattern. The correct design depends on freshness, volume, quality, cost, team skill and operational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structure before entering Part 1. The lecture will repeatedly reuse the SmartRetail scenario so that students can see the same data progress from source analysis through ingestion, transformation and Gold tables. This continuity is useful pedagogically because it avoids the impression that ingestion, transformation and orchestration are unrelated topics. Each section will introduce a concept, then show the Databricks equivalent in Part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establishes the vocabulary. Tell students to separate enduring concepts from product names. ETL has existed across decades of technology change because the need is stable: move data, reshape it, and make it available in a form that serves downstream users. Platform details change, but source analysis, transformation correctness, recoverability and operational discipline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precise definition: ETL means taking data from a source, changing it to suit downstream needs, and loading it into a target. Stress that “transform” is not a single middle step in many modern systems—transformations may occur at ingestion and repeatedly downstream. Likewise, loading can happen multiple times as data moves from Bronze to Silver to Gold. ETL is best understood as a pipeline lifecycle rather than a literal three-command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phrase “business-value pipeline.” Palmer argues that the purpose of ETL is not the pipeline itself; it is the business value created downstream. This changes how engineers make trade-offs. For example, a one-second streaming pipeline may be unnecessary if the consumer only makes decisions once per day. Conversely, a perfectly optimized transformation is still a failure if it produces data too late for the business process. Encourage students to think from the target consumer backward.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terminology without becoming overly pedantic. Palmer notes that ELT has increasingly become the norm because cloud storage is inexpensive and modern platforms can transform data efficiently after it lands. The course can still use ETL as the umbrella term because the engineering concerns—source analysis, transformation, orchestration, observability and scaling—apply to both. Reverse ETL is worth mentioning so students understand that data movement can also go from the analytical layer back into operational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a richer model than the three-letter acronym. A production pipeline includes source systems, ingestion mechanisms, staging, transformations and serving layers. Across all stages sit governance, security, lineage, testing, monitoring and cost. Explain that many failures happen because teams focus only on transformation code and ignore the surrounding operational system. The rest of the lecture will unpack these layers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history to ETL versus ELT. Traditional warehouses often transformed data before loading because warehouse storage and compute were expensive and inflexible. Cloud storage and elastic compute made it practical to land raw data first. Data lakes expanded flexibility but introduced reliability and governance challenges. Lakehouses combine open, scalable storage with table semantics such as transactions, schema controls and time travel. The key takeaway is that modern architecture reduces the number of separate systems needed to support BI, streaming and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processing modes carefully. Batch handles bounded chunks. Micro-batch processes small groups frequently and is commonly sufficient for “real-time enough” analytics. True event-by-event streaming can reduce latency further but adds state, ordering and windowing complexity. Palmer explicitly recommends considering micro-batch when it satisfies the business latency requirement. This is a good place to challenge the assumption that streaming is automatically superior.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Palmer uses the useful idea of “right-time” rather than automatically pursuing real-time. Ask students to estimate the true business decision interval for a dashboard or model. If a business user reviews a dashboard at 9 a.m. each morning, minute-level streaming may create cost and complexity without additional value. Conversely, fraud detection may require sub-minute response. The data freshness SLA should therefore be an explicit requirement, not an engineering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ingestion as more than “copy the data.” The source determines the architecture: frequency, data shape, change behaviour, volume, quality and ownership. A robust ingestion design therefore starts with questions and contracts. The section will move from source analysis to concrete ingestion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Palmer emphasizes that ingestion is source-to-target movement, not extraction in isolation. Introduce the idea of ingestion metadata. In production systems, fields such as ingestion timestamp, file name, source system or source offset can be as important as the business columns because they support auditability and troubleshooting. This metadata becomes critical when a downstream user asks, “Why is this row here?” or “Which source load introduced the bad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is adapted directly from Palmer’s source-analysis framework. The goal is to stop engineers from jumping immediately to technology selection. Who owns the source determines support and escalation. How the data will be used drives SLAs. Frequency and volume constrain processing design. Format controls parsing logic. Quality determines transformation needs. Explain that this analysis should be documented as part of the pipeline contract so that source changes do not arrive as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the discovery questions into technical consequences. This is a useful design habit: every architecture choice should trace back to a requirement. For example, a source that changes once per day cannot support minute-level freshness regardless of pipeline technology. A high-volume source may require incremental processing and partitioning. A volatile JSON schema may require explicit schema evolution handling. By connecting source properties to design decisions, teams can explain why a pipeline is built the way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Palmer recommends thinking about bounded versus unbounded data before immediately arguing about batch versus streaming. A bounded dataset can be processed as a complete finite unit. An unbounded source is continuous and usually needs stateful incremental handling. Note that either can still be processed in different ways—for example, an unbounded source may be processed in hourly micro-batches. Boundedness is therefore a property of the source; batch or streaming is a processing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distinguish ingestion patterns by source family. Relational databases can change existing rows, so CDC may be appropriate. Files are often append-oriented but can arrive late or with schema changes. APIs introduce rate limits, authentication and pagination. Message buses require offset and ordering semantics. The purpose is to show why a single generic ingestion strategy is rarely sufficient across an enterprise.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ingestion is common because it decouples producers and consumers, but naïve directory scans and full reloads do not scale. A production pattern needs a mechanism to discover new files, track processed files, handle retries and preserve source metadata. Databricks abstracts much of this through Auto Loader and streaming-table semantics. Save the detailed syntax for Part 5; here the important concept is incremental discovery and checkpointed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database ingestion with files. Operational tables are mutable, and repeated full extracts can be expensive or disruptive. CDC captures row-level changes so the analytical target can be updated incrementally. The change feed needs sequencing so late or out-of-order updates can be reconciled. This prepares students for AUTO CDC and SCD patterns later in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APIs often look easy in a notebook because the happy path is only a few lines of code. Production ingestion has to manage authentication, pagination, rate limits, retries and source evolution. Emphasize restartability: the pipeline should know where to resume after failure and should not create duplicates when a request is repeated. This is another application of idempotent thinking, which will be formalized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CDC as a feed of changes to existing business entities. The source might be a database transaction log, a vendor connector or an application event stream. CDC is valuable because only changed rows need to be propagated. The difficult parts are ordering, duplicates, deletes, partial updates and schema evolution. Databricks AUTO CDC addresses many of these concerns declaratively, which we will examine in Part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Transformation is the core value-creation step. Palmer defines it broadly as manipulating and enhancing data to better serve users and processes. The important message is that transformation is not only cleaning. It also includes integration, enrichment, modeling and aggregation. This section moves from simple operations to architectural patterns that make transformation recoverable and scalable.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Palmer’s broad definition. A transformation might be as simple as filtering invalid records or as substantial as integrating multiple sources into a dimensional model. It can happen when data lands, between staging layers, or when Gold analytical datasets are created. In a medallion architecture, the raw-to-clean and clean-to-business-ready transitions are both transformations. This helps students avoid a narrow “one transform step”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that not all transformations are the same kind of work. Early transformations often focus on structure and technical quality; later transformations embed more business semantics. This is useful when allocating ownership: data engineering may own raw-to-clean transformations, while analytics engineering or domain teams may own business metrics and marts. In a course context, Silver is usually where structural and integrative work dominates, while Gold contains more analytical and modeling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transformation toolbox. Explain each pattern briefly and connect it to SmartRetail: filter negative quantities, cast OrderDate to a date, join Sales to Product, enrich with Category, aggregate daily revenue, deduplicate duplicate OrderIDs, flatten nested event JSON, and mask personally identifiable customer data. A realistic pipeline combines several of these patterns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Profiling should precede transformation design. The examples are deliberately simple: schema inspection, descriptive statistics, category counts and explicit null counts. Ask students what would happen if they assumed Quantity was numeric but the source occasionally sent “N/A.” Profiling reveals the real source behaviour so quality tests can be based on evidence. It also provides a baseline to detect future source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quality as a set of dimensions. Completeness and validity are record-level concerns. Uniqueness and referential integrity are structural concerns. Consistency appears when integrating multiple sources. Timeliness is often forgotten: perfectly accurate data that is two days late may still be unusable. In production monitoring, each dimension should have a measurable signal or expectation.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bridges stakeholder language and code. A good pipeline does not start with arbitrary checks; it starts with business rules. Each rule should become a deterministic test. Later, Databricks expectations can encode these rules directly on streaming tables or materialized views, with an action such as warn, drop or fail. Encourage students to name rules clearly so failures are understandable to non-engineers.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Palmer calls staging an important best practice because it protects against data loss and reduces recovery time. In a lakehouse, staging can be durable rather than temporary. Explain the operational scenario: a Silver transformation contains a bug. If Bronze preserves the original source records, you can correct the transformation and rebuild downstream layers without requesting the source system to resend old history. This is the practical foundation of the medallion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medallion architecture as a transformation-staging pattern rather than a rule that every company must implement identically. Bronze emphasizes source fidelity and history. Silver applies technical quality and integration. Gold applies business semantics and serves consumption. Palmer notes that production reports should generally hit Gold, with occasional need for Silver. The Databricks SQL guide uses the same progression when demonstrating streaming tables and materialized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Bronze should optimise for traceability and recoverability. The code shows the current Databricks declarative pattern for a streaming table reading incrementally from files. Explain that real production Bronze tables would often add metadata such as ingestion timestamp and source file information. The intent is to avoid aggressive cleaning that would make it impossible to reconstruct the source state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Silver is a trusted, granular layer. Use the SQL example to illustrate data type casting and a built-in quality expectation. Current Lakeflow pipeline SQL allows an expectation on a dataset and an action on violation. The example drops rows with non-positive Quantity. Discuss when dropping is safe and when a failing record should instead be quarantined or stop the pipeline. Emphasize that Silver should remain detailed enough to support multiple downstream use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is where technical transformation becomes business modeling. In this course, it is also where the dimensional warehouse lives. Explain that a Gold table is not merely “cleaner Silver”; it is deliberately shaped for a consumer. A BI aggregate may sacrifice detail for speed and simplicity, while a feature mart may be shaped around one row per customer with carefully constructed historical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SQL and PySpark as competitors. SQL is concise for relational transformations and is accessible to analysts and engineers. PySpark is more suitable for procedural logic, external libraries and advanced stateful processing. The Databricks SQL guide recommends declarative approaches as a strong default, with imperative logic used when the workload requires lower-level control. This is a design decision rather than a skill-status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three common update strategies. Full overwrite is easiest to reason about and is sometimes entirely appropriate for small tables. Append is efficient for immutable events. Upsert handles mutable entity state. Palmer explicitly recommends incremental processing as datasets grow and mentions MERGE as a useful pattern. Later, materialized views and AUTO CDC will show how Databricks can automate incremental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on this term because students will encounter it repeatedly. Idempotency means that repeating an operation produces a consistent result. It is essential when a job is retried after a partial failure or when historical periods are backfilled. Explain practical techniques: stable business keys, MERGE rather than blind append, checkpointed ingestion, deterministic transformations and partition replacement for a fixed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transformation code to the operating system around the pipeline. The central point is that reliable ETL is a recurring service, not a one-off notebook. Orchestration determines order and triggering; observability tells you what happened; error handling determines how the system behaves under failure; and efficiency/scalability determines whether it remains viable as volume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Loading is not one generic action. The correct load strategy depends on what one row represents and how it changes over time. Events are often append-only. Current-state entity tables need upserts. Historical dimensions need versioning. Aggregated tables may be maintained incrementally. This is a good point to reconnect to dimensional modeling: the grain of the target table is a design constraint for loading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environments described by Palmer. Warehouses are strong for relational analytics. Lakes provide inexpensive flexible storage but require external compute and governance practices. Lakehouses combine scalable storage with transaction and table semantics, allowing the same governed data to support SQL, Spark, streaming and ML. This slide sets up why Databricks can unify more of the ETL lifecycle in one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orchestration as coordinating tasks and dependencies, not merely scheduling a script. The DAG shows two parallel ingestion/cleaning branches converging into FactSales. A good orchestrator knows that FactSales cannot build until both clean inputs are ready. Explain why this is safer than a collection of independent cron jobs whose timing assumptions can drift as execution times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time-based and event-driven triggering. Scheduled workflows are easy to understand but depend on assumptions about source arrival. Event-driven triggers react to the actual state of the data. Palmer recommends event-driven orchestration where appropriate, and current Lakeflow Jobs supports schedule, file-arrival and table-update triggers. The design choice again depends on the business freshness requirement and source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backfill recomputes historical periods. Palmer warns against “one-time thinking”—special scripts that cannot be reproduced. A pipeline should be parameterizable by date or partition and safe to rerun. This capability becomes essential when a bug is discovered, a new column must be added historically, or delayed source data arrives. Backfills are where staging and idempotency prove their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monitoring from observability. Monitoring reports known health indicators such as run status and duration. Observability gives enough context—metrics, logs, lineage and quality signals—to investigate unexpected behaviour. Palmer highlights lineage as critical when orchestration and transformation span multiple systems. In a unified platform, the benefit is that more of the path from source to Gold can be observed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mature pipeline classifies failures. Network timeouts may simply be retried. Some invalid records may be safe to drop if the loss is understood and measured. Other records should be quarantined for later remediation. Critical integrity violations should stop the pipeline. Current Lakeflow expectations support warn, drop and fail behaviours, but the architecture still needs an explicit strategy for retaining and investigating bad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Palmer’s troubleshooting chapter emphasizes robust, maintainable systems that recover from failure and learn from incidents. Use this five-step loop as a practical operational habit. Do not stop at fixing the current run. The preventive step converts the incident into a new validation rule, better alert, stronger source contract, or improved retry logic. This is how pipeline reliability improves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means producing business value with finite resources; scalability means handling growth without unacceptable degradation. Palmer recommends explicit KPIs such as processing time, throughput, uptime and error rate. Add cost because cloud pipelines trade money for performance. Once metrics exist, engineering teams can justify optimisation work and verify whether a change actually improved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performance techniques back to earlier concepts. Incremental processing avoids reading unchanged data. Columnar formats reduce I/O for analytical queries. Partitioning or clustering reduces data scanned. Parallelism accelerates independent tasks. Serverless platforms simplify resource scaling. Finally, the cheapest optimization is sometimes reducing the requested freshness to what the business actually needs. The unifying principle is to minimise unnecessary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map the tool-independent ideas to the product. The current Databricks data-engineering stack uses the Lakeflow family: Connect for ingestion, Pipelines for declarative batch and streaming transformations, and Jobs for orchestration. The goal is not memorising product names; it is seeing which ETL responsibility each component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Palmer’s updated edition explicitly describes Lakeflow Connect, Lakeflow Declarative Pipelines and Lakeflow Jobs as an integrated ETL stack. Current Databricks documentation still reflects this model. Explain that unification reduces the integration overhead of stitching together separate tools for ingestion, transformation and orchestration. Unity Catalog and Delta provide governance and storage semantics across the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left to right and deliberately connect each block to earlier lecture concepts. Sources are assessed using the ingestion checklist. Connect or read_files lands incremental data. Bronze preserves source history. Silver applies quality rules. Gold serves analytics and ML. Delta provides transactional table behaviour, Unity Catalog provides governance and lineage, and Databricks compute executes the transformations. This is the same ETL lifecycle seen earlier, implemented within one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conceptual rather than cataloguing every connector. Lakeflow Connect provides managed and standard connectors across several source families, using incremental reads and writes where supported. The advantage is operational: authentication, source-specific change handling and ingestion management can be encapsulated in the platform. For unsupported or highly custom sources, engineers may still write their own ingestion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Lakeflow SQL syntax uses CREATE OR REFRESH STREAMING TABLE and STREAM on the input to request streaming semantics. In file ingestion, read_files is the SQL entry point to Auto Loader-style incremental discovery. Explain that the benefit is not “streaming for its own sake”; it is stateful incremental processing where the platform manages checkpoints and progress. Streaming tables are especially natural for Bronze append-oriented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Materialized views are stored query results maintained by the platform. The Databricks SQL guide emphasizes their use for avoiding repeated expensive computation, and current docs describe best-effort incremental refresh. This is the declarative equivalent of a manually maintained aggregate table. Note the conceptual division: streaming tables are often used to represent incremental ingestion; materialized views are often used for complex transformations and serving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central ideas in the Databricks SQL guide. Imperative code specifies the detailed steps required to produce a result. Declarative code states what result should exist and lets the system plan execution. The benefit is reduced boilerplate and fewer hand-written mechanisms for orchestration and state. However, declarative pipelines are not a replacement for every programmatic workload—custom stateful logic, external libraries and iterative ML still justify imperative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Databricks documentation notes that Lakeflow pipeline source files are evaluated to build a dataflow graph before queries run; the textual order of definitions is not the execution order. This is a concrete benefit of declarative architecture. The dependency graph can be inferred from the dataset references, which reduces the need to manually wire every orchestration edge. Students should still design the data dependencies intentionally; declarative tooling automates execution, not conceptual data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Lakeflow expectations attach data-quality constraints directly to pipeline datasets. Current documentation supports warning/measurement behaviour as well as dropping rows or failing the update. Use the example to show that different rules can have different severity. A missing OrderID may be fatal because the key is fundamental, while a non-positive quantity might be dropped if the business accepts that policy. Remind students that dropped records should be observable and, for important domains, quarantined for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updates the book’s APPLY CHANGES examples to the current AUTO CDC terminology in Databricks documentation. Explain SCD Type 1 versus Type 2. Type 1 keeps only the latest attribute values. Type 2 preserves historical versions and supports point-in-time analysis. AUTO CDC takes keys and a sequencing field so the platform can reconcile out-of-order changes and maintain target history. This is a strong example of declarative ETL replacing hundreds of lines of custom change-processing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synthesis. SmartRetail data arrives from multiple sources. Bronze preserves source records. Silver validates and standardises. Gold builds the dimensional warehouse. BI dashboards and data-mining feature marts consume Gold. Ask students to identify where each earlier concept appears: source analysis, incremental ingestion, data quality expectations, idempotency, DAG dependencies, observability and target grain. The code is illustrative rather than a complete production pipeline, but it mirrors the current declarative SQL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the five ideas rather than re-listing every feature. ETL is an operating system for trustworthy data. Source analysis comes first. Staging and idempotency are what make failure survivable. Incremental processing is the key to scaling. Declarative Databricks features remove operational boilerplate but do not remove the need for sound data design. Use the discussion questions as a transition into a lab or class activity. The primary lecture sources are the two books supplied by the instructor, supplemented with current Databricks documentation to verify 2026 terminology and SQL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FF3621"/>
          </a:solidFill>
          <a:ln w="12700">
            <a:solidFill>
              <a:srgbClr val="FF3621"/>
            </a:solidFill>
            <a:prstDash val="solid"/>
          </a:ln>
        </p:spPr>
      </p:sp>
      <p:sp>
        <p:nvSpPr>
          <p:cNvPr id="3" name="Text 1"/>
          <p:cNvSpPr/>
          <p:nvPr/>
        </p:nvSpPr>
        <p:spPr>
          <a:xfrm>
            <a:off x="411480" y="146304"/>
            <a:ext cx="4937760" cy="201168"/>
          </a:xfrm>
          <a:prstGeom prst="rect">
            <a:avLst/>
          </a:prstGeom>
          <a:noFill/>
          <a:ln/>
        </p:spPr>
        <p:txBody>
          <a:bodyPr wrap="square" lIns="0" tIns="0" rIns="0" bIns="0" rtlCol="0" anchor="ctr"/>
          <a:lstStyle/>
          <a:p>
            <a:pPr indent="0" marL="0">
              <a:buNone/>
            </a:pPr>
            <a:r>
              <a:rPr lang="en-US" sz="750" b="1" spc="90" kern="0" dirty="0">
                <a:solidFill>
                  <a:srgbClr val="687386"/>
                </a:solidFill>
                <a:latin typeface="Aptos" pitchFamily="34" charset="0"/>
                <a:ea typeface="Aptos" pitchFamily="34" charset="-122"/>
                <a:cs typeface="Aptos" pitchFamily="34" charset="-120"/>
              </a:rPr>
              <a:t>COMP 454  •  DATA WAREHOUSING &amp; DATA MINING</a:t>
            </a:r>
            <a:endParaRPr lang="en-US" sz="750" dirty="0"/>
          </a:p>
        </p:txBody>
      </p:sp>
      <p:sp>
        <p:nvSpPr>
          <p:cNvPr id="4" name="Text 2"/>
          <p:cNvSpPr/>
          <p:nvPr/>
        </p:nvSpPr>
        <p:spPr>
          <a:xfrm>
            <a:off x="9966960" y="146304"/>
            <a:ext cx="1737360" cy="201168"/>
          </a:xfrm>
          <a:prstGeom prst="rect">
            <a:avLst/>
          </a:prstGeom>
          <a:noFill/>
          <a:ln/>
        </p:spPr>
        <p:txBody>
          <a:bodyPr wrap="square" lIns="0" tIns="0" rIns="0" bIns="0" rtlCol="0" anchor="ctr"/>
          <a:lstStyle/>
          <a:p>
            <a:pPr algn="r" indent="0" marL="0">
              <a:buNone/>
            </a:pPr>
            <a:r>
              <a:rPr lang="en-US" sz="750" b="1" dirty="0">
                <a:solidFill>
                  <a:srgbClr val="A4ACB8"/>
                </a:solidFill>
                <a:latin typeface="Aptos" pitchFamily="34" charset="0"/>
                <a:ea typeface="Aptos" pitchFamily="34" charset="-122"/>
                <a:cs typeface="Aptos" pitchFamily="34" charset="-120"/>
              </a:rPr>
              <a:t>ETL LECTURE</a:t>
            </a:r>
            <a:endParaRPr lang="en-US" sz="750" dirty="0"/>
          </a:p>
        </p:txBody>
      </p:sp>
      <p:sp>
        <p:nvSpPr>
          <p:cNvPr id="5" name="Shape 3"/>
          <p:cNvSpPr/>
          <p:nvPr/>
        </p:nvSpPr>
        <p:spPr>
          <a:xfrm>
            <a:off x="411480" y="6519672"/>
            <a:ext cx="11365992" cy="0"/>
          </a:xfrm>
          <a:prstGeom prst="line">
            <a:avLst/>
          </a:prstGeom>
          <a:noFill/>
          <a:ln w="12700">
            <a:solidFill>
              <a:srgbClr val="D8DDE5"/>
            </a:solidFill>
            <a:prstDash val="solid"/>
          </a:ln>
        </p:spPr>
      </p:sp>
      <p:sp>
        <p:nvSpPr>
          <p:cNvPr id="6" name="Text 4"/>
          <p:cNvSpPr/>
          <p:nvPr/>
        </p:nvSpPr>
        <p:spPr>
          <a:xfrm>
            <a:off x="411480" y="6565392"/>
            <a:ext cx="6949440" cy="164592"/>
          </a:xfrm>
          <a:prstGeom prst="rect">
            <a:avLst/>
          </a:prstGeom>
          <a:noFill/>
          <a:ln/>
        </p:spPr>
        <p:txBody>
          <a:bodyPr wrap="square" lIns="0" tIns="0" rIns="0" bIns="0" rtlCol="0" anchor="ctr"/>
          <a:lstStyle/>
          <a:p>
            <a:pPr indent="0" marL="0">
              <a:buNone/>
            </a:pPr>
            <a:r>
              <a:rPr lang="en-US" sz="680" dirty="0">
                <a:solidFill>
                  <a:srgbClr val="8B94A4"/>
                </a:solidFill>
                <a:latin typeface="Aptos" pitchFamily="34" charset="0"/>
                <a:ea typeface="Aptos" pitchFamily="34" charset="-122"/>
                <a:cs typeface="Aptos" pitchFamily="34" charset="-120"/>
              </a:rPr>
              <a:t>Primary sources: Palmer (2025) • Databricks ETL SQL Guide (2025)</a:t>
            </a:r>
            <a:endParaRPr lang="en-US" sz="68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FF3621"/>
          </a:solidFill>
          <a:ln w="12700">
            <a:solidFill>
              <a:srgbClr val="FF3621"/>
            </a:solidFill>
            <a:prstDash val="solid"/>
          </a:ln>
        </p:spPr>
      </p:sp>
      <p:sp>
        <p:nvSpPr>
          <p:cNvPr id="3" name="Text 1"/>
          <p:cNvSpPr/>
          <p:nvPr/>
        </p:nvSpPr>
        <p:spPr>
          <a:xfrm>
            <a:off x="658368" y="548640"/>
            <a:ext cx="4754880" cy="228600"/>
          </a:xfrm>
          <a:prstGeom prst="rect">
            <a:avLst/>
          </a:prstGeom>
          <a:noFill/>
          <a:ln/>
        </p:spPr>
        <p:txBody>
          <a:bodyPr wrap="square" lIns="0" tIns="0" rIns="0" bIns="0" rtlCol="0" anchor="ctr"/>
          <a:lstStyle/>
          <a:p>
            <a:pPr indent="0" marL="0">
              <a:buNone/>
            </a:pPr>
            <a:r>
              <a:rPr lang="en-US" sz="850" b="1" spc="110" kern="0" dirty="0">
                <a:solidFill>
                  <a:srgbClr val="A4B1C5"/>
                </a:solidFill>
                <a:latin typeface="Aptos" pitchFamily="34" charset="0"/>
                <a:ea typeface="Aptos" pitchFamily="34" charset="-122"/>
                <a:cs typeface="Aptos" pitchFamily="34" charset="-120"/>
              </a:rPr>
              <a:t>COMP 454 • DATA WAREHOUSING &amp; DATA MINING</a:t>
            </a:r>
            <a:endParaRPr lang="en-US" sz="850" dirty="0"/>
          </a:p>
        </p:txBody>
      </p:sp>
      <p:sp>
        <p:nvSpPr>
          <p:cNvPr id="4" name="Text 2"/>
          <p:cNvSpPr/>
          <p:nvPr/>
        </p:nvSpPr>
        <p:spPr>
          <a:xfrm>
            <a:off x="658368" y="1143000"/>
            <a:ext cx="2926080" cy="731520"/>
          </a:xfrm>
          <a:prstGeom prst="rect">
            <a:avLst/>
          </a:prstGeom>
          <a:noFill/>
          <a:ln/>
        </p:spPr>
        <p:txBody>
          <a:bodyPr wrap="square" lIns="0" tIns="0" rIns="0" bIns="0" rtlCol="0" anchor="ct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ETL</a:t>
            </a:r>
            <a:endParaRPr lang="en-US" sz="3800" dirty="0"/>
          </a:p>
        </p:txBody>
      </p:sp>
      <p:sp>
        <p:nvSpPr>
          <p:cNvPr id="5" name="Text 3"/>
          <p:cNvSpPr/>
          <p:nvPr/>
        </p:nvSpPr>
        <p:spPr>
          <a:xfrm>
            <a:off x="658368" y="1892808"/>
            <a:ext cx="7498080" cy="841248"/>
          </a:xfrm>
          <a:prstGeom prst="rect">
            <a:avLst/>
          </a:prstGeom>
          <a:noFill/>
          <a:ln/>
        </p:spPr>
        <p:txBody>
          <a:bodyPr wrap="square" lIns="0" tIns="0" rIns="0" bIns="0" rtlCol="0" anchor="ctr">
            <a:normAutofit/>
          </a:bodyPr>
          <a:lstStyle/>
          <a:p>
            <a:pPr indent="0" marL="0">
              <a:buNone/>
            </a:pPr>
            <a:r>
              <a:rPr lang="en-US" sz="2500" b="1" dirty="0">
                <a:solidFill>
                  <a:srgbClr val="F0F3F8"/>
                </a:solidFill>
                <a:latin typeface="Aptos Display" pitchFamily="34" charset="0"/>
                <a:ea typeface="Aptos Display" pitchFamily="34" charset="-122"/>
                <a:cs typeface="Aptos Display" pitchFamily="34" charset="-120"/>
              </a:rPr>
              <a:t>From Raw Data to Reliable Pipelines in Databricks</a:t>
            </a:r>
            <a:endParaRPr lang="en-US" sz="2500" dirty="0"/>
          </a:p>
        </p:txBody>
      </p:sp>
      <p:sp>
        <p:nvSpPr>
          <p:cNvPr id="6" name="Text 4"/>
          <p:cNvSpPr/>
          <p:nvPr/>
        </p:nvSpPr>
        <p:spPr>
          <a:xfrm>
            <a:off x="685800" y="2926080"/>
            <a:ext cx="7680960" cy="658368"/>
          </a:xfrm>
          <a:prstGeom prst="rect">
            <a:avLst/>
          </a:prstGeom>
          <a:noFill/>
          <a:ln/>
        </p:spPr>
        <p:txBody>
          <a:bodyPr wrap="square" lIns="0" tIns="0" rIns="0" bIns="0" rtlCol="0" anchor="ctr">
            <a:normAutofit/>
          </a:bodyPr>
          <a:lstStyle/>
          <a:p>
            <a:pPr indent="0" marL="0">
              <a:buNone/>
            </a:pPr>
            <a:r>
              <a:rPr lang="en-US" sz="1300" dirty="0">
                <a:solidFill>
                  <a:srgbClr val="CBD4E2"/>
                </a:solidFill>
                <a:latin typeface="Aptos" pitchFamily="34" charset="0"/>
                <a:ea typeface="Aptos" pitchFamily="34" charset="-122"/>
                <a:cs typeface="Aptos" pitchFamily="34" charset="-120"/>
              </a:rPr>
              <a:t>A complete lecture on extraction, transformation, loading, orchestration, observability, scalability, and Lakeflow.</a:t>
            </a:r>
            <a:endParaRPr lang="en-US" sz="1300" dirty="0"/>
          </a:p>
        </p:txBody>
      </p:sp>
      <p:sp>
        <p:nvSpPr>
          <p:cNvPr id="7" name="Shape 5"/>
          <p:cNvSpPr/>
          <p:nvPr/>
        </p:nvSpPr>
        <p:spPr>
          <a:xfrm>
            <a:off x="8732520" y="1234440"/>
            <a:ext cx="2377440" cy="749808"/>
          </a:xfrm>
          <a:prstGeom prst="roundRect">
            <a:avLst>
              <a:gd name="adj" fmla="val 8537"/>
            </a:avLst>
          </a:prstGeom>
          <a:solidFill>
            <a:srgbClr val="EBF1FE"/>
          </a:solidFill>
          <a:ln w="12700">
            <a:solidFill>
              <a:srgbClr val="3B6FF5"/>
            </a:solidFill>
            <a:prstDash val="solid"/>
          </a:ln>
        </p:spPr>
      </p:sp>
      <p:sp>
        <p:nvSpPr>
          <p:cNvPr id="8" name="Text 6"/>
          <p:cNvSpPr/>
          <p:nvPr/>
        </p:nvSpPr>
        <p:spPr>
          <a:xfrm>
            <a:off x="8823960" y="1453896"/>
            <a:ext cx="219456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EXTRACT</a:t>
            </a:r>
            <a:endParaRPr lang="en-US" sz="1300" dirty="0"/>
          </a:p>
        </p:txBody>
      </p:sp>
      <p:sp>
        <p:nvSpPr>
          <p:cNvPr id="9" name="Shape 7"/>
          <p:cNvSpPr/>
          <p:nvPr/>
        </p:nvSpPr>
        <p:spPr>
          <a:xfrm>
            <a:off x="9921240" y="2039112"/>
            <a:ext cx="0" cy="228600"/>
          </a:xfrm>
          <a:prstGeom prst="line">
            <a:avLst/>
          </a:prstGeom>
          <a:noFill/>
          <a:ln w="12700">
            <a:solidFill>
              <a:srgbClr val="71809B"/>
            </a:solidFill>
            <a:prstDash val="solid"/>
            <a:headEnd type="none"/>
            <a:tailEnd type="triangle"/>
          </a:ln>
        </p:spPr>
      </p:sp>
      <p:sp>
        <p:nvSpPr>
          <p:cNvPr id="10" name="Shape 8"/>
          <p:cNvSpPr/>
          <p:nvPr/>
        </p:nvSpPr>
        <p:spPr>
          <a:xfrm>
            <a:off x="8732520" y="2331720"/>
            <a:ext cx="2377440" cy="749808"/>
          </a:xfrm>
          <a:prstGeom prst="roundRect">
            <a:avLst>
              <a:gd name="adj" fmla="val 8537"/>
            </a:avLst>
          </a:prstGeom>
          <a:solidFill>
            <a:srgbClr val="E6F6F1"/>
          </a:solidFill>
          <a:ln w="12700">
            <a:solidFill>
              <a:srgbClr val="00A972"/>
            </a:solidFill>
            <a:prstDash val="solid"/>
          </a:ln>
        </p:spPr>
      </p:sp>
      <p:sp>
        <p:nvSpPr>
          <p:cNvPr id="11" name="Text 9"/>
          <p:cNvSpPr/>
          <p:nvPr/>
        </p:nvSpPr>
        <p:spPr>
          <a:xfrm>
            <a:off x="8823960" y="2551176"/>
            <a:ext cx="219456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TRANSFORM</a:t>
            </a:r>
            <a:endParaRPr lang="en-US" sz="1300" dirty="0"/>
          </a:p>
        </p:txBody>
      </p:sp>
      <p:sp>
        <p:nvSpPr>
          <p:cNvPr id="12" name="Shape 10"/>
          <p:cNvSpPr/>
          <p:nvPr/>
        </p:nvSpPr>
        <p:spPr>
          <a:xfrm>
            <a:off x="9921240" y="3136392"/>
            <a:ext cx="0" cy="228600"/>
          </a:xfrm>
          <a:prstGeom prst="line">
            <a:avLst/>
          </a:prstGeom>
          <a:noFill/>
          <a:ln w="12700">
            <a:solidFill>
              <a:srgbClr val="71809B"/>
            </a:solidFill>
            <a:prstDash val="solid"/>
            <a:headEnd type="none"/>
            <a:tailEnd type="triangle"/>
          </a:ln>
        </p:spPr>
      </p:sp>
      <p:sp>
        <p:nvSpPr>
          <p:cNvPr id="13" name="Shape 11"/>
          <p:cNvSpPr/>
          <p:nvPr/>
        </p:nvSpPr>
        <p:spPr>
          <a:xfrm>
            <a:off x="8732520" y="3429000"/>
            <a:ext cx="2377440" cy="749808"/>
          </a:xfrm>
          <a:prstGeom prst="roundRect">
            <a:avLst>
              <a:gd name="adj" fmla="val 8537"/>
            </a:avLst>
          </a:prstGeom>
          <a:solidFill>
            <a:srgbClr val="FEF6E7"/>
          </a:solidFill>
          <a:ln w="12700">
            <a:solidFill>
              <a:srgbClr val="F3A712"/>
            </a:solidFill>
            <a:prstDash val="solid"/>
          </a:ln>
        </p:spPr>
      </p:sp>
      <p:sp>
        <p:nvSpPr>
          <p:cNvPr id="14" name="Text 12"/>
          <p:cNvSpPr/>
          <p:nvPr/>
        </p:nvSpPr>
        <p:spPr>
          <a:xfrm>
            <a:off x="8823960" y="3648456"/>
            <a:ext cx="219456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LOAD</a:t>
            </a:r>
            <a:endParaRPr lang="en-US" sz="1300" dirty="0"/>
          </a:p>
        </p:txBody>
      </p:sp>
      <p:sp>
        <p:nvSpPr>
          <p:cNvPr id="15" name="Text 13"/>
          <p:cNvSpPr/>
          <p:nvPr/>
        </p:nvSpPr>
        <p:spPr>
          <a:xfrm>
            <a:off x="685800" y="5916168"/>
            <a:ext cx="10515600" cy="475488"/>
          </a:xfrm>
          <a:prstGeom prst="rect">
            <a:avLst/>
          </a:prstGeom>
          <a:noFill/>
          <a:ln/>
        </p:spPr>
        <p:txBody>
          <a:bodyPr wrap="square" lIns="0" tIns="0" rIns="0" bIns="0" rtlCol="0" anchor="ctr">
            <a:normAutofit/>
          </a:bodyPr>
          <a:lstStyle/>
          <a:p>
            <a:pPr indent="0" marL="0">
              <a:buNone/>
            </a:pPr>
            <a:r>
              <a:rPr lang="en-US" sz="900" dirty="0">
                <a:solidFill>
                  <a:srgbClr val="91A0B8"/>
                </a:solidFill>
                <a:latin typeface="Aptos" pitchFamily="34" charset="0"/>
                <a:ea typeface="Aptos" pitchFamily="34" charset="-122"/>
                <a:cs typeface="Aptos" pitchFamily="34" charset="-120"/>
              </a:rPr>
              <a:t>Based on: Matt Palmer, Understanding ETL (Updated Edition) + Databricks, A Guide to Building ETL Pipelines With SQL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Why This Lecture Matters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ETL is the bridge between raw operational data and every analytical outcome.</a:t>
            </a:r>
            <a:endParaRPr lang="en-US" sz="1100" dirty="0"/>
          </a:p>
        </p:txBody>
      </p:sp>
      <p:sp>
        <p:nvSpPr>
          <p:cNvPr id="4" name="Shape 2"/>
          <p:cNvSpPr/>
          <p:nvPr/>
        </p:nvSpPr>
        <p:spPr>
          <a:xfrm>
            <a:off x="594360" y="1508760"/>
            <a:ext cx="3429000" cy="1920240"/>
          </a:xfrm>
          <a:prstGeom prst="roundRect">
            <a:avLst>
              <a:gd name="adj" fmla="val 3333"/>
            </a:avLst>
          </a:prstGeom>
          <a:solidFill>
            <a:srgbClr val="FFFFFF"/>
          </a:solidFill>
          <a:ln w="12700">
            <a:solidFill>
              <a:srgbClr val="DDE2EA"/>
            </a:solidFill>
            <a:prstDash val="solid"/>
          </a:ln>
        </p:spPr>
      </p:sp>
      <p:sp>
        <p:nvSpPr>
          <p:cNvPr id="5" name="Shape 3"/>
          <p:cNvSpPr/>
          <p:nvPr/>
        </p:nvSpPr>
        <p:spPr>
          <a:xfrm>
            <a:off x="594360" y="1508760"/>
            <a:ext cx="50292" cy="1920240"/>
          </a:xfrm>
          <a:prstGeom prst="rect">
            <a:avLst/>
          </a:prstGeom>
          <a:solidFill>
            <a:srgbClr val="3B6FF5"/>
          </a:solidFill>
          <a:ln w="12700">
            <a:solidFill>
              <a:srgbClr val="3B6FF5"/>
            </a:solidFill>
            <a:prstDash val="solid"/>
          </a:ln>
        </p:spPr>
      </p:sp>
      <p:sp>
        <p:nvSpPr>
          <p:cNvPr id="6" name="Shape 4"/>
          <p:cNvSpPr/>
          <p:nvPr/>
        </p:nvSpPr>
        <p:spPr>
          <a:xfrm>
            <a:off x="795528" y="169164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795528" y="175564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BI</a:t>
            </a:r>
            <a:endParaRPr lang="en-US" sz="730" dirty="0"/>
          </a:p>
        </p:txBody>
      </p:sp>
      <p:sp>
        <p:nvSpPr>
          <p:cNvPr id="8" name="Text 6"/>
          <p:cNvSpPr/>
          <p:nvPr/>
        </p:nvSpPr>
        <p:spPr>
          <a:xfrm>
            <a:off x="795528" y="2093976"/>
            <a:ext cx="306324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BI &amp; Reporting</a:t>
            </a:r>
            <a:endParaRPr lang="en-US" sz="1500" dirty="0"/>
          </a:p>
        </p:txBody>
      </p:sp>
      <p:sp>
        <p:nvSpPr>
          <p:cNvPr id="9" name="Text 7"/>
          <p:cNvSpPr/>
          <p:nvPr/>
        </p:nvSpPr>
        <p:spPr>
          <a:xfrm>
            <a:off x="795528" y="2468880"/>
            <a:ext cx="3044952" cy="79552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Reliable dashboards require curated, consistent tables—not raw operational records.</a:t>
            </a:r>
            <a:endParaRPr lang="en-US" sz="1050" dirty="0"/>
          </a:p>
        </p:txBody>
      </p:sp>
      <p:sp>
        <p:nvSpPr>
          <p:cNvPr id="10" name="Shape 8"/>
          <p:cNvSpPr/>
          <p:nvPr/>
        </p:nvSpPr>
        <p:spPr>
          <a:xfrm>
            <a:off x="4370832" y="1508760"/>
            <a:ext cx="3429000" cy="1920240"/>
          </a:xfrm>
          <a:prstGeom prst="roundRect">
            <a:avLst>
              <a:gd name="adj" fmla="val 3333"/>
            </a:avLst>
          </a:prstGeom>
          <a:solidFill>
            <a:srgbClr val="FFFFFF"/>
          </a:solidFill>
          <a:ln w="12700">
            <a:solidFill>
              <a:srgbClr val="DDE2EA"/>
            </a:solidFill>
            <a:prstDash val="solid"/>
          </a:ln>
        </p:spPr>
      </p:sp>
      <p:sp>
        <p:nvSpPr>
          <p:cNvPr id="11" name="Shape 9"/>
          <p:cNvSpPr/>
          <p:nvPr/>
        </p:nvSpPr>
        <p:spPr>
          <a:xfrm>
            <a:off x="4370832" y="1508760"/>
            <a:ext cx="50292" cy="1920240"/>
          </a:xfrm>
          <a:prstGeom prst="rect">
            <a:avLst/>
          </a:prstGeom>
          <a:solidFill>
            <a:srgbClr val="7C4DFF"/>
          </a:solidFill>
          <a:ln w="12700">
            <a:solidFill>
              <a:srgbClr val="7C4DFF"/>
            </a:solidFill>
            <a:prstDash val="solid"/>
          </a:ln>
        </p:spPr>
      </p:sp>
      <p:sp>
        <p:nvSpPr>
          <p:cNvPr id="12" name="Shape 10"/>
          <p:cNvSpPr/>
          <p:nvPr/>
        </p:nvSpPr>
        <p:spPr>
          <a:xfrm>
            <a:off x="4572000" y="1691640"/>
            <a:ext cx="566928" cy="310896"/>
          </a:xfrm>
          <a:prstGeom prst="roundRect">
            <a:avLst>
              <a:gd name="adj" fmla="val 14706"/>
            </a:avLst>
          </a:prstGeom>
          <a:solidFill>
            <a:srgbClr val="F2EEFF"/>
          </a:solidFill>
          <a:ln w="12700">
            <a:solidFill>
              <a:srgbClr val="F2EEFF"/>
            </a:solidFill>
            <a:prstDash val="solid"/>
          </a:ln>
        </p:spPr>
      </p:sp>
      <p:sp>
        <p:nvSpPr>
          <p:cNvPr id="13" name="Text 11"/>
          <p:cNvSpPr/>
          <p:nvPr/>
        </p:nvSpPr>
        <p:spPr>
          <a:xfrm>
            <a:off x="4572000" y="175564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ML</a:t>
            </a:r>
            <a:endParaRPr lang="en-US" sz="730" dirty="0"/>
          </a:p>
        </p:txBody>
      </p:sp>
      <p:sp>
        <p:nvSpPr>
          <p:cNvPr id="14" name="Text 12"/>
          <p:cNvSpPr/>
          <p:nvPr/>
        </p:nvSpPr>
        <p:spPr>
          <a:xfrm>
            <a:off x="4572000" y="2093976"/>
            <a:ext cx="306324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Machine Learning</a:t>
            </a:r>
            <a:endParaRPr lang="en-US" sz="1500" dirty="0"/>
          </a:p>
        </p:txBody>
      </p:sp>
      <p:sp>
        <p:nvSpPr>
          <p:cNvPr id="15" name="Text 13"/>
          <p:cNvSpPr/>
          <p:nvPr/>
        </p:nvSpPr>
        <p:spPr>
          <a:xfrm>
            <a:off x="4572000" y="2468880"/>
            <a:ext cx="3044952" cy="79552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Models and feature engineering depend on clean, historically correct, reproducible data.</a:t>
            </a:r>
            <a:endParaRPr lang="en-US" sz="1050" dirty="0"/>
          </a:p>
        </p:txBody>
      </p:sp>
      <p:sp>
        <p:nvSpPr>
          <p:cNvPr id="16" name="Shape 14"/>
          <p:cNvSpPr/>
          <p:nvPr/>
        </p:nvSpPr>
        <p:spPr>
          <a:xfrm>
            <a:off x="8147304" y="1508760"/>
            <a:ext cx="3429000" cy="1920240"/>
          </a:xfrm>
          <a:prstGeom prst="roundRect">
            <a:avLst>
              <a:gd name="adj" fmla="val 3333"/>
            </a:avLst>
          </a:prstGeom>
          <a:solidFill>
            <a:srgbClr val="FFFFFF"/>
          </a:solidFill>
          <a:ln w="12700">
            <a:solidFill>
              <a:srgbClr val="DDE2EA"/>
            </a:solidFill>
            <a:prstDash val="solid"/>
          </a:ln>
        </p:spPr>
      </p:sp>
      <p:sp>
        <p:nvSpPr>
          <p:cNvPr id="17" name="Shape 15"/>
          <p:cNvSpPr/>
          <p:nvPr/>
        </p:nvSpPr>
        <p:spPr>
          <a:xfrm>
            <a:off x="8147304" y="1508760"/>
            <a:ext cx="50292" cy="1920240"/>
          </a:xfrm>
          <a:prstGeom prst="rect">
            <a:avLst/>
          </a:prstGeom>
          <a:solidFill>
            <a:srgbClr val="00A972"/>
          </a:solidFill>
          <a:ln w="12700">
            <a:solidFill>
              <a:srgbClr val="00A972"/>
            </a:solidFill>
            <a:prstDash val="solid"/>
          </a:ln>
        </p:spPr>
      </p:sp>
      <p:sp>
        <p:nvSpPr>
          <p:cNvPr id="18" name="Shape 16"/>
          <p:cNvSpPr/>
          <p:nvPr/>
        </p:nvSpPr>
        <p:spPr>
          <a:xfrm>
            <a:off x="8348472" y="1691640"/>
            <a:ext cx="566928" cy="310896"/>
          </a:xfrm>
          <a:prstGeom prst="roundRect">
            <a:avLst>
              <a:gd name="adj" fmla="val 14706"/>
            </a:avLst>
          </a:prstGeom>
          <a:solidFill>
            <a:srgbClr val="E9F8F3"/>
          </a:solidFill>
          <a:ln w="12700">
            <a:solidFill>
              <a:srgbClr val="E9F8F3"/>
            </a:solidFill>
            <a:prstDash val="solid"/>
          </a:ln>
        </p:spPr>
      </p:sp>
      <p:sp>
        <p:nvSpPr>
          <p:cNvPr id="19" name="Text 17"/>
          <p:cNvSpPr/>
          <p:nvPr/>
        </p:nvSpPr>
        <p:spPr>
          <a:xfrm>
            <a:off x="8348472" y="175564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AI</a:t>
            </a:r>
            <a:endParaRPr lang="en-US" sz="730" dirty="0"/>
          </a:p>
        </p:txBody>
      </p:sp>
      <p:sp>
        <p:nvSpPr>
          <p:cNvPr id="20" name="Text 18"/>
          <p:cNvSpPr/>
          <p:nvPr/>
        </p:nvSpPr>
        <p:spPr>
          <a:xfrm>
            <a:off x="8348472" y="2093976"/>
            <a:ext cx="306324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AI &amp; LLM Systems</a:t>
            </a:r>
            <a:endParaRPr lang="en-US" sz="1500" dirty="0"/>
          </a:p>
        </p:txBody>
      </p:sp>
      <p:sp>
        <p:nvSpPr>
          <p:cNvPr id="21" name="Text 19"/>
          <p:cNvSpPr/>
          <p:nvPr/>
        </p:nvSpPr>
        <p:spPr>
          <a:xfrm>
            <a:off x="8348472" y="2468880"/>
            <a:ext cx="3044952" cy="79552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Embeddings, RAG and fine-tuning are only as trustworthy as the datasets feeding them.</a:t>
            </a:r>
            <a:endParaRPr lang="en-US" sz="1050" dirty="0"/>
          </a:p>
        </p:txBody>
      </p:sp>
      <p:sp>
        <p:nvSpPr>
          <p:cNvPr id="22" name="Shape 20"/>
          <p:cNvSpPr/>
          <p:nvPr/>
        </p:nvSpPr>
        <p:spPr>
          <a:xfrm>
            <a:off x="594360" y="3977640"/>
            <a:ext cx="10972800" cy="987552"/>
          </a:xfrm>
          <a:prstGeom prst="roundRect">
            <a:avLst>
              <a:gd name="adj" fmla="val 5556"/>
            </a:avLst>
          </a:prstGeom>
          <a:solidFill>
            <a:srgbClr val="FFF4F1"/>
          </a:solidFill>
          <a:ln w="12700">
            <a:solidFill>
              <a:srgbClr val="FFF4F1"/>
            </a:solidFill>
            <a:prstDash val="solid"/>
          </a:ln>
        </p:spPr>
      </p:sp>
      <p:sp>
        <p:nvSpPr>
          <p:cNvPr id="23" name="Text 21"/>
          <p:cNvSpPr/>
          <p:nvPr/>
        </p:nvSpPr>
        <p:spPr>
          <a:xfrm>
            <a:off x="758952" y="4096512"/>
            <a:ext cx="10643616" cy="758952"/>
          </a:xfrm>
          <a:prstGeom prst="rect">
            <a:avLst/>
          </a:prstGeom>
          <a:noFill/>
          <a:ln/>
        </p:spPr>
        <p:txBody>
          <a:bodyPr wrap="square" lIns="0" tIns="0" rIns="0" bIns="0" rtlCol="0" anchor="ctr">
            <a:normAutofit/>
          </a:bodyPr>
          <a:lstStyle/>
          <a:p>
            <a:pPr indent="0" marL="0">
              <a:buNone/>
            </a:pPr>
            <a:r>
              <a:rPr lang="en-US" sz="1100" b="1" dirty="0">
                <a:solidFill>
                  <a:srgbClr val="FF3621"/>
                </a:solidFill>
                <a:latin typeface="Aptos" pitchFamily="34" charset="0"/>
                <a:ea typeface="Aptos" pitchFamily="34" charset="-122"/>
                <a:cs typeface="Aptos" pitchFamily="34" charset="-120"/>
              </a:rPr>
              <a:t>The newest AI workloads still depend on the oldest data engineering truth: quality inputs are engineered, not assumed.</a:t>
            </a:r>
            <a:endParaRPr lang="en-US" sz="1100" dirty="0"/>
          </a:p>
        </p:txBody>
      </p:sp>
      <p:sp>
        <p:nvSpPr>
          <p:cNvPr id="24" name="Text 22"/>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Introduction</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Learning Objectives</a:t>
            </a:r>
            <a:endParaRPr lang="en-US" sz="2400" dirty="0"/>
          </a:p>
        </p:txBody>
      </p:sp>
      <p:sp>
        <p:nvSpPr>
          <p:cNvPr id="3" name="Shape 1"/>
          <p:cNvSpPr/>
          <p:nvPr/>
        </p:nvSpPr>
        <p:spPr>
          <a:xfrm>
            <a:off x="594360" y="1417320"/>
            <a:ext cx="3429000" cy="1783080"/>
          </a:xfrm>
          <a:prstGeom prst="roundRect">
            <a:avLst>
              <a:gd name="adj" fmla="val 3590"/>
            </a:avLst>
          </a:prstGeom>
          <a:solidFill>
            <a:srgbClr val="FFFFFF"/>
          </a:solidFill>
          <a:ln w="12700">
            <a:solidFill>
              <a:srgbClr val="DDE2EA"/>
            </a:solidFill>
            <a:prstDash val="solid"/>
          </a:ln>
        </p:spPr>
      </p:sp>
      <p:sp>
        <p:nvSpPr>
          <p:cNvPr id="4" name="Shape 2"/>
          <p:cNvSpPr/>
          <p:nvPr/>
        </p:nvSpPr>
        <p:spPr>
          <a:xfrm>
            <a:off x="594360" y="1417320"/>
            <a:ext cx="50292" cy="1783080"/>
          </a:xfrm>
          <a:prstGeom prst="rect">
            <a:avLst/>
          </a:prstGeom>
          <a:solidFill>
            <a:srgbClr val="3B6FF5"/>
          </a:solidFill>
          <a:ln w="12700">
            <a:solidFill>
              <a:srgbClr val="3B6FF5"/>
            </a:solidFill>
            <a:prstDash val="solid"/>
          </a:ln>
        </p:spPr>
      </p:sp>
      <p:sp>
        <p:nvSpPr>
          <p:cNvPr id="5" name="Shape 3"/>
          <p:cNvSpPr/>
          <p:nvPr/>
        </p:nvSpPr>
        <p:spPr>
          <a:xfrm>
            <a:off x="795528" y="1600200"/>
            <a:ext cx="566928" cy="310896"/>
          </a:xfrm>
          <a:prstGeom prst="roundRect">
            <a:avLst>
              <a:gd name="adj" fmla="val 14706"/>
            </a:avLst>
          </a:prstGeom>
          <a:solidFill>
            <a:srgbClr val="EDF2FF"/>
          </a:solidFill>
          <a:ln w="12700">
            <a:solidFill>
              <a:srgbClr val="EDF2FF"/>
            </a:solidFill>
            <a:prstDash val="solid"/>
          </a:ln>
        </p:spPr>
      </p:sp>
      <p:sp>
        <p:nvSpPr>
          <p:cNvPr id="6" name="Text 4"/>
          <p:cNvSpPr/>
          <p:nvPr/>
        </p:nvSpPr>
        <p:spPr>
          <a:xfrm>
            <a:off x="795528" y="166420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1</a:t>
            </a:r>
            <a:endParaRPr lang="en-US" sz="730" dirty="0"/>
          </a:p>
        </p:txBody>
      </p:sp>
      <p:sp>
        <p:nvSpPr>
          <p:cNvPr id="7" name="Text 5"/>
          <p:cNvSpPr/>
          <p:nvPr/>
        </p:nvSpPr>
        <p:spPr>
          <a:xfrm>
            <a:off x="795528" y="200253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Explain ETL / ELT</a:t>
            </a:r>
            <a:endParaRPr lang="en-US" sz="1350" dirty="0"/>
          </a:p>
        </p:txBody>
      </p:sp>
      <p:sp>
        <p:nvSpPr>
          <p:cNvPr id="8" name="Text 6"/>
          <p:cNvSpPr/>
          <p:nvPr/>
        </p:nvSpPr>
        <p:spPr>
          <a:xfrm>
            <a:off x="795528" y="2377440"/>
            <a:ext cx="3044952" cy="65836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Describe extraction, transformation, loading and why ELT dominates many cloud workflows.</a:t>
            </a:r>
            <a:endParaRPr lang="en-US" sz="980" dirty="0"/>
          </a:p>
        </p:txBody>
      </p:sp>
      <p:sp>
        <p:nvSpPr>
          <p:cNvPr id="9" name="Shape 7"/>
          <p:cNvSpPr/>
          <p:nvPr/>
        </p:nvSpPr>
        <p:spPr>
          <a:xfrm>
            <a:off x="4343400" y="1417320"/>
            <a:ext cx="3429000" cy="1783080"/>
          </a:xfrm>
          <a:prstGeom prst="roundRect">
            <a:avLst>
              <a:gd name="adj" fmla="val 3590"/>
            </a:avLst>
          </a:prstGeom>
          <a:solidFill>
            <a:srgbClr val="FFFFFF"/>
          </a:solidFill>
          <a:ln w="12700">
            <a:solidFill>
              <a:srgbClr val="DDE2EA"/>
            </a:solidFill>
            <a:prstDash val="solid"/>
          </a:ln>
        </p:spPr>
      </p:sp>
      <p:sp>
        <p:nvSpPr>
          <p:cNvPr id="10" name="Shape 8"/>
          <p:cNvSpPr/>
          <p:nvPr/>
        </p:nvSpPr>
        <p:spPr>
          <a:xfrm>
            <a:off x="4343400" y="1417320"/>
            <a:ext cx="50292" cy="1783080"/>
          </a:xfrm>
          <a:prstGeom prst="rect">
            <a:avLst/>
          </a:prstGeom>
          <a:solidFill>
            <a:srgbClr val="00A972"/>
          </a:solidFill>
          <a:ln w="12700">
            <a:solidFill>
              <a:srgbClr val="00A972"/>
            </a:solidFill>
            <a:prstDash val="solid"/>
          </a:ln>
        </p:spPr>
      </p:sp>
      <p:sp>
        <p:nvSpPr>
          <p:cNvPr id="11" name="Shape 9"/>
          <p:cNvSpPr/>
          <p:nvPr/>
        </p:nvSpPr>
        <p:spPr>
          <a:xfrm>
            <a:off x="4544568" y="1600200"/>
            <a:ext cx="566928" cy="310896"/>
          </a:xfrm>
          <a:prstGeom prst="roundRect">
            <a:avLst>
              <a:gd name="adj" fmla="val 14706"/>
            </a:avLst>
          </a:prstGeom>
          <a:solidFill>
            <a:srgbClr val="E9F8F3"/>
          </a:solidFill>
          <a:ln w="12700">
            <a:solidFill>
              <a:srgbClr val="E9F8F3"/>
            </a:solidFill>
            <a:prstDash val="solid"/>
          </a:ln>
        </p:spPr>
      </p:sp>
      <p:sp>
        <p:nvSpPr>
          <p:cNvPr id="12" name="Text 10"/>
          <p:cNvSpPr/>
          <p:nvPr/>
        </p:nvSpPr>
        <p:spPr>
          <a:xfrm>
            <a:off x="4544568" y="166420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2</a:t>
            </a:r>
            <a:endParaRPr lang="en-US" sz="730" dirty="0"/>
          </a:p>
        </p:txBody>
      </p:sp>
      <p:sp>
        <p:nvSpPr>
          <p:cNvPr id="13" name="Text 11"/>
          <p:cNvSpPr/>
          <p:nvPr/>
        </p:nvSpPr>
        <p:spPr>
          <a:xfrm>
            <a:off x="4544568" y="200253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Design ingestion</a:t>
            </a:r>
            <a:endParaRPr lang="en-US" sz="1350" dirty="0"/>
          </a:p>
        </p:txBody>
      </p:sp>
      <p:sp>
        <p:nvSpPr>
          <p:cNvPr id="14" name="Text 12"/>
          <p:cNvSpPr/>
          <p:nvPr/>
        </p:nvSpPr>
        <p:spPr>
          <a:xfrm>
            <a:off x="4544568" y="2377440"/>
            <a:ext cx="3044952" cy="65836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Assess sources using frequency, volume, format, quality and boundedness.</a:t>
            </a:r>
            <a:endParaRPr lang="en-US" sz="980" dirty="0"/>
          </a:p>
        </p:txBody>
      </p:sp>
      <p:sp>
        <p:nvSpPr>
          <p:cNvPr id="15" name="Shape 13"/>
          <p:cNvSpPr/>
          <p:nvPr/>
        </p:nvSpPr>
        <p:spPr>
          <a:xfrm>
            <a:off x="8092440" y="1417320"/>
            <a:ext cx="3429000" cy="1783080"/>
          </a:xfrm>
          <a:prstGeom prst="roundRect">
            <a:avLst>
              <a:gd name="adj" fmla="val 3590"/>
            </a:avLst>
          </a:prstGeom>
          <a:solidFill>
            <a:srgbClr val="FFFFFF"/>
          </a:solidFill>
          <a:ln w="12700">
            <a:solidFill>
              <a:srgbClr val="DDE2EA"/>
            </a:solidFill>
            <a:prstDash val="solid"/>
          </a:ln>
        </p:spPr>
      </p:sp>
      <p:sp>
        <p:nvSpPr>
          <p:cNvPr id="16" name="Shape 14"/>
          <p:cNvSpPr/>
          <p:nvPr/>
        </p:nvSpPr>
        <p:spPr>
          <a:xfrm>
            <a:off x="8092440" y="1417320"/>
            <a:ext cx="50292" cy="1783080"/>
          </a:xfrm>
          <a:prstGeom prst="rect">
            <a:avLst/>
          </a:prstGeom>
          <a:solidFill>
            <a:srgbClr val="7C4DFF"/>
          </a:solidFill>
          <a:ln w="12700">
            <a:solidFill>
              <a:srgbClr val="7C4DFF"/>
            </a:solidFill>
            <a:prstDash val="solid"/>
          </a:ln>
        </p:spPr>
      </p:sp>
      <p:sp>
        <p:nvSpPr>
          <p:cNvPr id="17" name="Shape 15"/>
          <p:cNvSpPr/>
          <p:nvPr/>
        </p:nvSpPr>
        <p:spPr>
          <a:xfrm>
            <a:off x="8293608" y="1600200"/>
            <a:ext cx="566928" cy="310896"/>
          </a:xfrm>
          <a:prstGeom prst="roundRect">
            <a:avLst>
              <a:gd name="adj" fmla="val 14706"/>
            </a:avLst>
          </a:prstGeom>
          <a:solidFill>
            <a:srgbClr val="F2EEFF"/>
          </a:solidFill>
          <a:ln w="12700">
            <a:solidFill>
              <a:srgbClr val="F2EEFF"/>
            </a:solidFill>
            <a:prstDash val="solid"/>
          </a:ln>
        </p:spPr>
      </p:sp>
      <p:sp>
        <p:nvSpPr>
          <p:cNvPr id="18" name="Text 16"/>
          <p:cNvSpPr/>
          <p:nvPr/>
        </p:nvSpPr>
        <p:spPr>
          <a:xfrm>
            <a:off x="8293608" y="166420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3</a:t>
            </a:r>
            <a:endParaRPr lang="en-US" sz="730" dirty="0"/>
          </a:p>
        </p:txBody>
      </p:sp>
      <p:sp>
        <p:nvSpPr>
          <p:cNvPr id="19" name="Text 17"/>
          <p:cNvSpPr/>
          <p:nvPr/>
        </p:nvSpPr>
        <p:spPr>
          <a:xfrm>
            <a:off x="8293608" y="200253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Engineer transformations</a:t>
            </a:r>
            <a:endParaRPr lang="en-US" sz="1350" dirty="0"/>
          </a:p>
        </p:txBody>
      </p:sp>
      <p:sp>
        <p:nvSpPr>
          <p:cNvPr id="20" name="Text 18"/>
          <p:cNvSpPr/>
          <p:nvPr/>
        </p:nvSpPr>
        <p:spPr>
          <a:xfrm>
            <a:off x="8293608" y="2377440"/>
            <a:ext cx="3044952" cy="65836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Apply profiling, staging, data-quality rules, medallion layers and incremental logic.</a:t>
            </a:r>
            <a:endParaRPr lang="en-US" sz="980" dirty="0"/>
          </a:p>
        </p:txBody>
      </p:sp>
      <p:sp>
        <p:nvSpPr>
          <p:cNvPr id="21" name="Shape 19"/>
          <p:cNvSpPr/>
          <p:nvPr/>
        </p:nvSpPr>
        <p:spPr>
          <a:xfrm>
            <a:off x="594360" y="3566160"/>
            <a:ext cx="3429000" cy="1783080"/>
          </a:xfrm>
          <a:prstGeom prst="roundRect">
            <a:avLst>
              <a:gd name="adj" fmla="val 3590"/>
            </a:avLst>
          </a:prstGeom>
          <a:solidFill>
            <a:srgbClr val="FFFFFF"/>
          </a:solidFill>
          <a:ln w="12700">
            <a:solidFill>
              <a:srgbClr val="DDE2EA"/>
            </a:solidFill>
            <a:prstDash val="solid"/>
          </a:ln>
        </p:spPr>
      </p:sp>
      <p:sp>
        <p:nvSpPr>
          <p:cNvPr id="22" name="Shape 20"/>
          <p:cNvSpPr/>
          <p:nvPr/>
        </p:nvSpPr>
        <p:spPr>
          <a:xfrm>
            <a:off x="594360" y="3566160"/>
            <a:ext cx="50292" cy="1783080"/>
          </a:xfrm>
          <a:prstGeom prst="rect">
            <a:avLst/>
          </a:prstGeom>
          <a:solidFill>
            <a:srgbClr val="F3A712"/>
          </a:solidFill>
          <a:ln w="12700">
            <a:solidFill>
              <a:srgbClr val="F3A712"/>
            </a:solidFill>
            <a:prstDash val="solid"/>
          </a:ln>
        </p:spPr>
      </p:sp>
      <p:sp>
        <p:nvSpPr>
          <p:cNvPr id="23" name="Shape 21"/>
          <p:cNvSpPr/>
          <p:nvPr/>
        </p:nvSpPr>
        <p:spPr>
          <a:xfrm>
            <a:off x="795528" y="3749040"/>
            <a:ext cx="566928" cy="310896"/>
          </a:xfrm>
          <a:prstGeom prst="roundRect">
            <a:avLst>
              <a:gd name="adj" fmla="val 14706"/>
            </a:avLst>
          </a:prstGeom>
          <a:solidFill>
            <a:srgbClr val="FFF7E5"/>
          </a:solidFill>
          <a:ln w="12700">
            <a:solidFill>
              <a:srgbClr val="FFF7E5"/>
            </a:solidFill>
            <a:prstDash val="solid"/>
          </a:ln>
        </p:spPr>
      </p:sp>
      <p:sp>
        <p:nvSpPr>
          <p:cNvPr id="24" name="Text 22"/>
          <p:cNvSpPr/>
          <p:nvPr/>
        </p:nvSpPr>
        <p:spPr>
          <a:xfrm>
            <a:off x="795528" y="3813048"/>
            <a:ext cx="566928" cy="128016"/>
          </a:xfrm>
          <a:prstGeom prst="rect">
            <a:avLst/>
          </a:prstGeom>
          <a:noFill/>
          <a:ln/>
        </p:spPr>
        <p:txBody>
          <a:bodyPr wrap="square" lIns="0" tIns="0" rIns="0" bIns="0" rtlCol="0" anchor="ctr"/>
          <a:lstStyle/>
          <a:p>
            <a:pPr algn="ctr" indent="0" marL="0">
              <a:buNone/>
            </a:pPr>
            <a:r>
              <a:rPr lang="en-US" sz="730" b="1" dirty="0">
                <a:solidFill>
                  <a:srgbClr val="F3A712"/>
                </a:solidFill>
              </a:rPr>
              <a:t>4</a:t>
            </a:r>
            <a:endParaRPr lang="en-US" sz="730" dirty="0"/>
          </a:p>
        </p:txBody>
      </p:sp>
      <p:sp>
        <p:nvSpPr>
          <p:cNvPr id="25" name="Text 23"/>
          <p:cNvSpPr/>
          <p:nvPr/>
        </p:nvSpPr>
        <p:spPr>
          <a:xfrm>
            <a:off x="795528" y="415137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Operate pipelines</a:t>
            </a:r>
            <a:endParaRPr lang="en-US" sz="1350" dirty="0"/>
          </a:p>
        </p:txBody>
      </p:sp>
      <p:sp>
        <p:nvSpPr>
          <p:cNvPr id="26" name="Text 24"/>
          <p:cNvSpPr/>
          <p:nvPr/>
        </p:nvSpPr>
        <p:spPr>
          <a:xfrm>
            <a:off x="795528" y="4526280"/>
            <a:ext cx="3044952" cy="65836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Use orchestration, idempotency, backfills, monitoring, troubleshooting and observability.</a:t>
            </a:r>
            <a:endParaRPr lang="en-US" sz="980" dirty="0"/>
          </a:p>
        </p:txBody>
      </p:sp>
      <p:sp>
        <p:nvSpPr>
          <p:cNvPr id="27" name="Shape 25"/>
          <p:cNvSpPr/>
          <p:nvPr/>
        </p:nvSpPr>
        <p:spPr>
          <a:xfrm>
            <a:off x="4343400" y="3566160"/>
            <a:ext cx="3429000" cy="1783080"/>
          </a:xfrm>
          <a:prstGeom prst="roundRect">
            <a:avLst>
              <a:gd name="adj" fmla="val 3590"/>
            </a:avLst>
          </a:prstGeom>
          <a:solidFill>
            <a:srgbClr val="FFFFFF"/>
          </a:solidFill>
          <a:ln w="12700">
            <a:solidFill>
              <a:srgbClr val="DDE2EA"/>
            </a:solidFill>
            <a:prstDash val="solid"/>
          </a:ln>
        </p:spPr>
      </p:sp>
      <p:sp>
        <p:nvSpPr>
          <p:cNvPr id="28" name="Shape 26"/>
          <p:cNvSpPr/>
          <p:nvPr/>
        </p:nvSpPr>
        <p:spPr>
          <a:xfrm>
            <a:off x="4343400" y="3566160"/>
            <a:ext cx="50292" cy="1783080"/>
          </a:xfrm>
          <a:prstGeom prst="rect">
            <a:avLst/>
          </a:prstGeom>
          <a:solidFill>
            <a:srgbClr val="FF3621"/>
          </a:solidFill>
          <a:ln w="12700">
            <a:solidFill>
              <a:srgbClr val="FF3621"/>
            </a:solidFill>
            <a:prstDash val="solid"/>
          </a:ln>
        </p:spPr>
      </p:sp>
      <p:sp>
        <p:nvSpPr>
          <p:cNvPr id="29" name="Shape 27"/>
          <p:cNvSpPr/>
          <p:nvPr/>
        </p:nvSpPr>
        <p:spPr>
          <a:xfrm>
            <a:off x="4544568" y="3749040"/>
            <a:ext cx="566928" cy="310896"/>
          </a:xfrm>
          <a:prstGeom prst="roundRect">
            <a:avLst>
              <a:gd name="adj" fmla="val 14706"/>
            </a:avLst>
          </a:prstGeom>
          <a:solidFill>
            <a:srgbClr val="FFF0ED"/>
          </a:solidFill>
          <a:ln w="12700">
            <a:solidFill>
              <a:srgbClr val="FFF0ED"/>
            </a:solidFill>
            <a:prstDash val="solid"/>
          </a:ln>
        </p:spPr>
      </p:sp>
      <p:sp>
        <p:nvSpPr>
          <p:cNvPr id="30" name="Text 28"/>
          <p:cNvSpPr/>
          <p:nvPr/>
        </p:nvSpPr>
        <p:spPr>
          <a:xfrm>
            <a:off x="4544568" y="381304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5</a:t>
            </a:r>
            <a:endParaRPr lang="en-US" sz="730" dirty="0"/>
          </a:p>
        </p:txBody>
      </p:sp>
      <p:sp>
        <p:nvSpPr>
          <p:cNvPr id="31" name="Text 29"/>
          <p:cNvSpPr/>
          <p:nvPr/>
        </p:nvSpPr>
        <p:spPr>
          <a:xfrm>
            <a:off x="4544568" y="415137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Implement in Databricks</a:t>
            </a:r>
            <a:endParaRPr lang="en-US" sz="1350" dirty="0"/>
          </a:p>
        </p:txBody>
      </p:sp>
      <p:sp>
        <p:nvSpPr>
          <p:cNvPr id="32" name="Text 30"/>
          <p:cNvSpPr/>
          <p:nvPr/>
        </p:nvSpPr>
        <p:spPr>
          <a:xfrm>
            <a:off x="4544568" y="4526280"/>
            <a:ext cx="3044952" cy="65836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Use Lakeflow Connect, streaming tables, materialized views, Jobs, expectations and AUTO CDC.</a:t>
            </a:r>
            <a:endParaRPr lang="en-US" sz="980" dirty="0"/>
          </a:p>
        </p:txBody>
      </p:sp>
      <p:sp>
        <p:nvSpPr>
          <p:cNvPr id="33" name="Shape 31"/>
          <p:cNvSpPr/>
          <p:nvPr/>
        </p:nvSpPr>
        <p:spPr>
          <a:xfrm>
            <a:off x="8092440" y="3566160"/>
            <a:ext cx="3429000" cy="1783080"/>
          </a:xfrm>
          <a:prstGeom prst="roundRect">
            <a:avLst>
              <a:gd name="adj" fmla="val 3590"/>
            </a:avLst>
          </a:prstGeom>
          <a:solidFill>
            <a:srgbClr val="FFFFFF"/>
          </a:solidFill>
          <a:ln w="12700">
            <a:solidFill>
              <a:srgbClr val="DDE2EA"/>
            </a:solidFill>
            <a:prstDash val="solid"/>
          </a:ln>
        </p:spPr>
      </p:sp>
      <p:sp>
        <p:nvSpPr>
          <p:cNvPr id="34" name="Shape 32"/>
          <p:cNvSpPr/>
          <p:nvPr/>
        </p:nvSpPr>
        <p:spPr>
          <a:xfrm>
            <a:off x="8092440" y="3566160"/>
            <a:ext cx="50292" cy="1783080"/>
          </a:xfrm>
          <a:prstGeom prst="rect">
            <a:avLst/>
          </a:prstGeom>
          <a:solidFill>
            <a:srgbClr val="29A86B"/>
          </a:solidFill>
          <a:ln w="12700">
            <a:solidFill>
              <a:srgbClr val="29A86B"/>
            </a:solidFill>
            <a:prstDash val="solid"/>
          </a:ln>
        </p:spPr>
      </p:sp>
      <p:sp>
        <p:nvSpPr>
          <p:cNvPr id="35" name="Shape 33"/>
          <p:cNvSpPr/>
          <p:nvPr/>
        </p:nvSpPr>
        <p:spPr>
          <a:xfrm>
            <a:off x="8293608" y="3749040"/>
            <a:ext cx="566928" cy="310896"/>
          </a:xfrm>
          <a:prstGeom prst="roundRect">
            <a:avLst>
              <a:gd name="adj" fmla="val 14706"/>
            </a:avLst>
          </a:prstGeom>
          <a:solidFill>
            <a:srgbClr val="EBF8F0"/>
          </a:solidFill>
          <a:ln w="12700">
            <a:solidFill>
              <a:srgbClr val="EBF8F0"/>
            </a:solidFill>
            <a:prstDash val="solid"/>
          </a:ln>
        </p:spPr>
      </p:sp>
      <p:sp>
        <p:nvSpPr>
          <p:cNvPr id="36" name="Text 34"/>
          <p:cNvSpPr/>
          <p:nvPr/>
        </p:nvSpPr>
        <p:spPr>
          <a:xfrm>
            <a:off x="8293608" y="3813048"/>
            <a:ext cx="566928" cy="128016"/>
          </a:xfrm>
          <a:prstGeom prst="rect">
            <a:avLst/>
          </a:prstGeom>
          <a:noFill/>
          <a:ln/>
        </p:spPr>
        <p:txBody>
          <a:bodyPr wrap="square" lIns="0" tIns="0" rIns="0" bIns="0" rtlCol="0" anchor="ctr"/>
          <a:lstStyle/>
          <a:p>
            <a:pPr algn="ctr" indent="0" marL="0">
              <a:buNone/>
            </a:pPr>
            <a:r>
              <a:rPr lang="en-US" sz="730" b="1" dirty="0">
                <a:solidFill>
                  <a:srgbClr val="29A86B"/>
                </a:solidFill>
              </a:rPr>
              <a:t>6</a:t>
            </a:r>
            <a:endParaRPr lang="en-US" sz="730" dirty="0"/>
          </a:p>
        </p:txBody>
      </p:sp>
      <p:sp>
        <p:nvSpPr>
          <p:cNvPr id="37" name="Text 35"/>
          <p:cNvSpPr/>
          <p:nvPr/>
        </p:nvSpPr>
        <p:spPr>
          <a:xfrm>
            <a:off x="8293608" y="415137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Choose the right pattern</a:t>
            </a:r>
            <a:endParaRPr lang="en-US" sz="1350" dirty="0"/>
          </a:p>
        </p:txBody>
      </p:sp>
      <p:sp>
        <p:nvSpPr>
          <p:cNvPr id="38" name="Text 36"/>
          <p:cNvSpPr/>
          <p:nvPr/>
        </p:nvSpPr>
        <p:spPr>
          <a:xfrm>
            <a:off x="8293608" y="4526280"/>
            <a:ext cx="3044952" cy="65836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Select batch vs streaming and declarative vs imperative approaches based on requirements.</a:t>
            </a:r>
            <a:endParaRPr lang="en-US" sz="98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Lecture Roadmap</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We move from principles → pipeline design → production Databricks implementation.</a:t>
            </a:r>
            <a:endParaRPr lang="en-US" sz="1100" dirty="0"/>
          </a:p>
        </p:txBody>
      </p:sp>
      <p:sp>
        <p:nvSpPr>
          <p:cNvPr id="4" name="Shape 2"/>
          <p:cNvSpPr/>
          <p:nvPr/>
        </p:nvSpPr>
        <p:spPr>
          <a:xfrm>
            <a:off x="685800" y="1965960"/>
            <a:ext cx="1920240" cy="2240280"/>
          </a:xfrm>
          <a:prstGeom prst="roundRect">
            <a:avLst>
              <a:gd name="adj" fmla="val 3333"/>
            </a:avLst>
          </a:prstGeom>
          <a:solidFill>
            <a:srgbClr val="FFFFFF"/>
          </a:solidFill>
          <a:ln w="12700">
            <a:solidFill>
              <a:srgbClr val="3B6FF5"/>
            </a:solidFill>
            <a:prstDash val="solid"/>
          </a:ln>
        </p:spPr>
      </p:sp>
      <p:sp>
        <p:nvSpPr>
          <p:cNvPr id="5" name="Shape 3"/>
          <p:cNvSpPr/>
          <p:nvPr/>
        </p:nvSpPr>
        <p:spPr>
          <a:xfrm>
            <a:off x="850392" y="2176272"/>
            <a:ext cx="502920" cy="347472"/>
          </a:xfrm>
          <a:prstGeom prst="roundRect">
            <a:avLst>
              <a:gd name="adj" fmla="val 23684"/>
            </a:avLst>
          </a:prstGeom>
          <a:solidFill>
            <a:srgbClr val="EBF1FE"/>
          </a:solidFill>
          <a:ln w="12700">
            <a:solidFill>
              <a:srgbClr val="EBF1FE"/>
            </a:solidFill>
            <a:prstDash val="solid"/>
          </a:ln>
        </p:spPr>
      </p:sp>
      <p:sp>
        <p:nvSpPr>
          <p:cNvPr id="6" name="Text 4"/>
          <p:cNvSpPr/>
          <p:nvPr/>
        </p:nvSpPr>
        <p:spPr>
          <a:xfrm>
            <a:off x="896112" y="2231136"/>
            <a:ext cx="411480" cy="237744"/>
          </a:xfrm>
          <a:prstGeom prst="rect">
            <a:avLst/>
          </a:prstGeom>
          <a:noFill/>
          <a:ln/>
        </p:spPr>
        <p:txBody>
          <a:bodyPr wrap="square" lIns="0" tIns="0" rIns="0" bIns="0" rtlCol="0" anchor="ctr">
            <a:normAutofit/>
          </a:bodyPr>
          <a:lstStyle/>
          <a:p>
            <a:pPr algn="ctr" indent="0" marL="0">
              <a:buNone/>
            </a:pPr>
            <a:r>
              <a:rPr lang="en-US" sz="950" b="1" dirty="0">
                <a:solidFill>
                  <a:srgbClr val="3B6FF5"/>
                </a:solidFill>
                <a:latin typeface="Aptos" pitchFamily="34" charset="0"/>
                <a:ea typeface="Aptos" pitchFamily="34" charset="-122"/>
                <a:cs typeface="Aptos" pitchFamily="34" charset="-120"/>
              </a:rPr>
              <a:t>1</a:t>
            </a:r>
            <a:endParaRPr lang="en-US" sz="950" dirty="0"/>
          </a:p>
        </p:txBody>
      </p:sp>
      <p:sp>
        <p:nvSpPr>
          <p:cNvPr id="7" name="Text 5"/>
          <p:cNvSpPr/>
          <p:nvPr/>
        </p:nvSpPr>
        <p:spPr>
          <a:xfrm>
            <a:off x="850392" y="2724912"/>
            <a:ext cx="1591056" cy="43891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ETL Foundations</a:t>
            </a:r>
            <a:endParaRPr lang="en-US" sz="1400" dirty="0"/>
          </a:p>
        </p:txBody>
      </p:sp>
      <p:sp>
        <p:nvSpPr>
          <p:cNvPr id="8" name="Text 6"/>
          <p:cNvSpPr/>
          <p:nvPr/>
        </p:nvSpPr>
        <p:spPr>
          <a:xfrm>
            <a:off x="850392" y="3255264"/>
            <a:ext cx="1591056" cy="694944"/>
          </a:xfrm>
          <a:prstGeom prst="rect">
            <a:avLst/>
          </a:prstGeom>
          <a:noFill/>
          <a:ln/>
        </p:spPr>
        <p:txBody>
          <a:bodyPr wrap="square" lIns="0" tIns="0" rIns="0" bIns="0" rtlCol="0" anchor="ctr">
            <a:normAutofit/>
          </a:bodyPr>
          <a:lstStyle/>
          <a:p>
            <a:pPr indent="0" marL="0">
              <a:buNone/>
            </a:pPr>
            <a:r>
              <a:rPr lang="en-US" sz="920" dirty="0">
                <a:solidFill>
                  <a:srgbClr val="283246"/>
                </a:solidFill>
                <a:latin typeface="Aptos" pitchFamily="34" charset="0"/>
                <a:ea typeface="Aptos" pitchFamily="34" charset="-122"/>
                <a:cs typeface="Aptos" pitchFamily="34" charset="-120"/>
              </a:rPr>
              <a:t>What ETL is, ETL vs ELT, processing models</a:t>
            </a:r>
            <a:endParaRPr lang="en-US" sz="920" dirty="0"/>
          </a:p>
        </p:txBody>
      </p:sp>
      <p:sp>
        <p:nvSpPr>
          <p:cNvPr id="9" name="Shape 7"/>
          <p:cNvSpPr/>
          <p:nvPr/>
        </p:nvSpPr>
        <p:spPr>
          <a:xfrm>
            <a:off x="2624328" y="3063240"/>
            <a:ext cx="256032" cy="0"/>
          </a:xfrm>
          <a:prstGeom prst="line">
            <a:avLst/>
          </a:prstGeom>
          <a:noFill/>
          <a:ln w="12700">
            <a:solidFill>
              <a:srgbClr val="A1A9B7"/>
            </a:solidFill>
            <a:prstDash val="solid"/>
            <a:headEnd type="none"/>
            <a:tailEnd type="triangle"/>
          </a:ln>
        </p:spPr>
      </p:sp>
      <p:sp>
        <p:nvSpPr>
          <p:cNvPr id="10" name="Shape 8"/>
          <p:cNvSpPr/>
          <p:nvPr/>
        </p:nvSpPr>
        <p:spPr>
          <a:xfrm>
            <a:off x="2953512" y="1965960"/>
            <a:ext cx="1920240" cy="2240280"/>
          </a:xfrm>
          <a:prstGeom prst="roundRect">
            <a:avLst>
              <a:gd name="adj" fmla="val 3333"/>
            </a:avLst>
          </a:prstGeom>
          <a:solidFill>
            <a:srgbClr val="FFFFFF"/>
          </a:solidFill>
          <a:ln w="12700">
            <a:solidFill>
              <a:srgbClr val="00A972"/>
            </a:solidFill>
            <a:prstDash val="solid"/>
          </a:ln>
        </p:spPr>
      </p:sp>
      <p:sp>
        <p:nvSpPr>
          <p:cNvPr id="11" name="Shape 9"/>
          <p:cNvSpPr/>
          <p:nvPr/>
        </p:nvSpPr>
        <p:spPr>
          <a:xfrm>
            <a:off x="3118104" y="2176272"/>
            <a:ext cx="502920" cy="347472"/>
          </a:xfrm>
          <a:prstGeom prst="roundRect">
            <a:avLst>
              <a:gd name="adj" fmla="val 23684"/>
            </a:avLst>
          </a:prstGeom>
          <a:solidFill>
            <a:srgbClr val="E6F6F1"/>
          </a:solidFill>
          <a:ln w="12700">
            <a:solidFill>
              <a:srgbClr val="E6F6F1"/>
            </a:solidFill>
            <a:prstDash val="solid"/>
          </a:ln>
        </p:spPr>
      </p:sp>
      <p:sp>
        <p:nvSpPr>
          <p:cNvPr id="12" name="Text 10"/>
          <p:cNvSpPr/>
          <p:nvPr/>
        </p:nvSpPr>
        <p:spPr>
          <a:xfrm>
            <a:off x="3163824" y="2231136"/>
            <a:ext cx="411480" cy="237744"/>
          </a:xfrm>
          <a:prstGeom prst="rect">
            <a:avLst/>
          </a:prstGeom>
          <a:noFill/>
          <a:ln/>
        </p:spPr>
        <p:txBody>
          <a:bodyPr wrap="square" lIns="0" tIns="0" rIns="0" bIns="0" rtlCol="0" anchor="ctr">
            <a:normAutofit/>
          </a:bodyPr>
          <a:lstStyle/>
          <a:p>
            <a:pPr algn="ctr" indent="0" marL="0">
              <a:buNone/>
            </a:pPr>
            <a:r>
              <a:rPr lang="en-US" sz="950" b="1" dirty="0">
                <a:solidFill>
                  <a:srgbClr val="00A972"/>
                </a:solidFill>
                <a:latin typeface="Aptos" pitchFamily="34" charset="0"/>
                <a:ea typeface="Aptos" pitchFamily="34" charset="-122"/>
                <a:cs typeface="Aptos" pitchFamily="34" charset="-120"/>
              </a:rPr>
              <a:t>2</a:t>
            </a:r>
            <a:endParaRPr lang="en-US" sz="950" dirty="0"/>
          </a:p>
        </p:txBody>
      </p:sp>
      <p:sp>
        <p:nvSpPr>
          <p:cNvPr id="13" name="Text 11"/>
          <p:cNvSpPr/>
          <p:nvPr/>
        </p:nvSpPr>
        <p:spPr>
          <a:xfrm>
            <a:off x="3118104" y="2724912"/>
            <a:ext cx="1591056" cy="43891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Extract &amp; Ingest</a:t>
            </a:r>
            <a:endParaRPr lang="en-US" sz="1400" dirty="0"/>
          </a:p>
        </p:txBody>
      </p:sp>
      <p:sp>
        <p:nvSpPr>
          <p:cNvPr id="14" name="Text 12"/>
          <p:cNvSpPr/>
          <p:nvPr/>
        </p:nvSpPr>
        <p:spPr>
          <a:xfrm>
            <a:off x="3118104" y="3255264"/>
            <a:ext cx="1591056" cy="694944"/>
          </a:xfrm>
          <a:prstGeom prst="rect">
            <a:avLst/>
          </a:prstGeom>
          <a:noFill/>
          <a:ln/>
        </p:spPr>
        <p:txBody>
          <a:bodyPr wrap="square" lIns="0" tIns="0" rIns="0" bIns="0" rtlCol="0" anchor="ctr">
            <a:normAutofit/>
          </a:bodyPr>
          <a:lstStyle/>
          <a:p>
            <a:pPr indent="0" marL="0">
              <a:buNone/>
            </a:pPr>
            <a:r>
              <a:rPr lang="en-US" sz="920" dirty="0">
                <a:solidFill>
                  <a:srgbClr val="283246"/>
                </a:solidFill>
                <a:latin typeface="Aptos" pitchFamily="34" charset="0"/>
                <a:ea typeface="Aptos" pitchFamily="34" charset="-122"/>
                <a:cs typeface="Aptos" pitchFamily="34" charset="-120"/>
              </a:rPr>
              <a:t>Sources, contracts, files, DBs, APIs, CDC</a:t>
            </a:r>
            <a:endParaRPr lang="en-US" sz="920" dirty="0"/>
          </a:p>
        </p:txBody>
      </p:sp>
      <p:sp>
        <p:nvSpPr>
          <p:cNvPr id="15" name="Shape 13"/>
          <p:cNvSpPr/>
          <p:nvPr/>
        </p:nvSpPr>
        <p:spPr>
          <a:xfrm>
            <a:off x="4892040" y="3063240"/>
            <a:ext cx="256032" cy="0"/>
          </a:xfrm>
          <a:prstGeom prst="line">
            <a:avLst/>
          </a:prstGeom>
          <a:noFill/>
          <a:ln w="12700">
            <a:solidFill>
              <a:srgbClr val="A1A9B7"/>
            </a:solidFill>
            <a:prstDash val="solid"/>
            <a:headEnd type="none"/>
            <a:tailEnd type="triangle"/>
          </a:ln>
        </p:spPr>
      </p:sp>
      <p:sp>
        <p:nvSpPr>
          <p:cNvPr id="16" name="Shape 14"/>
          <p:cNvSpPr/>
          <p:nvPr/>
        </p:nvSpPr>
        <p:spPr>
          <a:xfrm>
            <a:off x="5221224" y="1965960"/>
            <a:ext cx="1920240" cy="2240280"/>
          </a:xfrm>
          <a:prstGeom prst="roundRect">
            <a:avLst>
              <a:gd name="adj" fmla="val 3333"/>
            </a:avLst>
          </a:prstGeom>
          <a:solidFill>
            <a:srgbClr val="FFFFFF"/>
          </a:solidFill>
          <a:ln w="12700">
            <a:solidFill>
              <a:srgbClr val="7C4DFF"/>
            </a:solidFill>
            <a:prstDash val="solid"/>
          </a:ln>
        </p:spPr>
      </p:sp>
      <p:sp>
        <p:nvSpPr>
          <p:cNvPr id="17" name="Shape 15"/>
          <p:cNvSpPr/>
          <p:nvPr/>
        </p:nvSpPr>
        <p:spPr>
          <a:xfrm>
            <a:off x="5385816" y="2176272"/>
            <a:ext cx="502920" cy="347472"/>
          </a:xfrm>
          <a:prstGeom prst="roundRect">
            <a:avLst>
              <a:gd name="adj" fmla="val 23684"/>
            </a:avLst>
          </a:prstGeom>
          <a:solidFill>
            <a:srgbClr val="F2EDFF"/>
          </a:solidFill>
          <a:ln w="12700">
            <a:solidFill>
              <a:srgbClr val="F2EDFF"/>
            </a:solidFill>
            <a:prstDash val="solid"/>
          </a:ln>
        </p:spPr>
      </p:sp>
      <p:sp>
        <p:nvSpPr>
          <p:cNvPr id="18" name="Text 16"/>
          <p:cNvSpPr/>
          <p:nvPr/>
        </p:nvSpPr>
        <p:spPr>
          <a:xfrm>
            <a:off x="5431536" y="2231136"/>
            <a:ext cx="411480" cy="237744"/>
          </a:xfrm>
          <a:prstGeom prst="rect">
            <a:avLst/>
          </a:prstGeom>
          <a:noFill/>
          <a:ln/>
        </p:spPr>
        <p:txBody>
          <a:bodyPr wrap="square" lIns="0" tIns="0" rIns="0" bIns="0" rtlCol="0" anchor="ctr">
            <a:normAutofit/>
          </a:bodyPr>
          <a:lstStyle/>
          <a:p>
            <a:pPr algn="ctr" indent="0" marL="0">
              <a:buNone/>
            </a:pPr>
            <a:r>
              <a:rPr lang="en-US" sz="950" b="1" dirty="0">
                <a:solidFill>
                  <a:srgbClr val="7C4DFF"/>
                </a:solidFill>
                <a:latin typeface="Aptos" pitchFamily="34" charset="0"/>
                <a:ea typeface="Aptos" pitchFamily="34" charset="-122"/>
                <a:cs typeface="Aptos" pitchFamily="34" charset="-120"/>
              </a:rPr>
              <a:t>3</a:t>
            </a:r>
            <a:endParaRPr lang="en-US" sz="950" dirty="0"/>
          </a:p>
        </p:txBody>
      </p:sp>
      <p:sp>
        <p:nvSpPr>
          <p:cNvPr id="19" name="Text 17"/>
          <p:cNvSpPr/>
          <p:nvPr/>
        </p:nvSpPr>
        <p:spPr>
          <a:xfrm>
            <a:off x="5385816" y="2724912"/>
            <a:ext cx="1591056" cy="43891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Transform</a:t>
            </a:r>
            <a:endParaRPr lang="en-US" sz="1400" dirty="0"/>
          </a:p>
        </p:txBody>
      </p:sp>
      <p:sp>
        <p:nvSpPr>
          <p:cNvPr id="20" name="Text 18"/>
          <p:cNvSpPr/>
          <p:nvPr/>
        </p:nvSpPr>
        <p:spPr>
          <a:xfrm>
            <a:off x="5385816" y="3255264"/>
            <a:ext cx="1591056" cy="694944"/>
          </a:xfrm>
          <a:prstGeom prst="rect">
            <a:avLst/>
          </a:prstGeom>
          <a:noFill/>
          <a:ln/>
        </p:spPr>
        <p:txBody>
          <a:bodyPr wrap="square" lIns="0" tIns="0" rIns="0" bIns="0" rtlCol="0" anchor="ctr">
            <a:normAutofit/>
          </a:bodyPr>
          <a:lstStyle/>
          <a:p>
            <a:pPr indent="0" marL="0">
              <a:buNone/>
            </a:pPr>
            <a:r>
              <a:rPr lang="en-US" sz="920" dirty="0">
                <a:solidFill>
                  <a:srgbClr val="283246"/>
                </a:solidFill>
                <a:latin typeface="Aptos" pitchFamily="34" charset="0"/>
                <a:ea typeface="Aptos" pitchFamily="34" charset="-122"/>
                <a:cs typeface="Aptos" pitchFamily="34" charset="-120"/>
              </a:rPr>
              <a:t>Quality, staging, Medallion, SQL/PySpark, incrementality</a:t>
            </a:r>
            <a:endParaRPr lang="en-US" sz="920" dirty="0"/>
          </a:p>
        </p:txBody>
      </p:sp>
      <p:sp>
        <p:nvSpPr>
          <p:cNvPr id="21" name="Shape 19"/>
          <p:cNvSpPr/>
          <p:nvPr/>
        </p:nvSpPr>
        <p:spPr>
          <a:xfrm>
            <a:off x="7159752" y="3063240"/>
            <a:ext cx="256032" cy="0"/>
          </a:xfrm>
          <a:prstGeom prst="line">
            <a:avLst/>
          </a:prstGeom>
          <a:noFill/>
          <a:ln w="12700">
            <a:solidFill>
              <a:srgbClr val="A1A9B7"/>
            </a:solidFill>
            <a:prstDash val="solid"/>
            <a:headEnd type="none"/>
            <a:tailEnd type="triangle"/>
          </a:ln>
        </p:spPr>
      </p:sp>
      <p:sp>
        <p:nvSpPr>
          <p:cNvPr id="22" name="Shape 20"/>
          <p:cNvSpPr/>
          <p:nvPr/>
        </p:nvSpPr>
        <p:spPr>
          <a:xfrm>
            <a:off x="7488936" y="1965960"/>
            <a:ext cx="1920240" cy="2240280"/>
          </a:xfrm>
          <a:prstGeom prst="roundRect">
            <a:avLst>
              <a:gd name="adj" fmla="val 3333"/>
            </a:avLst>
          </a:prstGeom>
          <a:solidFill>
            <a:srgbClr val="FFFFFF"/>
          </a:solidFill>
          <a:ln w="12700">
            <a:solidFill>
              <a:srgbClr val="F3A712"/>
            </a:solidFill>
            <a:prstDash val="solid"/>
          </a:ln>
        </p:spPr>
      </p:sp>
      <p:sp>
        <p:nvSpPr>
          <p:cNvPr id="23" name="Shape 21"/>
          <p:cNvSpPr/>
          <p:nvPr/>
        </p:nvSpPr>
        <p:spPr>
          <a:xfrm>
            <a:off x="7653528" y="2176272"/>
            <a:ext cx="502920" cy="347472"/>
          </a:xfrm>
          <a:prstGeom prst="roundRect">
            <a:avLst>
              <a:gd name="adj" fmla="val 23684"/>
            </a:avLst>
          </a:prstGeom>
          <a:solidFill>
            <a:srgbClr val="FEF6E7"/>
          </a:solidFill>
          <a:ln w="12700">
            <a:solidFill>
              <a:srgbClr val="FEF6E7"/>
            </a:solidFill>
            <a:prstDash val="solid"/>
          </a:ln>
        </p:spPr>
      </p:sp>
      <p:sp>
        <p:nvSpPr>
          <p:cNvPr id="24" name="Text 22"/>
          <p:cNvSpPr/>
          <p:nvPr/>
        </p:nvSpPr>
        <p:spPr>
          <a:xfrm>
            <a:off x="7699248" y="2231136"/>
            <a:ext cx="411480" cy="237744"/>
          </a:xfrm>
          <a:prstGeom prst="rect">
            <a:avLst/>
          </a:prstGeom>
          <a:noFill/>
          <a:ln/>
        </p:spPr>
        <p:txBody>
          <a:bodyPr wrap="square" lIns="0" tIns="0" rIns="0" bIns="0" rtlCol="0" anchor="ctr">
            <a:normAutofit/>
          </a:bodyPr>
          <a:lstStyle/>
          <a:p>
            <a:pPr algn="ctr" indent="0" marL="0">
              <a:buNone/>
            </a:pPr>
            <a:r>
              <a:rPr lang="en-US" sz="950" b="1" dirty="0">
                <a:solidFill>
                  <a:srgbClr val="F3A712"/>
                </a:solidFill>
                <a:latin typeface="Aptos" pitchFamily="34" charset="0"/>
                <a:ea typeface="Aptos" pitchFamily="34" charset="-122"/>
                <a:cs typeface="Aptos" pitchFamily="34" charset="-120"/>
              </a:rPr>
              <a:t>4</a:t>
            </a:r>
            <a:endParaRPr lang="en-US" sz="950" dirty="0"/>
          </a:p>
        </p:txBody>
      </p:sp>
      <p:sp>
        <p:nvSpPr>
          <p:cNvPr id="25" name="Text 23"/>
          <p:cNvSpPr/>
          <p:nvPr/>
        </p:nvSpPr>
        <p:spPr>
          <a:xfrm>
            <a:off x="7653528" y="2724912"/>
            <a:ext cx="1591056" cy="43891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Load &amp; Operate</a:t>
            </a:r>
            <a:endParaRPr lang="en-US" sz="1400" dirty="0"/>
          </a:p>
        </p:txBody>
      </p:sp>
      <p:sp>
        <p:nvSpPr>
          <p:cNvPr id="26" name="Text 24"/>
          <p:cNvSpPr/>
          <p:nvPr/>
        </p:nvSpPr>
        <p:spPr>
          <a:xfrm>
            <a:off x="7653528" y="3255264"/>
            <a:ext cx="1591056" cy="694944"/>
          </a:xfrm>
          <a:prstGeom prst="rect">
            <a:avLst/>
          </a:prstGeom>
          <a:noFill/>
          <a:ln/>
        </p:spPr>
        <p:txBody>
          <a:bodyPr wrap="square" lIns="0" tIns="0" rIns="0" bIns="0" rtlCol="0" anchor="ctr">
            <a:normAutofit/>
          </a:bodyPr>
          <a:lstStyle/>
          <a:p>
            <a:pPr indent="0" marL="0">
              <a:buNone/>
            </a:pPr>
            <a:r>
              <a:rPr lang="en-US" sz="920" dirty="0">
                <a:solidFill>
                  <a:srgbClr val="283246"/>
                </a:solidFill>
                <a:latin typeface="Aptos" pitchFamily="34" charset="0"/>
                <a:ea typeface="Aptos" pitchFamily="34" charset="-122"/>
                <a:cs typeface="Aptos" pitchFamily="34" charset="-120"/>
              </a:rPr>
              <a:t>Targets, DAGs, retries, backfills, observability, scaling</a:t>
            </a:r>
            <a:endParaRPr lang="en-US" sz="920" dirty="0"/>
          </a:p>
        </p:txBody>
      </p:sp>
      <p:sp>
        <p:nvSpPr>
          <p:cNvPr id="27" name="Shape 25"/>
          <p:cNvSpPr/>
          <p:nvPr/>
        </p:nvSpPr>
        <p:spPr>
          <a:xfrm>
            <a:off x="9427464" y="3063240"/>
            <a:ext cx="256032" cy="0"/>
          </a:xfrm>
          <a:prstGeom prst="line">
            <a:avLst/>
          </a:prstGeom>
          <a:noFill/>
          <a:ln w="12700">
            <a:solidFill>
              <a:srgbClr val="A1A9B7"/>
            </a:solidFill>
            <a:prstDash val="solid"/>
            <a:headEnd type="none"/>
            <a:tailEnd type="triangle"/>
          </a:ln>
        </p:spPr>
      </p:sp>
      <p:sp>
        <p:nvSpPr>
          <p:cNvPr id="28" name="Shape 26"/>
          <p:cNvSpPr/>
          <p:nvPr/>
        </p:nvSpPr>
        <p:spPr>
          <a:xfrm>
            <a:off x="9756648" y="1965960"/>
            <a:ext cx="1920240" cy="2240280"/>
          </a:xfrm>
          <a:prstGeom prst="roundRect">
            <a:avLst>
              <a:gd name="adj" fmla="val 3333"/>
            </a:avLst>
          </a:prstGeom>
          <a:solidFill>
            <a:srgbClr val="FFFFFF"/>
          </a:solidFill>
          <a:ln w="12700">
            <a:solidFill>
              <a:srgbClr val="FF3621"/>
            </a:solidFill>
            <a:prstDash val="solid"/>
          </a:ln>
        </p:spPr>
      </p:sp>
      <p:sp>
        <p:nvSpPr>
          <p:cNvPr id="29" name="Shape 27"/>
          <p:cNvSpPr/>
          <p:nvPr/>
        </p:nvSpPr>
        <p:spPr>
          <a:xfrm>
            <a:off x="9921240" y="2176272"/>
            <a:ext cx="502920" cy="347472"/>
          </a:xfrm>
          <a:prstGeom prst="roundRect">
            <a:avLst>
              <a:gd name="adj" fmla="val 23684"/>
            </a:avLst>
          </a:prstGeom>
          <a:solidFill>
            <a:srgbClr val="FFEBE9"/>
          </a:solidFill>
          <a:ln w="12700">
            <a:solidFill>
              <a:srgbClr val="FFEBE9"/>
            </a:solidFill>
            <a:prstDash val="solid"/>
          </a:ln>
        </p:spPr>
      </p:sp>
      <p:sp>
        <p:nvSpPr>
          <p:cNvPr id="30" name="Text 28"/>
          <p:cNvSpPr/>
          <p:nvPr/>
        </p:nvSpPr>
        <p:spPr>
          <a:xfrm>
            <a:off x="9966960" y="2231136"/>
            <a:ext cx="411480" cy="237744"/>
          </a:xfrm>
          <a:prstGeom prst="rect">
            <a:avLst/>
          </a:prstGeom>
          <a:noFill/>
          <a:ln/>
        </p:spPr>
        <p:txBody>
          <a:bodyPr wrap="square" lIns="0" tIns="0" rIns="0" bIns="0" rtlCol="0" anchor="ctr">
            <a:normAutofit/>
          </a:bodyPr>
          <a:lstStyle/>
          <a:p>
            <a:pPr algn="ctr" indent="0" marL="0">
              <a:buNone/>
            </a:pPr>
            <a:r>
              <a:rPr lang="en-US" sz="950" b="1" dirty="0">
                <a:solidFill>
                  <a:srgbClr val="FF3621"/>
                </a:solidFill>
                <a:latin typeface="Aptos" pitchFamily="34" charset="0"/>
                <a:ea typeface="Aptos" pitchFamily="34" charset="-122"/>
                <a:cs typeface="Aptos" pitchFamily="34" charset="-120"/>
              </a:rPr>
              <a:t>5</a:t>
            </a:r>
            <a:endParaRPr lang="en-US" sz="950" dirty="0"/>
          </a:p>
        </p:txBody>
      </p:sp>
      <p:sp>
        <p:nvSpPr>
          <p:cNvPr id="31" name="Text 29"/>
          <p:cNvSpPr/>
          <p:nvPr/>
        </p:nvSpPr>
        <p:spPr>
          <a:xfrm>
            <a:off x="9921240" y="2724912"/>
            <a:ext cx="1591056" cy="43891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ETL in Databricks</a:t>
            </a:r>
            <a:endParaRPr lang="en-US" sz="1400" dirty="0"/>
          </a:p>
        </p:txBody>
      </p:sp>
      <p:sp>
        <p:nvSpPr>
          <p:cNvPr id="32" name="Text 30"/>
          <p:cNvSpPr/>
          <p:nvPr/>
        </p:nvSpPr>
        <p:spPr>
          <a:xfrm>
            <a:off x="9921240" y="3255264"/>
            <a:ext cx="1591056" cy="694944"/>
          </a:xfrm>
          <a:prstGeom prst="rect">
            <a:avLst/>
          </a:prstGeom>
          <a:noFill/>
          <a:ln/>
        </p:spPr>
        <p:txBody>
          <a:bodyPr wrap="square" lIns="0" tIns="0" rIns="0" bIns="0" rtlCol="0" anchor="ctr">
            <a:normAutofit/>
          </a:bodyPr>
          <a:lstStyle/>
          <a:p>
            <a:pPr indent="0" marL="0">
              <a:buNone/>
            </a:pPr>
            <a:r>
              <a:rPr lang="en-US" sz="920" dirty="0">
                <a:solidFill>
                  <a:srgbClr val="283246"/>
                </a:solidFill>
                <a:latin typeface="Aptos" pitchFamily="34" charset="0"/>
                <a:ea typeface="Aptos" pitchFamily="34" charset="-122"/>
                <a:cs typeface="Aptos" pitchFamily="34" charset="-120"/>
              </a:rPr>
              <a:t>Lakeflow Connect, Pipelines, Jobs, expectations, AUTO CDC</a:t>
            </a:r>
            <a:endParaRPr lang="en-US" sz="920" dirty="0"/>
          </a:p>
        </p:txBody>
      </p:sp>
      <p:sp>
        <p:nvSpPr>
          <p:cNvPr id="33" name="Shape 31"/>
          <p:cNvSpPr/>
          <p:nvPr/>
        </p:nvSpPr>
        <p:spPr>
          <a:xfrm>
            <a:off x="685800" y="4736592"/>
            <a:ext cx="10881360" cy="777240"/>
          </a:xfrm>
          <a:prstGeom prst="roundRect">
            <a:avLst>
              <a:gd name="adj" fmla="val 7059"/>
            </a:avLst>
          </a:prstGeom>
          <a:solidFill>
            <a:srgbClr val="EEF3FF"/>
          </a:solidFill>
          <a:ln w="12700">
            <a:solidFill>
              <a:srgbClr val="EEF3FF"/>
            </a:solidFill>
            <a:prstDash val="solid"/>
          </a:ln>
        </p:spPr>
      </p:sp>
      <p:sp>
        <p:nvSpPr>
          <p:cNvPr id="34" name="Text 32"/>
          <p:cNvSpPr/>
          <p:nvPr/>
        </p:nvSpPr>
        <p:spPr>
          <a:xfrm>
            <a:off x="850392" y="4855464"/>
            <a:ext cx="10552176" cy="548640"/>
          </a:xfrm>
          <a:prstGeom prst="rect">
            <a:avLst/>
          </a:prstGeom>
          <a:noFill/>
          <a:ln/>
        </p:spPr>
        <p:txBody>
          <a:bodyPr wrap="square" lIns="0" tIns="0" rIns="0" bIns="0" rtlCol="0" anchor="ctr">
            <a:normAutofit/>
          </a:bodyPr>
          <a:lstStyle/>
          <a:p>
            <a:pPr indent="0" marL="0">
              <a:buNone/>
            </a:pPr>
            <a:r>
              <a:rPr lang="en-US" sz="1100" b="1" dirty="0">
                <a:solidFill>
                  <a:srgbClr val="3B6FF5"/>
                </a:solidFill>
                <a:latin typeface="Aptos" pitchFamily="34" charset="0"/>
                <a:ea typeface="Aptos" pitchFamily="34" charset="-122"/>
                <a:cs typeface="Aptos" pitchFamily="34" charset="-120"/>
              </a:rPr>
              <a:t>Case study throughout: SmartRetail — customers, products, stores, orders and sales moving from source systems to Gold analytical tables.</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233C"/>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FF3621"/>
          </a:solidFill>
          <a:ln w="12700">
            <a:solidFill>
              <a:srgbClr val="FF3621"/>
            </a:solidFill>
            <a:prstDash val="solid"/>
          </a:ln>
        </p:spPr>
      </p:sp>
      <p:sp>
        <p:nvSpPr>
          <p:cNvPr id="3" name="Text 1"/>
          <p:cNvSpPr/>
          <p:nvPr/>
        </p:nvSpPr>
        <p:spPr>
          <a:xfrm>
            <a:off x="640080" y="1042416"/>
            <a:ext cx="1371600" cy="274320"/>
          </a:xfrm>
          <a:prstGeom prst="rect">
            <a:avLst/>
          </a:prstGeom>
          <a:noFill/>
          <a:ln/>
        </p:spPr>
        <p:txBody>
          <a:bodyPr wrap="square" lIns="0" tIns="0" rIns="0" bIns="0" rtlCol="0" anchor="ctr"/>
          <a:lstStyle/>
          <a:p>
            <a:pPr indent="0" marL="0">
              <a:buNone/>
            </a:pPr>
            <a:r>
              <a:rPr lang="en-US" sz="900" b="1" spc="160" kern="0" dirty="0">
                <a:solidFill>
                  <a:srgbClr val="FF8A7B"/>
                </a:solidFill>
                <a:latin typeface="Aptos" pitchFamily="34" charset="0"/>
                <a:ea typeface="Aptos" pitchFamily="34" charset="-122"/>
                <a:cs typeface="Aptos" pitchFamily="34" charset="-120"/>
              </a:rPr>
              <a:t>PART 1</a:t>
            </a:r>
            <a:endParaRPr lang="en-US" sz="900" dirty="0"/>
          </a:p>
        </p:txBody>
      </p:sp>
      <p:sp>
        <p:nvSpPr>
          <p:cNvPr id="4" name="Text 2"/>
          <p:cNvSpPr/>
          <p:nvPr/>
        </p:nvSpPr>
        <p:spPr>
          <a:xfrm>
            <a:off x="640080" y="1481328"/>
            <a:ext cx="8138160" cy="9601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ETL Foundations</a:t>
            </a:r>
            <a:endParaRPr lang="en-US" sz="3000" dirty="0"/>
          </a:p>
        </p:txBody>
      </p:sp>
      <p:sp>
        <p:nvSpPr>
          <p:cNvPr id="5" name="Text 3"/>
          <p:cNvSpPr/>
          <p:nvPr/>
        </p:nvSpPr>
        <p:spPr>
          <a:xfrm>
            <a:off x="658368" y="2542032"/>
            <a:ext cx="8686800" cy="777240"/>
          </a:xfrm>
          <a:prstGeom prst="rect">
            <a:avLst/>
          </a:prstGeom>
          <a:noFill/>
          <a:ln/>
        </p:spPr>
        <p:txBody>
          <a:bodyPr wrap="square" lIns="0" tIns="0" rIns="0" bIns="0" rtlCol="0" anchor="ctr">
            <a:normAutofit/>
          </a:bodyPr>
          <a:lstStyle/>
          <a:p>
            <a:pPr indent="0" marL="0">
              <a:buNone/>
            </a:pPr>
            <a:r>
              <a:rPr lang="en-US" sz="1400" dirty="0">
                <a:solidFill>
                  <a:srgbClr val="CFD7E6"/>
                </a:solidFill>
                <a:latin typeface="Aptos" pitchFamily="34" charset="0"/>
                <a:ea typeface="Aptos" pitchFamily="34" charset="-122"/>
                <a:cs typeface="Aptos" pitchFamily="34" charset="-120"/>
              </a:rPr>
              <a:t>Before learning a platform, understand the pipeline concepts that remain stable across tools.</a:t>
            </a:r>
            <a:endParaRPr lang="en-US" sz="1400" dirty="0"/>
          </a:p>
        </p:txBody>
      </p:sp>
      <p:sp>
        <p:nvSpPr>
          <p:cNvPr id="6" name="Shape 4"/>
          <p:cNvSpPr/>
          <p:nvPr/>
        </p:nvSpPr>
        <p:spPr>
          <a:xfrm>
            <a:off x="685800" y="3995928"/>
            <a:ext cx="201168" cy="201168"/>
          </a:xfrm>
          <a:prstGeom prst="ellipse">
            <a:avLst/>
          </a:prstGeom>
          <a:solidFill>
            <a:srgbClr val="FF3621"/>
          </a:solidFill>
          <a:ln w="12700">
            <a:solidFill>
              <a:srgbClr val="FF3621"/>
            </a:solidFill>
            <a:prstDash val="solid"/>
          </a:ln>
        </p:spPr>
      </p:sp>
      <p:sp>
        <p:nvSpPr>
          <p:cNvPr id="7" name="Text 5"/>
          <p:cNvSpPr/>
          <p:nvPr/>
        </p:nvSpPr>
        <p:spPr>
          <a:xfrm>
            <a:off x="987552" y="3977640"/>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What ETL means</a:t>
            </a:r>
            <a:endParaRPr lang="en-US" sz="1150" dirty="0"/>
          </a:p>
        </p:txBody>
      </p:sp>
      <p:sp>
        <p:nvSpPr>
          <p:cNvPr id="8" name="Shape 6"/>
          <p:cNvSpPr/>
          <p:nvPr/>
        </p:nvSpPr>
        <p:spPr>
          <a:xfrm>
            <a:off x="685800" y="4562856"/>
            <a:ext cx="201168" cy="201168"/>
          </a:xfrm>
          <a:prstGeom prst="ellipse">
            <a:avLst/>
          </a:prstGeom>
          <a:solidFill>
            <a:srgbClr val="00A972"/>
          </a:solidFill>
          <a:ln w="12700">
            <a:solidFill>
              <a:srgbClr val="00A972"/>
            </a:solidFill>
            <a:prstDash val="solid"/>
          </a:ln>
        </p:spPr>
      </p:sp>
      <p:sp>
        <p:nvSpPr>
          <p:cNvPr id="9" name="Text 7"/>
          <p:cNvSpPr/>
          <p:nvPr/>
        </p:nvSpPr>
        <p:spPr>
          <a:xfrm>
            <a:off x="987552" y="4544568"/>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ETL vs ELT vs reverse ETL</a:t>
            </a:r>
            <a:endParaRPr lang="en-US" sz="1150" dirty="0"/>
          </a:p>
        </p:txBody>
      </p:sp>
      <p:sp>
        <p:nvSpPr>
          <p:cNvPr id="10" name="Shape 8"/>
          <p:cNvSpPr/>
          <p:nvPr/>
        </p:nvSpPr>
        <p:spPr>
          <a:xfrm>
            <a:off x="685800" y="5129784"/>
            <a:ext cx="201168" cy="201168"/>
          </a:xfrm>
          <a:prstGeom prst="ellipse">
            <a:avLst/>
          </a:prstGeom>
          <a:solidFill>
            <a:srgbClr val="FF3621"/>
          </a:solidFill>
          <a:ln w="12700">
            <a:solidFill>
              <a:srgbClr val="FF3621"/>
            </a:solidFill>
            <a:prstDash val="solid"/>
          </a:ln>
        </p:spPr>
      </p:sp>
      <p:sp>
        <p:nvSpPr>
          <p:cNvPr id="11" name="Text 9"/>
          <p:cNvSpPr/>
          <p:nvPr/>
        </p:nvSpPr>
        <p:spPr>
          <a:xfrm>
            <a:off x="987552" y="5111496"/>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Batch, micro-batch and streaming</a:t>
            </a:r>
            <a:endParaRPr lang="en-US" sz="1150" dirty="0"/>
          </a:p>
        </p:txBody>
      </p:sp>
      <p:sp>
        <p:nvSpPr>
          <p:cNvPr id="12" name="Shape 10"/>
          <p:cNvSpPr/>
          <p:nvPr/>
        </p:nvSpPr>
        <p:spPr>
          <a:xfrm>
            <a:off x="685800" y="5696712"/>
            <a:ext cx="201168" cy="201168"/>
          </a:xfrm>
          <a:prstGeom prst="ellipse">
            <a:avLst/>
          </a:prstGeom>
          <a:solidFill>
            <a:srgbClr val="00A972"/>
          </a:solidFill>
          <a:ln w="12700">
            <a:solidFill>
              <a:srgbClr val="00A972"/>
            </a:solidFill>
            <a:prstDash val="solid"/>
          </a:ln>
        </p:spPr>
      </p:sp>
      <p:sp>
        <p:nvSpPr>
          <p:cNvPr id="13" name="Text 11"/>
          <p:cNvSpPr/>
          <p:nvPr/>
        </p:nvSpPr>
        <p:spPr>
          <a:xfrm>
            <a:off x="987552" y="5678424"/>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Imperative vs declarative thinking</a:t>
            </a:r>
            <a:endParaRPr lang="en-US" sz="1150" dirty="0"/>
          </a:p>
        </p:txBody>
      </p:sp>
      <p:sp>
        <p:nvSpPr>
          <p:cNvPr id="14" name="Text 12"/>
          <p:cNvSpPr/>
          <p:nvPr/>
        </p:nvSpPr>
        <p:spPr>
          <a:xfrm>
            <a:off x="9326880" y="6172200"/>
            <a:ext cx="2194560" cy="274320"/>
          </a:xfrm>
          <a:prstGeom prst="rect">
            <a:avLst/>
          </a:prstGeom>
          <a:noFill/>
          <a:ln/>
        </p:spPr>
        <p:txBody>
          <a:bodyPr wrap="square" lIns="0" tIns="0" rIns="0" bIns="0" rtlCol="0" anchor="ctr"/>
          <a:lstStyle/>
          <a:p>
            <a:pPr algn="r" indent="0" marL="0">
              <a:buNone/>
            </a:pPr>
            <a:r>
              <a:rPr lang="en-US" sz="800" b="1" dirty="0">
                <a:solidFill>
                  <a:srgbClr val="8FA0BB"/>
                </a:solidFill>
                <a:latin typeface="Aptos" pitchFamily="34" charset="0"/>
                <a:ea typeface="Aptos" pitchFamily="34" charset="-122"/>
                <a:cs typeface="Aptos" pitchFamily="34" charset="-120"/>
              </a:rPr>
              <a:t>COMP 454 •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What ETL Actually Is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A repeatable workflow that moves data from source systems into a useful target state.</a:t>
            </a:r>
            <a:endParaRPr lang="en-US" sz="1100" dirty="0"/>
          </a:p>
        </p:txBody>
      </p:sp>
      <p:sp>
        <p:nvSpPr>
          <p:cNvPr id="4" name="Shape 2"/>
          <p:cNvSpPr/>
          <p:nvPr/>
        </p:nvSpPr>
        <p:spPr>
          <a:xfrm>
            <a:off x="960120" y="1828800"/>
            <a:ext cx="2834640" cy="713232"/>
          </a:xfrm>
          <a:prstGeom prst="roundRect">
            <a:avLst>
              <a:gd name="adj" fmla="val 7692"/>
            </a:avLst>
          </a:prstGeom>
          <a:solidFill>
            <a:srgbClr val="EBF1FE"/>
          </a:solidFill>
          <a:ln w="12700">
            <a:solidFill>
              <a:srgbClr val="3B6FF5"/>
            </a:solidFill>
            <a:prstDash val="solid"/>
          </a:ln>
        </p:spPr>
      </p:sp>
      <p:sp>
        <p:nvSpPr>
          <p:cNvPr id="5" name="Text 3"/>
          <p:cNvSpPr/>
          <p:nvPr/>
        </p:nvSpPr>
        <p:spPr>
          <a:xfrm>
            <a:off x="1033272" y="2002536"/>
            <a:ext cx="2688336" cy="320040"/>
          </a:xfrm>
          <a:prstGeom prst="rect">
            <a:avLst/>
          </a:prstGeom>
          <a:noFill/>
          <a:ln/>
        </p:spPr>
        <p:txBody>
          <a:bodyPr wrap="square" lIns="0" tIns="0" rIns="0" bIns="0" rtlCol="0" anchor="ctr">
            <a:normAutofit/>
          </a:bodyPr>
          <a:lstStyle/>
          <a:p>
            <a:pPr algn="ctr" indent="0" marL="0">
              <a:buNone/>
            </a:pPr>
            <a:r>
              <a:rPr lang="en-US" sz="1150" b="1" dirty="0">
                <a:solidFill>
                  <a:srgbClr val="17233C"/>
                </a:solidFill>
                <a:latin typeface="Aptos" pitchFamily="34" charset="0"/>
                <a:ea typeface="Aptos" pitchFamily="34" charset="-122"/>
                <a:cs typeface="Aptos" pitchFamily="34" charset="-120"/>
              </a:rPr>
              <a:t>EXTRACT</a:t>
            </a:r>
            <a:endParaRPr lang="en-US" sz="1150" dirty="0"/>
          </a:p>
        </p:txBody>
      </p:sp>
      <p:sp>
        <p:nvSpPr>
          <p:cNvPr id="6" name="Shape 4"/>
          <p:cNvSpPr/>
          <p:nvPr/>
        </p:nvSpPr>
        <p:spPr>
          <a:xfrm>
            <a:off x="3840480" y="2185416"/>
            <a:ext cx="475488" cy="0"/>
          </a:xfrm>
          <a:prstGeom prst="line">
            <a:avLst/>
          </a:prstGeom>
          <a:noFill/>
          <a:ln w="12700">
            <a:solidFill>
              <a:srgbClr val="9AA4B3"/>
            </a:solidFill>
            <a:prstDash val="solid"/>
            <a:headEnd type="none"/>
            <a:tailEnd type="triangle"/>
          </a:ln>
        </p:spPr>
      </p:sp>
      <p:sp>
        <p:nvSpPr>
          <p:cNvPr id="7" name="Shape 5"/>
          <p:cNvSpPr/>
          <p:nvPr/>
        </p:nvSpPr>
        <p:spPr>
          <a:xfrm>
            <a:off x="4361688" y="1828800"/>
            <a:ext cx="2834640" cy="713232"/>
          </a:xfrm>
          <a:prstGeom prst="roundRect">
            <a:avLst>
              <a:gd name="adj" fmla="val 7692"/>
            </a:avLst>
          </a:prstGeom>
          <a:solidFill>
            <a:srgbClr val="F2EDFF"/>
          </a:solidFill>
          <a:ln w="12700">
            <a:solidFill>
              <a:srgbClr val="7C4DFF"/>
            </a:solidFill>
            <a:prstDash val="solid"/>
          </a:ln>
        </p:spPr>
      </p:sp>
      <p:sp>
        <p:nvSpPr>
          <p:cNvPr id="8" name="Text 6"/>
          <p:cNvSpPr/>
          <p:nvPr/>
        </p:nvSpPr>
        <p:spPr>
          <a:xfrm>
            <a:off x="4434840" y="2002536"/>
            <a:ext cx="2688336" cy="320040"/>
          </a:xfrm>
          <a:prstGeom prst="rect">
            <a:avLst/>
          </a:prstGeom>
          <a:noFill/>
          <a:ln/>
        </p:spPr>
        <p:txBody>
          <a:bodyPr wrap="square" lIns="0" tIns="0" rIns="0" bIns="0" rtlCol="0" anchor="ctr">
            <a:normAutofit/>
          </a:bodyPr>
          <a:lstStyle/>
          <a:p>
            <a:pPr algn="ctr" indent="0" marL="0">
              <a:buNone/>
            </a:pPr>
            <a:r>
              <a:rPr lang="en-US" sz="1150" b="1" dirty="0">
                <a:solidFill>
                  <a:srgbClr val="17233C"/>
                </a:solidFill>
                <a:latin typeface="Aptos" pitchFamily="34" charset="0"/>
                <a:ea typeface="Aptos" pitchFamily="34" charset="-122"/>
                <a:cs typeface="Aptos" pitchFamily="34" charset="-120"/>
              </a:rPr>
              <a:t>TRANSFORM</a:t>
            </a:r>
            <a:endParaRPr lang="en-US" sz="1150" dirty="0"/>
          </a:p>
        </p:txBody>
      </p:sp>
      <p:sp>
        <p:nvSpPr>
          <p:cNvPr id="9" name="Shape 7"/>
          <p:cNvSpPr/>
          <p:nvPr/>
        </p:nvSpPr>
        <p:spPr>
          <a:xfrm>
            <a:off x="7242048" y="2185416"/>
            <a:ext cx="475488" cy="0"/>
          </a:xfrm>
          <a:prstGeom prst="line">
            <a:avLst/>
          </a:prstGeom>
          <a:noFill/>
          <a:ln w="12700">
            <a:solidFill>
              <a:srgbClr val="9AA4B3"/>
            </a:solidFill>
            <a:prstDash val="solid"/>
            <a:headEnd type="none"/>
            <a:tailEnd type="triangle"/>
          </a:ln>
        </p:spPr>
      </p:sp>
      <p:sp>
        <p:nvSpPr>
          <p:cNvPr id="10" name="Shape 8"/>
          <p:cNvSpPr/>
          <p:nvPr/>
        </p:nvSpPr>
        <p:spPr>
          <a:xfrm>
            <a:off x="7763256" y="1828800"/>
            <a:ext cx="2834640" cy="713232"/>
          </a:xfrm>
          <a:prstGeom prst="roundRect">
            <a:avLst>
              <a:gd name="adj" fmla="val 7692"/>
            </a:avLst>
          </a:prstGeom>
          <a:solidFill>
            <a:srgbClr val="FEF6E7"/>
          </a:solidFill>
          <a:ln w="12700">
            <a:solidFill>
              <a:srgbClr val="F3A712"/>
            </a:solidFill>
            <a:prstDash val="solid"/>
          </a:ln>
        </p:spPr>
      </p:sp>
      <p:sp>
        <p:nvSpPr>
          <p:cNvPr id="11" name="Text 9"/>
          <p:cNvSpPr/>
          <p:nvPr/>
        </p:nvSpPr>
        <p:spPr>
          <a:xfrm>
            <a:off x="7836408" y="2002536"/>
            <a:ext cx="2688336" cy="320040"/>
          </a:xfrm>
          <a:prstGeom prst="rect">
            <a:avLst/>
          </a:prstGeom>
          <a:noFill/>
          <a:ln/>
        </p:spPr>
        <p:txBody>
          <a:bodyPr wrap="square" lIns="0" tIns="0" rIns="0" bIns="0" rtlCol="0" anchor="ctr">
            <a:normAutofit/>
          </a:bodyPr>
          <a:lstStyle/>
          <a:p>
            <a:pPr algn="ctr" indent="0" marL="0">
              <a:buNone/>
            </a:pPr>
            <a:r>
              <a:rPr lang="en-US" sz="1150" b="1" dirty="0">
                <a:solidFill>
                  <a:srgbClr val="17233C"/>
                </a:solidFill>
                <a:latin typeface="Aptos" pitchFamily="34" charset="0"/>
                <a:ea typeface="Aptos" pitchFamily="34" charset="-122"/>
                <a:cs typeface="Aptos" pitchFamily="34" charset="-120"/>
              </a:rPr>
              <a:t>LOAD</a:t>
            </a:r>
            <a:endParaRPr lang="en-US" sz="1150" dirty="0"/>
          </a:p>
        </p:txBody>
      </p:sp>
      <p:sp>
        <p:nvSpPr>
          <p:cNvPr id="12" name="Shape 10"/>
          <p:cNvSpPr/>
          <p:nvPr/>
        </p:nvSpPr>
        <p:spPr>
          <a:xfrm>
            <a:off x="822960" y="3246120"/>
            <a:ext cx="3246120" cy="1600200"/>
          </a:xfrm>
          <a:prstGeom prst="roundRect">
            <a:avLst>
              <a:gd name="adj" fmla="val 4000"/>
            </a:avLst>
          </a:prstGeom>
          <a:solidFill>
            <a:srgbClr val="FFFFFF"/>
          </a:solidFill>
          <a:ln w="12700">
            <a:solidFill>
              <a:srgbClr val="DDE2EA"/>
            </a:solidFill>
            <a:prstDash val="solid"/>
          </a:ln>
        </p:spPr>
      </p:sp>
      <p:sp>
        <p:nvSpPr>
          <p:cNvPr id="13" name="Shape 11"/>
          <p:cNvSpPr/>
          <p:nvPr/>
        </p:nvSpPr>
        <p:spPr>
          <a:xfrm>
            <a:off x="822960" y="3246120"/>
            <a:ext cx="50292" cy="1600200"/>
          </a:xfrm>
          <a:prstGeom prst="rect">
            <a:avLst/>
          </a:prstGeom>
          <a:solidFill>
            <a:srgbClr val="3B6FF5"/>
          </a:solidFill>
          <a:ln w="12700">
            <a:solidFill>
              <a:srgbClr val="3B6FF5"/>
            </a:solidFill>
            <a:prstDash val="solid"/>
          </a:ln>
        </p:spPr>
      </p:sp>
      <p:sp>
        <p:nvSpPr>
          <p:cNvPr id="14" name="Text 12"/>
          <p:cNvSpPr/>
          <p:nvPr/>
        </p:nvSpPr>
        <p:spPr>
          <a:xfrm>
            <a:off x="1024128" y="3465576"/>
            <a:ext cx="2880360"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Extract</a:t>
            </a:r>
            <a:endParaRPr lang="en-US" sz="1400" dirty="0"/>
          </a:p>
        </p:txBody>
      </p:sp>
      <p:sp>
        <p:nvSpPr>
          <p:cNvPr id="15" name="Text 13"/>
          <p:cNvSpPr/>
          <p:nvPr/>
        </p:nvSpPr>
        <p:spPr>
          <a:xfrm>
            <a:off x="1024128" y="3904488"/>
            <a:ext cx="2862072" cy="777240"/>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Acquire data from source systems while preserving meaning and context.</a:t>
            </a:r>
            <a:endParaRPr lang="en-US" sz="1000" dirty="0"/>
          </a:p>
        </p:txBody>
      </p:sp>
      <p:sp>
        <p:nvSpPr>
          <p:cNvPr id="16" name="Shape 14"/>
          <p:cNvSpPr/>
          <p:nvPr/>
        </p:nvSpPr>
        <p:spPr>
          <a:xfrm>
            <a:off x="4462272" y="3246120"/>
            <a:ext cx="3246120" cy="1600200"/>
          </a:xfrm>
          <a:prstGeom prst="roundRect">
            <a:avLst>
              <a:gd name="adj" fmla="val 4000"/>
            </a:avLst>
          </a:prstGeom>
          <a:solidFill>
            <a:srgbClr val="FFFFFF"/>
          </a:solidFill>
          <a:ln w="12700">
            <a:solidFill>
              <a:srgbClr val="DDE2EA"/>
            </a:solidFill>
            <a:prstDash val="solid"/>
          </a:ln>
        </p:spPr>
      </p:sp>
      <p:sp>
        <p:nvSpPr>
          <p:cNvPr id="17" name="Shape 15"/>
          <p:cNvSpPr/>
          <p:nvPr/>
        </p:nvSpPr>
        <p:spPr>
          <a:xfrm>
            <a:off x="4462272" y="3246120"/>
            <a:ext cx="50292" cy="1600200"/>
          </a:xfrm>
          <a:prstGeom prst="rect">
            <a:avLst/>
          </a:prstGeom>
          <a:solidFill>
            <a:srgbClr val="7C4DFF"/>
          </a:solidFill>
          <a:ln w="12700">
            <a:solidFill>
              <a:srgbClr val="7C4DFF"/>
            </a:solidFill>
            <a:prstDash val="solid"/>
          </a:ln>
        </p:spPr>
      </p:sp>
      <p:sp>
        <p:nvSpPr>
          <p:cNvPr id="18" name="Text 16"/>
          <p:cNvSpPr/>
          <p:nvPr/>
        </p:nvSpPr>
        <p:spPr>
          <a:xfrm>
            <a:off x="4663440" y="3465576"/>
            <a:ext cx="2880360"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Transform</a:t>
            </a:r>
            <a:endParaRPr lang="en-US" sz="1400" dirty="0"/>
          </a:p>
        </p:txBody>
      </p:sp>
      <p:sp>
        <p:nvSpPr>
          <p:cNvPr id="19" name="Text 17"/>
          <p:cNvSpPr/>
          <p:nvPr/>
        </p:nvSpPr>
        <p:spPr>
          <a:xfrm>
            <a:off x="4663440" y="3904488"/>
            <a:ext cx="2862072" cy="777240"/>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Clean, validate, integrate, enrich, aggregate and restructure the data.</a:t>
            </a:r>
            <a:endParaRPr lang="en-US" sz="1000" dirty="0"/>
          </a:p>
        </p:txBody>
      </p:sp>
      <p:sp>
        <p:nvSpPr>
          <p:cNvPr id="20" name="Shape 18"/>
          <p:cNvSpPr/>
          <p:nvPr/>
        </p:nvSpPr>
        <p:spPr>
          <a:xfrm>
            <a:off x="8101584" y="3246120"/>
            <a:ext cx="3246120" cy="1600200"/>
          </a:xfrm>
          <a:prstGeom prst="roundRect">
            <a:avLst>
              <a:gd name="adj" fmla="val 4000"/>
            </a:avLst>
          </a:prstGeom>
          <a:solidFill>
            <a:srgbClr val="FFFFFF"/>
          </a:solidFill>
          <a:ln w="12700">
            <a:solidFill>
              <a:srgbClr val="DDE2EA"/>
            </a:solidFill>
            <a:prstDash val="solid"/>
          </a:ln>
        </p:spPr>
      </p:sp>
      <p:sp>
        <p:nvSpPr>
          <p:cNvPr id="21" name="Shape 19"/>
          <p:cNvSpPr/>
          <p:nvPr/>
        </p:nvSpPr>
        <p:spPr>
          <a:xfrm>
            <a:off x="8101584" y="3246120"/>
            <a:ext cx="50292" cy="1600200"/>
          </a:xfrm>
          <a:prstGeom prst="rect">
            <a:avLst/>
          </a:prstGeom>
          <a:solidFill>
            <a:srgbClr val="F3A712"/>
          </a:solidFill>
          <a:ln w="12700">
            <a:solidFill>
              <a:srgbClr val="F3A712"/>
            </a:solidFill>
            <a:prstDash val="solid"/>
          </a:ln>
        </p:spPr>
      </p:sp>
      <p:sp>
        <p:nvSpPr>
          <p:cNvPr id="22" name="Text 20"/>
          <p:cNvSpPr/>
          <p:nvPr/>
        </p:nvSpPr>
        <p:spPr>
          <a:xfrm>
            <a:off x="8302752" y="3465576"/>
            <a:ext cx="2880360"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Load</a:t>
            </a:r>
            <a:endParaRPr lang="en-US" sz="1400" dirty="0"/>
          </a:p>
        </p:txBody>
      </p:sp>
      <p:sp>
        <p:nvSpPr>
          <p:cNvPr id="23" name="Text 21"/>
          <p:cNvSpPr/>
          <p:nvPr/>
        </p:nvSpPr>
        <p:spPr>
          <a:xfrm>
            <a:off x="8302752" y="3904488"/>
            <a:ext cx="2862072" cy="777240"/>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Persist the result in a target where BI, analytics, ML or applications can consume it.</a:t>
            </a:r>
            <a:endParaRPr lang="en-US" sz="1000" dirty="0"/>
          </a:p>
        </p:txBody>
      </p:sp>
      <p:sp>
        <p:nvSpPr>
          <p:cNvPr id="24" name="Text 22"/>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Introduction</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ETL Is a Business-Value Pipeline</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The technical steps only matter because they produce useful, trusted outcomes.</a:t>
            </a:r>
            <a:endParaRPr lang="en-US" sz="1100" dirty="0"/>
          </a:p>
        </p:txBody>
      </p:sp>
      <p:sp>
        <p:nvSpPr>
          <p:cNvPr id="4" name="Shape 2"/>
          <p:cNvSpPr/>
          <p:nvPr/>
        </p:nvSpPr>
        <p:spPr>
          <a:xfrm>
            <a:off x="713232" y="1874520"/>
            <a:ext cx="2423160" cy="2011680"/>
          </a:xfrm>
          <a:prstGeom prst="roundRect">
            <a:avLst>
              <a:gd name="adj" fmla="val 3182"/>
            </a:avLst>
          </a:prstGeom>
          <a:solidFill>
            <a:srgbClr val="FFFFFF"/>
          </a:solidFill>
          <a:ln w="12700">
            <a:solidFill>
              <a:srgbClr val="DDE2EA"/>
            </a:solidFill>
            <a:prstDash val="solid"/>
          </a:ln>
        </p:spPr>
      </p:sp>
      <p:sp>
        <p:nvSpPr>
          <p:cNvPr id="5" name="Shape 3"/>
          <p:cNvSpPr/>
          <p:nvPr/>
        </p:nvSpPr>
        <p:spPr>
          <a:xfrm>
            <a:off x="713232" y="1874520"/>
            <a:ext cx="50292" cy="2011680"/>
          </a:xfrm>
          <a:prstGeom prst="rect">
            <a:avLst/>
          </a:prstGeom>
          <a:solidFill>
            <a:srgbClr val="3B6FF5"/>
          </a:solidFill>
          <a:ln w="12700">
            <a:solidFill>
              <a:srgbClr val="3B6FF5"/>
            </a:solidFill>
            <a:prstDash val="solid"/>
          </a:ln>
        </p:spPr>
      </p:sp>
      <p:sp>
        <p:nvSpPr>
          <p:cNvPr id="6" name="Text 4"/>
          <p:cNvSpPr/>
          <p:nvPr/>
        </p:nvSpPr>
        <p:spPr>
          <a:xfrm>
            <a:off x="914400" y="2093976"/>
            <a:ext cx="205740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Raw events</a:t>
            </a:r>
            <a:endParaRPr lang="en-US" sz="1350" dirty="0"/>
          </a:p>
        </p:txBody>
      </p:sp>
      <p:sp>
        <p:nvSpPr>
          <p:cNvPr id="7" name="Text 5"/>
          <p:cNvSpPr/>
          <p:nvPr/>
        </p:nvSpPr>
        <p:spPr>
          <a:xfrm>
            <a:off x="914400" y="2532888"/>
            <a:ext cx="2039112" cy="1188720"/>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Orders, API payloads, files, logs</a:t>
            </a:r>
            <a:endParaRPr lang="en-US" sz="1000" dirty="0"/>
          </a:p>
        </p:txBody>
      </p:sp>
      <p:sp>
        <p:nvSpPr>
          <p:cNvPr id="8" name="Shape 6"/>
          <p:cNvSpPr/>
          <p:nvPr/>
        </p:nvSpPr>
        <p:spPr>
          <a:xfrm>
            <a:off x="3154680" y="2880360"/>
            <a:ext cx="283464" cy="0"/>
          </a:xfrm>
          <a:prstGeom prst="line">
            <a:avLst/>
          </a:prstGeom>
          <a:noFill/>
          <a:ln w="12700">
            <a:solidFill>
              <a:srgbClr val="A5ADBA"/>
            </a:solidFill>
            <a:prstDash val="solid"/>
            <a:headEnd type="none"/>
            <a:tailEnd type="triangle"/>
          </a:ln>
        </p:spPr>
      </p:sp>
      <p:sp>
        <p:nvSpPr>
          <p:cNvPr id="9" name="Shape 7"/>
          <p:cNvSpPr/>
          <p:nvPr/>
        </p:nvSpPr>
        <p:spPr>
          <a:xfrm>
            <a:off x="3502152" y="1874520"/>
            <a:ext cx="2423160" cy="2011680"/>
          </a:xfrm>
          <a:prstGeom prst="roundRect">
            <a:avLst>
              <a:gd name="adj" fmla="val 3182"/>
            </a:avLst>
          </a:prstGeom>
          <a:solidFill>
            <a:srgbClr val="FFFFFF"/>
          </a:solidFill>
          <a:ln w="12700">
            <a:solidFill>
              <a:srgbClr val="DDE2EA"/>
            </a:solidFill>
            <a:prstDash val="solid"/>
          </a:ln>
        </p:spPr>
      </p:sp>
      <p:sp>
        <p:nvSpPr>
          <p:cNvPr id="10" name="Shape 8"/>
          <p:cNvSpPr/>
          <p:nvPr/>
        </p:nvSpPr>
        <p:spPr>
          <a:xfrm>
            <a:off x="3502152" y="1874520"/>
            <a:ext cx="50292" cy="2011680"/>
          </a:xfrm>
          <a:prstGeom prst="rect">
            <a:avLst/>
          </a:prstGeom>
          <a:solidFill>
            <a:srgbClr val="00A972"/>
          </a:solidFill>
          <a:ln w="12700">
            <a:solidFill>
              <a:srgbClr val="00A972"/>
            </a:solidFill>
            <a:prstDash val="solid"/>
          </a:ln>
        </p:spPr>
      </p:sp>
      <p:sp>
        <p:nvSpPr>
          <p:cNvPr id="11" name="Text 9"/>
          <p:cNvSpPr/>
          <p:nvPr/>
        </p:nvSpPr>
        <p:spPr>
          <a:xfrm>
            <a:off x="3703320" y="2093976"/>
            <a:ext cx="205740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Trusted data</a:t>
            </a:r>
            <a:endParaRPr lang="en-US" sz="1350" dirty="0"/>
          </a:p>
        </p:txBody>
      </p:sp>
      <p:sp>
        <p:nvSpPr>
          <p:cNvPr id="12" name="Text 10"/>
          <p:cNvSpPr/>
          <p:nvPr/>
        </p:nvSpPr>
        <p:spPr>
          <a:xfrm>
            <a:off x="3703320" y="2532888"/>
            <a:ext cx="2039112" cy="1188720"/>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Validated, consistent, historically correct</a:t>
            </a:r>
            <a:endParaRPr lang="en-US" sz="1000" dirty="0"/>
          </a:p>
        </p:txBody>
      </p:sp>
      <p:sp>
        <p:nvSpPr>
          <p:cNvPr id="13" name="Shape 11"/>
          <p:cNvSpPr/>
          <p:nvPr/>
        </p:nvSpPr>
        <p:spPr>
          <a:xfrm>
            <a:off x="5943600" y="2880360"/>
            <a:ext cx="283464" cy="0"/>
          </a:xfrm>
          <a:prstGeom prst="line">
            <a:avLst/>
          </a:prstGeom>
          <a:noFill/>
          <a:ln w="12700">
            <a:solidFill>
              <a:srgbClr val="A5ADBA"/>
            </a:solidFill>
            <a:prstDash val="solid"/>
            <a:headEnd type="none"/>
            <a:tailEnd type="triangle"/>
          </a:ln>
        </p:spPr>
      </p:sp>
      <p:sp>
        <p:nvSpPr>
          <p:cNvPr id="14" name="Shape 12"/>
          <p:cNvSpPr/>
          <p:nvPr/>
        </p:nvSpPr>
        <p:spPr>
          <a:xfrm>
            <a:off x="6291072" y="1874520"/>
            <a:ext cx="2423160" cy="2011680"/>
          </a:xfrm>
          <a:prstGeom prst="roundRect">
            <a:avLst>
              <a:gd name="adj" fmla="val 3182"/>
            </a:avLst>
          </a:prstGeom>
          <a:solidFill>
            <a:srgbClr val="FFFFFF"/>
          </a:solidFill>
          <a:ln w="12700">
            <a:solidFill>
              <a:srgbClr val="DDE2EA"/>
            </a:solidFill>
            <a:prstDash val="solid"/>
          </a:ln>
        </p:spPr>
      </p:sp>
      <p:sp>
        <p:nvSpPr>
          <p:cNvPr id="15" name="Shape 13"/>
          <p:cNvSpPr/>
          <p:nvPr/>
        </p:nvSpPr>
        <p:spPr>
          <a:xfrm>
            <a:off x="6291072" y="1874520"/>
            <a:ext cx="50292" cy="2011680"/>
          </a:xfrm>
          <a:prstGeom prst="rect">
            <a:avLst/>
          </a:prstGeom>
          <a:solidFill>
            <a:srgbClr val="7C4DFF"/>
          </a:solidFill>
          <a:ln w="12700">
            <a:solidFill>
              <a:srgbClr val="7C4DFF"/>
            </a:solidFill>
            <a:prstDash val="solid"/>
          </a:ln>
        </p:spPr>
      </p:sp>
      <p:sp>
        <p:nvSpPr>
          <p:cNvPr id="16" name="Text 14"/>
          <p:cNvSpPr/>
          <p:nvPr/>
        </p:nvSpPr>
        <p:spPr>
          <a:xfrm>
            <a:off x="6492240" y="2093976"/>
            <a:ext cx="205740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Analytical models</a:t>
            </a:r>
            <a:endParaRPr lang="en-US" sz="1350" dirty="0"/>
          </a:p>
        </p:txBody>
      </p:sp>
      <p:sp>
        <p:nvSpPr>
          <p:cNvPr id="17" name="Text 15"/>
          <p:cNvSpPr/>
          <p:nvPr/>
        </p:nvSpPr>
        <p:spPr>
          <a:xfrm>
            <a:off x="6492240" y="2532888"/>
            <a:ext cx="2039112" cy="1188720"/>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Facts, dimensions, feature marts</a:t>
            </a:r>
            <a:endParaRPr lang="en-US" sz="1000" dirty="0"/>
          </a:p>
        </p:txBody>
      </p:sp>
      <p:sp>
        <p:nvSpPr>
          <p:cNvPr id="18" name="Shape 16"/>
          <p:cNvSpPr/>
          <p:nvPr/>
        </p:nvSpPr>
        <p:spPr>
          <a:xfrm>
            <a:off x="8732520" y="2880360"/>
            <a:ext cx="283464" cy="0"/>
          </a:xfrm>
          <a:prstGeom prst="line">
            <a:avLst/>
          </a:prstGeom>
          <a:noFill/>
          <a:ln w="12700">
            <a:solidFill>
              <a:srgbClr val="A5ADBA"/>
            </a:solidFill>
            <a:prstDash val="solid"/>
            <a:headEnd type="none"/>
            <a:tailEnd type="triangle"/>
          </a:ln>
        </p:spPr>
      </p:sp>
      <p:sp>
        <p:nvSpPr>
          <p:cNvPr id="19" name="Shape 17"/>
          <p:cNvSpPr/>
          <p:nvPr/>
        </p:nvSpPr>
        <p:spPr>
          <a:xfrm>
            <a:off x="9079992" y="1874520"/>
            <a:ext cx="2423160" cy="2011680"/>
          </a:xfrm>
          <a:prstGeom prst="roundRect">
            <a:avLst>
              <a:gd name="adj" fmla="val 3182"/>
            </a:avLst>
          </a:prstGeom>
          <a:solidFill>
            <a:srgbClr val="FFFFFF"/>
          </a:solidFill>
          <a:ln w="12700">
            <a:solidFill>
              <a:srgbClr val="DDE2EA"/>
            </a:solidFill>
            <a:prstDash val="solid"/>
          </a:ln>
        </p:spPr>
      </p:sp>
      <p:sp>
        <p:nvSpPr>
          <p:cNvPr id="20" name="Shape 18"/>
          <p:cNvSpPr/>
          <p:nvPr/>
        </p:nvSpPr>
        <p:spPr>
          <a:xfrm>
            <a:off x="9079992" y="1874520"/>
            <a:ext cx="50292" cy="2011680"/>
          </a:xfrm>
          <a:prstGeom prst="rect">
            <a:avLst/>
          </a:prstGeom>
          <a:solidFill>
            <a:srgbClr val="FF3621"/>
          </a:solidFill>
          <a:ln w="12700">
            <a:solidFill>
              <a:srgbClr val="FF3621"/>
            </a:solidFill>
            <a:prstDash val="solid"/>
          </a:ln>
        </p:spPr>
      </p:sp>
      <p:sp>
        <p:nvSpPr>
          <p:cNvPr id="21" name="Text 19"/>
          <p:cNvSpPr/>
          <p:nvPr/>
        </p:nvSpPr>
        <p:spPr>
          <a:xfrm>
            <a:off x="9281160" y="2093976"/>
            <a:ext cx="205740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Decision / action</a:t>
            </a:r>
            <a:endParaRPr lang="en-US" sz="1350" dirty="0"/>
          </a:p>
        </p:txBody>
      </p:sp>
      <p:sp>
        <p:nvSpPr>
          <p:cNvPr id="22" name="Text 20"/>
          <p:cNvSpPr/>
          <p:nvPr/>
        </p:nvSpPr>
        <p:spPr>
          <a:xfrm>
            <a:off x="9281160" y="2532888"/>
            <a:ext cx="2039112" cy="1188720"/>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Dashboards, ML predictions, alerts</a:t>
            </a:r>
            <a:endParaRPr lang="en-US" sz="1000" dirty="0"/>
          </a:p>
        </p:txBody>
      </p:sp>
      <p:sp>
        <p:nvSpPr>
          <p:cNvPr id="23" name="Shape 21"/>
          <p:cNvSpPr/>
          <p:nvPr/>
        </p:nvSpPr>
        <p:spPr>
          <a:xfrm>
            <a:off x="1097280" y="4617720"/>
            <a:ext cx="9966960" cy="749808"/>
          </a:xfrm>
          <a:prstGeom prst="roundRect">
            <a:avLst>
              <a:gd name="adj" fmla="val 7317"/>
            </a:avLst>
          </a:prstGeom>
          <a:solidFill>
            <a:srgbClr val="ECF8F3"/>
          </a:solidFill>
          <a:ln w="12700">
            <a:solidFill>
              <a:srgbClr val="ECF8F3"/>
            </a:solidFill>
            <a:prstDash val="solid"/>
          </a:ln>
        </p:spPr>
      </p:sp>
      <p:sp>
        <p:nvSpPr>
          <p:cNvPr id="24" name="Text 22"/>
          <p:cNvSpPr/>
          <p:nvPr/>
        </p:nvSpPr>
        <p:spPr>
          <a:xfrm>
            <a:off x="1261872" y="4736592"/>
            <a:ext cx="9637776" cy="521208"/>
          </a:xfrm>
          <a:prstGeom prst="rect">
            <a:avLst/>
          </a:prstGeom>
          <a:noFill/>
          <a:ln/>
        </p:spPr>
        <p:txBody>
          <a:bodyPr wrap="square" lIns="0" tIns="0" rIns="0" bIns="0" rtlCol="0" anchor="ctr">
            <a:normAutofit/>
          </a:bodyPr>
          <a:lstStyle/>
          <a:p>
            <a:pPr indent="0" marL="0">
              <a:buNone/>
            </a:pPr>
            <a:r>
              <a:rPr lang="en-US" sz="1100" b="1" dirty="0">
                <a:solidFill>
                  <a:srgbClr val="00A972"/>
                </a:solidFill>
                <a:latin typeface="Aptos" pitchFamily="34" charset="0"/>
                <a:ea typeface="Aptos" pitchFamily="34" charset="-122"/>
                <a:cs typeface="Aptos" pitchFamily="34" charset="-120"/>
              </a:rPr>
              <a:t>A pipeline is successful when it delivers the right data, at the right quality, at the right time, for the right consumer.</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ETL vs ELT vs Reverse ETL</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The letters describe sequencing; the engineering principles remain largely the same.</a:t>
            </a:r>
            <a:endParaRPr lang="en-US" sz="1100" dirty="0"/>
          </a:p>
        </p:txBody>
      </p:sp>
      <p:sp>
        <p:nvSpPr>
          <p:cNvPr id="4" name="Shape 2"/>
          <p:cNvSpPr/>
          <p:nvPr/>
        </p:nvSpPr>
        <p:spPr>
          <a:xfrm>
            <a:off x="640080" y="1508760"/>
            <a:ext cx="3429000" cy="2926080"/>
          </a:xfrm>
          <a:prstGeom prst="roundRect">
            <a:avLst>
              <a:gd name="adj" fmla="val 2188"/>
            </a:avLst>
          </a:prstGeom>
          <a:solidFill>
            <a:srgbClr val="FFFFFF"/>
          </a:solidFill>
          <a:ln w="12700">
            <a:solidFill>
              <a:srgbClr val="DDE2EA"/>
            </a:solidFill>
            <a:prstDash val="solid"/>
          </a:ln>
        </p:spPr>
      </p:sp>
      <p:sp>
        <p:nvSpPr>
          <p:cNvPr id="5" name="Shape 3"/>
          <p:cNvSpPr/>
          <p:nvPr/>
        </p:nvSpPr>
        <p:spPr>
          <a:xfrm>
            <a:off x="640080" y="1508760"/>
            <a:ext cx="50292" cy="2926080"/>
          </a:xfrm>
          <a:prstGeom prst="rect">
            <a:avLst/>
          </a:prstGeom>
          <a:solidFill>
            <a:srgbClr val="3B6FF5"/>
          </a:solidFill>
          <a:ln w="12700">
            <a:solidFill>
              <a:srgbClr val="3B6FF5"/>
            </a:solidFill>
            <a:prstDash val="solid"/>
          </a:ln>
        </p:spPr>
      </p:sp>
      <p:sp>
        <p:nvSpPr>
          <p:cNvPr id="6" name="Shape 4"/>
          <p:cNvSpPr/>
          <p:nvPr/>
        </p:nvSpPr>
        <p:spPr>
          <a:xfrm>
            <a:off x="841248" y="169164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841248" y="175564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E→T→L</a:t>
            </a:r>
            <a:endParaRPr lang="en-US" sz="730" dirty="0"/>
          </a:p>
        </p:txBody>
      </p:sp>
      <p:sp>
        <p:nvSpPr>
          <p:cNvPr id="8" name="Text 6"/>
          <p:cNvSpPr/>
          <p:nvPr/>
        </p:nvSpPr>
        <p:spPr>
          <a:xfrm>
            <a:off x="841248" y="2093976"/>
            <a:ext cx="306324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ETL</a:t>
            </a:r>
            <a:endParaRPr lang="en-US" sz="1500" dirty="0"/>
          </a:p>
        </p:txBody>
      </p:sp>
      <p:sp>
        <p:nvSpPr>
          <p:cNvPr id="9" name="Text 7"/>
          <p:cNvSpPr/>
          <p:nvPr/>
        </p:nvSpPr>
        <p:spPr>
          <a:xfrm>
            <a:off x="841248" y="2468880"/>
            <a:ext cx="3044952" cy="180136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Extract → Transform → Load</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Transform before the final target. Common in traditional warehouse architectures with constrained target compute.</a:t>
            </a:r>
            <a:endParaRPr lang="en-US" sz="1050" dirty="0"/>
          </a:p>
        </p:txBody>
      </p:sp>
      <p:sp>
        <p:nvSpPr>
          <p:cNvPr id="10" name="Shape 8"/>
          <p:cNvSpPr/>
          <p:nvPr/>
        </p:nvSpPr>
        <p:spPr>
          <a:xfrm>
            <a:off x="4389120" y="1508760"/>
            <a:ext cx="3429000" cy="2926080"/>
          </a:xfrm>
          <a:prstGeom prst="roundRect">
            <a:avLst>
              <a:gd name="adj" fmla="val 2188"/>
            </a:avLst>
          </a:prstGeom>
          <a:solidFill>
            <a:srgbClr val="FFFFFF"/>
          </a:solidFill>
          <a:ln w="12700">
            <a:solidFill>
              <a:srgbClr val="DDE2EA"/>
            </a:solidFill>
            <a:prstDash val="solid"/>
          </a:ln>
        </p:spPr>
      </p:sp>
      <p:sp>
        <p:nvSpPr>
          <p:cNvPr id="11" name="Shape 9"/>
          <p:cNvSpPr/>
          <p:nvPr/>
        </p:nvSpPr>
        <p:spPr>
          <a:xfrm>
            <a:off x="4389120" y="1508760"/>
            <a:ext cx="50292" cy="2926080"/>
          </a:xfrm>
          <a:prstGeom prst="rect">
            <a:avLst/>
          </a:prstGeom>
          <a:solidFill>
            <a:srgbClr val="00A972"/>
          </a:solidFill>
          <a:ln w="12700">
            <a:solidFill>
              <a:srgbClr val="00A972"/>
            </a:solidFill>
            <a:prstDash val="solid"/>
          </a:ln>
        </p:spPr>
      </p:sp>
      <p:sp>
        <p:nvSpPr>
          <p:cNvPr id="12" name="Shape 10"/>
          <p:cNvSpPr/>
          <p:nvPr/>
        </p:nvSpPr>
        <p:spPr>
          <a:xfrm>
            <a:off x="4590288" y="1691640"/>
            <a:ext cx="566928" cy="310896"/>
          </a:xfrm>
          <a:prstGeom prst="roundRect">
            <a:avLst>
              <a:gd name="adj" fmla="val 14706"/>
            </a:avLst>
          </a:prstGeom>
          <a:solidFill>
            <a:srgbClr val="E9F8F3"/>
          </a:solidFill>
          <a:ln w="12700">
            <a:solidFill>
              <a:srgbClr val="E9F8F3"/>
            </a:solidFill>
            <a:prstDash val="solid"/>
          </a:ln>
        </p:spPr>
      </p:sp>
      <p:sp>
        <p:nvSpPr>
          <p:cNvPr id="13" name="Text 11"/>
          <p:cNvSpPr/>
          <p:nvPr/>
        </p:nvSpPr>
        <p:spPr>
          <a:xfrm>
            <a:off x="4590288" y="175564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E→L→T</a:t>
            </a:r>
            <a:endParaRPr lang="en-US" sz="730" dirty="0"/>
          </a:p>
        </p:txBody>
      </p:sp>
      <p:sp>
        <p:nvSpPr>
          <p:cNvPr id="14" name="Text 12"/>
          <p:cNvSpPr/>
          <p:nvPr/>
        </p:nvSpPr>
        <p:spPr>
          <a:xfrm>
            <a:off x="4590288" y="2093976"/>
            <a:ext cx="306324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ELT</a:t>
            </a:r>
            <a:endParaRPr lang="en-US" sz="1500" dirty="0"/>
          </a:p>
        </p:txBody>
      </p:sp>
      <p:sp>
        <p:nvSpPr>
          <p:cNvPr id="15" name="Text 13"/>
          <p:cNvSpPr/>
          <p:nvPr/>
        </p:nvSpPr>
        <p:spPr>
          <a:xfrm>
            <a:off x="4590288" y="2468880"/>
            <a:ext cx="3044952" cy="180136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Extract → Load → Transform</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Land raw data first, then transform inside the analytical platform. This is common in cloud lakehouse workflows.</a:t>
            </a:r>
            <a:endParaRPr lang="en-US" sz="1050" dirty="0"/>
          </a:p>
        </p:txBody>
      </p:sp>
      <p:sp>
        <p:nvSpPr>
          <p:cNvPr id="16" name="Shape 14"/>
          <p:cNvSpPr/>
          <p:nvPr/>
        </p:nvSpPr>
        <p:spPr>
          <a:xfrm>
            <a:off x="8138160" y="1508760"/>
            <a:ext cx="3429000" cy="2926080"/>
          </a:xfrm>
          <a:prstGeom prst="roundRect">
            <a:avLst>
              <a:gd name="adj" fmla="val 2188"/>
            </a:avLst>
          </a:prstGeom>
          <a:solidFill>
            <a:srgbClr val="FFFFFF"/>
          </a:solidFill>
          <a:ln w="12700">
            <a:solidFill>
              <a:srgbClr val="DDE2EA"/>
            </a:solidFill>
            <a:prstDash val="solid"/>
          </a:ln>
        </p:spPr>
      </p:sp>
      <p:sp>
        <p:nvSpPr>
          <p:cNvPr id="17" name="Shape 15"/>
          <p:cNvSpPr/>
          <p:nvPr/>
        </p:nvSpPr>
        <p:spPr>
          <a:xfrm>
            <a:off x="8138160" y="1508760"/>
            <a:ext cx="50292" cy="2926080"/>
          </a:xfrm>
          <a:prstGeom prst="rect">
            <a:avLst/>
          </a:prstGeom>
          <a:solidFill>
            <a:srgbClr val="7C4DFF"/>
          </a:solidFill>
          <a:ln w="12700">
            <a:solidFill>
              <a:srgbClr val="7C4DFF"/>
            </a:solidFill>
            <a:prstDash val="solid"/>
          </a:ln>
        </p:spPr>
      </p:sp>
      <p:sp>
        <p:nvSpPr>
          <p:cNvPr id="18" name="Shape 16"/>
          <p:cNvSpPr/>
          <p:nvPr/>
        </p:nvSpPr>
        <p:spPr>
          <a:xfrm>
            <a:off x="8339328" y="1691640"/>
            <a:ext cx="566928" cy="310896"/>
          </a:xfrm>
          <a:prstGeom prst="roundRect">
            <a:avLst>
              <a:gd name="adj" fmla="val 14706"/>
            </a:avLst>
          </a:prstGeom>
          <a:solidFill>
            <a:srgbClr val="F2EEFF"/>
          </a:solidFill>
          <a:ln w="12700">
            <a:solidFill>
              <a:srgbClr val="F2EEFF"/>
            </a:solidFill>
            <a:prstDash val="solid"/>
          </a:ln>
        </p:spPr>
      </p:sp>
      <p:sp>
        <p:nvSpPr>
          <p:cNvPr id="19" name="Text 17"/>
          <p:cNvSpPr/>
          <p:nvPr/>
        </p:nvSpPr>
        <p:spPr>
          <a:xfrm>
            <a:off x="8339328" y="175564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OUT</a:t>
            </a:r>
            <a:endParaRPr lang="en-US" sz="730" dirty="0"/>
          </a:p>
        </p:txBody>
      </p:sp>
      <p:sp>
        <p:nvSpPr>
          <p:cNvPr id="20" name="Text 18"/>
          <p:cNvSpPr/>
          <p:nvPr/>
        </p:nvSpPr>
        <p:spPr>
          <a:xfrm>
            <a:off x="8339328" y="2093976"/>
            <a:ext cx="306324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Reverse ETL</a:t>
            </a:r>
            <a:endParaRPr lang="en-US" sz="1500" dirty="0"/>
          </a:p>
        </p:txBody>
      </p:sp>
      <p:sp>
        <p:nvSpPr>
          <p:cNvPr id="21" name="Text 19"/>
          <p:cNvSpPr/>
          <p:nvPr/>
        </p:nvSpPr>
        <p:spPr>
          <a:xfrm>
            <a:off x="8339328" y="2468880"/>
            <a:ext cx="3044952" cy="180136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Warehouse / lakehouse → business tools</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Push curated data back into CRM, marketing, support or operational systems.</a:t>
            </a:r>
            <a:endParaRPr lang="en-US" sz="1050" dirty="0"/>
          </a:p>
        </p:txBody>
      </p:sp>
      <p:sp>
        <p:nvSpPr>
          <p:cNvPr id="22" name="Shape 20"/>
          <p:cNvSpPr/>
          <p:nvPr/>
        </p:nvSpPr>
        <p:spPr>
          <a:xfrm>
            <a:off x="822960" y="4892040"/>
            <a:ext cx="10607040" cy="685800"/>
          </a:xfrm>
          <a:prstGeom prst="roundRect">
            <a:avLst>
              <a:gd name="adj" fmla="val 8000"/>
            </a:avLst>
          </a:prstGeom>
          <a:solidFill>
            <a:srgbClr val="FFF7E6"/>
          </a:solidFill>
          <a:ln w="12700">
            <a:solidFill>
              <a:srgbClr val="FFF7E6"/>
            </a:solidFill>
            <a:prstDash val="solid"/>
          </a:ln>
        </p:spPr>
      </p:sp>
      <p:sp>
        <p:nvSpPr>
          <p:cNvPr id="23" name="Text 21"/>
          <p:cNvSpPr/>
          <p:nvPr/>
        </p:nvSpPr>
        <p:spPr>
          <a:xfrm>
            <a:off x="987552" y="5010912"/>
            <a:ext cx="10277856" cy="457200"/>
          </a:xfrm>
          <a:prstGeom prst="rect">
            <a:avLst/>
          </a:prstGeom>
          <a:noFill/>
          <a:ln/>
        </p:spPr>
        <p:txBody>
          <a:bodyPr wrap="square" lIns="0" tIns="0" rIns="0" bIns="0" rtlCol="0" anchor="ctr">
            <a:normAutofit/>
          </a:bodyPr>
          <a:lstStyle/>
          <a:p>
            <a:pPr indent="0" marL="0">
              <a:buNone/>
            </a:pPr>
            <a:r>
              <a:rPr lang="en-US" sz="1100" b="1" dirty="0">
                <a:solidFill>
                  <a:srgbClr val="F3A712"/>
                </a:solidFill>
                <a:latin typeface="Aptos" pitchFamily="34" charset="0"/>
                <a:ea typeface="Aptos" pitchFamily="34" charset="-122"/>
                <a:cs typeface="Aptos" pitchFamily="34" charset="-120"/>
              </a:rPr>
              <a:t>Modern teams often say “ETL” as an umbrella term even when the physical sequence is ELT.</a:t>
            </a:r>
            <a:endParaRPr lang="en-US" sz="1100" dirty="0"/>
          </a:p>
        </p:txBody>
      </p:sp>
      <p:sp>
        <p:nvSpPr>
          <p:cNvPr id="24" name="Text 22"/>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Introduction</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The Anatomy of a Data Pipeline</a:t>
            </a:r>
            <a:endParaRPr lang="en-US" sz="2400" dirty="0"/>
          </a:p>
        </p:txBody>
      </p:sp>
      <p:sp>
        <p:nvSpPr>
          <p:cNvPr id="3" name="Shape 1"/>
          <p:cNvSpPr/>
          <p:nvPr/>
        </p:nvSpPr>
        <p:spPr>
          <a:xfrm>
            <a:off x="502920" y="1645920"/>
            <a:ext cx="2011680" cy="3291840"/>
          </a:xfrm>
          <a:prstGeom prst="roundRect">
            <a:avLst>
              <a:gd name="adj" fmla="val 3182"/>
            </a:avLst>
          </a:prstGeom>
          <a:solidFill>
            <a:srgbClr val="FFFFFF"/>
          </a:solidFill>
          <a:ln w="12700">
            <a:solidFill>
              <a:srgbClr val="DDE2EA"/>
            </a:solidFill>
            <a:prstDash val="solid"/>
          </a:ln>
        </p:spPr>
      </p:sp>
      <p:sp>
        <p:nvSpPr>
          <p:cNvPr id="4" name="Shape 2"/>
          <p:cNvSpPr/>
          <p:nvPr/>
        </p:nvSpPr>
        <p:spPr>
          <a:xfrm>
            <a:off x="502920" y="1645920"/>
            <a:ext cx="50292" cy="3291840"/>
          </a:xfrm>
          <a:prstGeom prst="rect">
            <a:avLst/>
          </a:prstGeom>
          <a:solidFill>
            <a:srgbClr val="3B6FF5"/>
          </a:solidFill>
          <a:ln w="12700">
            <a:solidFill>
              <a:srgbClr val="3B6FF5"/>
            </a:solidFill>
            <a:prstDash val="solid"/>
          </a:ln>
        </p:spPr>
      </p:sp>
      <p:sp>
        <p:nvSpPr>
          <p:cNvPr id="5" name="Shape 3"/>
          <p:cNvSpPr/>
          <p:nvPr/>
        </p:nvSpPr>
        <p:spPr>
          <a:xfrm>
            <a:off x="704088" y="1828800"/>
            <a:ext cx="566928" cy="310896"/>
          </a:xfrm>
          <a:prstGeom prst="roundRect">
            <a:avLst>
              <a:gd name="adj" fmla="val 14706"/>
            </a:avLst>
          </a:prstGeom>
          <a:solidFill>
            <a:srgbClr val="EBF1FE"/>
          </a:solidFill>
          <a:ln w="12700">
            <a:solidFill>
              <a:srgbClr val="EBF1FE"/>
            </a:solidFill>
            <a:prstDash val="solid"/>
          </a:ln>
        </p:spPr>
      </p:sp>
      <p:sp>
        <p:nvSpPr>
          <p:cNvPr id="6" name="Text 4"/>
          <p:cNvSpPr/>
          <p:nvPr/>
        </p:nvSpPr>
        <p:spPr>
          <a:xfrm>
            <a:off x="704088" y="189280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1</a:t>
            </a:r>
            <a:endParaRPr lang="en-US" sz="730" dirty="0"/>
          </a:p>
        </p:txBody>
      </p:sp>
      <p:sp>
        <p:nvSpPr>
          <p:cNvPr id="7" name="Text 5"/>
          <p:cNvSpPr/>
          <p:nvPr/>
        </p:nvSpPr>
        <p:spPr>
          <a:xfrm>
            <a:off x="704088" y="2231136"/>
            <a:ext cx="164592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SOURCE</a:t>
            </a:r>
            <a:endParaRPr lang="en-US" sz="1350" dirty="0"/>
          </a:p>
        </p:txBody>
      </p:sp>
      <p:sp>
        <p:nvSpPr>
          <p:cNvPr id="8" name="Text 6"/>
          <p:cNvSpPr/>
          <p:nvPr/>
        </p:nvSpPr>
        <p:spPr>
          <a:xfrm>
            <a:off x="704088" y="2606040"/>
            <a:ext cx="1627632" cy="216712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Operational DB</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API</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Files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Events</a:t>
            </a:r>
            <a:endParaRPr lang="en-US" sz="1100" dirty="0"/>
          </a:p>
        </p:txBody>
      </p:sp>
      <p:sp>
        <p:nvSpPr>
          <p:cNvPr id="9" name="Shape 7"/>
          <p:cNvSpPr/>
          <p:nvPr/>
        </p:nvSpPr>
        <p:spPr>
          <a:xfrm>
            <a:off x="2532888" y="3218688"/>
            <a:ext cx="237744" cy="0"/>
          </a:xfrm>
          <a:prstGeom prst="line">
            <a:avLst/>
          </a:prstGeom>
          <a:noFill/>
          <a:ln w="12700">
            <a:solidFill>
              <a:srgbClr val="9EA8B7"/>
            </a:solidFill>
            <a:prstDash val="solid"/>
            <a:headEnd type="none"/>
            <a:tailEnd type="triangle"/>
          </a:ln>
        </p:spPr>
      </p:sp>
      <p:sp>
        <p:nvSpPr>
          <p:cNvPr id="10" name="Shape 8"/>
          <p:cNvSpPr/>
          <p:nvPr/>
        </p:nvSpPr>
        <p:spPr>
          <a:xfrm>
            <a:off x="2834640" y="1645920"/>
            <a:ext cx="2011680" cy="3291840"/>
          </a:xfrm>
          <a:prstGeom prst="roundRect">
            <a:avLst>
              <a:gd name="adj" fmla="val 3182"/>
            </a:avLst>
          </a:prstGeom>
          <a:solidFill>
            <a:srgbClr val="FFFFFF"/>
          </a:solidFill>
          <a:ln w="12700">
            <a:solidFill>
              <a:srgbClr val="DDE2EA"/>
            </a:solidFill>
            <a:prstDash val="solid"/>
          </a:ln>
        </p:spPr>
      </p:sp>
      <p:sp>
        <p:nvSpPr>
          <p:cNvPr id="11" name="Shape 9"/>
          <p:cNvSpPr/>
          <p:nvPr/>
        </p:nvSpPr>
        <p:spPr>
          <a:xfrm>
            <a:off x="2834640" y="1645920"/>
            <a:ext cx="50292" cy="3291840"/>
          </a:xfrm>
          <a:prstGeom prst="rect">
            <a:avLst/>
          </a:prstGeom>
          <a:solidFill>
            <a:srgbClr val="00A972"/>
          </a:solidFill>
          <a:ln w="12700">
            <a:solidFill>
              <a:srgbClr val="00A972"/>
            </a:solidFill>
            <a:prstDash val="solid"/>
          </a:ln>
        </p:spPr>
      </p:sp>
      <p:sp>
        <p:nvSpPr>
          <p:cNvPr id="12" name="Shape 10"/>
          <p:cNvSpPr/>
          <p:nvPr/>
        </p:nvSpPr>
        <p:spPr>
          <a:xfrm>
            <a:off x="3035808" y="1828800"/>
            <a:ext cx="566928" cy="310896"/>
          </a:xfrm>
          <a:prstGeom prst="roundRect">
            <a:avLst>
              <a:gd name="adj" fmla="val 14706"/>
            </a:avLst>
          </a:prstGeom>
          <a:solidFill>
            <a:srgbClr val="E6F6F1"/>
          </a:solidFill>
          <a:ln w="12700">
            <a:solidFill>
              <a:srgbClr val="E6F6F1"/>
            </a:solidFill>
            <a:prstDash val="solid"/>
          </a:ln>
        </p:spPr>
      </p:sp>
      <p:sp>
        <p:nvSpPr>
          <p:cNvPr id="13" name="Text 11"/>
          <p:cNvSpPr/>
          <p:nvPr/>
        </p:nvSpPr>
        <p:spPr>
          <a:xfrm>
            <a:off x="3035808" y="189280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2</a:t>
            </a:r>
            <a:endParaRPr lang="en-US" sz="730" dirty="0"/>
          </a:p>
        </p:txBody>
      </p:sp>
      <p:sp>
        <p:nvSpPr>
          <p:cNvPr id="14" name="Text 12"/>
          <p:cNvSpPr/>
          <p:nvPr/>
        </p:nvSpPr>
        <p:spPr>
          <a:xfrm>
            <a:off x="3035808" y="2231136"/>
            <a:ext cx="164592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INGEST</a:t>
            </a:r>
            <a:endParaRPr lang="en-US" sz="1350" dirty="0"/>
          </a:p>
        </p:txBody>
      </p:sp>
      <p:sp>
        <p:nvSpPr>
          <p:cNvPr id="15" name="Text 13"/>
          <p:cNvSpPr/>
          <p:nvPr/>
        </p:nvSpPr>
        <p:spPr>
          <a:xfrm>
            <a:off x="3035808" y="2606040"/>
            <a:ext cx="1627632" cy="216712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Batch pull</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Auto Loader</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CDC</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Stream</a:t>
            </a:r>
            <a:endParaRPr lang="en-US" sz="1100" dirty="0"/>
          </a:p>
        </p:txBody>
      </p:sp>
      <p:sp>
        <p:nvSpPr>
          <p:cNvPr id="16" name="Shape 14"/>
          <p:cNvSpPr/>
          <p:nvPr/>
        </p:nvSpPr>
        <p:spPr>
          <a:xfrm>
            <a:off x="4864608" y="3218688"/>
            <a:ext cx="237744" cy="0"/>
          </a:xfrm>
          <a:prstGeom prst="line">
            <a:avLst/>
          </a:prstGeom>
          <a:noFill/>
          <a:ln w="12700">
            <a:solidFill>
              <a:srgbClr val="9EA8B7"/>
            </a:solidFill>
            <a:prstDash val="solid"/>
            <a:headEnd type="none"/>
            <a:tailEnd type="triangle"/>
          </a:ln>
        </p:spPr>
      </p:sp>
      <p:sp>
        <p:nvSpPr>
          <p:cNvPr id="17" name="Shape 15"/>
          <p:cNvSpPr/>
          <p:nvPr/>
        </p:nvSpPr>
        <p:spPr>
          <a:xfrm>
            <a:off x="5166360" y="1645920"/>
            <a:ext cx="2011680" cy="3291840"/>
          </a:xfrm>
          <a:prstGeom prst="roundRect">
            <a:avLst>
              <a:gd name="adj" fmla="val 3182"/>
            </a:avLst>
          </a:prstGeom>
          <a:solidFill>
            <a:srgbClr val="FFFFFF"/>
          </a:solidFill>
          <a:ln w="12700">
            <a:solidFill>
              <a:srgbClr val="DDE2EA"/>
            </a:solidFill>
            <a:prstDash val="solid"/>
          </a:ln>
        </p:spPr>
      </p:sp>
      <p:sp>
        <p:nvSpPr>
          <p:cNvPr id="18" name="Shape 16"/>
          <p:cNvSpPr/>
          <p:nvPr/>
        </p:nvSpPr>
        <p:spPr>
          <a:xfrm>
            <a:off x="5166360" y="1645920"/>
            <a:ext cx="50292" cy="3291840"/>
          </a:xfrm>
          <a:prstGeom prst="rect">
            <a:avLst/>
          </a:prstGeom>
          <a:solidFill>
            <a:srgbClr val="F3A712"/>
          </a:solidFill>
          <a:ln w="12700">
            <a:solidFill>
              <a:srgbClr val="F3A712"/>
            </a:solidFill>
            <a:prstDash val="solid"/>
          </a:ln>
        </p:spPr>
      </p:sp>
      <p:sp>
        <p:nvSpPr>
          <p:cNvPr id="19" name="Shape 17"/>
          <p:cNvSpPr/>
          <p:nvPr/>
        </p:nvSpPr>
        <p:spPr>
          <a:xfrm>
            <a:off x="5367528" y="1828800"/>
            <a:ext cx="566928" cy="310896"/>
          </a:xfrm>
          <a:prstGeom prst="roundRect">
            <a:avLst>
              <a:gd name="adj" fmla="val 14706"/>
            </a:avLst>
          </a:prstGeom>
          <a:solidFill>
            <a:srgbClr val="FEF6E7"/>
          </a:solidFill>
          <a:ln w="12700">
            <a:solidFill>
              <a:srgbClr val="FEF6E7"/>
            </a:solidFill>
            <a:prstDash val="solid"/>
          </a:ln>
        </p:spPr>
      </p:sp>
      <p:sp>
        <p:nvSpPr>
          <p:cNvPr id="20" name="Text 18"/>
          <p:cNvSpPr/>
          <p:nvPr/>
        </p:nvSpPr>
        <p:spPr>
          <a:xfrm>
            <a:off x="5367528" y="1892808"/>
            <a:ext cx="566928" cy="128016"/>
          </a:xfrm>
          <a:prstGeom prst="rect">
            <a:avLst/>
          </a:prstGeom>
          <a:noFill/>
          <a:ln/>
        </p:spPr>
        <p:txBody>
          <a:bodyPr wrap="square" lIns="0" tIns="0" rIns="0" bIns="0" rtlCol="0" anchor="ctr"/>
          <a:lstStyle/>
          <a:p>
            <a:pPr algn="ctr" indent="0" marL="0">
              <a:buNone/>
            </a:pPr>
            <a:r>
              <a:rPr lang="en-US" sz="730" b="1" dirty="0">
                <a:solidFill>
                  <a:srgbClr val="F3A712"/>
                </a:solidFill>
              </a:rPr>
              <a:t>3</a:t>
            </a:r>
            <a:endParaRPr lang="en-US" sz="730" dirty="0"/>
          </a:p>
        </p:txBody>
      </p:sp>
      <p:sp>
        <p:nvSpPr>
          <p:cNvPr id="21" name="Text 19"/>
          <p:cNvSpPr/>
          <p:nvPr/>
        </p:nvSpPr>
        <p:spPr>
          <a:xfrm>
            <a:off x="5367528" y="2231136"/>
            <a:ext cx="164592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STAGE</a:t>
            </a:r>
            <a:endParaRPr lang="en-US" sz="1350" dirty="0"/>
          </a:p>
        </p:txBody>
      </p:sp>
      <p:sp>
        <p:nvSpPr>
          <p:cNvPr id="22" name="Text 20"/>
          <p:cNvSpPr/>
          <p:nvPr/>
        </p:nvSpPr>
        <p:spPr>
          <a:xfrm>
            <a:off x="5367528" y="2606040"/>
            <a:ext cx="1627632" cy="216712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Raw history</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Metadata</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Audit columns</a:t>
            </a:r>
            <a:endParaRPr lang="en-US" sz="1100" dirty="0"/>
          </a:p>
        </p:txBody>
      </p:sp>
      <p:sp>
        <p:nvSpPr>
          <p:cNvPr id="23" name="Shape 21"/>
          <p:cNvSpPr/>
          <p:nvPr/>
        </p:nvSpPr>
        <p:spPr>
          <a:xfrm>
            <a:off x="7196328" y="3218688"/>
            <a:ext cx="237744" cy="0"/>
          </a:xfrm>
          <a:prstGeom prst="line">
            <a:avLst/>
          </a:prstGeom>
          <a:noFill/>
          <a:ln w="12700">
            <a:solidFill>
              <a:srgbClr val="9EA8B7"/>
            </a:solidFill>
            <a:prstDash val="solid"/>
            <a:headEnd type="none"/>
            <a:tailEnd type="triangle"/>
          </a:ln>
        </p:spPr>
      </p:sp>
      <p:sp>
        <p:nvSpPr>
          <p:cNvPr id="24" name="Shape 22"/>
          <p:cNvSpPr/>
          <p:nvPr/>
        </p:nvSpPr>
        <p:spPr>
          <a:xfrm>
            <a:off x="7498080" y="1645920"/>
            <a:ext cx="2011680" cy="3291840"/>
          </a:xfrm>
          <a:prstGeom prst="roundRect">
            <a:avLst>
              <a:gd name="adj" fmla="val 3182"/>
            </a:avLst>
          </a:prstGeom>
          <a:solidFill>
            <a:srgbClr val="FFFFFF"/>
          </a:solidFill>
          <a:ln w="12700">
            <a:solidFill>
              <a:srgbClr val="DDE2EA"/>
            </a:solidFill>
            <a:prstDash val="solid"/>
          </a:ln>
        </p:spPr>
      </p:sp>
      <p:sp>
        <p:nvSpPr>
          <p:cNvPr id="25" name="Shape 23"/>
          <p:cNvSpPr/>
          <p:nvPr/>
        </p:nvSpPr>
        <p:spPr>
          <a:xfrm>
            <a:off x="7498080" y="1645920"/>
            <a:ext cx="50292" cy="3291840"/>
          </a:xfrm>
          <a:prstGeom prst="rect">
            <a:avLst/>
          </a:prstGeom>
          <a:solidFill>
            <a:srgbClr val="7C4DFF"/>
          </a:solidFill>
          <a:ln w="12700">
            <a:solidFill>
              <a:srgbClr val="7C4DFF"/>
            </a:solidFill>
            <a:prstDash val="solid"/>
          </a:ln>
        </p:spPr>
      </p:sp>
      <p:sp>
        <p:nvSpPr>
          <p:cNvPr id="26" name="Shape 24"/>
          <p:cNvSpPr/>
          <p:nvPr/>
        </p:nvSpPr>
        <p:spPr>
          <a:xfrm>
            <a:off x="7699248" y="1828800"/>
            <a:ext cx="566928" cy="310896"/>
          </a:xfrm>
          <a:prstGeom prst="roundRect">
            <a:avLst>
              <a:gd name="adj" fmla="val 14706"/>
            </a:avLst>
          </a:prstGeom>
          <a:solidFill>
            <a:srgbClr val="F2EDFF"/>
          </a:solidFill>
          <a:ln w="12700">
            <a:solidFill>
              <a:srgbClr val="F2EDFF"/>
            </a:solidFill>
            <a:prstDash val="solid"/>
          </a:ln>
        </p:spPr>
      </p:sp>
      <p:sp>
        <p:nvSpPr>
          <p:cNvPr id="27" name="Text 25"/>
          <p:cNvSpPr/>
          <p:nvPr/>
        </p:nvSpPr>
        <p:spPr>
          <a:xfrm>
            <a:off x="7699248" y="189280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4</a:t>
            </a:r>
            <a:endParaRPr lang="en-US" sz="730" dirty="0"/>
          </a:p>
        </p:txBody>
      </p:sp>
      <p:sp>
        <p:nvSpPr>
          <p:cNvPr id="28" name="Text 26"/>
          <p:cNvSpPr/>
          <p:nvPr/>
        </p:nvSpPr>
        <p:spPr>
          <a:xfrm>
            <a:off x="7699248" y="2231136"/>
            <a:ext cx="164592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TRANSFORM</a:t>
            </a:r>
            <a:endParaRPr lang="en-US" sz="1350" dirty="0"/>
          </a:p>
        </p:txBody>
      </p:sp>
      <p:sp>
        <p:nvSpPr>
          <p:cNvPr id="29" name="Text 27"/>
          <p:cNvSpPr/>
          <p:nvPr/>
        </p:nvSpPr>
        <p:spPr>
          <a:xfrm>
            <a:off x="7699248" y="2606040"/>
            <a:ext cx="1627632" cy="216712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Clean</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Join</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Enrich</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Aggregate</a:t>
            </a:r>
            <a:endParaRPr lang="en-US" sz="1100" dirty="0"/>
          </a:p>
        </p:txBody>
      </p:sp>
      <p:sp>
        <p:nvSpPr>
          <p:cNvPr id="30" name="Shape 28"/>
          <p:cNvSpPr/>
          <p:nvPr/>
        </p:nvSpPr>
        <p:spPr>
          <a:xfrm>
            <a:off x="9528048" y="3218688"/>
            <a:ext cx="237744" cy="0"/>
          </a:xfrm>
          <a:prstGeom prst="line">
            <a:avLst/>
          </a:prstGeom>
          <a:noFill/>
          <a:ln w="12700">
            <a:solidFill>
              <a:srgbClr val="9EA8B7"/>
            </a:solidFill>
            <a:prstDash val="solid"/>
            <a:headEnd type="none"/>
            <a:tailEnd type="triangle"/>
          </a:ln>
        </p:spPr>
      </p:sp>
      <p:sp>
        <p:nvSpPr>
          <p:cNvPr id="31" name="Shape 29"/>
          <p:cNvSpPr/>
          <p:nvPr/>
        </p:nvSpPr>
        <p:spPr>
          <a:xfrm>
            <a:off x="9829800" y="1645920"/>
            <a:ext cx="2011680" cy="3291840"/>
          </a:xfrm>
          <a:prstGeom prst="roundRect">
            <a:avLst>
              <a:gd name="adj" fmla="val 3182"/>
            </a:avLst>
          </a:prstGeom>
          <a:solidFill>
            <a:srgbClr val="FFFFFF"/>
          </a:solidFill>
          <a:ln w="12700">
            <a:solidFill>
              <a:srgbClr val="DDE2EA"/>
            </a:solidFill>
            <a:prstDash val="solid"/>
          </a:ln>
        </p:spPr>
      </p:sp>
      <p:sp>
        <p:nvSpPr>
          <p:cNvPr id="32" name="Shape 30"/>
          <p:cNvSpPr/>
          <p:nvPr/>
        </p:nvSpPr>
        <p:spPr>
          <a:xfrm>
            <a:off x="9829800" y="1645920"/>
            <a:ext cx="50292" cy="3291840"/>
          </a:xfrm>
          <a:prstGeom prst="rect">
            <a:avLst/>
          </a:prstGeom>
          <a:solidFill>
            <a:srgbClr val="FF3621"/>
          </a:solidFill>
          <a:ln w="12700">
            <a:solidFill>
              <a:srgbClr val="FF3621"/>
            </a:solidFill>
            <a:prstDash val="solid"/>
          </a:ln>
        </p:spPr>
      </p:sp>
      <p:sp>
        <p:nvSpPr>
          <p:cNvPr id="33" name="Shape 31"/>
          <p:cNvSpPr/>
          <p:nvPr/>
        </p:nvSpPr>
        <p:spPr>
          <a:xfrm>
            <a:off x="10030968" y="1828800"/>
            <a:ext cx="566928" cy="310896"/>
          </a:xfrm>
          <a:prstGeom prst="roundRect">
            <a:avLst>
              <a:gd name="adj" fmla="val 14706"/>
            </a:avLst>
          </a:prstGeom>
          <a:solidFill>
            <a:srgbClr val="FFEBE9"/>
          </a:solidFill>
          <a:ln w="12700">
            <a:solidFill>
              <a:srgbClr val="FFEBE9"/>
            </a:solidFill>
            <a:prstDash val="solid"/>
          </a:ln>
        </p:spPr>
      </p:sp>
      <p:sp>
        <p:nvSpPr>
          <p:cNvPr id="34" name="Text 32"/>
          <p:cNvSpPr/>
          <p:nvPr/>
        </p:nvSpPr>
        <p:spPr>
          <a:xfrm>
            <a:off x="10030968" y="189280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5</a:t>
            </a:r>
            <a:endParaRPr lang="en-US" sz="730" dirty="0"/>
          </a:p>
        </p:txBody>
      </p:sp>
      <p:sp>
        <p:nvSpPr>
          <p:cNvPr id="35" name="Text 33"/>
          <p:cNvSpPr/>
          <p:nvPr/>
        </p:nvSpPr>
        <p:spPr>
          <a:xfrm>
            <a:off x="10030968" y="2231136"/>
            <a:ext cx="164592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SERVE</a:t>
            </a:r>
            <a:endParaRPr lang="en-US" sz="1350" dirty="0"/>
          </a:p>
        </p:txBody>
      </p:sp>
      <p:sp>
        <p:nvSpPr>
          <p:cNvPr id="36" name="Text 34"/>
          <p:cNvSpPr/>
          <p:nvPr/>
        </p:nvSpPr>
        <p:spPr>
          <a:xfrm>
            <a:off x="10030968" y="2606040"/>
            <a:ext cx="1627632" cy="216712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DW / Gold</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Features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Dashboards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Apps</a:t>
            </a:r>
            <a:endParaRPr lang="en-US" sz="1100" dirty="0"/>
          </a:p>
        </p:txBody>
      </p:sp>
      <p:sp>
        <p:nvSpPr>
          <p:cNvPr id="37" name="Text 35"/>
          <p:cNvSpPr/>
          <p:nvPr/>
        </p:nvSpPr>
        <p:spPr>
          <a:xfrm>
            <a:off x="914400" y="5285232"/>
            <a:ext cx="10332720" cy="320040"/>
          </a:xfrm>
          <a:prstGeom prst="rect">
            <a:avLst/>
          </a:prstGeom>
          <a:noFill/>
          <a:ln/>
        </p:spPr>
        <p:txBody>
          <a:bodyPr wrap="square" lIns="0" tIns="0" rIns="0" bIns="0" rtlCol="0" anchor="ctr"/>
          <a:lstStyle/>
          <a:p>
            <a:pPr algn="ctr" indent="0" marL="0">
              <a:buNone/>
            </a:pPr>
            <a:r>
              <a:rPr lang="en-US" sz="1100" b="1" dirty="0">
                <a:solidFill>
                  <a:srgbClr val="687386"/>
                </a:solidFill>
                <a:latin typeface="Aptos" pitchFamily="34" charset="0"/>
                <a:ea typeface="Aptos" pitchFamily="34" charset="-122"/>
                <a:cs typeface="Aptos" pitchFamily="34" charset="-120"/>
              </a:rPr>
              <a:t>Cross-cutting concerns: governance • security • lineage • testing • monitoring • cost • documentation</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ETL Architecture Has Evolved</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The goal is stable; the execution model has changed dramatically.</a:t>
            </a:r>
            <a:endParaRPr lang="en-US" sz="1100" dirty="0"/>
          </a:p>
        </p:txBody>
      </p:sp>
      <p:sp>
        <p:nvSpPr>
          <p:cNvPr id="4" name="Shape 2"/>
          <p:cNvSpPr/>
          <p:nvPr/>
        </p:nvSpPr>
        <p:spPr>
          <a:xfrm>
            <a:off x="960120" y="2971800"/>
            <a:ext cx="10012680" cy="0"/>
          </a:xfrm>
          <a:prstGeom prst="line">
            <a:avLst/>
          </a:prstGeom>
          <a:noFill/>
          <a:ln w="12700">
            <a:solidFill>
              <a:srgbClr val="C7CED9"/>
            </a:solidFill>
            <a:prstDash val="solid"/>
          </a:ln>
        </p:spPr>
      </p:sp>
      <p:sp>
        <p:nvSpPr>
          <p:cNvPr id="5" name="Shape 3"/>
          <p:cNvSpPr/>
          <p:nvPr/>
        </p:nvSpPr>
        <p:spPr>
          <a:xfrm>
            <a:off x="1472184" y="2706624"/>
            <a:ext cx="512064" cy="512064"/>
          </a:xfrm>
          <a:prstGeom prst="ellipse">
            <a:avLst/>
          </a:prstGeom>
          <a:solidFill>
            <a:srgbClr val="687386"/>
          </a:solidFill>
          <a:ln w="12700">
            <a:solidFill>
              <a:srgbClr val="687386"/>
            </a:solidFill>
            <a:prstDash val="solid"/>
          </a:ln>
        </p:spPr>
      </p:sp>
      <p:sp>
        <p:nvSpPr>
          <p:cNvPr id="6" name="Text 4"/>
          <p:cNvSpPr/>
          <p:nvPr/>
        </p:nvSpPr>
        <p:spPr>
          <a:xfrm>
            <a:off x="1472184" y="2852928"/>
            <a:ext cx="512064" cy="128016"/>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7" name="Shape 5"/>
          <p:cNvSpPr/>
          <p:nvPr/>
        </p:nvSpPr>
        <p:spPr>
          <a:xfrm>
            <a:off x="685800" y="3429000"/>
            <a:ext cx="2240280" cy="1645920"/>
          </a:xfrm>
          <a:prstGeom prst="roundRect">
            <a:avLst>
              <a:gd name="adj" fmla="val 3889"/>
            </a:avLst>
          </a:prstGeom>
          <a:solidFill>
            <a:srgbClr val="FFFFFF"/>
          </a:solidFill>
          <a:ln w="12700">
            <a:solidFill>
              <a:srgbClr val="DDE2EA"/>
            </a:solidFill>
            <a:prstDash val="solid"/>
          </a:ln>
        </p:spPr>
      </p:sp>
      <p:sp>
        <p:nvSpPr>
          <p:cNvPr id="8" name="Shape 6"/>
          <p:cNvSpPr/>
          <p:nvPr/>
        </p:nvSpPr>
        <p:spPr>
          <a:xfrm>
            <a:off x="685800" y="3429000"/>
            <a:ext cx="50292" cy="1645920"/>
          </a:xfrm>
          <a:prstGeom prst="rect">
            <a:avLst/>
          </a:prstGeom>
          <a:solidFill>
            <a:srgbClr val="687386"/>
          </a:solidFill>
          <a:ln w="12700">
            <a:solidFill>
              <a:srgbClr val="687386"/>
            </a:solidFill>
            <a:prstDash val="solid"/>
          </a:ln>
        </p:spPr>
      </p:sp>
      <p:sp>
        <p:nvSpPr>
          <p:cNvPr id="9" name="Text 7"/>
          <p:cNvSpPr/>
          <p:nvPr/>
        </p:nvSpPr>
        <p:spPr>
          <a:xfrm>
            <a:off x="886968" y="3648456"/>
            <a:ext cx="187452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On-prem DW</a:t>
            </a:r>
            <a:endParaRPr lang="en-US" sz="1300" dirty="0"/>
          </a:p>
        </p:txBody>
      </p:sp>
      <p:sp>
        <p:nvSpPr>
          <p:cNvPr id="10" name="Text 8"/>
          <p:cNvSpPr/>
          <p:nvPr/>
        </p:nvSpPr>
        <p:spPr>
          <a:xfrm>
            <a:off x="886968" y="4087368"/>
            <a:ext cx="1856232" cy="822960"/>
          </a:xfrm>
          <a:prstGeom prst="rect">
            <a:avLst/>
          </a:prstGeom>
          <a:noFill/>
          <a:ln/>
        </p:spPr>
        <p:txBody>
          <a:bodyPr wrap="square" lIns="254" tIns="254" rIns="254" bIns="254" rtlCol="0" anchor="t">
            <a:normAutofit/>
          </a:bodyPr>
          <a:lstStyle/>
          <a:p>
            <a:pPr indent="0" marL="0">
              <a:buNone/>
            </a:pPr>
            <a:r>
              <a:rPr lang="en-US" sz="960" dirty="0">
                <a:solidFill>
                  <a:srgbClr val="283246"/>
                </a:solidFill>
                <a:latin typeface="Aptos" pitchFamily="34" charset="0"/>
                <a:ea typeface="Aptos" pitchFamily="34" charset="-122"/>
                <a:cs typeface="Aptos" pitchFamily="34" charset="-120"/>
              </a:rPr>
              <a:t>ETL server</a:t>
            </a:r>
            <a:endParaRPr lang="en-US" sz="960" dirty="0"/>
          </a:p>
          <a:p>
            <a:pPr indent="0" marL="0">
              <a:buNone/>
            </a:pPr>
            <a:r>
              <a:rPr lang="en-US" sz="960" dirty="0">
                <a:solidFill>
                  <a:srgbClr val="283246"/>
                </a:solidFill>
                <a:latin typeface="Aptos" pitchFamily="34" charset="0"/>
                <a:ea typeface="Aptos" pitchFamily="34" charset="-122"/>
                <a:cs typeface="Aptos" pitchFamily="34" charset="-120"/>
              </a:rPr>
              <a:t>SSIS / stored procedures</a:t>
            </a:r>
            <a:endParaRPr lang="en-US" sz="960" dirty="0"/>
          </a:p>
          <a:p>
            <a:pPr indent="0" marL="0">
              <a:buNone/>
            </a:pPr>
            <a:r>
              <a:rPr lang="en-US" sz="960" dirty="0">
                <a:solidFill>
                  <a:srgbClr val="283246"/>
                </a:solidFill>
                <a:latin typeface="Aptos" pitchFamily="34" charset="0"/>
                <a:ea typeface="Aptos" pitchFamily="34" charset="-122"/>
                <a:cs typeface="Aptos" pitchFamily="34" charset="-120"/>
              </a:rPr>
              <a:t>Nightly batch</a:t>
            </a:r>
            <a:endParaRPr lang="en-US" sz="960" dirty="0"/>
          </a:p>
        </p:txBody>
      </p:sp>
      <p:sp>
        <p:nvSpPr>
          <p:cNvPr id="11" name="Shape 9"/>
          <p:cNvSpPr/>
          <p:nvPr/>
        </p:nvSpPr>
        <p:spPr>
          <a:xfrm>
            <a:off x="4261104" y="2706624"/>
            <a:ext cx="512064" cy="512064"/>
          </a:xfrm>
          <a:prstGeom prst="ellipse">
            <a:avLst/>
          </a:prstGeom>
          <a:solidFill>
            <a:srgbClr val="3B6FF5"/>
          </a:solidFill>
          <a:ln w="12700">
            <a:solidFill>
              <a:srgbClr val="3B6FF5"/>
            </a:solidFill>
            <a:prstDash val="solid"/>
          </a:ln>
        </p:spPr>
      </p:sp>
      <p:sp>
        <p:nvSpPr>
          <p:cNvPr id="12" name="Text 10"/>
          <p:cNvSpPr/>
          <p:nvPr/>
        </p:nvSpPr>
        <p:spPr>
          <a:xfrm>
            <a:off x="4261104" y="2852928"/>
            <a:ext cx="512064" cy="128016"/>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3" name="Shape 11"/>
          <p:cNvSpPr/>
          <p:nvPr/>
        </p:nvSpPr>
        <p:spPr>
          <a:xfrm>
            <a:off x="3474720" y="3429000"/>
            <a:ext cx="2240280" cy="1645920"/>
          </a:xfrm>
          <a:prstGeom prst="roundRect">
            <a:avLst>
              <a:gd name="adj" fmla="val 3889"/>
            </a:avLst>
          </a:prstGeom>
          <a:solidFill>
            <a:srgbClr val="FFFFFF"/>
          </a:solidFill>
          <a:ln w="12700">
            <a:solidFill>
              <a:srgbClr val="DDE2EA"/>
            </a:solidFill>
            <a:prstDash val="solid"/>
          </a:ln>
        </p:spPr>
      </p:sp>
      <p:sp>
        <p:nvSpPr>
          <p:cNvPr id="14" name="Shape 12"/>
          <p:cNvSpPr/>
          <p:nvPr/>
        </p:nvSpPr>
        <p:spPr>
          <a:xfrm>
            <a:off x="3474720" y="3429000"/>
            <a:ext cx="50292" cy="1645920"/>
          </a:xfrm>
          <a:prstGeom prst="rect">
            <a:avLst/>
          </a:prstGeom>
          <a:solidFill>
            <a:srgbClr val="3B6FF5"/>
          </a:solidFill>
          <a:ln w="12700">
            <a:solidFill>
              <a:srgbClr val="3B6FF5"/>
            </a:solidFill>
            <a:prstDash val="solid"/>
          </a:ln>
        </p:spPr>
      </p:sp>
      <p:sp>
        <p:nvSpPr>
          <p:cNvPr id="15" name="Text 13"/>
          <p:cNvSpPr/>
          <p:nvPr/>
        </p:nvSpPr>
        <p:spPr>
          <a:xfrm>
            <a:off x="3675888" y="3648456"/>
            <a:ext cx="187452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Cloud DW</a:t>
            </a:r>
            <a:endParaRPr lang="en-US" sz="1300" dirty="0"/>
          </a:p>
        </p:txBody>
      </p:sp>
      <p:sp>
        <p:nvSpPr>
          <p:cNvPr id="16" name="Text 14"/>
          <p:cNvSpPr/>
          <p:nvPr/>
        </p:nvSpPr>
        <p:spPr>
          <a:xfrm>
            <a:off x="3675888" y="4087368"/>
            <a:ext cx="1856232" cy="822960"/>
          </a:xfrm>
          <a:prstGeom prst="rect">
            <a:avLst/>
          </a:prstGeom>
          <a:noFill/>
          <a:ln/>
        </p:spPr>
        <p:txBody>
          <a:bodyPr wrap="square" lIns="254" tIns="254" rIns="254" bIns="254" rtlCol="0" anchor="t">
            <a:normAutofit/>
          </a:bodyPr>
          <a:lstStyle/>
          <a:p>
            <a:pPr indent="0" marL="0">
              <a:buNone/>
            </a:pPr>
            <a:r>
              <a:rPr lang="en-US" sz="960" dirty="0">
                <a:solidFill>
                  <a:srgbClr val="283246"/>
                </a:solidFill>
                <a:latin typeface="Aptos" pitchFamily="34" charset="0"/>
                <a:ea typeface="Aptos" pitchFamily="34" charset="-122"/>
                <a:cs typeface="Aptos" pitchFamily="34" charset="-120"/>
              </a:rPr>
              <a:t>ELT</a:t>
            </a:r>
            <a:endParaRPr lang="en-US" sz="960" dirty="0"/>
          </a:p>
          <a:p>
            <a:pPr indent="0" marL="0">
              <a:buNone/>
            </a:pPr>
            <a:r>
              <a:rPr lang="en-US" sz="960" dirty="0">
                <a:solidFill>
                  <a:srgbClr val="283246"/>
                </a:solidFill>
                <a:latin typeface="Aptos" pitchFamily="34" charset="0"/>
                <a:ea typeface="Aptos" pitchFamily="34" charset="-122"/>
                <a:cs typeface="Aptos" pitchFamily="34" charset="-120"/>
              </a:rPr>
              <a:t>Cheap storage</a:t>
            </a:r>
            <a:endParaRPr lang="en-US" sz="960" dirty="0"/>
          </a:p>
          <a:p>
            <a:pPr indent="0" marL="0">
              <a:buNone/>
            </a:pPr>
            <a:r>
              <a:rPr lang="en-US" sz="960" dirty="0">
                <a:solidFill>
                  <a:srgbClr val="283246"/>
                </a:solidFill>
                <a:latin typeface="Aptos" pitchFamily="34" charset="0"/>
                <a:ea typeface="Aptos" pitchFamily="34" charset="-122"/>
                <a:cs typeface="Aptos" pitchFamily="34" charset="-120"/>
              </a:rPr>
              <a:t>Elastic SQL</a:t>
            </a:r>
            <a:endParaRPr lang="en-US" sz="960" dirty="0"/>
          </a:p>
        </p:txBody>
      </p:sp>
      <p:sp>
        <p:nvSpPr>
          <p:cNvPr id="17" name="Shape 15"/>
          <p:cNvSpPr/>
          <p:nvPr/>
        </p:nvSpPr>
        <p:spPr>
          <a:xfrm>
            <a:off x="7050024" y="2706624"/>
            <a:ext cx="512064" cy="512064"/>
          </a:xfrm>
          <a:prstGeom prst="ellipse">
            <a:avLst/>
          </a:prstGeom>
          <a:solidFill>
            <a:srgbClr val="00A972"/>
          </a:solidFill>
          <a:ln w="12700">
            <a:solidFill>
              <a:srgbClr val="00A972"/>
            </a:solidFill>
            <a:prstDash val="solid"/>
          </a:ln>
        </p:spPr>
      </p:sp>
      <p:sp>
        <p:nvSpPr>
          <p:cNvPr id="18" name="Text 16"/>
          <p:cNvSpPr/>
          <p:nvPr/>
        </p:nvSpPr>
        <p:spPr>
          <a:xfrm>
            <a:off x="7050024" y="2852928"/>
            <a:ext cx="512064" cy="128016"/>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9" name="Shape 17"/>
          <p:cNvSpPr/>
          <p:nvPr/>
        </p:nvSpPr>
        <p:spPr>
          <a:xfrm>
            <a:off x="6263640" y="3429000"/>
            <a:ext cx="2240280" cy="1645920"/>
          </a:xfrm>
          <a:prstGeom prst="roundRect">
            <a:avLst>
              <a:gd name="adj" fmla="val 3889"/>
            </a:avLst>
          </a:prstGeom>
          <a:solidFill>
            <a:srgbClr val="FFFFFF"/>
          </a:solidFill>
          <a:ln w="12700">
            <a:solidFill>
              <a:srgbClr val="DDE2EA"/>
            </a:solidFill>
            <a:prstDash val="solid"/>
          </a:ln>
        </p:spPr>
      </p:sp>
      <p:sp>
        <p:nvSpPr>
          <p:cNvPr id="20" name="Shape 18"/>
          <p:cNvSpPr/>
          <p:nvPr/>
        </p:nvSpPr>
        <p:spPr>
          <a:xfrm>
            <a:off x="6263640" y="3429000"/>
            <a:ext cx="50292" cy="1645920"/>
          </a:xfrm>
          <a:prstGeom prst="rect">
            <a:avLst/>
          </a:prstGeom>
          <a:solidFill>
            <a:srgbClr val="00A972"/>
          </a:solidFill>
          <a:ln w="12700">
            <a:solidFill>
              <a:srgbClr val="00A972"/>
            </a:solidFill>
            <a:prstDash val="solid"/>
          </a:ln>
        </p:spPr>
      </p:sp>
      <p:sp>
        <p:nvSpPr>
          <p:cNvPr id="21" name="Text 19"/>
          <p:cNvSpPr/>
          <p:nvPr/>
        </p:nvSpPr>
        <p:spPr>
          <a:xfrm>
            <a:off x="6464808" y="3648456"/>
            <a:ext cx="187452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Data Lake</a:t>
            </a:r>
            <a:endParaRPr lang="en-US" sz="1300" dirty="0"/>
          </a:p>
        </p:txBody>
      </p:sp>
      <p:sp>
        <p:nvSpPr>
          <p:cNvPr id="22" name="Text 20"/>
          <p:cNvSpPr/>
          <p:nvPr/>
        </p:nvSpPr>
        <p:spPr>
          <a:xfrm>
            <a:off x="6464808" y="4087368"/>
            <a:ext cx="1856232" cy="822960"/>
          </a:xfrm>
          <a:prstGeom prst="rect">
            <a:avLst/>
          </a:prstGeom>
          <a:noFill/>
          <a:ln/>
        </p:spPr>
        <p:txBody>
          <a:bodyPr wrap="square" lIns="254" tIns="254" rIns="254" bIns="254" rtlCol="0" anchor="t">
            <a:normAutofit/>
          </a:bodyPr>
          <a:lstStyle/>
          <a:p>
            <a:pPr indent="0" marL="0">
              <a:buNone/>
            </a:pPr>
            <a:r>
              <a:rPr lang="en-US" sz="960" dirty="0">
                <a:solidFill>
                  <a:srgbClr val="283246"/>
                </a:solidFill>
                <a:latin typeface="Aptos" pitchFamily="34" charset="0"/>
                <a:ea typeface="Aptos" pitchFamily="34" charset="-122"/>
                <a:cs typeface="Aptos" pitchFamily="34" charset="-120"/>
              </a:rPr>
              <a:t>Files at scale</a:t>
            </a:r>
            <a:endParaRPr lang="en-US" sz="960" dirty="0"/>
          </a:p>
          <a:p>
            <a:pPr indent="0" marL="0">
              <a:buNone/>
            </a:pPr>
            <a:r>
              <a:rPr lang="en-US" sz="960" dirty="0">
                <a:solidFill>
                  <a:srgbClr val="283246"/>
                </a:solidFill>
                <a:latin typeface="Aptos" pitchFamily="34" charset="0"/>
                <a:ea typeface="Aptos" pitchFamily="34" charset="-122"/>
                <a:cs typeface="Aptos" pitchFamily="34" charset="-120"/>
              </a:rPr>
              <a:t>Spark</a:t>
            </a:r>
            <a:endParaRPr lang="en-US" sz="960" dirty="0"/>
          </a:p>
          <a:p>
            <a:pPr indent="0" marL="0">
              <a:buNone/>
            </a:pPr>
            <a:r>
              <a:rPr lang="en-US" sz="960" dirty="0">
                <a:solidFill>
                  <a:srgbClr val="283246"/>
                </a:solidFill>
                <a:latin typeface="Aptos" pitchFamily="34" charset="0"/>
                <a:ea typeface="Aptos" pitchFamily="34" charset="-122"/>
                <a:cs typeface="Aptos" pitchFamily="34" charset="-120"/>
              </a:rPr>
              <a:t>Flexible schemas</a:t>
            </a:r>
            <a:endParaRPr lang="en-US" sz="960" dirty="0"/>
          </a:p>
        </p:txBody>
      </p:sp>
      <p:sp>
        <p:nvSpPr>
          <p:cNvPr id="23" name="Shape 21"/>
          <p:cNvSpPr/>
          <p:nvPr/>
        </p:nvSpPr>
        <p:spPr>
          <a:xfrm>
            <a:off x="9838944" y="2706624"/>
            <a:ext cx="512064" cy="512064"/>
          </a:xfrm>
          <a:prstGeom prst="ellipse">
            <a:avLst/>
          </a:prstGeom>
          <a:solidFill>
            <a:srgbClr val="FF3621"/>
          </a:solidFill>
          <a:ln w="12700">
            <a:solidFill>
              <a:srgbClr val="FF3621"/>
            </a:solidFill>
            <a:prstDash val="solid"/>
          </a:ln>
        </p:spPr>
      </p:sp>
      <p:sp>
        <p:nvSpPr>
          <p:cNvPr id="24" name="Text 22"/>
          <p:cNvSpPr/>
          <p:nvPr/>
        </p:nvSpPr>
        <p:spPr>
          <a:xfrm>
            <a:off x="9838944" y="2852928"/>
            <a:ext cx="512064" cy="128016"/>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5" name="Shape 23"/>
          <p:cNvSpPr/>
          <p:nvPr/>
        </p:nvSpPr>
        <p:spPr>
          <a:xfrm>
            <a:off x="9052560" y="3429000"/>
            <a:ext cx="2240280" cy="1645920"/>
          </a:xfrm>
          <a:prstGeom prst="roundRect">
            <a:avLst>
              <a:gd name="adj" fmla="val 3889"/>
            </a:avLst>
          </a:prstGeom>
          <a:solidFill>
            <a:srgbClr val="FFFFFF"/>
          </a:solidFill>
          <a:ln w="12700">
            <a:solidFill>
              <a:srgbClr val="DDE2EA"/>
            </a:solidFill>
            <a:prstDash val="solid"/>
          </a:ln>
        </p:spPr>
      </p:sp>
      <p:sp>
        <p:nvSpPr>
          <p:cNvPr id="26" name="Shape 24"/>
          <p:cNvSpPr/>
          <p:nvPr/>
        </p:nvSpPr>
        <p:spPr>
          <a:xfrm>
            <a:off x="9052560" y="3429000"/>
            <a:ext cx="50292" cy="1645920"/>
          </a:xfrm>
          <a:prstGeom prst="rect">
            <a:avLst/>
          </a:prstGeom>
          <a:solidFill>
            <a:srgbClr val="FF3621"/>
          </a:solidFill>
          <a:ln w="12700">
            <a:solidFill>
              <a:srgbClr val="FF3621"/>
            </a:solidFill>
            <a:prstDash val="solid"/>
          </a:ln>
        </p:spPr>
      </p:sp>
      <p:sp>
        <p:nvSpPr>
          <p:cNvPr id="27" name="Text 25"/>
          <p:cNvSpPr/>
          <p:nvPr/>
        </p:nvSpPr>
        <p:spPr>
          <a:xfrm>
            <a:off x="9253728" y="3648456"/>
            <a:ext cx="187452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Lakehouse</a:t>
            </a:r>
            <a:endParaRPr lang="en-US" sz="1300" dirty="0"/>
          </a:p>
        </p:txBody>
      </p:sp>
      <p:sp>
        <p:nvSpPr>
          <p:cNvPr id="28" name="Text 26"/>
          <p:cNvSpPr/>
          <p:nvPr/>
        </p:nvSpPr>
        <p:spPr>
          <a:xfrm>
            <a:off x="9253728" y="4087368"/>
            <a:ext cx="1856232" cy="822960"/>
          </a:xfrm>
          <a:prstGeom prst="rect">
            <a:avLst/>
          </a:prstGeom>
          <a:noFill/>
          <a:ln/>
        </p:spPr>
        <p:txBody>
          <a:bodyPr wrap="square" lIns="254" tIns="254" rIns="254" bIns="254" rtlCol="0" anchor="t">
            <a:normAutofit/>
          </a:bodyPr>
          <a:lstStyle/>
          <a:p>
            <a:pPr indent="0" marL="0">
              <a:buNone/>
            </a:pPr>
            <a:r>
              <a:rPr lang="en-US" sz="960" dirty="0">
                <a:solidFill>
                  <a:srgbClr val="283246"/>
                </a:solidFill>
                <a:latin typeface="Aptos" pitchFamily="34" charset="0"/>
                <a:ea typeface="Aptos" pitchFamily="34" charset="-122"/>
                <a:cs typeface="Aptos" pitchFamily="34" charset="-120"/>
              </a:rPr>
              <a:t>Open storage + DW reliability</a:t>
            </a:r>
            <a:endParaRPr lang="en-US" sz="960" dirty="0"/>
          </a:p>
          <a:p>
            <a:pPr indent="0" marL="0">
              <a:buNone/>
            </a:pPr>
            <a:r>
              <a:rPr lang="en-US" sz="960" dirty="0">
                <a:solidFill>
                  <a:srgbClr val="283246"/>
                </a:solidFill>
                <a:latin typeface="Aptos" pitchFamily="34" charset="0"/>
                <a:ea typeface="Aptos" pitchFamily="34" charset="-122"/>
                <a:cs typeface="Aptos" pitchFamily="34" charset="-120"/>
              </a:rPr>
              <a:t>Batch + streaming</a:t>
            </a:r>
            <a:endParaRPr lang="en-US" sz="960" dirty="0"/>
          </a:p>
          <a:p>
            <a:pPr indent="0" marL="0">
              <a:buNone/>
            </a:pPr>
            <a:r>
              <a:rPr lang="en-US" sz="960" dirty="0">
                <a:solidFill>
                  <a:srgbClr val="283246"/>
                </a:solidFill>
                <a:latin typeface="Aptos" pitchFamily="34" charset="0"/>
                <a:ea typeface="Aptos" pitchFamily="34" charset="-122"/>
                <a:cs typeface="Aptos" pitchFamily="34" charset="-120"/>
              </a:rPr>
              <a:t>Unified BI + AI</a:t>
            </a:r>
            <a:endParaRPr lang="en-US" sz="960" dirty="0"/>
          </a:p>
        </p:txBody>
      </p:sp>
      <p:sp>
        <p:nvSpPr>
          <p:cNvPr id="29" name="Shape 27"/>
          <p:cNvSpPr/>
          <p:nvPr/>
        </p:nvSpPr>
        <p:spPr>
          <a:xfrm>
            <a:off x="1097280" y="1417320"/>
            <a:ext cx="9875520" cy="658368"/>
          </a:xfrm>
          <a:prstGeom prst="roundRect">
            <a:avLst>
              <a:gd name="adj" fmla="val 8333"/>
            </a:avLst>
          </a:prstGeom>
          <a:solidFill>
            <a:srgbClr val="EEF7FF"/>
          </a:solidFill>
          <a:ln w="12700">
            <a:solidFill>
              <a:srgbClr val="EEF7FF"/>
            </a:solidFill>
            <a:prstDash val="solid"/>
          </a:ln>
        </p:spPr>
      </p:sp>
      <p:sp>
        <p:nvSpPr>
          <p:cNvPr id="30" name="Text 28"/>
          <p:cNvSpPr/>
          <p:nvPr/>
        </p:nvSpPr>
        <p:spPr>
          <a:xfrm>
            <a:off x="1261872" y="1536192"/>
            <a:ext cx="9546336" cy="429768"/>
          </a:xfrm>
          <a:prstGeom prst="rect">
            <a:avLst/>
          </a:prstGeom>
          <a:noFill/>
          <a:ln/>
        </p:spPr>
        <p:txBody>
          <a:bodyPr wrap="square" lIns="0" tIns="0" rIns="0" bIns="0" rtlCol="0" anchor="ctr">
            <a:normAutofit/>
          </a:bodyPr>
          <a:lstStyle/>
          <a:p>
            <a:pPr indent="0" marL="0">
              <a:buNone/>
            </a:pPr>
            <a:r>
              <a:rPr lang="en-US" sz="1100" b="1" dirty="0">
                <a:solidFill>
                  <a:srgbClr val="3B6FF5"/>
                </a:solidFill>
                <a:latin typeface="Aptos" pitchFamily="34" charset="0"/>
                <a:ea typeface="Aptos" pitchFamily="34" charset="-122"/>
                <a:cs typeface="Aptos" pitchFamily="34" charset="-120"/>
              </a:rPr>
              <a:t>The trend is toward “store first, act later” plus unified batch/streaming processing on common governed data.</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Batch, Micro-batch, and Streaming</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Processing model is a requirement decision, not a prestige hierarchy.</a:t>
            </a:r>
            <a:endParaRPr lang="en-US" sz="1100" dirty="0"/>
          </a:p>
        </p:txBody>
      </p:sp>
      <p:sp>
        <p:nvSpPr>
          <p:cNvPr id="4" name="Shape 2"/>
          <p:cNvSpPr/>
          <p:nvPr/>
        </p:nvSpPr>
        <p:spPr>
          <a:xfrm>
            <a:off x="658368" y="1554480"/>
            <a:ext cx="3337560" cy="2926080"/>
          </a:xfrm>
          <a:prstGeom prst="roundRect">
            <a:avLst>
              <a:gd name="adj" fmla="val 2188"/>
            </a:avLst>
          </a:prstGeom>
          <a:solidFill>
            <a:srgbClr val="FFFFFF"/>
          </a:solidFill>
          <a:ln w="12700">
            <a:solidFill>
              <a:srgbClr val="DDE2EA"/>
            </a:solidFill>
            <a:prstDash val="solid"/>
          </a:ln>
        </p:spPr>
      </p:sp>
      <p:sp>
        <p:nvSpPr>
          <p:cNvPr id="5" name="Shape 3"/>
          <p:cNvSpPr/>
          <p:nvPr/>
        </p:nvSpPr>
        <p:spPr>
          <a:xfrm>
            <a:off x="658368" y="1554480"/>
            <a:ext cx="50292" cy="2926080"/>
          </a:xfrm>
          <a:prstGeom prst="rect">
            <a:avLst/>
          </a:prstGeom>
          <a:solidFill>
            <a:srgbClr val="3B6FF5"/>
          </a:solidFill>
          <a:ln w="12700">
            <a:solidFill>
              <a:srgbClr val="3B6FF5"/>
            </a:solidFill>
            <a:prstDash val="solid"/>
          </a:ln>
        </p:spPr>
      </p:sp>
      <p:sp>
        <p:nvSpPr>
          <p:cNvPr id="6" name="Shape 4"/>
          <p:cNvSpPr/>
          <p:nvPr/>
        </p:nvSpPr>
        <p:spPr>
          <a:xfrm>
            <a:off x="859536" y="173736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859536" y="180136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BATCH</a:t>
            </a:r>
            <a:endParaRPr lang="en-US" sz="730" dirty="0"/>
          </a:p>
        </p:txBody>
      </p:sp>
      <p:sp>
        <p:nvSpPr>
          <p:cNvPr id="8" name="Text 6"/>
          <p:cNvSpPr/>
          <p:nvPr/>
        </p:nvSpPr>
        <p:spPr>
          <a:xfrm>
            <a:off x="859536" y="2139696"/>
            <a:ext cx="297180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Batch</a:t>
            </a:r>
            <a:endParaRPr lang="en-US" sz="1500" dirty="0"/>
          </a:p>
        </p:txBody>
      </p:sp>
      <p:sp>
        <p:nvSpPr>
          <p:cNvPr id="9" name="Text 7"/>
          <p:cNvSpPr/>
          <p:nvPr/>
        </p:nvSpPr>
        <p:spPr>
          <a:xfrm>
            <a:off x="859536" y="2514600"/>
            <a:ext cx="2953512" cy="180136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Process a bounded set on a schedule.</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Examples: nightly sales load, weekly finance close.</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Strength: simple and cost-efficient.</a:t>
            </a:r>
            <a:endParaRPr lang="en-US" sz="1050" dirty="0"/>
          </a:p>
        </p:txBody>
      </p:sp>
      <p:sp>
        <p:nvSpPr>
          <p:cNvPr id="10" name="Shape 8"/>
          <p:cNvSpPr/>
          <p:nvPr/>
        </p:nvSpPr>
        <p:spPr>
          <a:xfrm>
            <a:off x="4425696" y="1554480"/>
            <a:ext cx="3337560" cy="2926080"/>
          </a:xfrm>
          <a:prstGeom prst="roundRect">
            <a:avLst>
              <a:gd name="adj" fmla="val 2188"/>
            </a:avLst>
          </a:prstGeom>
          <a:solidFill>
            <a:srgbClr val="FFFFFF"/>
          </a:solidFill>
          <a:ln w="12700">
            <a:solidFill>
              <a:srgbClr val="DDE2EA"/>
            </a:solidFill>
            <a:prstDash val="solid"/>
          </a:ln>
        </p:spPr>
      </p:sp>
      <p:sp>
        <p:nvSpPr>
          <p:cNvPr id="11" name="Shape 9"/>
          <p:cNvSpPr/>
          <p:nvPr/>
        </p:nvSpPr>
        <p:spPr>
          <a:xfrm>
            <a:off x="4425696" y="1554480"/>
            <a:ext cx="50292" cy="2926080"/>
          </a:xfrm>
          <a:prstGeom prst="rect">
            <a:avLst/>
          </a:prstGeom>
          <a:solidFill>
            <a:srgbClr val="00A972"/>
          </a:solidFill>
          <a:ln w="12700">
            <a:solidFill>
              <a:srgbClr val="00A972"/>
            </a:solidFill>
            <a:prstDash val="solid"/>
          </a:ln>
        </p:spPr>
      </p:sp>
      <p:sp>
        <p:nvSpPr>
          <p:cNvPr id="12" name="Shape 10"/>
          <p:cNvSpPr/>
          <p:nvPr/>
        </p:nvSpPr>
        <p:spPr>
          <a:xfrm>
            <a:off x="4626864" y="1737360"/>
            <a:ext cx="566928" cy="310896"/>
          </a:xfrm>
          <a:prstGeom prst="roundRect">
            <a:avLst>
              <a:gd name="adj" fmla="val 14706"/>
            </a:avLst>
          </a:prstGeom>
          <a:solidFill>
            <a:srgbClr val="E9F8F3"/>
          </a:solidFill>
          <a:ln w="12700">
            <a:solidFill>
              <a:srgbClr val="E9F8F3"/>
            </a:solidFill>
            <a:prstDash val="solid"/>
          </a:ln>
        </p:spPr>
      </p:sp>
      <p:sp>
        <p:nvSpPr>
          <p:cNvPr id="13" name="Text 11"/>
          <p:cNvSpPr/>
          <p:nvPr/>
        </p:nvSpPr>
        <p:spPr>
          <a:xfrm>
            <a:off x="4626864" y="180136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µ-BATCH</a:t>
            </a:r>
            <a:endParaRPr lang="en-US" sz="730" dirty="0"/>
          </a:p>
        </p:txBody>
      </p:sp>
      <p:sp>
        <p:nvSpPr>
          <p:cNvPr id="14" name="Text 12"/>
          <p:cNvSpPr/>
          <p:nvPr/>
        </p:nvSpPr>
        <p:spPr>
          <a:xfrm>
            <a:off x="4626864" y="2139696"/>
            <a:ext cx="297180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Micro-batch</a:t>
            </a:r>
            <a:endParaRPr lang="en-US" sz="1500" dirty="0"/>
          </a:p>
        </p:txBody>
      </p:sp>
      <p:sp>
        <p:nvSpPr>
          <p:cNvPr id="15" name="Text 13"/>
          <p:cNvSpPr/>
          <p:nvPr/>
        </p:nvSpPr>
        <p:spPr>
          <a:xfrm>
            <a:off x="4626864" y="2514600"/>
            <a:ext cx="2953512" cy="180136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Process small increments frequently.</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Examples: every 1–5 minutes.</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Strength: near-real-time behaviour with simpler operations.</a:t>
            </a:r>
            <a:endParaRPr lang="en-US" sz="1050" dirty="0"/>
          </a:p>
        </p:txBody>
      </p:sp>
      <p:sp>
        <p:nvSpPr>
          <p:cNvPr id="16" name="Shape 14"/>
          <p:cNvSpPr/>
          <p:nvPr/>
        </p:nvSpPr>
        <p:spPr>
          <a:xfrm>
            <a:off x="8193024" y="1554480"/>
            <a:ext cx="3337560" cy="2926080"/>
          </a:xfrm>
          <a:prstGeom prst="roundRect">
            <a:avLst>
              <a:gd name="adj" fmla="val 2188"/>
            </a:avLst>
          </a:prstGeom>
          <a:solidFill>
            <a:srgbClr val="FFFFFF"/>
          </a:solidFill>
          <a:ln w="12700">
            <a:solidFill>
              <a:srgbClr val="DDE2EA"/>
            </a:solidFill>
            <a:prstDash val="solid"/>
          </a:ln>
        </p:spPr>
      </p:sp>
      <p:sp>
        <p:nvSpPr>
          <p:cNvPr id="17" name="Shape 15"/>
          <p:cNvSpPr/>
          <p:nvPr/>
        </p:nvSpPr>
        <p:spPr>
          <a:xfrm>
            <a:off x="8193024" y="1554480"/>
            <a:ext cx="50292" cy="2926080"/>
          </a:xfrm>
          <a:prstGeom prst="rect">
            <a:avLst/>
          </a:prstGeom>
          <a:solidFill>
            <a:srgbClr val="7C4DFF"/>
          </a:solidFill>
          <a:ln w="12700">
            <a:solidFill>
              <a:srgbClr val="7C4DFF"/>
            </a:solidFill>
            <a:prstDash val="solid"/>
          </a:ln>
        </p:spPr>
      </p:sp>
      <p:sp>
        <p:nvSpPr>
          <p:cNvPr id="18" name="Shape 16"/>
          <p:cNvSpPr/>
          <p:nvPr/>
        </p:nvSpPr>
        <p:spPr>
          <a:xfrm>
            <a:off x="8394192" y="1737360"/>
            <a:ext cx="566928" cy="310896"/>
          </a:xfrm>
          <a:prstGeom prst="roundRect">
            <a:avLst>
              <a:gd name="adj" fmla="val 14706"/>
            </a:avLst>
          </a:prstGeom>
          <a:solidFill>
            <a:srgbClr val="F2EEFF"/>
          </a:solidFill>
          <a:ln w="12700">
            <a:solidFill>
              <a:srgbClr val="F2EEFF"/>
            </a:solidFill>
            <a:prstDash val="solid"/>
          </a:ln>
        </p:spPr>
      </p:sp>
      <p:sp>
        <p:nvSpPr>
          <p:cNvPr id="19" name="Text 17"/>
          <p:cNvSpPr/>
          <p:nvPr/>
        </p:nvSpPr>
        <p:spPr>
          <a:xfrm>
            <a:off x="8394192" y="180136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STREAM</a:t>
            </a:r>
            <a:endParaRPr lang="en-US" sz="730" dirty="0"/>
          </a:p>
        </p:txBody>
      </p:sp>
      <p:sp>
        <p:nvSpPr>
          <p:cNvPr id="20" name="Text 18"/>
          <p:cNvSpPr/>
          <p:nvPr/>
        </p:nvSpPr>
        <p:spPr>
          <a:xfrm>
            <a:off x="8394192" y="2139696"/>
            <a:ext cx="297180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Streaming</a:t>
            </a:r>
            <a:endParaRPr lang="en-US" sz="1500" dirty="0"/>
          </a:p>
        </p:txBody>
      </p:sp>
      <p:sp>
        <p:nvSpPr>
          <p:cNvPr id="21" name="Text 19"/>
          <p:cNvSpPr/>
          <p:nvPr/>
        </p:nvSpPr>
        <p:spPr>
          <a:xfrm>
            <a:off x="8394192" y="2514600"/>
            <a:ext cx="2953512" cy="180136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Process unbounded events continuously.</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Examples: fraud alerts, telemetry, clickstreams.</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Strength: lowest latency, highest operational complexity.</a:t>
            </a:r>
            <a:endParaRPr lang="en-US" sz="1050" dirty="0"/>
          </a:p>
        </p:txBody>
      </p:sp>
      <p:sp>
        <p:nvSpPr>
          <p:cNvPr id="22" name="Text 20"/>
          <p:cNvSpPr/>
          <p:nvPr/>
        </p:nvSpPr>
        <p:spPr>
          <a:xfrm>
            <a:off x="1965960" y="4983480"/>
            <a:ext cx="8229600" cy="320040"/>
          </a:xfrm>
          <a:prstGeom prst="rect">
            <a:avLst/>
          </a:prstGeom>
          <a:noFill/>
          <a:ln/>
        </p:spPr>
        <p:txBody>
          <a:bodyPr wrap="square" lIns="0" tIns="0" rIns="0" bIns="0" rtlCol="0" anchor="ctr"/>
          <a:lstStyle/>
          <a:p>
            <a:pPr algn="ctr" indent="0" marL="0">
              <a:buNone/>
            </a:pPr>
            <a:r>
              <a:rPr lang="en-US" sz="1100" b="1" dirty="0">
                <a:solidFill>
                  <a:srgbClr val="687386"/>
                </a:solidFill>
                <a:latin typeface="Aptos" pitchFamily="34" charset="0"/>
                <a:ea typeface="Aptos" pitchFamily="34" charset="-122"/>
                <a:cs typeface="Aptos" pitchFamily="34" charset="-120"/>
              </a:rPr>
              <a:t>Lower operational complexity  ←——————————————→  Lower latency</a:t>
            </a:r>
            <a:endParaRPr lang="en-US" sz="1100" dirty="0"/>
          </a:p>
        </p:txBody>
      </p:sp>
      <p:sp>
        <p:nvSpPr>
          <p:cNvPr id="23" name="Text 21"/>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1–2</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Design for “Right-Time” Data</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Freshness should match the decision cycle.</a:t>
            </a:r>
            <a:endParaRPr lang="en-US" sz="1100" dirty="0"/>
          </a:p>
        </p:txBody>
      </p:sp>
      <p:sp>
        <p:nvSpPr>
          <p:cNvPr id="4" name="Shape 2"/>
          <p:cNvSpPr/>
          <p:nvPr/>
        </p:nvSpPr>
        <p:spPr>
          <a:xfrm>
            <a:off x="914400" y="2926080"/>
            <a:ext cx="10241280" cy="0"/>
          </a:xfrm>
          <a:prstGeom prst="line">
            <a:avLst/>
          </a:prstGeom>
          <a:noFill/>
          <a:ln w="12700">
            <a:solidFill>
              <a:srgbClr val="C4CAD5"/>
            </a:solidFill>
            <a:prstDash val="solid"/>
          </a:ln>
        </p:spPr>
      </p:sp>
      <p:sp>
        <p:nvSpPr>
          <p:cNvPr id="5" name="Shape 3"/>
          <p:cNvSpPr/>
          <p:nvPr/>
        </p:nvSpPr>
        <p:spPr>
          <a:xfrm>
            <a:off x="1097280" y="2651760"/>
            <a:ext cx="530352" cy="530352"/>
          </a:xfrm>
          <a:prstGeom prst="ellipse">
            <a:avLst/>
          </a:prstGeom>
          <a:solidFill>
            <a:srgbClr val="3B6FF5"/>
          </a:solidFill>
          <a:ln w="12700">
            <a:solidFill>
              <a:srgbClr val="3B6FF5"/>
            </a:solidFill>
            <a:prstDash val="solid"/>
          </a:ln>
        </p:spPr>
      </p:sp>
      <p:sp>
        <p:nvSpPr>
          <p:cNvPr id="6" name="Text 4"/>
          <p:cNvSpPr/>
          <p:nvPr/>
        </p:nvSpPr>
        <p:spPr>
          <a:xfrm>
            <a:off x="685800" y="2057400"/>
            <a:ext cx="1371600" cy="320040"/>
          </a:xfrm>
          <a:prstGeom prst="rect">
            <a:avLst/>
          </a:prstGeom>
          <a:noFill/>
          <a:ln/>
        </p:spPr>
        <p:txBody>
          <a:bodyPr wrap="square" lIns="0" tIns="0" rIns="0" bIns="0" rtlCol="0" anchor="ctr"/>
          <a:lstStyle/>
          <a:p>
            <a:pPr algn="ctr" indent="0" marL="0">
              <a:buNone/>
            </a:pPr>
            <a:r>
              <a:rPr lang="en-US" sz="1200" b="1" dirty="0">
                <a:solidFill>
                  <a:srgbClr val="17233C"/>
                </a:solidFill>
                <a:latin typeface="Aptos" pitchFamily="34" charset="0"/>
                <a:ea typeface="Aptos" pitchFamily="34" charset="-122"/>
                <a:cs typeface="Aptos" pitchFamily="34" charset="-120"/>
              </a:rPr>
              <a:t>Daily</a:t>
            </a:r>
            <a:endParaRPr lang="en-US" sz="1200" dirty="0"/>
          </a:p>
        </p:txBody>
      </p:sp>
      <p:sp>
        <p:nvSpPr>
          <p:cNvPr id="7" name="Text 5"/>
          <p:cNvSpPr/>
          <p:nvPr/>
        </p:nvSpPr>
        <p:spPr>
          <a:xfrm>
            <a:off x="502920" y="3337560"/>
            <a:ext cx="1828800" cy="502920"/>
          </a:xfrm>
          <a:prstGeom prst="rect">
            <a:avLst/>
          </a:prstGeom>
          <a:noFill/>
          <a:ln/>
        </p:spPr>
        <p:txBody>
          <a:bodyPr wrap="square" lIns="0" tIns="0" rIns="0" bIns="0" rtlCol="0" anchor="ctr">
            <a:normAutofit/>
          </a:bodyPr>
          <a:lstStyle/>
          <a:p>
            <a:pPr algn="ctr" indent="0" marL="0">
              <a:buNone/>
            </a:pPr>
            <a:r>
              <a:rPr lang="en-US" sz="980" dirty="0">
                <a:solidFill>
                  <a:srgbClr val="283246"/>
                </a:solidFill>
                <a:latin typeface="Aptos" pitchFamily="34" charset="0"/>
                <a:ea typeface="Aptos" pitchFamily="34" charset="-122"/>
                <a:cs typeface="Aptos" pitchFamily="34" charset="-120"/>
              </a:rPr>
              <a:t>Financial reporting</a:t>
            </a:r>
            <a:endParaRPr lang="en-US" sz="980" dirty="0"/>
          </a:p>
        </p:txBody>
      </p:sp>
      <p:sp>
        <p:nvSpPr>
          <p:cNvPr id="8" name="Shape 6"/>
          <p:cNvSpPr/>
          <p:nvPr/>
        </p:nvSpPr>
        <p:spPr>
          <a:xfrm>
            <a:off x="3657600" y="2651760"/>
            <a:ext cx="530352" cy="530352"/>
          </a:xfrm>
          <a:prstGeom prst="ellipse">
            <a:avLst/>
          </a:prstGeom>
          <a:solidFill>
            <a:srgbClr val="00A972"/>
          </a:solidFill>
          <a:ln w="12700">
            <a:solidFill>
              <a:srgbClr val="00A972"/>
            </a:solidFill>
            <a:prstDash val="solid"/>
          </a:ln>
        </p:spPr>
      </p:sp>
      <p:sp>
        <p:nvSpPr>
          <p:cNvPr id="9" name="Text 7"/>
          <p:cNvSpPr/>
          <p:nvPr/>
        </p:nvSpPr>
        <p:spPr>
          <a:xfrm>
            <a:off x="3246120" y="2057400"/>
            <a:ext cx="1371600" cy="320040"/>
          </a:xfrm>
          <a:prstGeom prst="rect">
            <a:avLst/>
          </a:prstGeom>
          <a:noFill/>
          <a:ln/>
        </p:spPr>
        <p:txBody>
          <a:bodyPr wrap="square" lIns="0" tIns="0" rIns="0" bIns="0" rtlCol="0" anchor="ctr"/>
          <a:lstStyle/>
          <a:p>
            <a:pPr algn="ctr" indent="0" marL="0">
              <a:buNone/>
            </a:pPr>
            <a:r>
              <a:rPr lang="en-US" sz="1200" b="1" dirty="0">
                <a:solidFill>
                  <a:srgbClr val="17233C"/>
                </a:solidFill>
                <a:latin typeface="Aptos" pitchFamily="34" charset="0"/>
                <a:ea typeface="Aptos" pitchFamily="34" charset="-122"/>
                <a:cs typeface="Aptos" pitchFamily="34" charset="-120"/>
              </a:rPr>
              <a:t>Hourly</a:t>
            </a:r>
            <a:endParaRPr lang="en-US" sz="1200" dirty="0"/>
          </a:p>
        </p:txBody>
      </p:sp>
      <p:sp>
        <p:nvSpPr>
          <p:cNvPr id="10" name="Text 8"/>
          <p:cNvSpPr/>
          <p:nvPr/>
        </p:nvSpPr>
        <p:spPr>
          <a:xfrm>
            <a:off x="3063240" y="3337560"/>
            <a:ext cx="1828800" cy="502920"/>
          </a:xfrm>
          <a:prstGeom prst="rect">
            <a:avLst/>
          </a:prstGeom>
          <a:noFill/>
          <a:ln/>
        </p:spPr>
        <p:txBody>
          <a:bodyPr wrap="square" lIns="0" tIns="0" rIns="0" bIns="0" rtlCol="0" anchor="ctr">
            <a:normAutofit/>
          </a:bodyPr>
          <a:lstStyle/>
          <a:p>
            <a:pPr algn="ctr" indent="0" marL="0">
              <a:buNone/>
            </a:pPr>
            <a:r>
              <a:rPr lang="en-US" sz="980" dirty="0">
                <a:solidFill>
                  <a:srgbClr val="283246"/>
                </a:solidFill>
                <a:latin typeface="Aptos" pitchFamily="34" charset="0"/>
                <a:ea typeface="Aptos" pitchFamily="34" charset="-122"/>
                <a:cs typeface="Aptos" pitchFamily="34" charset="-120"/>
              </a:rPr>
              <a:t>Operations dashboard</a:t>
            </a:r>
            <a:endParaRPr lang="en-US" sz="980" dirty="0"/>
          </a:p>
        </p:txBody>
      </p:sp>
      <p:sp>
        <p:nvSpPr>
          <p:cNvPr id="11" name="Shape 9"/>
          <p:cNvSpPr/>
          <p:nvPr/>
        </p:nvSpPr>
        <p:spPr>
          <a:xfrm>
            <a:off x="6400800" y="2651760"/>
            <a:ext cx="530352" cy="530352"/>
          </a:xfrm>
          <a:prstGeom prst="ellipse">
            <a:avLst/>
          </a:prstGeom>
          <a:solidFill>
            <a:srgbClr val="7C4DFF"/>
          </a:solidFill>
          <a:ln w="12700">
            <a:solidFill>
              <a:srgbClr val="7C4DFF"/>
            </a:solidFill>
            <a:prstDash val="solid"/>
          </a:ln>
        </p:spPr>
      </p:sp>
      <p:sp>
        <p:nvSpPr>
          <p:cNvPr id="12" name="Text 10"/>
          <p:cNvSpPr/>
          <p:nvPr/>
        </p:nvSpPr>
        <p:spPr>
          <a:xfrm>
            <a:off x="5989320" y="2057400"/>
            <a:ext cx="1371600" cy="320040"/>
          </a:xfrm>
          <a:prstGeom prst="rect">
            <a:avLst/>
          </a:prstGeom>
          <a:noFill/>
          <a:ln/>
        </p:spPr>
        <p:txBody>
          <a:bodyPr wrap="square" lIns="0" tIns="0" rIns="0" bIns="0" rtlCol="0" anchor="ctr"/>
          <a:lstStyle/>
          <a:p>
            <a:pPr algn="ctr" indent="0" marL="0">
              <a:buNone/>
            </a:pPr>
            <a:r>
              <a:rPr lang="en-US" sz="1200" b="1" dirty="0">
                <a:solidFill>
                  <a:srgbClr val="17233C"/>
                </a:solidFill>
                <a:latin typeface="Aptos" pitchFamily="34" charset="0"/>
                <a:ea typeface="Aptos" pitchFamily="34" charset="-122"/>
                <a:cs typeface="Aptos" pitchFamily="34" charset="-120"/>
              </a:rPr>
              <a:t>Minutes</a:t>
            </a:r>
            <a:endParaRPr lang="en-US" sz="1200" dirty="0"/>
          </a:p>
        </p:txBody>
      </p:sp>
      <p:sp>
        <p:nvSpPr>
          <p:cNvPr id="13" name="Text 11"/>
          <p:cNvSpPr/>
          <p:nvPr/>
        </p:nvSpPr>
        <p:spPr>
          <a:xfrm>
            <a:off x="5806440" y="3337560"/>
            <a:ext cx="1828800" cy="502920"/>
          </a:xfrm>
          <a:prstGeom prst="rect">
            <a:avLst/>
          </a:prstGeom>
          <a:noFill/>
          <a:ln/>
        </p:spPr>
        <p:txBody>
          <a:bodyPr wrap="square" lIns="0" tIns="0" rIns="0" bIns="0" rtlCol="0" anchor="ctr">
            <a:normAutofit/>
          </a:bodyPr>
          <a:lstStyle/>
          <a:p>
            <a:pPr algn="ctr" indent="0" marL="0">
              <a:buNone/>
            </a:pPr>
            <a:r>
              <a:rPr lang="en-US" sz="980" dirty="0">
                <a:solidFill>
                  <a:srgbClr val="283246"/>
                </a:solidFill>
                <a:latin typeface="Aptos" pitchFamily="34" charset="0"/>
                <a:ea typeface="Aptos" pitchFamily="34" charset="-122"/>
                <a:cs typeface="Aptos" pitchFamily="34" charset="-120"/>
              </a:rPr>
              <a:t>Inventory / web analytics</a:t>
            </a:r>
            <a:endParaRPr lang="en-US" sz="980" dirty="0"/>
          </a:p>
        </p:txBody>
      </p:sp>
      <p:sp>
        <p:nvSpPr>
          <p:cNvPr id="14" name="Shape 12"/>
          <p:cNvSpPr/>
          <p:nvPr/>
        </p:nvSpPr>
        <p:spPr>
          <a:xfrm>
            <a:off x="9144000" y="2651760"/>
            <a:ext cx="530352" cy="530352"/>
          </a:xfrm>
          <a:prstGeom prst="ellipse">
            <a:avLst/>
          </a:prstGeom>
          <a:solidFill>
            <a:srgbClr val="FF3621"/>
          </a:solidFill>
          <a:ln w="12700">
            <a:solidFill>
              <a:srgbClr val="FF3621"/>
            </a:solidFill>
            <a:prstDash val="solid"/>
          </a:ln>
        </p:spPr>
      </p:sp>
      <p:sp>
        <p:nvSpPr>
          <p:cNvPr id="15" name="Text 13"/>
          <p:cNvSpPr/>
          <p:nvPr/>
        </p:nvSpPr>
        <p:spPr>
          <a:xfrm>
            <a:off x="8732520" y="2057400"/>
            <a:ext cx="1371600" cy="320040"/>
          </a:xfrm>
          <a:prstGeom prst="rect">
            <a:avLst/>
          </a:prstGeom>
          <a:noFill/>
          <a:ln/>
        </p:spPr>
        <p:txBody>
          <a:bodyPr wrap="square" lIns="0" tIns="0" rIns="0" bIns="0" rtlCol="0" anchor="ctr"/>
          <a:lstStyle/>
          <a:p>
            <a:pPr algn="ctr" indent="0" marL="0">
              <a:buNone/>
            </a:pPr>
            <a:r>
              <a:rPr lang="en-US" sz="1200" b="1" dirty="0">
                <a:solidFill>
                  <a:srgbClr val="17233C"/>
                </a:solidFill>
                <a:latin typeface="Aptos" pitchFamily="34" charset="0"/>
                <a:ea typeface="Aptos" pitchFamily="34" charset="-122"/>
                <a:cs typeface="Aptos" pitchFamily="34" charset="-120"/>
              </a:rPr>
              <a:t>Seconds</a:t>
            </a:r>
            <a:endParaRPr lang="en-US" sz="1200" dirty="0"/>
          </a:p>
        </p:txBody>
      </p:sp>
      <p:sp>
        <p:nvSpPr>
          <p:cNvPr id="16" name="Text 14"/>
          <p:cNvSpPr/>
          <p:nvPr/>
        </p:nvSpPr>
        <p:spPr>
          <a:xfrm>
            <a:off x="8549640" y="3337560"/>
            <a:ext cx="1828800" cy="502920"/>
          </a:xfrm>
          <a:prstGeom prst="rect">
            <a:avLst/>
          </a:prstGeom>
          <a:noFill/>
          <a:ln/>
        </p:spPr>
        <p:txBody>
          <a:bodyPr wrap="square" lIns="0" tIns="0" rIns="0" bIns="0" rtlCol="0" anchor="ctr">
            <a:normAutofit/>
          </a:bodyPr>
          <a:lstStyle/>
          <a:p>
            <a:pPr algn="ctr" indent="0" marL="0">
              <a:buNone/>
            </a:pPr>
            <a:r>
              <a:rPr lang="en-US" sz="980" dirty="0">
                <a:solidFill>
                  <a:srgbClr val="283246"/>
                </a:solidFill>
                <a:latin typeface="Aptos" pitchFamily="34" charset="0"/>
                <a:ea typeface="Aptos" pitchFamily="34" charset="-122"/>
                <a:cs typeface="Aptos" pitchFamily="34" charset="-120"/>
              </a:rPr>
              <a:t>Fraud / control systems</a:t>
            </a:r>
            <a:endParaRPr lang="en-US" sz="980" dirty="0"/>
          </a:p>
        </p:txBody>
      </p:sp>
      <p:sp>
        <p:nvSpPr>
          <p:cNvPr id="17" name="Shape 15"/>
          <p:cNvSpPr/>
          <p:nvPr/>
        </p:nvSpPr>
        <p:spPr>
          <a:xfrm>
            <a:off x="1051560" y="4572000"/>
            <a:ext cx="10058400" cy="749808"/>
          </a:xfrm>
          <a:prstGeom prst="roundRect">
            <a:avLst>
              <a:gd name="adj" fmla="val 7317"/>
            </a:avLst>
          </a:prstGeom>
          <a:solidFill>
            <a:srgbClr val="FFF4F1"/>
          </a:solidFill>
          <a:ln w="12700">
            <a:solidFill>
              <a:srgbClr val="FFF4F1"/>
            </a:solidFill>
            <a:prstDash val="solid"/>
          </a:ln>
        </p:spPr>
      </p:sp>
      <p:sp>
        <p:nvSpPr>
          <p:cNvPr id="18" name="Text 16"/>
          <p:cNvSpPr/>
          <p:nvPr/>
        </p:nvSpPr>
        <p:spPr>
          <a:xfrm>
            <a:off x="1216152" y="4690872"/>
            <a:ext cx="9729216" cy="521208"/>
          </a:xfrm>
          <a:prstGeom prst="rect">
            <a:avLst/>
          </a:prstGeom>
          <a:noFill/>
          <a:ln/>
        </p:spPr>
        <p:txBody>
          <a:bodyPr wrap="square" lIns="0" tIns="0" rIns="0" bIns="0" rtlCol="0" anchor="ctr">
            <a:normAutofit/>
          </a:bodyPr>
          <a:lstStyle/>
          <a:p>
            <a:pPr indent="0" marL="0">
              <a:buNone/>
            </a:pPr>
            <a:r>
              <a:rPr lang="en-US" sz="1100" b="1" dirty="0">
                <a:solidFill>
                  <a:srgbClr val="FF3621"/>
                </a:solidFill>
                <a:latin typeface="Aptos" pitchFamily="34" charset="0"/>
                <a:ea typeface="Aptos" pitchFamily="34" charset="-122"/>
                <a:cs typeface="Aptos" pitchFamily="34" charset="-120"/>
              </a:rPr>
              <a:t>Question first: “How fresh must this data be to create value?” — then choose the processing model.</a:t>
            </a:r>
            <a:endParaRPr lang="en-US" sz="1100" dirty="0"/>
          </a:p>
        </p:txBody>
      </p:sp>
      <p:sp>
        <p:nvSpPr>
          <p:cNvPr id="19" name="Text 17"/>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1</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33C"/>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FF3621"/>
          </a:solidFill>
          <a:ln w="12700">
            <a:solidFill>
              <a:srgbClr val="FF3621"/>
            </a:solidFill>
            <a:prstDash val="solid"/>
          </a:ln>
        </p:spPr>
      </p:sp>
      <p:sp>
        <p:nvSpPr>
          <p:cNvPr id="3" name="Text 1"/>
          <p:cNvSpPr/>
          <p:nvPr/>
        </p:nvSpPr>
        <p:spPr>
          <a:xfrm>
            <a:off x="640080" y="1042416"/>
            <a:ext cx="1371600" cy="274320"/>
          </a:xfrm>
          <a:prstGeom prst="rect">
            <a:avLst/>
          </a:prstGeom>
          <a:noFill/>
          <a:ln/>
        </p:spPr>
        <p:txBody>
          <a:bodyPr wrap="square" lIns="0" tIns="0" rIns="0" bIns="0" rtlCol="0" anchor="ctr"/>
          <a:lstStyle/>
          <a:p>
            <a:pPr indent="0" marL="0">
              <a:buNone/>
            </a:pPr>
            <a:r>
              <a:rPr lang="en-US" sz="900" b="1" spc="160" kern="0" dirty="0">
                <a:solidFill>
                  <a:srgbClr val="FF8A7B"/>
                </a:solidFill>
                <a:latin typeface="Aptos" pitchFamily="34" charset="0"/>
                <a:ea typeface="Aptos" pitchFamily="34" charset="-122"/>
                <a:cs typeface="Aptos" pitchFamily="34" charset="-120"/>
              </a:rPr>
              <a:t>PART 2</a:t>
            </a:r>
            <a:endParaRPr lang="en-US" sz="900" dirty="0"/>
          </a:p>
        </p:txBody>
      </p:sp>
      <p:sp>
        <p:nvSpPr>
          <p:cNvPr id="4" name="Text 2"/>
          <p:cNvSpPr/>
          <p:nvPr/>
        </p:nvSpPr>
        <p:spPr>
          <a:xfrm>
            <a:off x="640080" y="1481328"/>
            <a:ext cx="8138160" cy="9601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Extract &amp; Ingest</a:t>
            </a:r>
            <a:endParaRPr lang="en-US" sz="3000" dirty="0"/>
          </a:p>
        </p:txBody>
      </p:sp>
      <p:sp>
        <p:nvSpPr>
          <p:cNvPr id="5" name="Text 3"/>
          <p:cNvSpPr/>
          <p:nvPr/>
        </p:nvSpPr>
        <p:spPr>
          <a:xfrm>
            <a:off x="658368" y="2542032"/>
            <a:ext cx="8686800" cy="777240"/>
          </a:xfrm>
          <a:prstGeom prst="rect">
            <a:avLst/>
          </a:prstGeom>
          <a:noFill/>
          <a:ln/>
        </p:spPr>
        <p:txBody>
          <a:bodyPr wrap="square" lIns="0" tIns="0" rIns="0" bIns="0" rtlCol="0" anchor="ctr">
            <a:normAutofit/>
          </a:bodyPr>
          <a:lstStyle/>
          <a:p>
            <a:pPr indent="0" marL="0">
              <a:buNone/>
            </a:pPr>
            <a:r>
              <a:rPr lang="en-US" sz="1400" dirty="0">
                <a:solidFill>
                  <a:srgbClr val="CFD7E6"/>
                </a:solidFill>
                <a:latin typeface="Aptos" pitchFamily="34" charset="0"/>
                <a:ea typeface="Aptos" pitchFamily="34" charset="-122"/>
                <a:cs typeface="Aptos" pitchFamily="34" charset="-120"/>
              </a:rPr>
              <a:t>Reliable pipelines begin with understanding sources before writing ingestion code.</a:t>
            </a:r>
            <a:endParaRPr lang="en-US" sz="1400" dirty="0"/>
          </a:p>
        </p:txBody>
      </p:sp>
      <p:sp>
        <p:nvSpPr>
          <p:cNvPr id="6" name="Shape 4"/>
          <p:cNvSpPr/>
          <p:nvPr/>
        </p:nvSpPr>
        <p:spPr>
          <a:xfrm>
            <a:off x="685800" y="3995928"/>
            <a:ext cx="201168" cy="201168"/>
          </a:xfrm>
          <a:prstGeom prst="ellipse">
            <a:avLst/>
          </a:prstGeom>
          <a:solidFill>
            <a:srgbClr val="FF3621"/>
          </a:solidFill>
          <a:ln w="12700">
            <a:solidFill>
              <a:srgbClr val="FF3621"/>
            </a:solidFill>
            <a:prstDash val="solid"/>
          </a:ln>
        </p:spPr>
      </p:sp>
      <p:sp>
        <p:nvSpPr>
          <p:cNvPr id="7" name="Text 5"/>
          <p:cNvSpPr/>
          <p:nvPr/>
        </p:nvSpPr>
        <p:spPr>
          <a:xfrm>
            <a:off x="987552" y="3977640"/>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Source analysis and contracts</a:t>
            </a:r>
            <a:endParaRPr lang="en-US" sz="1150" dirty="0"/>
          </a:p>
        </p:txBody>
      </p:sp>
      <p:sp>
        <p:nvSpPr>
          <p:cNvPr id="8" name="Shape 6"/>
          <p:cNvSpPr/>
          <p:nvPr/>
        </p:nvSpPr>
        <p:spPr>
          <a:xfrm>
            <a:off x="685800" y="4562856"/>
            <a:ext cx="201168" cy="201168"/>
          </a:xfrm>
          <a:prstGeom prst="ellipse">
            <a:avLst/>
          </a:prstGeom>
          <a:solidFill>
            <a:srgbClr val="00A972"/>
          </a:solidFill>
          <a:ln w="12700">
            <a:solidFill>
              <a:srgbClr val="00A972"/>
            </a:solidFill>
            <a:prstDash val="solid"/>
          </a:ln>
        </p:spPr>
      </p:sp>
      <p:sp>
        <p:nvSpPr>
          <p:cNvPr id="9" name="Text 7"/>
          <p:cNvSpPr/>
          <p:nvPr/>
        </p:nvSpPr>
        <p:spPr>
          <a:xfrm>
            <a:off x="987552" y="4544568"/>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Files, databases, APIs and event streams</a:t>
            </a:r>
            <a:endParaRPr lang="en-US" sz="1150" dirty="0"/>
          </a:p>
        </p:txBody>
      </p:sp>
      <p:sp>
        <p:nvSpPr>
          <p:cNvPr id="10" name="Shape 8"/>
          <p:cNvSpPr/>
          <p:nvPr/>
        </p:nvSpPr>
        <p:spPr>
          <a:xfrm>
            <a:off x="685800" y="5129784"/>
            <a:ext cx="201168" cy="201168"/>
          </a:xfrm>
          <a:prstGeom prst="ellipse">
            <a:avLst/>
          </a:prstGeom>
          <a:solidFill>
            <a:srgbClr val="FF3621"/>
          </a:solidFill>
          <a:ln w="12700">
            <a:solidFill>
              <a:srgbClr val="FF3621"/>
            </a:solidFill>
            <a:prstDash val="solid"/>
          </a:ln>
        </p:spPr>
      </p:sp>
      <p:sp>
        <p:nvSpPr>
          <p:cNvPr id="11" name="Text 9"/>
          <p:cNvSpPr/>
          <p:nvPr/>
        </p:nvSpPr>
        <p:spPr>
          <a:xfrm>
            <a:off x="987552" y="5111496"/>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Bounded vs unbounded data</a:t>
            </a:r>
            <a:endParaRPr lang="en-US" sz="1150" dirty="0"/>
          </a:p>
        </p:txBody>
      </p:sp>
      <p:sp>
        <p:nvSpPr>
          <p:cNvPr id="12" name="Shape 10"/>
          <p:cNvSpPr/>
          <p:nvPr/>
        </p:nvSpPr>
        <p:spPr>
          <a:xfrm>
            <a:off x="685800" y="5696712"/>
            <a:ext cx="201168" cy="201168"/>
          </a:xfrm>
          <a:prstGeom prst="ellipse">
            <a:avLst/>
          </a:prstGeom>
          <a:solidFill>
            <a:srgbClr val="00A972"/>
          </a:solidFill>
          <a:ln w="12700">
            <a:solidFill>
              <a:srgbClr val="00A972"/>
            </a:solidFill>
            <a:prstDash val="solid"/>
          </a:ln>
        </p:spPr>
      </p:sp>
      <p:sp>
        <p:nvSpPr>
          <p:cNvPr id="13" name="Text 11"/>
          <p:cNvSpPr/>
          <p:nvPr/>
        </p:nvSpPr>
        <p:spPr>
          <a:xfrm>
            <a:off x="987552" y="5678424"/>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Change data capture</a:t>
            </a:r>
            <a:endParaRPr lang="en-US" sz="1150" dirty="0"/>
          </a:p>
        </p:txBody>
      </p:sp>
      <p:sp>
        <p:nvSpPr>
          <p:cNvPr id="14" name="Text 12"/>
          <p:cNvSpPr/>
          <p:nvPr/>
        </p:nvSpPr>
        <p:spPr>
          <a:xfrm>
            <a:off x="9326880" y="6172200"/>
            <a:ext cx="2194560" cy="274320"/>
          </a:xfrm>
          <a:prstGeom prst="rect">
            <a:avLst/>
          </a:prstGeom>
          <a:noFill/>
          <a:ln/>
        </p:spPr>
        <p:txBody>
          <a:bodyPr wrap="square" lIns="0" tIns="0" rIns="0" bIns="0" rtlCol="0" anchor="ctr"/>
          <a:lstStyle/>
          <a:p>
            <a:pPr algn="r" indent="0" marL="0">
              <a:buNone/>
            </a:pPr>
            <a:r>
              <a:rPr lang="en-US" sz="800" b="1" dirty="0">
                <a:solidFill>
                  <a:srgbClr val="8FA0BB"/>
                </a:solidFill>
                <a:latin typeface="Aptos" pitchFamily="34" charset="0"/>
                <a:ea typeface="Aptos" pitchFamily="34" charset="-122"/>
                <a:cs typeface="Aptos" pitchFamily="34" charset="-120"/>
              </a:rPr>
              <a:t>COMP 454 • 2026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Ingestion = Source → Target</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Extraction and loading are tightly coupled: every source needs a destination.</a:t>
            </a:r>
            <a:endParaRPr lang="en-US" sz="1100" dirty="0"/>
          </a:p>
        </p:txBody>
      </p:sp>
      <p:sp>
        <p:nvSpPr>
          <p:cNvPr id="4" name="Shape 2"/>
          <p:cNvSpPr/>
          <p:nvPr/>
        </p:nvSpPr>
        <p:spPr>
          <a:xfrm>
            <a:off x="777240" y="1691640"/>
            <a:ext cx="3063240" cy="2468880"/>
          </a:xfrm>
          <a:prstGeom prst="roundRect">
            <a:avLst>
              <a:gd name="adj" fmla="val 2593"/>
            </a:avLst>
          </a:prstGeom>
          <a:solidFill>
            <a:srgbClr val="FFFFFF"/>
          </a:solidFill>
          <a:ln w="12700">
            <a:solidFill>
              <a:srgbClr val="DDE2EA"/>
            </a:solidFill>
            <a:prstDash val="solid"/>
          </a:ln>
        </p:spPr>
      </p:sp>
      <p:sp>
        <p:nvSpPr>
          <p:cNvPr id="5" name="Shape 3"/>
          <p:cNvSpPr/>
          <p:nvPr/>
        </p:nvSpPr>
        <p:spPr>
          <a:xfrm>
            <a:off x="777240" y="1691640"/>
            <a:ext cx="50292" cy="2468880"/>
          </a:xfrm>
          <a:prstGeom prst="rect">
            <a:avLst/>
          </a:prstGeom>
          <a:solidFill>
            <a:srgbClr val="3B6FF5"/>
          </a:solidFill>
          <a:ln w="12700">
            <a:solidFill>
              <a:srgbClr val="3B6FF5"/>
            </a:solidFill>
            <a:prstDash val="solid"/>
          </a:ln>
        </p:spPr>
      </p:sp>
      <p:sp>
        <p:nvSpPr>
          <p:cNvPr id="6" name="Shape 4"/>
          <p:cNvSpPr/>
          <p:nvPr/>
        </p:nvSpPr>
        <p:spPr>
          <a:xfrm>
            <a:off x="978408" y="187452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978408" y="193852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START</a:t>
            </a:r>
            <a:endParaRPr lang="en-US" sz="730" dirty="0"/>
          </a:p>
        </p:txBody>
      </p:sp>
      <p:sp>
        <p:nvSpPr>
          <p:cNvPr id="8" name="Text 6"/>
          <p:cNvSpPr/>
          <p:nvPr/>
        </p:nvSpPr>
        <p:spPr>
          <a:xfrm>
            <a:off x="978408" y="2276856"/>
            <a:ext cx="269748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SOURCE</a:t>
            </a:r>
            <a:endParaRPr lang="en-US" sz="1500" dirty="0"/>
          </a:p>
        </p:txBody>
      </p:sp>
      <p:sp>
        <p:nvSpPr>
          <p:cNvPr id="9" name="Text 7"/>
          <p:cNvSpPr/>
          <p:nvPr/>
        </p:nvSpPr>
        <p:spPr>
          <a:xfrm>
            <a:off x="978408" y="2651760"/>
            <a:ext cx="2679192" cy="1344168"/>
          </a:xfrm>
          <a:prstGeom prst="rect">
            <a:avLst/>
          </a:prstGeom>
          <a:noFill/>
          <a:ln/>
        </p:spPr>
        <p:txBody>
          <a:bodyPr wrap="square" lIns="254" tIns="254" rIns="254" bIns="254" rtlCol="0" anchor="t">
            <a:normAutofit/>
          </a:bodyPr>
          <a:lstStyle/>
          <a:p>
            <a:pPr indent="0" marL="0">
              <a:buNone/>
            </a:pPr>
            <a:r>
              <a:rPr lang="en-US" sz="1070" dirty="0">
                <a:solidFill>
                  <a:srgbClr val="283246"/>
                </a:solidFill>
                <a:latin typeface="Aptos" pitchFamily="34" charset="0"/>
                <a:ea typeface="Aptos" pitchFamily="34" charset="-122"/>
                <a:cs typeface="Aptos" pitchFamily="34" charset="-120"/>
              </a:rPr>
              <a:t>System that owns or emits the data.</a:t>
            </a:r>
            <a:endParaRPr lang="en-US" sz="1070" dirty="0"/>
          </a:p>
          <a:p>
            <a:pPr indent="0" marL="0">
              <a:buNone/>
            </a:pPr>
            <a:endParaRPr lang="en-US" sz="1070" dirty="0"/>
          </a:p>
          <a:p>
            <a:pPr indent="0" marL="0">
              <a:buNone/>
            </a:pPr>
            <a:r>
              <a:rPr lang="en-US" sz="1070" dirty="0">
                <a:solidFill>
                  <a:srgbClr val="283246"/>
                </a:solidFill>
                <a:latin typeface="Aptos" pitchFamily="34" charset="0"/>
                <a:ea typeface="Aptos" pitchFamily="34" charset="-122"/>
                <a:cs typeface="Aptos" pitchFamily="34" charset="-120"/>
              </a:rPr>
              <a:t>Operational DB • API • file store • SaaS • message bus • logs</a:t>
            </a:r>
            <a:endParaRPr lang="en-US" sz="1070" dirty="0"/>
          </a:p>
        </p:txBody>
      </p:sp>
      <p:sp>
        <p:nvSpPr>
          <p:cNvPr id="10" name="Shape 8"/>
          <p:cNvSpPr/>
          <p:nvPr/>
        </p:nvSpPr>
        <p:spPr>
          <a:xfrm>
            <a:off x="4041648" y="2907792"/>
            <a:ext cx="1536192" cy="0"/>
          </a:xfrm>
          <a:prstGeom prst="line">
            <a:avLst/>
          </a:prstGeom>
          <a:noFill/>
          <a:ln w="12700">
            <a:solidFill>
              <a:srgbClr val="687386"/>
            </a:solidFill>
            <a:prstDash val="solid"/>
            <a:headEnd type="none"/>
            <a:tailEnd type="triangle"/>
          </a:ln>
        </p:spPr>
      </p:sp>
      <p:sp>
        <p:nvSpPr>
          <p:cNvPr id="11" name="Shape 9"/>
          <p:cNvSpPr/>
          <p:nvPr/>
        </p:nvSpPr>
        <p:spPr>
          <a:xfrm>
            <a:off x="4251960" y="2331720"/>
            <a:ext cx="1143000" cy="411480"/>
          </a:xfrm>
          <a:prstGeom prst="roundRect">
            <a:avLst>
              <a:gd name="adj" fmla="val 20000"/>
            </a:avLst>
          </a:prstGeom>
          <a:solidFill>
            <a:srgbClr val="E9F8F3"/>
          </a:solidFill>
          <a:ln w="12700">
            <a:solidFill>
              <a:srgbClr val="E9F8F3"/>
            </a:solidFill>
            <a:prstDash val="solid"/>
          </a:ln>
        </p:spPr>
      </p:sp>
      <p:sp>
        <p:nvSpPr>
          <p:cNvPr id="12" name="Text 10"/>
          <p:cNvSpPr/>
          <p:nvPr/>
        </p:nvSpPr>
        <p:spPr>
          <a:xfrm>
            <a:off x="4297680" y="2386584"/>
            <a:ext cx="1051560" cy="301752"/>
          </a:xfrm>
          <a:prstGeom prst="rect">
            <a:avLst/>
          </a:prstGeom>
          <a:noFill/>
          <a:ln/>
        </p:spPr>
        <p:txBody>
          <a:bodyPr wrap="square" lIns="0" tIns="0" rIns="0" bIns="0" rtlCol="0" anchor="ctr">
            <a:normAutofit/>
          </a:bodyPr>
          <a:lstStyle/>
          <a:p>
            <a:pPr algn="ctr" indent="0" marL="0">
              <a:buNone/>
            </a:pPr>
            <a:r>
              <a:rPr lang="en-US" sz="1000" b="1" dirty="0">
                <a:solidFill>
                  <a:srgbClr val="00A972"/>
                </a:solidFill>
                <a:latin typeface="Aptos" pitchFamily="34" charset="0"/>
                <a:ea typeface="Aptos" pitchFamily="34" charset="-122"/>
                <a:cs typeface="Aptos" pitchFamily="34" charset="-120"/>
              </a:rPr>
              <a:t>INGEST</a:t>
            </a:r>
            <a:endParaRPr lang="en-US" sz="1000" dirty="0"/>
          </a:p>
        </p:txBody>
      </p:sp>
      <p:sp>
        <p:nvSpPr>
          <p:cNvPr id="13" name="Shape 11"/>
          <p:cNvSpPr/>
          <p:nvPr/>
        </p:nvSpPr>
        <p:spPr>
          <a:xfrm>
            <a:off x="5806440" y="1691640"/>
            <a:ext cx="3063240" cy="2468880"/>
          </a:xfrm>
          <a:prstGeom prst="roundRect">
            <a:avLst>
              <a:gd name="adj" fmla="val 2593"/>
            </a:avLst>
          </a:prstGeom>
          <a:solidFill>
            <a:srgbClr val="FFFFFF"/>
          </a:solidFill>
          <a:ln w="12700">
            <a:solidFill>
              <a:srgbClr val="DDE2EA"/>
            </a:solidFill>
            <a:prstDash val="solid"/>
          </a:ln>
        </p:spPr>
      </p:sp>
      <p:sp>
        <p:nvSpPr>
          <p:cNvPr id="14" name="Shape 12"/>
          <p:cNvSpPr/>
          <p:nvPr/>
        </p:nvSpPr>
        <p:spPr>
          <a:xfrm>
            <a:off x="5806440" y="1691640"/>
            <a:ext cx="50292" cy="2468880"/>
          </a:xfrm>
          <a:prstGeom prst="rect">
            <a:avLst/>
          </a:prstGeom>
          <a:solidFill>
            <a:srgbClr val="00A972"/>
          </a:solidFill>
          <a:ln w="12700">
            <a:solidFill>
              <a:srgbClr val="00A972"/>
            </a:solidFill>
            <a:prstDash val="solid"/>
          </a:ln>
        </p:spPr>
      </p:sp>
      <p:sp>
        <p:nvSpPr>
          <p:cNvPr id="15" name="Shape 13"/>
          <p:cNvSpPr/>
          <p:nvPr/>
        </p:nvSpPr>
        <p:spPr>
          <a:xfrm>
            <a:off x="6007608" y="1874520"/>
            <a:ext cx="566928" cy="310896"/>
          </a:xfrm>
          <a:prstGeom prst="roundRect">
            <a:avLst>
              <a:gd name="adj" fmla="val 14706"/>
            </a:avLst>
          </a:prstGeom>
          <a:solidFill>
            <a:srgbClr val="E9F8F3"/>
          </a:solidFill>
          <a:ln w="12700">
            <a:solidFill>
              <a:srgbClr val="E9F8F3"/>
            </a:solidFill>
            <a:prstDash val="solid"/>
          </a:ln>
        </p:spPr>
      </p:sp>
      <p:sp>
        <p:nvSpPr>
          <p:cNvPr id="16" name="Text 14"/>
          <p:cNvSpPr/>
          <p:nvPr/>
        </p:nvSpPr>
        <p:spPr>
          <a:xfrm>
            <a:off x="6007608" y="193852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LAND</a:t>
            </a:r>
            <a:endParaRPr lang="en-US" sz="730" dirty="0"/>
          </a:p>
        </p:txBody>
      </p:sp>
      <p:sp>
        <p:nvSpPr>
          <p:cNvPr id="17" name="Text 15"/>
          <p:cNvSpPr/>
          <p:nvPr/>
        </p:nvSpPr>
        <p:spPr>
          <a:xfrm>
            <a:off x="6007608" y="2276856"/>
            <a:ext cx="269748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TARGET</a:t>
            </a:r>
            <a:endParaRPr lang="en-US" sz="1500" dirty="0"/>
          </a:p>
        </p:txBody>
      </p:sp>
      <p:sp>
        <p:nvSpPr>
          <p:cNvPr id="18" name="Text 16"/>
          <p:cNvSpPr/>
          <p:nvPr/>
        </p:nvSpPr>
        <p:spPr>
          <a:xfrm>
            <a:off x="6007608" y="2651760"/>
            <a:ext cx="2679192" cy="1344168"/>
          </a:xfrm>
          <a:prstGeom prst="rect">
            <a:avLst/>
          </a:prstGeom>
          <a:noFill/>
          <a:ln/>
        </p:spPr>
        <p:txBody>
          <a:bodyPr wrap="square" lIns="254" tIns="254" rIns="254" bIns="254" rtlCol="0" anchor="t">
            <a:normAutofit/>
          </a:bodyPr>
          <a:lstStyle/>
          <a:p>
            <a:pPr indent="0" marL="0">
              <a:buNone/>
            </a:pPr>
            <a:r>
              <a:rPr lang="en-US" sz="1070" dirty="0">
                <a:solidFill>
                  <a:srgbClr val="283246"/>
                </a:solidFill>
                <a:latin typeface="Aptos" pitchFamily="34" charset="0"/>
                <a:ea typeface="Aptos" pitchFamily="34" charset="-122"/>
                <a:cs typeface="Aptos" pitchFamily="34" charset="-120"/>
              </a:rPr>
              <a:t>Place where data is staged or consumed.</a:t>
            </a:r>
            <a:endParaRPr lang="en-US" sz="1070" dirty="0"/>
          </a:p>
          <a:p>
            <a:pPr indent="0" marL="0">
              <a:buNone/>
            </a:pPr>
            <a:endParaRPr lang="en-US" sz="1070" dirty="0"/>
          </a:p>
          <a:p>
            <a:pPr indent="0" marL="0">
              <a:buNone/>
            </a:pPr>
            <a:r>
              <a:rPr lang="en-US" sz="1070" dirty="0">
                <a:solidFill>
                  <a:srgbClr val="283246"/>
                </a:solidFill>
                <a:latin typeface="Aptos" pitchFamily="34" charset="0"/>
                <a:ea typeface="Aptos" pitchFamily="34" charset="-122"/>
                <a:cs typeface="Aptos" pitchFamily="34" charset="-120"/>
              </a:rPr>
              <a:t>Cloud storage • Delta table • warehouse • lakehouse • operational sink</a:t>
            </a:r>
            <a:endParaRPr lang="en-US" sz="1070" dirty="0"/>
          </a:p>
        </p:txBody>
      </p:sp>
      <p:sp>
        <p:nvSpPr>
          <p:cNvPr id="19" name="Shape 17"/>
          <p:cNvSpPr/>
          <p:nvPr/>
        </p:nvSpPr>
        <p:spPr>
          <a:xfrm>
            <a:off x="9144000" y="1691640"/>
            <a:ext cx="2240280" cy="2468880"/>
          </a:xfrm>
          <a:prstGeom prst="roundRect">
            <a:avLst>
              <a:gd name="adj" fmla="val 2857"/>
            </a:avLst>
          </a:prstGeom>
          <a:solidFill>
            <a:srgbClr val="FFFFFF"/>
          </a:solidFill>
          <a:ln w="12700">
            <a:solidFill>
              <a:srgbClr val="DDE2EA"/>
            </a:solidFill>
            <a:prstDash val="solid"/>
          </a:ln>
        </p:spPr>
      </p:sp>
      <p:sp>
        <p:nvSpPr>
          <p:cNvPr id="20" name="Shape 18"/>
          <p:cNvSpPr/>
          <p:nvPr/>
        </p:nvSpPr>
        <p:spPr>
          <a:xfrm>
            <a:off x="9144000" y="1691640"/>
            <a:ext cx="50292" cy="2468880"/>
          </a:xfrm>
          <a:prstGeom prst="rect">
            <a:avLst/>
          </a:prstGeom>
          <a:solidFill>
            <a:srgbClr val="F3A712"/>
          </a:solidFill>
          <a:ln w="12700">
            <a:solidFill>
              <a:srgbClr val="F3A712"/>
            </a:solidFill>
            <a:prstDash val="solid"/>
          </a:ln>
        </p:spPr>
      </p:sp>
      <p:sp>
        <p:nvSpPr>
          <p:cNvPr id="21" name="Shape 19"/>
          <p:cNvSpPr/>
          <p:nvPr/>
        </p:nvSpPr>
        <p:spPr>
          <a:xfrm>
            <a:off x="9345168" y="1874520"/>
            <a:ext cx="566928" cy="310896"/>
          </a:xfrm>
          <a:prstGeom prst="roundRect">
            <a:avLst>
              <a:gd name="adj" fmla="val 14706"/>
            </a:avLst>
          </a:prstGeom>
          <a:solidFill>
            <a:srgbClr val="FFF7E5"/>
          </a:solidFill>
          <a:ln w="12700">
            <a:solidFill>
              <a:srgbClr val="FFF7E5"/>
            </a:solidFill>
            <a:prstDash val="solid"/>
          </a:ln>
        </p:spPr>
      </p:sp>
      <p:sp>
        <p:nvSpPr>
          <p:cNvPr id="22" name="Text 20"/>
          <p:cNvSpPr/>
          <p:nvPr/>
        </p:nvSpPr>
        <p:spPr>
          <a:xfrm>
            <a:off x="9345168" y="1938528"/>
            <a:ext cx="566928" cy="128016"/>
          </a:xfrm>
          <a:prstGeom prst="rect">
            <a:avLst/>
          </a:prstGeom>
          <a:noFill/>
          <a:ln/>
        </p:spPr>
        <p:txBody>
          <a:bodyPr wrap="square" lIns="0" tIns="0" rIns="0" bIns="0" rtlCol="0" anchor="ctr"/>
          <a:lstStyle/>
          <a:p>
            <a:pPr algn="ctr" indent="0" marL="0">
              <a:buNone/>
            </a:pPr>
            <a:r>
              <a:rPr lang="en-US" sz="730" b="1" dirty="0">
                <a:solidFill>
                  <a:srgbClr val="F3A712"/>
                </a:solidFill>
              </a:rPr>
              <a:t>TRACE</a:t>
            </a:r>
            <a:endParaRPr lang="en-US" sz="730" dirty="0"/>
          </a:p>
        </p:txBody>
      </p:sp>
      <p:sp>
        <p:nvSpPr>
          <p:cNvPr id="23" name="Text 21"/>
          <p:cNvSpPr/>
          <p:nvPr/>
        </p:nvSpPr>
        <p:spPr>
          <a:xfrm>
            <a:off x="9345168" y="2276856"/>
            <a:ext cx="187452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METADATA</a:t>
            </a:r>
            <a:endParaRPr lang="en-US" sz="1350" dirty="0"/>
          </a:p>
        </p:txBody>
      </p:sp>
      <p:sp>
        <p:nvSpPr>
          <p:cNvPr id="24" name="Text 22"/>
          <p:cNvSpPr/>
          <p:nvPr/>
        </p:nvSpPr>
        <p:spPr>
          <a:xfrm>
            <a:off x="9345168" y="2651760"/>
            <a:ext cx="1856232" cy="134416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Ingest time</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source file</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source system</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batch / offset</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quality status</a:t>
            </a:r>
            <a:endParaRPr lang="en-US" sz="1000" dirty="0"/>
          </a:p>
        </p:txBody>
      </p:sp>
      <p:sp>
        <p:nvSpPr>
          <p:cNvPr id="25" name="Shape 23"/>
          <p:cNvSpPr/>
          <p:nvPr/>
        </p:nvSpPr>
        <p:spPr>
          <a:xfrm>
            <a:off x="914400" y="4709160"/>
            <a:ext cx="10332720" cy="658368"/>
          </a:xfrm>
          <a:prstGeom prst="roundRect">
            <a:avLst>
              <a:gd name="adj" fmla="val 8333"/>
            </a:avLst>
          </a:prstGeom>
          <a:solidFill>
            <a:srgbClr val="EEF7FF"/>
          </a:solidFill>
          <a:ln w="12700">
            <a:solidFill>
              <a:srgbClr val="EEF7FF"/>
            </a:solidFill>
            <a:prstDash val="solid"/>
          </a:ln>
        </p:spPr>
      </p:sp>
      <p:sp>
        <p:nvSpPr>
          <p:cNvPr id="26" name="Text 24"/>
          <p:cNvSpPr/>
          <p:nvPr/>
        </p:nvSpPr>
        <p:spPr>
          <a:xfrm>
            <a:off x="1078992" y="4828032"/>
            <a:ext cx="10003536" cy="429768"/>
          </a:xfrm>
          <a:prstGeom prst="rect">
            <a:avLst/>
          </a:prstGeom>
          <a:noFill/>
          <a:ln/>
        </p:spPr>
        <p:txBody>
          <a:bodyPr wrap="square" lIns="0" tIns="0" rIns="0" bIns="0" rtlCol="0" anchor="ctr">
            <a:normAutofit/>
          </a:bodyPr>
          <a:lstStyle/>
          <a:p>
            <a:pPr indent="0" marL="0">
              <a:buNone/>
            </a:pPr>
            <a:r>
              <a:rPr lang="en-US" sz="1100" b="1" dirty="0">
                <a:solidFill>
                  <a:srgbClr val="3B6FF5"/>
                </a:solidFill>
                <a:latin typeface="Aptos" pitchFamily="34" charset="0"/>
                <a:ea typeface="Aptos" pitchFamily="34" charset="-122"/>
                <a:cs typeface="Aptos" pitchFamily="34" charset="-120"/>
              </a:rPr>
              <a:t>Good ingestion preserves enough context to explain where each record came from and when it arrived.</a:t>
            </a:r>
            <a:endParaRPr lang="en-US" sz="1100" dirty="0"/>
          </a:p>
        </p:txBody>
      </p:sp>
      <p:sp>
        <p:nvSpPr>
          <p:cNvPr id="27" name="Text 25"/>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1</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Source Analysis Checklist</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Ask these questions before selecting a connector, schedule, or schema.</a:t>
            </a:r>
            <a:endParaRPr lang="en-US" sz="1100" dirty="0"/>
          </a:p>
        </p:txBody>
      </p:sp>
      <p:sp>
        <p:nvSpPr>
          <p:cNvPr id="4" name="Shape 2"/>
          <p:cNvSpPr/>
          <p:nvPr/>
        </p:nvSpPr>
        <p:spPr>
          <a:xfrm>
            <a:off x="594360" y="1463040"/>
            <a:ext cx="3429000" cy="1664208"/>
          </a:xfrm>
          <a:prstGeom prst="roundRect">
            <a:avLst>
              <a:gd name="adj" fmla="val 3846"/>
            </a:avLst>
          </a:prstGeom>
          <a:solidFill>
            <a:srgbClr val="FFFFFF"/>
          </a:solidFill>
          <a:ln w="12700">
            <a:solidFill>
              <a:srgbClr val="DDE2EA"/>
            </a:solidFill>
            <a:prstDash val="solid"/>
          </a:ln>
        </p:spPr>
      </p:sp>
      <p:sp>
        <p:nvSpPr>
          <p:cNvPr id="5" name="Shape 3"/>
          <p:cNvSpPr/>
          <p:nvPr/>
        </p:nvSpPr>
        <p:spPr>
          <a:xfrm>
            <a:off x="594360" y="1463040"/>
            <a:ext cx="50292" cy="1664208"/>
          </a:xfrm>
          <a:prstGeom prst="rect">
            <a:avLst/>
          </a:prstGeom>
          <a:solidFill>
            <a:srgbClr val="3B6FF5"/>
          </a:solidFill>
          <a:ln w="12700">
            <a:solidFill>
              <a:srgbClr val="3B6FF5"/>
            </a:solidFill>
            <a:prstDash val="solid"/>
          </a:ln>
        </p:spPr>
      </p:sp>
      <p:sp>
        <p:nvSpPr>
          <p:cNvPr id="6" name="Text 4"/>
          <p:cNvSpPr/>
          <p:nvPr/>
        </p:nvSpPr>
        <p:spPr>
          <a:xfrm>
            <a:off x="795528" y="168249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Who owns it?</a:t>
            </a:r>
            <a:endParaRPr lang="en-US" sz="1350" dirty="0"/>
          </a:p>
        </p:txBody>
      </p:sp>
      <p:sp>
        <p:nvSpPr>
          <p:cNvPr id="7" name="Text 5"/>
          <p:cNvSpPr/>
          <p:nvPr/>
        </p:nvSpPr>
        <p:spPr>
          <a:xfrm>
            <a:off x="795528" y="2121408"/>
            <a:ext cx="3044952" cy="84124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Upstream team, stakeholder, support contact</a:t>
            </a:r>
            <a:endParaRPr lang="en-US" sz="980" dirty="0"/>
          </a:p>
        </p:txBody>
      </p:sp>
      <p:sp>
        <p:nvSpPr>
          <p:cNvPr id="8" name="Shape 6"/>
          <p:cNvSpPr/>
          <p:nvPr/>
        </p:nvSpPr>
        <p:spPr>
          <a:xfrm>
            <a:off x="4343400" y="1463040"/>
            <a:ext cx="3429000" cy="1664208"/>
          </a:xfrm>
          <a:prstGeom prst="roundRect">
            <a:avLst>
              <a:gd name="adj" fmla="val 3846"/>
            </a:avLst>
          </a:prstGeom>
          <a:solidFill>
            <a:srgbClr val="FFFFFF"/>
          </a:solidFill>
          <a:ln w="12700">
            <a:solidFill>
              <a:srgbClr val="DDE2EA"/>
            </a:solidFill>
            <a:prstDash val="solid"/>
          </a:ln>
        </p:spPr>
      </p:sp>
      <p:sp>
        <p:nvSpPr>
          <p:cNvPr id="9" name="Shape 7"/>
          <p:cNvSpPr/>
          <p:nvPr/>
        </p:nvSpPr>
        <p:spPr>
          <a:xfrm>
            <a:off x="4343400" y="1463040"/>
            <a:ext cx="50292" cy="1664208"/>
          </a:xfrm>
          <a:prstGeom prst="rect">
            <a:avLst/>
          </a:prstGeom>
          <a:solidFill>
            <a:srgbClr val="00A972"/>
          </a:solidFill>
          <a:ln w="12700">
            <a:solidFill>
              <a:srgbClr val="00A972"/>
            </a:solidFill>
            <a:prstDash val="solid"/>
          </a:ln>
        </p:spPr>
      </p:sp>
      <p:sp>
        <p:nvSpPr>
          <p:cNvPr id="10" name="Text 8"/>
          <p:cNvSpPr/>
          <p:nvPr/>
        </p:nvSpPr>
        <p:spPr>
          <a:xfrm>
            <a:off x="4544568" y="168249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How is it used?</a:t>
            </a:r>
            <a:endParaRPr lang="en-US" sz="1350" dirty="0"/>
          </a:p>
        </p:txBody>
      </p:sp>
      <p:sp>
        <p:nvSpPr>
          <p:cNvPr id="11" name="Text 9"/>
          <p:cNvSpPr/>
          <p:nvPr/>
        </p:nvSpPr>
        <p:spPr>
          <a:xfrm>
            <a:off x="4544568" y="2121408"/>
            <a:ext cx="3044952" cy="84124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Business outcome and downstream consumer</a:t>
            </a:r>
            <a:endParaRPr lang="en-US" sz="980" dirty="0"/>
          </a:p>
        </p:txBody>
      </p:sp>
      <p:sp>
        <p:nvSpPr>
          <p:cNvPr id="12" name="Shape 10"/>
          <p:cNvSpPr/>
          <p:nvPr/>
        </p:nvSpPr>
        <p:spPr>
          <a:xfrm>
            <a:off x="8092440" y="1463040"/>
            <a:ext cx="3429000" cy="1664208"/>
          </a:xfrm>
          <a:prstGeom prst="roundRect">
            <a:avLst>
              <a:gd name="adj" fmla="val 3846"/>
            </a:avLst>
          </a:prstGeom>
          <a:solidFill>
            <a:srgbClr val="FFFFFF"/>
          </a:solidFill>
          <a:ln w="12700">
            <a:solidFill>
              <a:srgbClr val="DDE2EA"/>
            </a:solidFill>
            <a:prstDash val="solid"/>
          </a:ln>
        </p:spPr>
      </p:sp>
      <p:sp>
        <p:nvSpPr>
          <p:cNvPr id="13" name="Shape 11"/>
          <p:cNvSpPr/>
          <p:nvPr/>
        </p:nvSpPr>
        <p:spPr>
          <a:xfrm>
            <a:off x="8092440" y="1463040"/>
            <a:ext cx="50292" cy="1664208"/>
          </a:xfrm>
          <a:prstGeom prst="rect">
            <a:avLst/>
          </a:prstGeom>
          <a:solidFill>
            <a:srgbClr val="7C4DFF"/>
          </a:solidFill>
          <a:ln w="12700">
            <a:solidFill>
              <a:srgbClr val="7C4DFF"/>
            </a:solidFill>
            <a:prstDash val="solid"/>
          </a:ln>
        </p:spPr>
      </p:sp>
      <p:sp>
        <p:nvSpPr>
          <p:cNvPr id="14" name="Text 12"/>
          <p:cNvSpPr/>
          <p:nvPr/>
        </p:nvSpPr>
        <p:spPr>
          <a:xfrm>
            <a:off x="8293608" y="168249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Frequency?</a:t>
            </a:r>
            <a:endParaRPr lang="en-US" sz="1350" dirty="0"/>
          </a:p>
        </p:txBody>
      </p:sp>
      <p:sp>
        <p:nvSpPr>
          <p:cNvPr id="15" name="Text 13"/>
          <p:cNvSpPr/>
          <p:nvPr/>
        </p:nvSpPr>
        <p:spPr>
          <a:xfrm>
            <a:off x="8293608" y="2121408"/>
            <a:ext cx="3044952" cy="84124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How often the source changes / can be read</a:t>
            </a:r>
            <a:endParaRPr lang="en-US" sz="980" dirty="0"/>
          </a:p>
        </p:txBody>
      </p:sp>
      <p:sp>
        <p:nvSpPr>
          <p:cNvPr id="16" name="Shape 14"/>
          <p:cNvSpPr/>
          <p:nvPr/>
        </p:nvSpPr>
        <p:spPr>
          <a:xfrm>
            <a:off x="594360" y="3520440"/>
            <a:ext cx="3429000" cy="1664208"/>
          </a:xfrm>
          <a:prstGeom prst="roundRect">
            <a:avLst>
              <a:gd name="adj" fmla="val 3846"/>
            </a:avLst>
          </a:prstGeom>
          <a:solidFill>
            <a:srgbClr val="FFFFFF"/>
          </a:solidFill>
          <a:ln w="12700">
            <a:solidFill>
              <a:srgbClr val="DDE2EA"/>
            </a:solidFill>
            <a:prstDash val="solid"/>
          </a:ln>
        </p:spPr>
      </p:sp>
      <p:sp>
        <p:nvSpPr>
          <p:cNvPr id="17" name="Shape 15"/>
          <p:cNvSpPr/>
          <p:nvPr/>
        </p:nvSpPr>
        <p:spPr>
          <a:xfrm>
            <a:off x="594360" y="3520440"/>
            <a:ext cx="50292" cy="1664208"/>
          </a:xfrm>
          <a:prstGeom prst="rect">
            <a:avLst/>
          </a:prstGeom>
          <a:solidFill>
            <a:srgbClr val="F3A712"/>
          </a:solidFill>
          <a:ln w="12700">
            <a:solidFill>
              <a:srgbClr val="F3A712"/>
            </a:solidFill>
            <a:prstDash val="solid"/>
          </a:ln>
        </p:spPr>
      </p:sp>
      <p:sp>
        <p:nvSpPr>
          <p:cNvPr id="18" name="Text 16"/>
          <p:cNvSpPr/>
          <p:nvPr/>
        </p:nvSpPr>
        <p:spPr>
          <a:xfrm>
            <a:off x="795528" y="373989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Volume?</a:t>
            </a:r>
            <a:endParaRPr lang="en-US" sz="1350" dirty="0"/>
          </a:p>
        </p:txBody>
      </p:sp>
      <p:sp>
        <p:nvSpPr>
          <p:cNvPr id="19" name="Text 17"/>
          <p:cNvSpPr/>
          <p:nvPr/>
        </p:nvSpPr>
        <p:spPr>
          <a:xfrm>
            <a:off x="795528" y="4178808"/>
            <a:ext cx="3044952" cy="84124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Current and expected growth</a:t>
            </a:r>
            <a:endParaRPr lang="en-US" sz="980" dirty="0"/>
          </a:p>
        </p:txBody>
      </p:sp>
      <p:sp>
        <p:nvSpPr>
          <p:cNvPr id="20" name="Shape 18"/>
          <p:cNvSpPr/>
          <p:nvPr/>
        </p:nvSpPr>
        <p:spPr>
          <a:xfrm>
            <a:off x="4343400" y="3520440"/>
            <a:ext cx="3429000" cy="1664208"/>
          </a:xfrm>
          <a:prstGeom prst="roundRect">
            <a:avLst>
              <a:gd name="adj" fmla="val 3846"/>
            </a:avLst>
          </a:prstGeom>
          <a:solidFill>
            <a:srgbClr val="FFFFFF"/>
          </a:solidFill>
          <a:ln w="12700">
            <a:solidFill>
              <a:srgbClr val="DDE2EA"/>
            </a:solidFill>
            <a:prstDash val="solid"/>
          </a:ln>
        </p:spPr>
      </p:sp>
      <p:sp>
        <p:nvSpPr>
          <p:cNvPr id="21" name="Shape 19"/>
          <p:cNvSpPr/>
          <p:nvPr/>
        </p:nvSpPr>
        <p:spPr>
          <a:xfrm>
            <a:off x="4343400" y="3520440"/>
            <a:ext cx="50292" cy="1664208"/>
          </a:xfrm>
          <a:prstGeom prst="rect">
            <a:avLst/>
          </a:prstGeom>
          <a:solidFill>
            <a:srgbClr val="FF3621"/>
          </a:solidFill>
          <a:ln w="12700">
            <a:solidFill>
              <a:srgbClr val="FF3621"/>
            </a:solidFill>
            <a:prstDash val="solid"/>
          </a:ln>
        </p:spPr>
      </p:sp>
      <p:sp>
        <p:nvSpPr>
          <p:cNvPr id="22" name="Text 20"/>
          <p:cNvSpPr/>
          <p:nvPr/>
        </p:nvSpPr>
        <p:spPr>
          <a:xfrm>
            <a:off x="4544568" y="373989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Format?</a:t>
            </a:r>
            <a:endParaRPr lang="en-US" sz="1350" dirty="0"/>
          </a:p>
        </p:txBody>
      </p:sp>
      <p:sp>
        <p:nvSpPr>
          <p:cNvPr id="23" name="Text 21"/>
          <p:cNvSpPr/>
          <p:nvPr/>
        </p:nvSpPr>
        <p:spPr>
          <a:xfrm>
            <a:off x="4544568" y="4178808"/>
            <a:ext cx="3044952" cy="84124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Rows, JSON, files, events, schema stability</a:t>
            </a:r>
            <a:endParaRPr lang="en-US" sz="980" dirty="0"/>
          </a:p>
        </p:txBody>
      </p:sp>
      <p:sp>
        <p:nvSpPr>
          <p:cNvPr id="24" name="Shape 22"/>
          <p:cNvSpPr/>
          <p:nvPr/>
        </p:nvSpPr>
        <p:spPr>
          <a:xfrm>
            <a:off x="8092440" y="3520440"/>
            <a:ext cx="3429000" cy="1664208"/>
          </a:xfrm>
          <a:prstGeom prst="roundRect">
            <a:avLst>
              <a:gd name="adj" fmla="val 3846"/>
            </a:avLst>
          </a:prstGeom>
          <a:solidFill>
            <a:srgbClr val="FFFFFF"/>
          </a:solidFill>
          <a:ln w="12700">
            <a:solidFill>
              <a:srgbClr val="DDE2EA"/>
            </a:solidFill>
            <a:prstDash val="solid"/>
          </a:ln>
        </p:spPr>
      </p:sp>
      <p:sp>
        <p:nvSpPr>
          <p:cNvPr id="25" name="Shape 23"/>
          <p:cNvSpPr/>
          <p:nvPr/>
        </p:nvSpPr>
        <p:spPr>
          <a:xfrm>
            <a:off x="8092440" y="3520440"/>
            <a:ext cx="50292" cy="1664208"/>
          </a:xfrm>
          <a:prstGeom prst="rect">
            <a:avLst/>
          </a:prstGeom>
          <a:solidFill>
            <a:srgbClr val="29A86B"/>
          </a:solidFill>
          <a:ln w="12700">
            <a:solidFill>
              <a:srgbClr val="29A86B"/>
            </a:solidFill>
            <a:prstDash val="solid"/>
          </a:ln>
        </p:spPr>
      </p:sp>
      <p:sp>
        <p:nvSpPr>
          <p:cNvPr id="26" name="Text 24"/>
          <p:cNvSpPr/>
          <p:nvPr/>
        </p:nvSpPr>
        <p:spPr>
          <a:xfrm>
            <a:off x="8293608" y="3739896"/>
            <a:ext cx="3063240"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Quality?</a:t>
            </a:r>
            <a:endParaRPr lang="en-US" sz="1350" dirty="0"/>
          </a:p>
        </p:txBody>
      </p:sp>
      <p:sp>
        <p:nvSpPr>
          <p:cNvPr id="27" name="Text 25"/>
          <p:cNvSpPr/>
          <p:nvPr/>
        </p:nvSpPr>
        <p:spPr>
          <a:xfrm>
            <a:off x="8293608" y="4178808"/>
            <a:ext cx="3044952" cy="841248"/>
          </a:xfrm>
          <a:prstGeom prst="rect">
            <a:avLst/>
          </a:prstGeom>
          <a:noFill/>
          <a:ln/>
        </p:spPr>
        <p:txBody>
          <a:bodyPr wrap="square" lIns="254" tIns="254" rIns="254" bIns="254" rtlCol="0" anchor="t">
            <a:normAutofit/>
          </a:bodyPr>
          <a:lstStyle/>
          <a:p>
            <a:pPr indent="0" marL="0">
              <a:buNone/>
            </a:pPr>
            <a:r>
              <a:rPr lang="en-US" sz="980" dirty="0">
                <a:solidFill>
                  <a:srgbClr val="283246"/>
                </a:solidFill>
                <a:latin typeface="Aptos" pitchFamily="34" charset="0"/>
                <a:ea typeface="Aptos" pitchFamily="34" charset="-122"/>
                <a:cs typeface="Aptos" pitchFamily="34" charset="-120"/>
              </a:rPr>
              <a:t>Nulls, duplicates, invalid values, missing history</a:t>
            </a:r>
            <a:endParaRPr lang="en-US" sz="980" dirty="0"/>
          </a:p>
        </p:txBody>
      </p:sp>
      <p:sp>
        <p:nvSpPr>
          <p:cNvPr id="28" name="Text 26"/>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1</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Turn Source Properties into Engineering Decisions</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417320"/>
          <a:ext cx="10835640" cy="4160520"/>
        </p:xfrm>
        <a:graphic>
          <a:graphicData uri="http://schemas.openxmlformats.org/drawingml/2006/table">
            <a:tbl>
              <a:tblPr/>
              <a:tblGrid>
                <a:gridCol w="2057400"/>
                <a:gridCol w="3200400"/>
                <a:gridCol w="5577840"/>
              </a:tblGrid>
              <a:tr h="502920">
                <a:tc>
                  <a:txBody>
                    <a:bodyPr/>
                    <a:lstStyle/>
                    <a:p>
                      <a:pPr indent="0" marL="0">
                        <a:buNone/>
                      </a:pPr>
                      <a:r>
                        <a:rPr lang="en-US" sz="1020" dirty="0">
                          <a:solidFill>
                            <a:srgbClr val="283246"/>
                          </a:solidFill>
                          <a:latin typeface="Aptos" pitchFamily="34" charset="0"/>
                          <a:ea typeface="Aptos" pitchFamily="34" charset="-122"/>
                          <a:cs typeface="Aptos" pitchFamily="34" charset="-120"/>
                        </a:rPr>
                        <a:t>Source property</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Question</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Engineering implication</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r>
              <a:tr h="621792">
                <a:tc>
                  <a:txBody>
                    <a:bodyPr/>
                    <a:lstStyle/>
                    <a:p>
                      <a:pPr indent="0" marL="0">
                        <a:buNone/>
                      </a:pPr>
                      <a:r>
                        <a:rPr lang="en-US" sz="1020" dirty="0">
                          <a:solidFill>
                            <a:srgbClr val="283246"/>
                          </a:solidFill>
                          <a:latin typeface="Aptos" pitchFamily="34" charset="0"/>
                          <a:ea typeface="Aptos" pitchFamily="34" charset="-122"/>
                          <a:cs typeface="Aptos" pitchFamily="34" charset="-120"/>
                        </a:rPr>
                        <a:t>Frequency</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How often can it change?</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Schedule / trigger / streaming cadence</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r>
              <a:tr h="621792">
                <a:tc>
                  <a:txBody>
                    <a:bodyPr/>
                    <a:lstStyle/>
                    <a:p>
                      <a:pPr indent="0" marL="0">
                        <a:buNone/>
                      </a:pPr>
                      <a:r>
                        <a:rPr lang="en-US" sz="1020" dirty="0">
                          <a:solidFill>
                            <a:srgbClr val="283246"/>
                          </a:solidFill>
                          <a:latin typeface="Aptos" pitchFamily="34" charset="0"/>
                          <a:ea typeface="Aptos" pitchFamily="34" charset="-122"/>
                          <a:cs typeface="Aptos" pitchFamily="34" charset="-120"/>
                        </a:rPr>
                        <a:t>Volume</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How much now and later?</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Compute, partitioning, incremental strategy</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r>
              <a:tr h="621792">
                <a:tc>
                  <a:txBody>
                    <a:bodyPr/>
                    <a:lstStyle/>
                    <a:p>
                      <a:pPr indent="0" marL="0">
                        <a:buNone/>
                      </a:pPr>
                      <a:r>
                        <a:rPr lang="en-US" sz="1020" dirty="0">
                          <a:solidFill>
                            <a:srgbClr val="283246"/>
                          </a:solidFill>
                          <a:latin typeface="Aptos" pitchFamily="34" charset="0"/>
                          <a:ea typeface="Aptos" pitchFamily="34" charset="-122"/>
                          <a:cs typeface="Aptos" pitchFamily="34" charset="-120"/>
                        </a:rPr>
                        <a:t>Format</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CSV? JSON? DB rows? events?</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Parser, schema inference/enforcement</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r>
              <a:tr h="621792">
                <a:tc>
                  <a:txBody>
                    <a:bodyPr/>
                    <a:lstStyle/>
                    <a:p>
                      <a:pPr indent="0" marL="0">
                        <a:buNone/>
                      </a:pPr>
                      <a:r>
                        <a:rPr lang="en-US" sz="1020" dirty="0">
                          <a:solidFill>
                            <a:srgbClr val="283246"/>
                          </a:solidFill>
                          <a:latin typeface="Aptos" pitchFamily="34" charset="0"/>
                          <a:ea typeface="Aptos" pitchFamily="34" charset="-122"/>
                          <a:cs typeface="Aptos" pitchFamily="34" charset="-120"/>
                        </a:rPr>
                        <a:t>Quality</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How messy is it?</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Validation, quarantine, enrichment</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r>
              <a:tr h="621792">
                <a:tc>
                  <a:txBody>
                    <a:bodyPr/>
                    <a:lstStyle/>
                    <a:p>
                      <a:pPr indent="0" marL="0">
                        <a:buNone/>
                      </a:pPr>
                      <a:r>
                        <a:rPr lang="en-US" sz="1020" dirty="0">
                          <a:solidFill>
                            <a:srgbClr val="283246"/>
                          </a:solidFill>
                          <a:latin typeface="Aptos" pitchFamily="34" charset="0"/>
                          <a:ea typeface="Aptos" pitchFamily="34" charset="-122"/>
                          <a:cs typeface="Aptos" pitchFamily="34" charset="-120"/>
                        </a:rPr>
                        <a:t>Ownership</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Who can change it?</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c>
                  <a:txBody>
                    <a:bodyPr/>
                    <a:lstStyle/>
                    <a:p>
                      <a:pPr indent="0" marL="0">
                        <a:buNone/>
                      </a:pPr>
                      <a:r>
                        <a:rPr lang="en-US" sz="1020" dirty="0">
                          <a:solidFill>
                            <a:srgbClr val="283246"/>
                          </a:solidFill>
                          <a:latin typeface="Aptos" pitchFamily="34" charset="0"/>
                          <a:ea typeface="Aptos" pitchFamily="34" charset="-122"/>
                          <a:cs typeface="Aptos" pitchFamily="34" charset="-120"/>
                        </a:rPr>
                        <a:t>Contract, alerting, escalation path</a:t>
                      </a:r>
                      <a:endParaRPr lang="en-US" sz="1020" dirty="0">
                        <a:latin typeface="Aptos" charset="0"/>
                        <a:ea typeface="Aptos" charset="0"/>
                        <a:cs typeface="Aptos" charset="0"/>
                      </a:endParaRPr>
                    </a:p>
                  </a:txBody>
                  <a:tcPr marL="73152" marR="73152" marT="73152" marB="73152">
                    <a:lnL w="8890" cap="flat" cmpd="sng" algn="ctr">
                      <a:solidFill>
                        <a:srgbClr val="D8DEE7"/>
                      </a:solidFill>
                      <a:prstDash val="solid"/>
                      <a:round/>
                      <a:headEnd type="none" w="med" len="med"/>
                      <a:tailEnd type="none" w="med" len="med"/>
                    </a:lnL>
                    <a:lnR w="8890" cap="flat" cmpd="sng" algn="ctr">
                      <a:solidFill>
                        <a:srgbClr val="D8DEE7"/>
                      </a:solidFill>
                      <a:prstDash val="solid"/>
                      <a:round/>
                      <a:headEnd type="none" w="med" len="med"/>
                      <a:tailEnd type="none" w="med" len="med"/>
                    </a:lnR>
                    <a:lnT w="8890" cap="flat" cmpd="sng" algn="ctr">
                      <a:solidFill>
                        <a:srgbClr val="D8DEE7"/>
                      </a:solidFill>
                      <a:prstDash val="solid"/>
                      <a:round/>
                      <a:headEnd type="none" w="med" len="med"/>
                      <a:tailEnd type="none" w="med" len="med"/>
                    </a:lnT>
                    <a:lnB w="8890" cap="flat" cmpd="sng" algn="ctr">
                      <a:solidFill>
                        <a:srgbClr val="D8DEE7"/>
                      </a:solidFill>
                      <a:prstDash val="solid"/>
                      <a:round/>
                      <a:headEnd type="none" w="med" len="med"/>
                      <a:tailEnd type="none" w="med" len="med"/>
                    </a:lnB>
                    <a:solidFill>
                      <a:srgbClr val="FFFFFF"/>
                    </a:solidFill>
                  </a:tcPr>
                </a:tc>
              </a:tr>
            </a:tbl>
          </a:graphicData>
        </a:graphic>
      </p:graphicFrame>
      <p:sp>
        <p:nvSpPr>
          <p:cNvPr id="4" name="Shape 1"/>
          <p:cNvSpPr/>
          <p:nvPr/>
        </p:nvSpPr>
        <p:spPr>
          <a:xfrm>
            <a:off x="685800" y="1417320"/>
            <a:ext cx="10835640" cy="502920"/>
          </a:xfrm>
          <a:prstGeom prst="rect">
            <a:avLst/>
          </a:prstGeom>
          <a:solidFill>
            <a:srgbClr val="17233C"/>
          </a:solidFill>
          <a:ln w="12700">
            <a:solidFill>
              <a:srgbClr val="17233C"/>
            </a:solidFill>
            <a:prstDash val="solid"/>
          </a:ln>
        </p:spPr>
      </p:sp>
      <p:sp>
        <p:nvSpPr>
          <p:cNvPr id="5" name="Text 2"/>
          <p:cNvSpPr/>
          <p:nvPr/>
        </p:nvSpPr>
        <p:spPr>
          <a:xfrm>
            <a:off x="758952" y="1572768"/>
            <a:ext cx="1828800" cy="164592"/>
          </a:xfrm>
          <a:prstGeom prst="rect">
            <a:avLst/>
          </a:prstGeom>
          <a:noFill/>
          <a:ln/>
        </p:spPr>
        <p:txBody>
          <a:bodyPr wrap="square" lIns="0" tIns="0" rIns="0" bIns="0" rtlCol="0" anchor="ctr"/>
          <a:lstStyle/>
          <a:p>
            <a:pPr indent="0" marL="0">
              <a:buNone/>
            </a:pPr>
            <a:r>
              <a:rPr lang="en-US" sz="950" b="1" dirty="0">
                <a:solidFill>
                  <a:srgbClr val="FFFFFF"/>
                </a:solidFill>
                <a:latin typeface="Aptos" pitchFamily="34" charset="0"/>
                <a:ea typeface="Aptos" pitchFamily="34" charset="-122"/>
                <a:cs typeface="Aptos" pitchFamily="34" charset="-120"/>
              </a:rPr>
              <a:t>Source property</a:t>
            </a:r>
            <a:endParaRPr lang="en-US" sz="950" dirty="0"/>
          </a:p>
        </p:txBody>
      </p:sp>
      <p:sp>
        <p:nvSpPr>
          <p:cNvPr id="6" name="Text 3"/>
          <p:cNvSpPr/>
          <p:nvPr/>
        </p:nvSpPr>
        <p:spPr>
          <a:xfrm>
            <a:off x="2816352" y="1572768"/>
            <a:ext cx="3063240" cy="164592"/>
          </a:xfrm>
          <a:prstGeom prst="rect">
            <a:avLst/>
          </a:prstGeom>
          <a:noFill/>
          <a:ln/>
        </p:spPr>
        <p:txBody>
          <a:bodyPr wrap="square" lIns="0" tIns="0" rIns="0" bIns="0" rtlCol="0" anchor="ctr"/>
          <a:lstStyle/>
          <a:p>
            <a:pPr indent="0" marL="0">
              <a:buNone/>
            </a:pPr>
            <a:r>
              <a:rPr lang="en-US" sz="950" b="1" dirty="0">
                <a:solidFill>
                  <a:srgbClr val="FFFFFF"/>
                </a:solidFill>
                <a:latin typeface="Aptos" pitchFamily="34" charset="0"/>
                <a:ea typeface="Aptos" pitchFamily="34" charset="-122"/>
                <a:cs typeface="Aptos" pitchFamily="34" charset="-120"/>
              </a:rPr>
              <a:t>Question</a:t>
            </a:r>
            <a:endParaRPr lang="en-US" sz="950" dirty="0"/>
          </a:p>
        </p:txBody>
      </p:sp>
      <p:sp>
        <p:nvSpPr>
          <p:cNvPr id="7" name="Text 4"/>
          <p:cNvSpPr/>
          <p:nvPr/>
        </p:nvSpPr>
        <p:spPr>
          <a:xfrm>
            <a:off x="6016752" y="1572768"/>
            <a:ext cx="5257800" cy="164592"/>
          </a:xfrm>
          <a:prstGeom prst="rect">
            <a:avLst/>
          </a:prstGeom>
          <a:noFill/>
          <a:ln/>
        </p:spPr>
        <p:txBody>
          <a:bodyPr wrap="square" lIns="0" tIns="0" rIns="0" bIns="0" rtlCol="0" anchor="ctr"/>
          <a:lstStyle/>
          <a:p>
            <a:pPr indent="0" marL="0">
              <a:buNone/>
            </a:pPr>
            <a:r>
              <a:rPr lang="en-US" sz="950" b="1" dirty="0">
                <a:solidFill>
                  <a:srgbClr val="FFFFFF"/>
                </a:solidFill>
                <a:latin typeface="Aptos" pitchFamily="34" charset="0"/>
                <a:ea typeface="Aptos" pitchFamily="34" charset="-122"/>
                <a:cs typeface="Aptos" pitchFamily="34" charset="-120"/>
              </a:rPr>
              <a:t>Engineering implication</a:t>
            </a:r>
            <a:endParaRPr lang="en-US" sz="950" dirty="0"/>
          </a:p>
        </p:txBody>
      </p:sp>
      <p:sp>
        <p:nvSpPr>
          <p:cNvPr id="8" name="Shape 5"/>
          <p:cNvSpPr/>
          <p:nvPr/>
        </p:nvSpPr>
        <p:spPr>
          <a:xfrm>
            <a:off x="3200400" y="5742432"/>
            <a:ext cx="5760720" cy="438912"/>
          </a:xfrm>
          <a:prstGeom prst="roundRect">
            <a:avLst>
              <a:gd name="adj" fmla="val 12500"/>
            </a:avLst>
          </a:prstGeom>
          <a:solidFill>
            <a:srgbClr val="ECF8F3"/>
          </a:solidFill>
          <a:ln w="12700">
            <a:solidFill>
              <a:srgbClr val="ECF8F3"/>
            </a:solidFill>
            <a:prstDash val="solid"/>
          </a:ln>
        </p:spPr>
      </p:sp>
      <p:sp>
        <p:nvSpPr>
          <p:cNvPr id="9" name="Text 6"/>
          <p:cNvSpPr/>
          <p:nvPr/>
        </p:nvSpPr>
        <p:spPr>
          <a:xfrm>
            <a:off x="3364992" y="5861304"/>
            <a:ext cx="5431536" cy="210312"/>
          </a:xfrm>
          <a:prstGeom prst="rect">
            <a:avLst/>
          </a:prstGeom>
          <a:noFill/>
          <a:ln/>
        </p:spPr>
        <p:txBody>
          <a:bodyPr wrap="square" lIns="0" tIns="0" rIns="0" bIns="0" rtlCol="0" anchor="ctr">
            <a:normAutofit/>
          </a:bodyPr>
          <a:lstStyle/>
          <a:p>
            <a:pPr indent="0" marL="0">
              <a:buNone/>
            </a:pPr>
            <a:r>
              <a:rPr lang="en-US" sz="1100" b="1" dirty="0">
                <a:solidFill>
                  <a:srgbClr val="00A972"/>
                </a:solidFill>
                <a:latin typeface="Aptos" pitchFamily="34" charset="0"/>
                <a:ea typeface="Aptos" pitchFamily="34" charset="-122"/>
                <a:cs typeface="Aptos" pitchFamily="34" charset="-120"/>
              </a:rPr>
              <a:t>Requirement → design decision → measurable SLA</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Bounded vs Unbounded Data</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Start with whether the dataset has a natural end.</a:t>
            </a:r>
            <a:endParaRPr lang="en-US" sz="1100" dirty="0"/>
          </a:p>
        </p:txBody>
      </p:sp>
      <p:sp>
        <p:nvSpPr>
          <p:cNvPr id="4" name="Shape 2"/>
          <p:cNvSpPr/>
          <p:nvPr/>
        </p:nvSpPr>
        <p:spPr>
          <a:xfrm>
            <a:off x="777240" y="1600200"/>
            <a:ext cx="4983480" cy="3108960"/>
          </a:xfrm>
          <a:prstGeom prst="roundRect">
            <a:avLst>
              <a:gd name="adj" fmla="val 2059"/>
            </a:avLst>
          </a:prstGeom>
          <a:solidFill>
            <a:srgbClr val="FFFFFF"/>
          </a:solidFill>
          <a:ln w="12700">
            <a:solidFill>
              <a:srgbClr val="DDE2EA"/>
            </a:solidFill>
            <a:prstDash val="solid"/>
          </a:ln>
        </p:spPr>
      </p:sp>
      <p:sp>
        <p:nvSpPr>
          <p:cNvPr id="5" name="Shape 3"/>
          <p:cNvSpPr/>
          <p:nvPr/>
        </p:nvSpPr>
        <p:spPr>
          <a:xfrm>
            <a:off x="777240" y="1600200"/>
            <a:ext cx="50292" cy="3108960"/>
          </a:xfrm>
          <a:prstGeom prst="rect">
            <a:avLst/>
          </a:prstGeom>
          <a:solidFill>
            <a:srgbClr val="3B6FF5"/>
          </a:solidFill>
          <a:ln w="12700">
            <a:solidFill>
              <a:srgbClr val="3B6FF5"/>
            </a:solidFill>
            <a:prstDash val="solid"/>
          </a:ln>
        </p:spPr>
      </p:sp>
      <p:sp>
        <p:nvSpPr>
          <p:cNvPr id="6" name="Shape 4"/>
          <p:cNvSpPr/>
          <p:nvPr/>
        </p:nvSpPr>
        <p:spPr>
          <a:xfrm>
            <a:off x="978408" y="178308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978408" y="184708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FINITE</a:t>
            </a:r>
            <a:endParaRPr lang="en-US" sz="730" dirty="0"/>
          </a:p>
        </p:txBody>
      </p:sp>
      <p:sp>
        <p:nvSpPr>
          <p:cNvPr id="8" name="Text 6"/>
          <p:cNvSpPr/>
          <p:nvPr/>
        </p:nvSpPr>
        <p:spPr>
          <a:xfrm>
            <a:off x="978408" y="2185416"/>
            <a:ext cx="4617720" cy="347472"/>
          </a:xfrm>
          <a:prstGeom prst="rect">
            <a:avLst/>
          </a:prstGeom>
          <a:noFill/>
          <a:ln/>
        </p:spPr>
        <p:txBody>
          <a:bodyPr wrap="square" lIns="0" tIns="0" rIns="0" bIns="0" rtlCol="0" anchor="ctr">
            <a:normAutofit/>
          </a:bodyPr>
          <a:lstStyle/>
          <a:p>
            <a:pPr indent="0" marL="0">
              <a:buNone/>
            </a:pPr>
            <a:r>
              <a:rPr lang="en-US" sz="1700" b="1" dirty="0">
                <a:solidFill>
                  <a:srgbClr val="17233C"/>
                </a:solidFill>
                <a:latin typeface="Aptos Display" pitchFamily="34" charset="0"/>
                <a:ea typeface="Aptos Display" pitchFamily="34" charset="-122"/>
                <a:cs typeface="Aptos Display" pitchFamily="34" charset="-120"/>
              </a:rPr>
              <a:t>Bounded data</a:t>
            </a:r>
            <a:endParaRPr lang="en-US" sz="1700" dirty="0"/>
          </a:p>
        </p:txBody>
      </p:sp>
      <p:sp>
        <p:nvSpPr>
          <p:cNvPr id="9" name="Text 7"/>
          <p:cNvSpPr/>
          <p:nvPr/>
        </p:nvSpPr>
        <p:spPr>
          <a:xfrm>
            <a:off x="978408" y="2560320"/>
            <a:ext cx="4599432" cy="198424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Finite dataset with a known end.</a:t>
            </a:r>
            <a:endParaRPr lang="en-US" sz="1100" dirty="0"/>
          </a:p>
          <a:p>
            <a:pPr indent="0" marL="0">
              <a:buNone/>
            </a:pP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Examples: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annual census extract</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historical CSV export</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one-time migration</a:t>
            </a:r>
            <a:endParaRPr lang="en-US" sz="1100" dirty="0"/>
          </a:p>
          <a:p>
            <a:pPr indent="0" marL="0">
              <a:buNone/>
            </a:pP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Typical approach: batch processing.</a:t>
            </a:r>
            <a:endParaRPr lang="en-US" sz="1100" dirty="0"/>
          </a:p>
        </p:txBody>
      </p:sp>
      <p:sp>
        <p:nvSpPr>
          <p:cNvPr id="10" name="Shape 8"/>
          <p:cNvSpPr/>
          <p:nvPr/>
        </p:nvSpPr>
        <p:spPr>
          <a:xfrm>
            <a:off x="6400800" y="1600200"/>
            <a:ext cx="4983480" cy="3108960"/>
          </a:xfrm>
          <a:prstGeom prst="roundRect">
            <a:avLst>
              <a:gd name="adj" fmla="val 2059"/>
            </a:avLst>
          </a:prstGeom>
          <a:solidFill>
            <a:srgbClr val="FFFFFF"/>
          </a:solidFill>
          <a:ln w="12700">
            <a:solidFill>
              <a:srgbClr val="DDE2EA"/>
            </a:solidFill>
            <a:prstDash val="solid"/>
          </a:ln>
        </p:spPr>
      </p:sp>
      <p:sp>
        <p:nvSpPr>
          <p:cNvPr id="11" name="Shape 9"/>
          <p:cNvSpPr/>
          <p:nvPr/>
        </p:nvSpPr>
        <p:spPr>
          <a:xfrm>
            <a:off x="6400800" y="1600200"/>
            <a:ext cx="50292" cy="3108960"/>
          </a:xfrm>
          <a:prstGeom prst="rect">
            <a:avLst/>
          </a:prstGeom>
          <a:solidFill>
            <a:srgbClr val="7C4DFF"/>
          </a:solidFill>
          <a:ln w="12700">
            <a:solidFill>
              <a:srgbClr val="7C4DFF"/>
            </a:solidFill>
            <a:prstDash val="solid"/>
          </a:ln>
        </p:spPr>
      </p:sp>
      <p:sp>
        <p:nvSpPr>
          <p:cNvPr id="12" name="Shape 10"/>
          <p:cNvSpPr/>
          <p:nvPr/>
        </p:nvSpPr>
        <p:spPr>
          <a:xfrm>
            <a:off x="6601968" y="1783080"/>
            <a:ext cx="566928" cy="310896"/>
          </a:xfrm>
          <a:prstGeom prst="roundRect">
            <a:avLst>
              <a:gd name="adj" fmla="val 14706"/>
            </a:avLst>
          </a:prstGeom>
          <a:solidFill>
            <a:srgbClr val="F2EEFF"/>
          </a:solidFill>
          <a:ln w="12700">
            <a:solidFill>
              <a:srgbClr val="F2EEFF"/>
            </a:solidFill>
            <a:prstDash val="solid"/>
          </a:ln>
        </p:spPr>
      </p:sp>
      <p:sp>
        <p:nvSpPr>
          <p:cNvPr id="13" name="Text 11"/>
          <p:cNvSpPr/>
          <p:nvPr/>
        </p:nvSpPr>
        <p:spPr>
          <a:xfrm>
            <a:off x="6601968" y="184708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CONTINUOUS</a:t>
            </a:r>
            <a:endParaRPr lang="en-US" sz="730" dirty="0"/>
          </a:p>
        </p:txBody>
      </p:sp>
      <p:sp>
        <p:nvSpPr>
          <p:cNvPr id="14" name="Text 12"/>
          <p:cNvSpPr/>
          <p:nvPr/>
        </p:nvSpPr>
        <p:spPr>
          <a:xfrm>
            <a:off x="6601968" y="2185416"/>
            <a:ext cx="4617720" cy="347472"/>
          </a:xfrm>
          <a:prstGeom prst="rect">
            <a:avLst/>
          </a:prstGeom>
          <a:noFill/>
          <a:ln/>
        </p:spPr>
        <p:txBody>
          <a:bodyPr wrap="square" lIns="0" tIns="0" rIns="0" bIns="0" rtlCol="0" anchor="ctr">
            <a:normAutofit/>
          </a:bodyPr>
          <a:lstStyle/>
          <a:p>
            <a:pPr indent="0" marL="0">
              <a:buNone/>
            </a:pPr>
            <a:r>
              <a:rPr lang="en-US" sz="1700" b="1" dirty="0">
                <a:solidFill>
                  <a:srgbClr val="17233C"/>
                </a:solidFill>
                <a:latin typeface="Aptos Display" pitchFamily="34" charset="0"/>
                <a:ea typeface="Aptos Display" pitchFamily="34" charset="-122"/>
                <a:cs typeface="Aptos Display" pitchFamily="34" charset="-120"/>
              </a:rPr>
              <a:t>Unbounded data</a:t>
            </a:r>
            <a:endParaRPr lang="en-US" sz="1700" dirty="0"/>
          </a:p>
        </p:txBody>
      </p:sp>
      <p:sp>
        <p:nvSpPr>
          <p:cNvPr id="15" name="Text 13"/>
          <p:cNvSpPr/>
          <p:nvPr/>
        </p:nvSpPr>
        <p:spPr>
          <a:xfrm>
            <a:off x="6601968" y="2560320"/>
            <a:ext cx="4599432" cy="198424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Continuously arriving data with no natural end.</a:t>
            </a:r>
            <a:endParaRPr lang="en-US" sz="1100" dirty="0"/>
          </a:p>
          <a:p>
            <a:pPr indent="0" marL="0">
              <a:buNone/>
            </a:pP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Examples: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web events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sensor telemetry</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transaction CDC feed</a:t>
            </a:r>
            <a:endParaRPr lang="en-US" sz="1100" dirty="0"/>
          </a:p>
          <a:p>
            <a:pPr indent="0" marL="0">
              <a:buNone/>
            </a:pP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Typical approach: incremental / streaming processing.</a:t>
            </a:r>
            <a:endParaRPr lang="en-US" sz="1100" dirty="0"/>
          </a:p>
        </p:txBody>
      </p:sp>
      <p:sp>
        <p:nvSpPr>
          <p:cNvPr id="16" name="Shape 14"/>
          <p:cNvSpPr/>
          <p:nvPr/>
        </p:nvSpPr>
        <p:spPr>
          <a:xfrm>
            <a:off x="1828800" y="5074920"/>
            <a:ext cx="8549640" cy="658368"/>
          </a:xfrm>
          <a:prstGeom prst="roundRect">
            <a:avLst>
              <a:gd name="adj" fmla="val 8333"/>
            </a:avLst>
          </a:prstGeom>
          <a:solidFill>
            <a:srgbClr val="FFF7E6"/>
          </a:solidFill>
          <a:ln w="12700">
            <a:solidFill>
              <a:srgbClr val="FFF7E6"/>
            </a:solidFill>
            <a:prstDash val="solid"/>
          </a:ln>
        </p:spPr>
      </p:sp>
      <p:sp>
        <p:nvSpPr>
          <p:cNvPr id="17" name="Text 15"/>
          <p:cNvSpPr/>
          <p:nvPr/>
        </p:nvSpPr>
        <p:spPr>
          <a:xfrm>
            <a:off x="1993392" y="5193792"/>
            <a:ext cx="8220456" cy="429768"/>
          </a:xfrm>
          <a:prstGeom prst="rect">
            <a:avLst/>
          </a:prstGeom>
          <a:noFill/>
          <a:ln/>
        </p:spPr>
        <p:txBody>
          <a:bodyPr wrap="square" lIns="0" tIns="0" rIns="0" bIns="0" rtlCol="0" anchor="ctr">
            <a:normAutofit/>
          </a:bodyPr>
          <a:lstStyle/>
          <a:p>
            <a:pPr indent="0" marL="0">
              <a:buNone/>
            </a:pPr>
            <a:r>
              <a:rPr lang="en-US" sz="1100" b="1" dirty="0">
                <a:solidFill>
                  <a:srgbClr val="F3A712"/>
                </a:solidFill>
                <a:latin typeface="Aptos" pitchFamily="34" charset="0"/>
                <a:ea typeface="Aptos" pitchFamily="34" charset="-122"/>
                <a:cs typeface="Aptos" pitchFamily="34" charset="-120"/>
              </a:rPr>
              <a:t>Boundedness helps choose the processing model before debating implementation details.</a:t>
            </a:r>
            <a:endParaRPr lang="en-US" sz="1100" dirty="0"/>
          </a:p>
        </p:txBody>
      </p:sp>
      <p:sp>
        <p:nvSpPr>
          <p:cNvPr id="18" name="Text 16"/>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1</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Common Source Types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Different source families fail in different ways.</a:t>
            </a:r>
            <a:endParaRPr lang="en-US" sz="1100" dirty="0"/>
          </a:p>
        </p:txBody>
      </p:sp>
      <p:sp>
        <p:nvSpPr>
          <p:cNvPr id="4" name="Shape 2"/>
          <p:cNvSpPr/>
          <p:nvPr/>
        </p:nvSpPr>
        <p:spPr>
          <a:xfrm>
            <a:off x="585216" y="1417320"/>
            <a:ext cx="3438144" cy="1783080"/>
          </a:xfrm>
          <a:prstGeom prst="roundRect">
            <a:avLst>
              <a:gd name="adj" fmla="val 3590"/>
            </a:avLst>
          </a:prstGeom>
          <a:solidFill>
            <a:srgbClr val="FFFFFF"/>
          </a:solidFill>
          <a:ln w="12700">
            <a:solidFill>
              <a:srgbClr val="DDE2EA"/>
            </a:solidFill>
            <a:prstDash val="solid"/>
          </a:ln>
        </p:spPr>
      </p:sp>
      <p:sp>
        <p:nvSpPr>
          <p:cNvPr id="5" name="Shape 3"/>
          <p:cNvSpPr/>
          <p:nvPr/>
        </p:nvSpPr>
        <p:spPr>
          <a:xfrm>
            <a:off x="585216" y="1417320"/>
            <a:ext cx="50292" cy="1783080"/>
          </a:xfrm>
          <a:prstGeom prst="rect">
            <a:avLst/>
          </a:prstGeom>
          <a:solidFill>
            <a:srgbClr val="3B6FF5"/>
          </a:solidFill>
          <a:ln w="12700">
            <a:solidFill>
              <a:srgbClr val="3B6FF5"/>
            </a:solidFill>
            <a:prstDash val="solid"/>
          </a:ln>
        </p:spPr>
      </p:sp>
      <p:sp>
        <p:nvSpPr>
          <p:cNvPr id="6" name="Text 4"/>
          <p:cNvSpPr/>
          <p:nvPr/>
        </p:nvSpPr>
        <p:spPr>
          <a:xfrm>
            <a:off x="786384" y="1636776"/>
            <a:ext cx="3072384"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Relational DB</a:t>
            </a:r>
            <a:endParaRPr lang="en-US" sz="1350" dirty="0"/>
          </a:p>
        </p:txBody>
      </p:sp>
      <p:sp>
        <p:nvSpPr>
          <p:cNvPr id="7" name="Text 5"/>
          <p:cNvSpPr/>
          <p:nvPr/>
        </p:nvSpPr>
        <p:spPr>
          <a:xfrm>
            <a:off x="786384" y="2075688"/>
            <a:ext cx="3054096" cy="960120"/>
          </a:xfrm>
          <a:prstGeom prst="rect">
            <a:avLst/>
          </a:prstGeom>
          <a:noFill/>
          <a:ln/>
        </p:spPr>
        <p:txBody>
          <a:bodyPr wrap="square" lIns="254" tIns="254" rIns="254" bIns="254" rtlCol="0" anchor="t">
            <a:normAutofit/>
          </a:bodyPr>
          <a:lstStyle/>
          <a:p>
            <a:pPr indent="0" marL="0">
              <a:buNone/>
            </a:pPr>
            <a:r>
              <a:rPr lang="en-US" sz="970" dirty="0">
                <a:solidFill>
                  <a:srgbClr val="283246"/>
                </a:solidFill>
                <a:latin typeface="Aptos" pitchFamily="34" charset="0"/>
                <a:ea typeface="Aptos" pitchFamily="34" charset="-122"/>
                <a:cs typeface="Aptos" pitchFamily="34" charset="-120"/>
              </a:rPr>
              <a:t>Tables, keys, transactions</a:t>
            </a:r>
            <a:endParaRPr lang="en-US" sz="970" dirty="0"/>
          </a:p>
          <a:p>
            <a:pPr indent="0" marL="0">
              <a:buNone/>
            </a:pPr>
            <a:r>
              <a:rPr lang="en-US" sz="970" dirty="0">
                <a:solidFill>
                  <a:srgbClr val="283246"/>
                </a:solidFill>
                <a:latin typeface="Aptos" pitchFamily="34" charset="0"/>
                <a:ea typeface="Aptos" pitchFamily="34" charset="-122"/>
                <a:cs typeface="Aptos" pitchFamily="34" charset="-120"/>
              </a:rPr>
              <a:t>Risk: updates/deletes, lock pressure</a:t>
            </a:r>
            <a:endParaRPr lang="en-US" sz="970" dirty="0"/>
          </a:p>
        </p:txBody>
      </p:sp>
      <p:sp>
        <p:nvSpPr>
          <p:cNvPr id="8" name="Shape 6"/>
          <p:cNvSpPr/>
          <p:nvPr/>
        </p:nvSpPr>
        <p:spPr>
          <a:xfrm>
            <a:off x="4343400" y="1417320"/>
            <a:ext cx="3438144" cy="1783080"/>
          </a:xfrm>
          <a:prstGeom prst="roundRect">
            <a:avLst>
              <a:gd name="adj" fmla="val 3590"/>
            </a:avLst>
          </a:prstGeom>
          <a:solidFill>
            <a:srgbClr val="FFFFFF"/>
          </a:solidFill>
          <a:ln w="12700">
            <a:solidFill>
              <a:srgbClr val="DDE2EA"/>
            </a:solidFill>
            <a:prstDash val="solid"/>
          </a:ln>
        </p:spPr>
      </p:sp>
      <p:sp>
        <p:nvSpPr>
          <p:cNvPr id="9" name="Shape 7"/>
          <p:cNvSpPr/>
          <p:nvPr/>
        </p:nvSpPr>
        <p:spPr>
          <a:xfrm>
            <a:off x="4343400" y="1417320"/>
            <a:ext cx="50292" cy="1783080"/>
          </a:xfrm>
          <a:prstGeom prst="rect">
            <a:avLst/>
          </a:prstGeom>
          <a:solidFill>
            <a:srgbClr val="00A972"/>
          </a:solidFill>
          <a:ln w="12700">
            <a:solidFill>
              <a:srgbClr val="00A972"/>
            </a:solidFill>
            <a:prstDash val="solid"/>
          </a:ln>
        </p:spPr>
      </p:sp>
      <p:sp>
        <p:nvSpPr>
          <p:cNvPr id="10" name="Text 8"/>
          <p:cNvSpPr/>
          <p:nvPr/>
        </p:nvSpPr>
        <p:spPr>
          <a:xfrm>
            <a:off x="4544568" y="1636776"/>
            <a:ext cx="3072384"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Files</a:t>
            </a:r>
            <a:endParaRPr lang="en-US" sz="1350" dirty="0"/>
          </a:p>
        </p:txBody>
      </p:sp>
      <p:sp>
        <p:nvSpPr>
          <p:cNvPr id="11" name="Text 9"/>
          <p:cNvSpPr/>
          <p:nvPr/>
        </p:nvSpPr>
        <p:spPr>
          <a:xfrm>
            <a:off x="4544568" y="2075688"/>
            <a:ext cx="3054096" cy="960120"/>
          </a:xfrm>
          <a:prstGeom prst="rect">
            <a:avLst/>
          </a:prstGeom>
          <a:noFill/>
          <a:ln/>
        </p:spPr>
        <p:txBody>
          <a:bodyPr wrap="square" lIns="254" tIns="254" rIns="254" bIns="254" rtlCol="0" anchor="t">
            <a:normAutofit/>
          </a:bodyPr>
          <a:lstStyle/>
          <a:p>
            <a:pPr indent="0" marL="0">
              <a:buNone/>
            </a:pPr>
            <a:r>
              <a:rPr lang="en-US" sz="970" dirty="0">
                <a:solidFill>
                  <a:srgbClr val="283246"/>
                </a:solidFill>
                <a:latin typeface="Aptos" pitchFamily="34" charset="0"/>
                <a:ea typeface="Aptos" pitchFamily="34" charset="-122"/>
                <a:cs typeface="Aptos" pitchFamily="34" charset="-120"/>
              </a:rPr>
              <a:t>CSV, JSON, Parquet, XML</a:t>
            </a:r>
            <a:endParaRPr lang="en-US" sz="970" dirty="0"/>
          </a:p>
          <a:p>
            <a:pPr indent="0" marL="0">
              <a:buNone/>
            </a:pPr>
            <a:r>
              <a:rPr lang="en-US" sz="970" dirty="0">
                <a:solidFill>
                  <a:srgbClr val="283246"/>
                </a:solidFill>
                <a:latin typeface="Aptos" pitchFamily="34" charset="0"/>
                <a:ea typeface="Aptos" pitchFamily="34" charset="-122"/>
                <a:cs typeface="Aptos" pitchFamily="34" charset="-120"/>
              </a:rPr>
              <a:t>Risk: late/missing files, schema drift</a:t>
            </a:r>
            <a:endParaRPr lang="en-US" sz="970" dirty="0"/>
          </a:p>
        </p:txBody>
      </p:sp>
      <p:sp>
        <p:nvSpPr>
          <p:cNvPr id="12" name="Shape 10"/>
          <p:cNvSpPr/>
          <p:nvPr/>
        </p:nvSpPr>
        <p:spPr>
          <a:xfrm>
            <a:off x="8101584" y="1417320"/>
            <a:ext cx="3438144" cy="1783080"/>
          </a:xfrm>
          <a:prstGeom prst="roundRect">
            <a:avLst>
              <a:gd name="adj" fmla="val 3590"/>
            </a:avLst>
          </a:prstGeom>
          <a:solidFill>
            <a:srgbClr val="FFFFFF"/>
          </a:solidFill>
          <a:ln w="12700">
            <a:solidFill>
              <a:srgbClr val="DDE2EA"/>
            </a:solidFill>
            <a:prstDash val="solid"/>
          </a:ln>
        </p:spPr>
      </p:sp>
      <p:sp>
        <p:nvSpPr>
          <p:cNvPr id="13" name="Shape 11"/>
          <p:cNvSpPr/>
          <p:nvPr/>
        </p:nvSpPr>
        <p:spPr>
          <a:xfrm>
            <a:off x="8101584" y="1417320"/>
            <a:ext cx="50292" cy="1783080"/>
          </a:xfrm>
          <a:prstGeom prst="rect">
            <a:avLst/>
          </a:prstGeom>
          <a:solidFill>
            <a:srgbClr val="7C4DFF"/>
          </a:solidFill>
          <a:ln w="12700">
            <a:solidFill>
              <a:srgbClr val="7C4DFF"/>
            </a:solidFill>
            <a:prstDash val="solid"/>
          </a:ln>
        </p:spPr>
      </p:sp>
      <p:sp>
        <p:nvSpPr>
          <p:cNvPr id="14" name="Text 12"/>
          <p:cNvSpPr/>
          <p:nvPr/>
        </p:nvSpPr>
        <p:spPr>
          <a:xfrm>
            <a:off x="8302752" y="1636776"/>
            <a:ext cx="3072384"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APIs / SaaS</a:t>
            </a:r>
            <a:endParaRPr lang="en-US" sz="1350" dirty="0"/>
          </a:p>
        </p:txBody>
      </p:sp>
      <p:sp>
        <p:nvSpPr>
          <p:cNvPr id="15" name="Text 13"/>
          <p:cNvSpPr/>
          <p:nvPr/>
        </p:nvSpPr>
        <p:spPr>
          <a:xfrm>
            <a:off x="8302752" y="2075688"/>
            <a:ext cx="3054096" cy="960120"/>
          </a:xfrm>
          <a:prstGeom prst="rect">
            <a:avLst/>
          </a:prstGeom>
          <a:noFill/>
          <a:ln/>
        </p:spPr>
        <p:txBody>
          <a:bodyPr wrap="square" lIns="254" tIns="254" rIns="254" bIns="254" rtlCol="0" anchor="t">
            <a:normAutofit/>
          </a:bodyPr>
          <a:lstStyle/>
          <a:p>
            <a:pPr indent="0" marL="0">
              <a:buNone/>
            </a:pPr>
            <a:r>
              <a:rPr lang="en-US" sz="970" dirty="0">
                <a:solidFill>
                  <a:srgbClr val="283246"/>
                </a:solidFill>
                <a:latin typeface="Aptos" pitchFamily="34" charset="0"/>
                <a:ea typeface="Aptos" pitchFamily="34" charset="-122"/>
                <a:cs typeface="Aptos" pitchFamily="34" charset="-120"/>
              </a:rPr>
              <a:t>REST, GraphQL, vendor APIs</a:t>
            </a:r>
            <a:endParaRPr lang="en-US" sz="970" dirty="0"/>
          </a:p>
          <a:p>
            <a:pPr indent="0" marL="0">
              <a:buNone/>
            </a:pPr>
            <a:r>
              <a:rPr lang="en-US" sz="970" dirty="0">
                <a:solidFill>
                  <a:srgbClr val="283246"/>
                </a:solidFill>
                <a:latin typeface="Aptos" pitchFamily="34" charset="0"/>
                <a:ea typeface="Aptos" pitchFamily="34" charset="-122"/>
                <a:cs typeface="Aptos" pitchFamily="34" charset="-120"/>
              </a:rPr>
              <a:t>Risk: rate limits, pagination, versioning</a:t>
            </a:r>
            <a:endParaRPr lang="en-US" sz="970" dirty="0"/>
          </a:p>
        </p:txBody>
      </p:sp>
      <p:sp>
        <p:nvSpPr>
          <p:cNvPr id="16" name="Shape 14"/>
          <p:cNvSpPr/>
          <p:nvPr/>
        </p:nvSpPr>
        <p:spPr>
          <a:xfrm>
            <a:off x="585216" y="3566160"/>
            <a:ext cx="3438144" cy="1783080"/>
          </a:xfrm>
          <a:prstGeom prst="roundRect">
            <a:avLst>
              <a:gd name="adj" fmla="val 3590"/>
            </a:avLst>
          </a:prstGeom>
          <a:solidFill>
            <a:srgbClr val="FFFFFF"/>
          </a:solidFill>
          <a:ln w="12700">
            <a:solidFill>
              <a:srgbClr val="DDE2EA"/>
            </a:solidFill>
            <a:prstDash val="solid"/>
          </a:ln>
        </p:spPr>
      </p:sp>
      <p:sp>
        <p:nvSpPr>
          <p:cNvPr id="17" name="Shape 15"/>
          <p:cNvSpPr/>
          <p:nvPr/>
        </p:nvSpPr>
        <p:spPr>
          <a:xfrm>
            <a:off x="585216" y="3566160"/>
            <a:ext cx="50292" cy="1783080"/>
          </a:xfrm>
          <a:prstGeom prst="rect">
            <a:avLst/>
          </a:prstGeom>
          <a:solidFill>
            <a:srgbClr val="F3A712"/>
          </a:solidFill>
          <a:ln w="12700">
            <a:solidFill>
              <a:srgbClr val="F3A712"/>
            </a:solidFill>
            <a:prstDash val="solid"/>
          </a:ln>
        </p:spPr>
      </p:sp>
      <p:sp>
        <p:nvSpPr>
          <p:cNvPr id="18" name="Text 16"/>
          <p:cNvSpPr/>
          <p:nvPr/>
        </p:nvSpPr>
        <p:spPr>
          <a:xfrm>
            <a:off x="786384" y="3785616"/>
            <a:ext cx="3072384"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Message buses</a:t>
            </a:r>
            <a:endParaRPr lang="en-US" sz="1350" dirty="0"/>
          </a:p>
        </p:txBody>
      </p:sp>
      <p:sp>
        <p:nvSpPr>
          <p:cNvPr id="19" name="Text 17"/>
          <p:cNvSpPr/>
          <p:nvPr/>
        </p:nvSpPr>
        <p:spPr>
          <a:xfrm>
            <a:off x="786384" y="4224528"/>
            <a:ext cx="3054096" cy="960120"/>
          </a:xfrm>
          <a:prstGeom prst="rect">
            <a:avLst/>
          </a:prstGeom>
          <a:noFill/>
          <a:ln/>
        </p:spPr>
        <p:txBody>
          <a:bodyPr wrap="square" lIns="254" tIns="254" rIns="254" bIns="254" rtlCol="0" anchor="t">
            <a:normAutofit/>
          </a:bodyPr>
          <a:lstStyle/>
          <a:p>
            <a:pPr indent="0" marL="0">
              <a:buNone/>
            </a:pPr>
            <a:r>
              <a:rPr lang="en-US" sz="970" dirty="0">
                <a:solidFill>
                  <a:srgbClr val="283246"/>
                </a:solidFill>
                <a:latin typeface="Aptos" pitchFamily="34" charset="0"/>
                <a:ea typeface="Aptos" pitchFamily="34" charset="-122"/>
                <a:cs typeface="Aptos" pitchFamily="34" charset="-120"/>
              </a:rPr>
              <a:t>Kafka, Event Hubs, Pub/Sub</a:t>
            </a:r>
            <a:endParaRPr lang="en-US" sz="970" dirty="0"/>
          </a:p>
          <a:p>
            <a:pPr indent="0" marL="0">
              <a:buNone/>
            </a:pPr>
            <a:r>
              <a:rPr lang="en-US" sz="970" dirty="0">
                <a:solidFill>
                  <a:srgbClr val="283246"/>
                </a:solidFill>
                <a:latin typeface="Aptos" pitchFamily="34" charset="0"/>
                <a:ea typeface="Aptos" pitchFamily="34" charset="-122"/>
                <a:cs typeface="Aptos" pitchFamily="34" charset="-120"/>
              </a:rPr>
              <a:t>Risk: ordering, duplicates, offsets</a:t>
            </a:r>
            <a:endParaRPr lang="en-US" sz="970" dirty="0"/>
          </a:p>
        </p:txBody>
      </p:sp>
      <p:sp>
        <p:nvSpPr>
          <p:cNvPr id="20" name="Shape 18"/>
          <p:cNvSpPr/>
          <p:nvPr/>
        </p:nvSpPr>
        <p:spPr>
          <a:xfrm>
            <a:off x="4343400" y="3566160"/>
            <a:ext cx="3438144" cy="1783080"/>
          </a:xfrm>
          <a:prstGeom prst="roundRect">
            <a:avLst>
              <a:gd name="adj" fmla="val 3590"/>
            </a:avLst>
          </a:prstGeom>
          <a:solidFill>
            <a:srgbClr val="FFFFFF"/>
          </a:solidFill>
          <a:ln w="12700">
            <a:solidFill>
              <a:srgbClr val="DDE2EA"/>
            </a:solidFill>
            <a:prstDash val="solid"/>
          </a:ln>
        </p:spPr>
      </p:sp>
      <p:sp>
        <p:nvSpPr>
          <p:cNvPr id="21" name="Shape 19"/>
          <p:cNvSpPr/>
          <p:nvPr/>
        </p:nvSpPr>
        <p:spPr>
          <a:xfrm>
            <a:off x="4343400" y="3566160"/>
            <a:ext cx="50292" cy="1783080"/>
          </a:xfrm>
          <a:prstGeom prst="rect">
            <a:avLst/>
          </a:prstGeom>
          <a:solidFill>
            <a:srgbClr val="FF3621"/>
          </a:solidFill>
          <a:ln w="12700">
            <a:solidFill>
              <a:srgbClr val="FF3621"/>
            </a:solidFill>
            <a:prstDash val="solid"/>
          </a:ln>
        </p:spPr>
      </p:sp>
      <p:sp>
        <p:nvSpPr>
          <p:cNvPr id="22" name="Text 20"/>
          <p:cNvSpPr/>
          <p:nvPr/>
        </p:nvSpPr>
        <p:spPr>
          <a:xfrm>
            <a:off x="4544568" y="3785616"/>
            <a:ext cx="3072384"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Logs / telemetry</a:t>
            </a:r>
            <a:endParaRPr lang="en-US" sz="1350" dirty="0"/>
          </a:p>
        </p:txBody>
      </p:sp>
      <p:sp>
        <p:nvSpPr>
          <p:cNvPr id="23" name="Text 21"/>
          <p:cNvSpPr/>
          <p:nvPr/>
        </p:nvSpPr>
        <p:spPr>
          <a:xfrm>
            <a:off x="4544568" y="4224528"/>
            <a:ext cx="3054096" cy="960120"/>
          </a:xfrm>
          <a:prstGeom prst="rect">
            <a:avLst/>
          </a:prstGeom>
          <a:noFill/>
          <a:ln/>
        </p:spPr>
        <p:txBody>
          <a:bodyPr wrap="square" lIns="254" tIns="254" rIns="254" bIns="254" rtlCol="0" anchor="t">
            <a:normAutofit/>
          </a:bodyPr>
          <a:lstStyle/>
          <a:p>
            <a:pPr indent="0" marL="0">
              <a:buNone/>
            </a:pPr>
            <a:r>
              <a:rPr lang="en-US" sz="970" dirty="0">
                <a:solidFill>
                  <a:srgbClr val="283246"/>
                </a:solidFill>
                <a:latin typeface="Aptos" pitchFamily="34" charset="0"/>
                <a:ea typeface="Aptos" pitchFamily="34" charset="-122"/>
                <a:cs typeface="Aptos" pitchFamily="34" charset="-120"/>
              </a:rPr>
              <a:t>High-volume append-only events</a:t>
            </a:r>
            <a:endParaRPr lang="en-US" sz="970" dirty="0"/>
          </a:p>
          <a:p>
            <a:pPr indent="0" marL="0">
              <a:buNone/>
            </a:pPr>
            <a:r>
              <a:rPr lang="en-US" sz="970" dirty="0">
                <a:solidFill>
                  <a:srgbClr val="283246"/>
                </a:solidFill>
                <a:latin typeface="Aptos" pitchFamily="34" charset="0"/>
                <a:ea typeface="Aptos" pitchFamily="34" charset="-122"/>
                <a:cs typeface="Aptos" pitchFamily="34" charset="-120"/>
              </a:rPr>
              <a:t>Risk: burstiness, malformed payloads</a:t>
            </a:r>
            <a:endParaRPr lang="en-US" sz="970" dirty="0"/>
          </a:p>
        </p:txBody>
      </p:sp>
      <p:sp>
        <p:nvSpPr>
          <p:cNvPr id="24" name="Shape 22"/>
          <p:cNvSpPr/>
          <p:nvPr/>
        </p:nvSpPr>
        <p:spPr>
          <a:xfrm>
            <a:off x="8101584" y="3566160"/>
            <a:ext cx="3438144" cy="1783080"/>
          </a:xfrm>
          <a:prstGeom prst="roundRect">
            <a:avLst>
              <a:gd name="adj" fmla="val 3590"/>
            </a:avLst>
          </a:prstGeom>
          <a:solidFill>
            <a:srgbClr val="FFFFFF"/>
          </a:solidFill>
          <a:ln w="12700">
            <a:solidFill>
              <a:srgbClr val="DDE2EA"/>
            </a:solidFill>
            <a:prstDash val="solid"/>
          </a:ln>
        </p:spPr>
      </p:sp>
      <p:sp>
        <p:nvSpPr>
          <p:cNvPr id="25" name="Shape 23"/>
          <p:cNvSpPr/>
          <p:nvPr/>
        </p:nvSpPr>
        <p:spPr>
          <a:xfrm>
            <a:off x="8101584" y="3566160"/>
            <a:ext cx="50292" cy="1783080"/>
          </a:xfrm>
          <a:prstGeom prst="rect">
            <a:avLst/>
          </a:prstGeom>
          <a:solidFill>
            <a:srgbClr val="29A86B"/>
          </a:solidFill>
          <a:ln w="12700">
            <a:solidFill>
              <a:srgbClr val="29A86B"/>
            </a:solidFill>
            <a:prstDash val="solid"/>
          </a:ln>
        </p:spPr>
      </p:sp>
      <p:sp>
        <p:nvSpPr>
          <p:cNvPr id="26" name="Text 24"/>
          <p:cNvSpPr/>
          <p:nvPr/>
        </p:nvSpPr>
        <p:spPr>
          <a:xfrm>
            <a:off x="8302752" y="3785616"/>
            <a:ext cx="3072384"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Manual / external</a:t>
            </a:r>
            <a:endParaRPr lang="en-US" sz="1350" dirty="0"/>
          </a:p>
        </p:txBody>
      </p:sp>
      <p:sp>
        <p:nvSpPr>
          <p:cNvPr id="27" name="Text 25"/>
          <p:cNvSpPr/>
          <p:nvPr/>
        </p:nvSpPr>
        <p:spPr>
          <a:xfrm>
            <a:off x="8302752" y="4224528"/>
            <a:ext cx="3054096" cy="960120"/>
          </a:xfrm>
          <a:prstGeom prst="rect">
            <a:avLst/>
          </a:prstGeom>
          <a:noFill/>
          <a:ln/>
        </p:spPr>
        <p:txBody>
          <a:bodyPr wrap="square" lIns="254" tIns="254" rIns="254" bIns="254" rtlCol="0" anchor="t">
            <a:normAutofit/>
          </a:bodyPr>
          <a:lstStyle/>
          <a:p>
            <a:pPr indent="0" marL="0">
              <a:buNone/>
            </a:pPr>
            <a:r>
              <a:rPr lang="en-US" sz="970" dirty="0">
                <a:solidFill>
                  <a:srgbClr val="283246"/>
                </a:solidFill>
                <a:latin typeface="Aptos" pitchFamily="34" charset="0"/>
                <a:ea typeface="Aptos" pitchFamily="34" charset="-122"/>
                <a:cs typeface="Aptos" pitchFamily="34" charset="-120"/>
              </a:rPr>
              <a:t>Spreadsheets, SFTP, exports</a:t>
            </a:r>
            <a:endParaRPr lang="en-US" sz="970" dirty="0"/>
          </a:p>
          <a:p>
            <a:pPr indent="0" marL="0">
              <a:buNone/>
            </a:pPr>
            <a:r>
              <a:rPr lang="en-US" sz="970" dirty="0">
                <a:solidFill>
                  <a:srgbClr val="283246"/>
                </a:solidFill>
                <a:latin typeface="Aptos" pitchFamily="34" charset="0"/>
                <a:ea typeface="Aptos" pitchFamily="34" charset="-122"/>
                <a:cs typeface="Aptos" pitchFamily="34" charset="-120"/>
              </a:rPr>
              <a:t>Risk: inconsistent conventions</a:t>
            </a:r>
            <a:endParaRPr lang="en-US" sz="97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File Ingestion Pattern</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Files are simple to exchange, but production ingestion must track what has already been processed.</a:t>
            </a:r>
            <a:endParaRPr lang="en-US" sz="1100" dirty="0"/>
          </a:p>
        </p:txBody>
      </p:sp>
      <p:sp>
        <p:nvSpPr>
          <p:cNvPr id="4" name="Shape 2"/>
          <p:cNvSpPr/>
          <p:nvPr/>
        </p:nvSpPr>
        <p:spPr>
          <a:xfrm>
            <a:off x="822960" y="1828800"/>
            <a:ext cx="2468880" cy="1143000"/>
          </a:xfrm>
          <a:prstGeom prst="roundRect">
            <a:avLst>
              <a:gd name="adj" fmla="val 3200"/>
            </a:avLst>
          </a:prstGeom>
          <a:solidFill>
            <a:srgbClr val="FFFFFF"/>
          </a:solidFill>
          <a:ln w="12700">
            <a:solidFill>
              <a:srgbClr val="3B6FF5"/>
            </a:solidFill>
            <a:prstDash val="solid"/>
          </a:ln>
        </p:spPr>
      </p:sp>
      <p:sp>
        <p:nvSpPr>
          <p:cNvPr id="5" name="Text 3"/>
          <p:cNvSpPr/>
          <p:nvPr/>
        </p:nvSpPr>
        <p:spPr>
          <a:xfrm>
            <a:off x="1005840" y="2221992"/>
            <a:ext cx="2057400" cy="219456"/>
          </a:xfrm>
          <a:prstGeom prst="rect">
            <a:avLst/>
          </a:prstGeom>
          <a:noFill/>
          <a:ln/>
        </p:spPr>
        <p:txBody>
          <a:bodyPr wrap="square" lIns="0" tIns="0" rIns="0" bIns="0" rtlCol="0" anchor="ctr"/>
          <a:lstStyle/>
          <a:p>
            <a:pPr indent="0" marL="0">
              <a:buNone/>
            </a:pPr>
            <a:r>
              <a:rPr lang="en-US" sz="950" dirty="0">
                <a:solidFill>
                  <a:srgbClr val="17233C"/>
                </a:solidFill>
                <a:latin typeface="Consolas" pitchFamily="34" charset="0"/>
                <a:ea typeface="Consolas" pitchFamily="34" charset="-122"/>
                <a:cs typeface="Consolas" pitchFamily="34" charset="-120"/>
              </a:rPr>
              <a:t>orders_001.json</a:t>
            </a:r>
            <a:endParaRPr lang="en-US" sz="950" dirty="0"/>
          </a:p>
        </p:txBody>
      </p:sp>
      <p:sp>
        <p:nvSpPr>
          <p:cNvPr id="6" name="Shape 4"/>
          <p:cNvSpPr/>
          <p:nvPr/>
        </p:nvSpPr>
        <p:spPr>
          <a:xfrm>
            <a:off x="969264" y="1975104"/>
            <a:ext cx="2468880" cy="1143000"/>
          </a:xfrm>
          <a:prstGeom prst="roundRect">
            <a:avLst>
              <a:gd name="adj" fmla="val 3200"/>
            </a:avLst>
          </a:prstGeom>
          <a:solidFill>
            <a:srgbClr val="FFFFFF"/>
          </a:solidFill>
          <a:ln w="12700">
            <a:solidFill>
              <a:srgbClr val="3B6FF5"/>
            </a:solidFill>
            <a:prstDash val="solid"/>
          </a:ln>
        </p:spPr>
      </p:sp>
      <p:sp>
        <p:nvSpPr>
          <p:cNvPr id="7" name="Text 5"/>
          <p:cNvSpPr/>
          <p:nvPr/>
        </p:nvSpPr>
        <p:spPr>
          <a:xfrm>
            <a:off x="1152144" y="2368296"/>
            <a:ext cx="2057400" cy="219456"/>
          </a:xfrm>
          <a:prstGeom prst="rect">
            <a:avLst/>
          </a:prstGeom>
          <a:noFill/>
          <a:ln/>
        </p:spPr>
        <p:txBody>
          <a:bodyPr wrap="square" lIns="0" tIns="0" rIns="0" bIns="0" rtlCol="0" anchor="ctr"/>
          <a:lstStyle/>
          <a:p>
            <a:pPr indent="0" marL="0">
              <a:buNone/>
            </a:pPr>
            <a:r>
              <a:rPr lang="en-US" sz="950" dirty="0">
                <a:solidFill>
                  <a:srgbClr val="17233C"/>
                </a:solidFill>
                <a:latin typeface="Consolas" pitchFamily="34" charset="0"/>
                <a:ea typeface="Consolas" pitchFamily="34" charset="-122"/>
                <a:cs typeface="Consolas" pitchFamily="34" charset="-120"/>
              </a:rPr>
              <a:t>orders_002.json</a:t>
            </a:r>
            <a:endParaRPr lang="en-US" sz="950" dirty="0"/>
          </a:p>
        </p:txBody>
      </p:sp>
      <p:sp>
        <p:nvSpPr>
          <p:cNvPr id="8" name="Shape 6"/>
          <p:cNvSpPr/>
          <p:nvPr/>
        </p:nvSpPr>
        <p:spPr>
          <a:xfrm>
            <a:off x="1115568" y="2121408"/>
            <a:ext cx="2468880" cy="1143000"/>
          </a:xfrm>
          <a:prstGeom prst="roundRect">
            <a:avLst>
              <a:gd name="adj" fmla="val 3200"/>
            </a:avLst>
          </a:prstGeom>
          <a:solidFill>
            <a:srgbClr val="FFFFFF"/>
          </a:solidFill>
          <a:ln w="12700">
            <a:solidFill>
              <a:srgbClr val="3B6FF5"/>
            </a:solidFill>
            <a:prstDash val="solid"/>
          </a:ln>
        </p:spPr>
      </p:sp>
      <p:sp>
        <p:nvSpPr>
          <p:cNvPr id="9" name="Text 7"/>
          <p:cNvSpPr/>
          <p:nvPr/>
        </p:nvSpPr>
        <p:spPr>
          <a:xfrm>
            <a:off x="1298448" y="2514600"/>
            <a:ext cx="2057400" cy="219456"/>
          </a:xfrm>
          <a:prstGeom prst="rect">
            <a:avLst/>
          </a:prstGeom>
          <a:noFill/>
          <a:ln/>
        </p:spPr>
        <p:txBody>
          <a:bodyPr wrap="square" lIns="0" tIns="0" rIns="0" bIns="0" rtlCol="0" anchor="ctr"/>
          <a:lstStyle/>
          <a:p>
            <a:pPr indent="0" marL="0">
              <a:buNone/>
            </a:pPr>
            <a:r>
              <a:rPr lang="en-US" sz="950" dirty="0">
                <a:solidFill>
                  <a:srgbClr val="17233C"/>
                </a:solidFill>
                <a:latin typeface="Consolas" pitchFamily="34" charset="0"/>
                <a:ea typeface="Consolas" pitchFamily="34" charset="-122"/>
                <a:cs typeface="Consolas" pitchFamily="34" charset="-120"/>
              </a:rPr>
              <a:t>orders_003.json</a:t>
            </a:r>
            <a:endParaRPr lang="en-US" sz="950" dirty="0"/>
          </a:p>
        </p:txBody>
      </p:sp>
      <p:sp>
        <p:nvSpPr>
          <p:cNvPr id="10" name="Shape 8"/>
          <p:cNvSpPr/>
          <p:nvPr/>
        </p:nvSpPr>
        <p:spPr>
          <a:xfrm>
            <a:off x="3840480" y="2606040"/>
            <a:ext cx="1645920" cy="0"/>
          </a:xfrm>
          <a:prstGeom prst="line">
            <a:avLst/>
          </a:prstGeom>
          <a:noFill/>
          <a:ln w="12700">
            <a:solidFill>
              <a:srgbClr val="687386"/>
            </a:solidFill>
            <a:prstDash val="solid"/>
            <a:headEnd type="none"/>
            <a:tailEnd type="triangle"/>
          </a:ln>
        </p:spPr>
      </p:sp>
      <p:sp>
        <p:nvSpPr>
          <p:cNvPr id="11" name="Shape 9"/>
          <p:cNvSpPr/>
          <p:nvPr/>
        </p:nvSpPr>
        <p:spPr>
          <a:xfrm>
            <a:off x="5623560" y="1691640"/>
            <a:ext cx="2331720" cy="1920240"/>
          </a:xfrm>
          <a:prstGeom prst="roundRect">
            <a:avLst>
              <a:gd name="adj" fmla="val 3333"/>
            </a:avLst>
          </a:prstGeom>
          <a:solidFill>
            <a:srgbClr val="FFFFFF"/>
          </a:solidFill>
          <a:ln w="12700">
            <a:solidFill>
              <a:srgbClr val="DDE2EA"/>
            </a:solidFill>
            <a:prstDash val="solid"/>
          </a:ln>
        </p:spPr>
      </p:sp>
      <p:sp>
        <p:nvSpPr>
          <p:cNvPr id="12" name="Shape 10"/>
          <p:cNvSpPr/>
          <p:nvPr/>
        </p:nvSpPr>
        <p:spPr>
          <a:xfrm>
            <a:off x="5623560" y="1691640"/>
            <a:ext cx="50292" cy="1920240"/>
          </a:xfrm>
          <a:prstGeom prst="rect">
            <a:avLst/>
          </a:prstGeom>
          <a:solidFill>
            <a:srgbClr val="00A972"/>
          </a:solidFill>
          <a:ln w="12700">
            <a:solidFill>
              <a:srgbClr val="00A972"/>
            </a:solidFill>
            <a:prstDash val="solid"/>
          </a:ln>
        </p:spPr>
      </p:sp>
      <p:sp>
        <p:nvSpPr>
          <p:cNvPr id="13" name="Text 11"/>
          <p:cNvSpPr/>
          <p:nvPr/>
        </p:nvSpPr>
        <p:spPr>
          <a:xfrm>
            <a:off x="5824728" y="1911096"/>
            <a:ext cx="196596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Incremental discovery</a:t>
            </a:r>
            <a:endParaRPr lang="en-US" sz="1300" dirty="0"/>
          </a:p>
        </p:txBody>
      </p:sp>
      <p:sp>
        <p:nvSpPr>
          <p:cNvPr id="14" name="Text 12"/>
          <p:cNvSpPr/>
          <p:nvPr/>
        </p:nvSpPr>
        <p:spPr>
          <a:xfrm>
            <a:off x="5824728" y="2350008"/>
            <a:ext cx="1947672" cy="1097280"/>
          </a:xfrm>
          <a:prstGeom prst="rect">
            <a:avLst/>
          </a:prstGeom>
          <a:noFill/>
          <a:ln/>
        </p:spPr>
        <p:txBody>
          <a:bodyPr wrap="square" lIns="254" tIns="254" rIns="254" bIns="254" rtlCol="0" anchor="t">
            <a:normAutofit/>
          </a:bodyPr>
          <a:lstStyle/>
          <a:p>
            <a:pPr indent="0" marL="0">
              <a:buNone/>
            </a:pPr>
            <a:r>
              <a:rPr lang="en-US" sz="950" dirty="0">
                <a:solidFill>
                  <a:srgbClr val="283246"/>
                </a:solidFill>
                <a:latin typeface="Aptos" pitchFamily="34" charset="0"/>
                <a:ea typeface="Aptos" pitchFamily="34" charset="-122"/>
                <a:cs typeface="Aptos" pitchFamily="34" charset="-120"/>
              </a:rPr>
              <a:t>Detect only new files; checkpoint progress; avoid duplicate ingestion.</a:t>
            </a:r>
            <a:endParaRPr lang="en-US" sz="950" dirty="0"/>
          </a:p>
        </p:txBody>
      </p:sp>
      <p:sp>
        <p:nvSpPr>
          <p:cNvPr id="15" name="Shape 13"/>
          <p:cNvSpPr/>
          <p:nvPr/>
        </p:nvSpPr>
        <p:spPr>
          <a:xfrm>
            <a:off x="8046720" y="2606040"/>
            <a:ext cx="594360" cy="0"/>
          </a:xfrm>
          <a:prstGeom prst="line">
            <a:avLst/>
          </a:prstGeom>
          <a:noFill/>
          <a:ln w="12700">
            <a:solidFill>
              <a:srgbClr val="687386"/>
            </a:solidFill>
            <a:prstDash val="solid"/>
            <a:headEnd type="none"/>
            <a:tailEnd type="triangle"/>
          </a:ln>
        </p:spPr>
      </p:sp>
      <p:sp>
        <p:nvSpPr>
          <p:cNvPr id="16" name="Shape 14"/>
          <p:cNvSpPr/>
          <p:nvPr/>
        </p:nvSpPr>
        <p:spPr>
          <a:xfrm>
            <a:off x="8732520" y="1691640"/>
            <a:ext cx="2423160" cy="1920240"/>
          </a:xfrm>
          <a:prstGeom prst="roundRect">
            <a:avLst>
              <a:gd name="adj" fmla="val 3333"/>
            </a:avLst>
          </a:prstGeom>
          <a:solidFill>
            <a:srgbClr val="FFFFFF"/>
          </a:solidFill>
          <a:ln w="12700">
            <a:solidFill>
              <a:srgbClr val="DDE2EA"/>
            </a:solidFill>
            <a:prstDash val="solid"/>
          </a:ln>
        </p:spPr>
      </p:sp>
      <p:sp>
        <p:nvSpPr>
          <p:cNvPr id="17" name="Shape 15"/>
          <p:cNvSpPr/>
          <p:nvPr/>
        </p:nvSpPr>
        <p:spPr>
          <a:xfrm>
            <a:off x="8732520" y="1691640"/>
            <a:ext cx="50292" cy="1920240"/>
          </a:xfrm>
          <a:prstGeom prst="rect">
            <a:avLst/>
          </a:prstGeom>
          <a:solidFill>
            <a:srgbClr val="F3A712"/>
          </a:solidFill>
          <a:ln w="12700">
            <a:solidFill>
              <a:srgbClr val="F3A712"/>
            </a:solidFill>
            <a:prstDash val="solid"/>
          </a:ln>
        </p:spPr>
      </p:sp>
      <p:sp>
        <p:nvSpPr>
          <p:cNvPr id="18" name="Text 16"/>
          <p:cNvSpPr/>
          <p:nvPr/>
        </p:nvSpPr>
        <p:spPr>
          <a:xfrm>
            <a:off x="8933688" y="1911096"/>
            <a:ext cx="205740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Bronze Delta table</a:t>
            </a:r>
            <a:endParaRPr lang="en-US" sz="1300" dirty="0"/>
          </a:p>
        </p:txBody>
      </p:sp>
      <p:sp>
        <p:nvSpPr>
          <p:cNvPr id="19" name="Text 17"/>
          <p:cNvSpPr/>
          <p:nvPr/>
        </p:nvSpPr>
        <p:spPr>
          <a:xfrm>
            <a:off x="8933688" y="2350008"/>
            <a:ext cx="2039112" cy="1097280"/>
          </a:xfrm>
          <a:prstGeom prst="rect">
            <a:avLst/>
          </a:prstGeom>
          <a:noFill/>
          <a:ln/>
        </p:spPr>
        <p:txBody>
          <a:bodyPr wrap="square" lIns="254" tIns="254" rIns="254" bIns="254" rtlCol="0" anchor="t">
            <a:normAutofit/>
          </a:bodyPr>
          <a:lstStyle/>
          <a:p>
            <a:pPr indent="0" marL="0">
              <a:buNone/>
            </a:pPr>
            <a:r>
              <a:rPr lang="en-US" sz="950" dirty="0">
                <a:solidFill>
                  <a:srgbClr val="283246"/>
                </a:solidFill>
                <a:latin typeface="Aptos" pitchFamily="34" charset="0"/>
                <a:ea typeface="Aptos" pitchFamily="34" charset="-122"/>
                <a:cs typeface="Aptos" pitchFamily="34" charset="-120"/>
              </a:rPr>
              <a:t>Persist raw content + metadata for replay and audit.</a:t>
            </a:r>
            <a:endParaRPr lang="en-US" sz="950" dirty="0"/>
          </a:p>
        </p:txBody>
      </p:sp>
      <p:sp>
        <p:nvSpPr>
          <p:cNvPr id="20" name="Shape 18"/>
          <p:cNvSpPr/>
          <p:nvPr/>
        </p:nvSpPr>
        <p:spPr>
          <a:xfrm>
            <a:off x="1188720" y="4754880"/>
            <a:ext cx="9692640" cy="713232"/>
          </a:xfrm>
          <a:prstGeom prst="roundRect">
            <a:avLst>
              <a:gd name="adj" fmla="val 7692"/>
            </a:avLst>
          </a:prstGeom>
          <a:solidFill>
            <a:srgbClr val="EEF7FF"/>
          </a:solidFill>
          <a:ln w="12700">
            <a:solidFill>
              <a:srgbClr val="EEF7FF"/>
            </a:solidFill>
            <a:prstDash val="solid"/>
          </a:ln>
        </p:spPr>
      </p:sp>
      <p:sp>
        <p:nvSpPr>
          <p:cNvPr id="21" name="Text 19"/>
          <p:cNvSpPr/>
          <p:nvPr/>
        </p:nvSpPr>
        <p:spPr>
          <a:xfrm>
            <a:off x="1353312" y="4873752"/>
            <a:ext cx="9363456" cy="484632"/>
          </a:xfrm>
          <a:prstGeom prst="rect">
            <a:avLst/>
          </a:prstGeom>
          <a:noFill/>
          <a:ln/>
        </p:spPr>
        <p:txBody>
          <a:bodyPr wrap="square" lIns="0" tIns="0" rIns="0" bIns="0" rtlCol="0" anchor="ctr">
            <a:normAutofit/>
          </a:bodyPr>
          <a:lstStyle/>
          <a:p>
            <a:pPr indent="0" marL="0">
              <a:buNone/>
            </a:pPr>
            <a:r>
              <a:rPr lang="en-US" sz="1100" b="1" dirty="0">
                <a:solidFill>
                  <a:srgbClr val="3B6FF5"/>
                </a:solidFill>
                <a:latin typeface="Aptos" pitchFamily="34" charset="0"/>
                <a:ea typeface="Aptos" pitchFamily="34" charset="-122"/>
                <a:cs typeface="Aptos" pitchFamily="34" charset="-120"/>
              </a:rPr>
              <a:t>Databricks mapping: Auto Loader / STREAM read_files(...) → streaming table</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Database Ingestion Pattern</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Operational databases contain mutable state—rows can be inserted, updated, and deleted.</a:t>
            </a:r>
            <a:endParaRPr lang="en-US" sz="1100" dirty="0"/>
          </a:p>
        </p:txBody>
      </p:sp>
      <p:sp>
        <p:nvSpPr>
          <p:cNvPr id="4" name="Shape 2"/>
          <p:cNvSpPr/>
          <p:nvPr/>
        </p:nvSpPr>
        <p:spPr>
          <a:xfrm>
            <a:off x="731520" y="1600200"/>
            <a:ext cx="2926080" cy="2971800"/>
          </a:xfrm>
          <a:prstGeom prst="roundRect">
            <a:avLst>
              <a:gd name="adj" fmla="val 2188"/>
            </a:avLst>
          </a:prstGeom>
          <a:solidFill>
            <a:srgbClr val="FFFFFF"/>
          </a:solidFill>
          <a:ln w="12700">
            <a:solidFill>
              <a:srgbClr val="DDE2EA"/>
            </a:solidFill>
            <a:prstDash val="solid"/>
          </a:ln>
        </p:spPr>
      </p:sp>
      <p:sp>
        <p:nvSpPr>
          <p:cNvPr id="5" name="Shape 3"/>
          <p:cNvSpPr/>
          <p:nvPr/>
        </p:nvSpPr>
        <p:spPr>
          <a:xfrm>
            <a:off x="731520" y="1600200"/>
            <a:ext cx="50292" cy="2971800"/>
          </a:xfrm>
          <a:prstGeom prst="rect">
            <a:avLst/>
          </a:prstGeom>
          <a:solidFill>
            <a:srgbClr val="3B6FF5"/>
          </a:solidFill>
          <a:ln w="12700">
            <a:solidFill>
              <a:srgbClr val="3B6FF5"/>
            </a:solidFill>
            <a:prstDash val="solid"/>
          </a:ln>
        </p:spPr>
      </p:sp>
      <p:sp>
        <p:nvSpPr>
          <p:cNvPr id="6" name="Shape 4"/>
          <p:cNvSpPr/>
          <p:nvPr/>
        </p:nvSpPr>
        <p:spPr>
          <a:xfrm>
            <a:off x="932688" y="178308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932688" y="184708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OLTP</a:t>
            </a:r>
            <a:endParaRPr lang="en-US" sz="730" dirty="0"/>
          </a:p>
        </p:txBody>
      </p:sp>
      <p:sp>
        <p:nvSpPr>
          <p:cNvPr id="8" name="Text 6"/>
          <p:cNvSpPr/>
          <p:nvPr/>
        </p:nvSpPr>
        <p:spPr>
          <a:xfrm>
            <a:off x="932688" y="2185416"/>
            <a:ext cx="256032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Operational DB</a:t>
            </a:r>
            <a:endParaRPr lang="en-US" sz="1500" dirty="0"/>
          </a:p>
        </p:txBody>
      </p:sp>
      <p:sp>
        <p:nvSpPr>
          <p:cNvPr id="9" name="Text 7"/>
          <p:cNvSpPr/>
          <p:nvPr/>
        </p:nvSpPr>
        <p:spPr>
          <a:xfrm>
            <a:off x="932688" y="2560320"/>
            <a:ext cx="2542032" cy="184708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Orders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Customers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Products</a:t>
            </a:r>
            <a:endParaRPr lang="en-US" sz="1100" dirty="0"/>
          </a:p>
          <a:p>
            <a:pPr indent="0" marL="0">
              <a:buNone/>
            </a:pP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Optimised for transactions—not analytical scans.</a:t>
            </a:r>
            <a:endParaRPr lang="en-US" sz="1100" dirty="0"/>
          </a:p>
        </p:txBody>
      </p:sp>
      <p:sp>
        <p:nvSpPr>
          <p:cNvPr id="10" name="Shape 8"/>
          <p:cNvSpPr/>
          <p:nvPr/>
        </p:nvSpPr>
        <p:spPr>
          <a:xfrm>
            <a:off x="3794760" y="2423160"/>
            <a:ext cx="1828800" cy="0"/>
          </a:xfrm>
          <a:prstGeom prst="line">
            <a:avLst/>
          </a:prstGeom>
          <a:noFill/>
          <a:ln w="12700">
            <a:solidFill>
              <a:srgbClr val="687386"/>
            </a:solidFill>
            <a:prstDash val="solid"/>
            <a:headEnd type="none"/>
            <a:tailEnd type="triangle"/>
          </a:ln>
        </p:spPr>
      </p:sp>
      <p:sp>
        <p:nvSpPr>
          <p:cNvPr id="11" name="Shape 9"/>
          <p:cNvSpPr/>
          <p:nvPr/>
        </p:nvSpPr>
        <p:spPr>
          <a:xfrm>
            <a:off x="4160520" y="1847088"/>
            <a:ext cx="1188720" cy="384048"/>
          </a:xfrm>
          <a:prstGeom prst="roundRect">
            <a:avLst>
              <a:gd name="adj" fmla="val 21429"/>
            </a:avLst>
          </a:prstGeom>
          <a:solidFill>
            <a:srgbClr val="FFF0ED"/>
          </a:solidFill>
          <a:ln w="12700">
            <a:solidFill>
              <a:srgbClr val="FFF0ED"/>
            </a:solidFill>
            <a:prstDash val="solid"/>
          </a:ln>
        </p:spPr>
      </p:sp>
      <p:sp>
        <p:nvSpPr>
          <p:cNvPr id="12" name="Text 10"/>
          <p:cNvSpPr/>
          <p:nvPr/>
        </p:nvSpPr>
        <p:spPr>
          <a:xfrm>
            <a:off x="4206240" y="1901952"/>
            <a:ext cx="1097280" cy="274320"/>
          </a:xfrm>
          <a:prstGeom prst="rect">
            <a:avLst/>
          </a:prstGeom>
          <a:noFill/>
          <a:ln/>
        </p:spPr>
        <p:txBody>
          <a:bodyPr wrap="square" lIns="0" tIns="0" rIns="0" bIns="0" rtlCol="0" anchor="ctr">
            <a:normAutofit/>
          </a:bodyPr>
          <a:lstStyle/>
          <a:p>
            <a:pPr algn="ctr" indent="0" marL="0">
              <a:buNone/>
            </a:pPr>
            <a:r>
              <a:rPr lang="en-US" sz="880" b="1" dirty="0">
                <a:solidFill>
                  <a:srgbClr val="FF3621"/>
                </a:solidFill>
                <a:latin typeface="Aptos" pitchFamily="34" charset="0"/>
                <a:ea typeface="Aptos" pitchFamily="34" charset="-122"/>
                <a:cs typeface="Aptos" pitchFamily="34" charset="-120"/>
              </a:rPr>
              <a:t>CDC / SNAPSHOT</a:t>
            </a:r>
            <a:endParaRPr lang="en-US" sz="880" dirty="0"/>
          </a:p>
        </p:txBody>
      </p:sp>
      <p:sp>
        <p:nvSpPr>
          <p:cNvPr id="13" name="Shape 11"/>
          <p:cNvSpPr/>
          <p:nvPr/>
        </p:nvSpPr>
        <p:spPr>
          <a:xfrm>
            <a:off x="5760720" y="1600200"/>
            <a:ext cx="2423160" cy="2971800"/>
          </a:xfrm>
          <a:prstGeom prst="roundRect">
            <a:avLst>
              <a:gd name="adj" fmla="val 2642"/>
            </a:avLst>
          </a:prstGeom>
          <a:solidFill>
            <a:srgbClr val="FFFFFF"/>
          </a:solidFill>
          <a:ln w="12700">
            <a:solidFill>
              <a:srgbClr val="DDE2EA"/>
            </a:solidFill>
            <a:prstDash val="solid"/>
          </a:ln>
        </p:spPr>
      </p:sp>
      <p:sp>
        <p:nvSpPr>
          <p:cNvPr id="14" name="Shape 12"/>
          <p:cNvSpPr/>
          <p:nvPr/>
        </p:nvSpPr>
        <p:spPr>
          <a:xfrm>
            <a:off x="5760720" y="1600200"/>
            <a:ext cx="50292" cy="2971800"/>
          </a:xfrm>
          <a:prstGeom prst="rect">
            <a:avLst/>
          </a:prstGeom>
          <a:solidFill>
            <a:srgbClr val="FF3621"/>
          </a:solidFill>
          <a:ln w="12700">
            <a:solidFill>
              <a:srgbClr val="FF3621"/>
            </a:solidFill>
            <a:prstDash val="solid"/>
          </a:ln>
        </p:spPr>
      </p:sp>
      <p:sp>
        <p:nvSpPr>
          <p:cNvPr id="15" name="Shape 13"/>
          <p:cNvSpPr/>
          <p:nvPr/>
        </p:nvSpPr>
        <p:spPr>
          <a:xfrm>
            <a:off x="5961888" y="1783080"/>
            <a:ext cx="566928" cy="310896"/>
          </a:xfrm>
          <a:prstGeom prst="roundRect">
            <a:avLst>
              <a:gd name="adj" fmla="val 14706"/>
            </a:avLst>
          </a:prstGeom>
          <a:solidFill>
            <a:srgbClr val="FFF0ED"/>
          </a:solidFill>
          <a:ln w="12700">
            <a:solidFill>
              <a:srgbClr val="FFF0ED"/>
            </a:solidFill>
            <a:prstDash val="solid"/>
          </a:ln>
        </p:spPr>
      </p:sp>
      <p:sp>
        <p:nvSpPr>
          <p:cNvPr id="16" name="Text 14"/>
          <p:cNvSpPr/>
          <p:nvPr/>
        </p:nvSpPr>
        <p:spPr>
          <a:xfrm>
            <a:off x="5961888" y="184708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CHANGES</a:t>
            </a:r>
            <a:endParaRPr lang="en-US" sz="730" dirty="0"/>
          </a:p>
        </p:txBody>
      </p:sp>
      <p:sp>
        <p:nvSpPr>
          <p:cNvPr id="17" name="Text 15"/>
          <p:cNvSpPr/>
          <p:nvPr/>
        </p:nvSpPr>
        <p:spPr>
          <a:xfrm>
            <a:off x="5961888" y="2185416"/>
            <a:ext cx="2057400"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Change stream</a:t>
            </a:r>
            <a:endParaRPr lang="en-US" sz="1400" dirty="0"/>
          </a:p>
        </p:txBody>
      </p:sp>
      <p:sp>
        <p:nvSpPr>
          <p:cNvPr id="18" name="Text 16"/>
          <p:cNvSpPr/>
          <p:nvPr/>
        </p:nvSpPr>
        <p:spPr>
          <a:xfrm>
            <a:off x="5961888" y="2560320"/>
            <a:ext cx="2039112" cy="184708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INSERT</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UPDATE</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DELETE</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sequence / timestamp</a:t>
            </a:r>
            <a:endParaRPr lang="en-US" sz="1100" dirty="0"/>
          </a:p>
        </p:txBody>
      </p:sp>
      <p:sp>
        <p:nvSpPr>
          <p:cNvPr id="19" name="Shape 17"/>
          <p:cNvSpPr/>
          <p:nvPr/>
        </p:nvSpPr>
        <p:spPr>
          <a:xfrm>
            <a:off x="8275320" y="2423160"/>
            <a:ext cx="548640" cy="0"/>
          </a:xfrm>
          <a:prstGeom prst="line">
            <a:avLst/>
          </a:prstGeom>
          <a:noFill/>
          <a:ln w="12700">
            <a:solidFill>
              <a:srgbClr val="687386"/>
            </a:solidFill>
            <a:prstDash val="solid"/>
            <a:headEnd type="none"/>
            <a:tailEnd type="triangle"/>
          </a:ln>
        </p:spPr>
      </p:sp>
      <p:sp>
        <p:nvSpPr>
          <p:cNvPr id="20" name="Shape 18"/>
          <p:cNvSpPr/>
          <p:nvPr/>
        </p:nvSpPr>
        <p:spPr>
          <a:xfrm>
            <a:off x="8961120" y="1600200"/>
            <a:ext cx="2377440" cy="2971800"/>
          </a:xfrm>
          <a:prstGeom prst="roundRect">
            <a:avLst>
              <a:gd name="adj" fmla="val 2692"/>
            </a:avLst>
          </a:prstGeom>
          <a:solidFill>
            <a:srgbClr val="FFFFFF"/>
          </a:solidFill>
          <a:ln w="12700">
            <a:solidFill>
              <a:srgbClr val="DDE2EA"/>
            </a:solidFill>
            <a:prstDash val="solid"/>
          </a:ln>
        </p:spPr>
      </p:sp>
      <p:sp>
        <p:nvSpPr>
          <p:cNvPr id="21" name="Shape 19"/>
          <p:cNvSpPr/>
          <p:nvPr/>
        </p:nvSpPr>
        <p:spPr>
          <a:xfrm>
            <a:off x="8961120" y="1600200"/>
            <a:ext cx="50292" cy="2971800"/>
          </a:xfrm>
          <a:prstGeom prst="rect">
            <a:avLst/>
          </a:prstGeom>
          <a:solidFill>
            <a:srgbClr val="00A972"/>
          </a:solidFill>
          <a:ln w="12700">
            <a:solidFill>
              <a:srgbClr val="00A972"/>
            </a:solidFill>
            <a:prstDash val="solid"/>
          </a:ln>
        </p:spPr>
      </p:sp>
      <p:sp>
        <p:nvSpPr>
          <p:cNvPr id="22" name="Shape 20"/>
          <p:cNvSpPr/>
          <p:nvPr/>
        </p:nvSpPr>
        <p:spPr>
          <a:xfrm>
            <a:off x="9162288" y="1783080"/>
            <a:ext cx="566928" cy="310896"/>
          </a:xfrm>
          <a:prstGeom prst="roundRect">
            <a:avLst>
              <a:gd name="adj" fmla="val 14706"/>
            </a:avLst>
          </a:prstGeom>
          <a:solidFill>
            <a:srgbClr val="E9F8F3"/>
          </a:solidFill>
          <a:ln w="12700">
            <a:solidFill>
              <a:srgbClr val="E9F8F3"/>
            </a:solidFill>
            <a:prstDash val="solid"/>
          </a:ln>
        </p:spPr>
      </p:sp>
      <p:sp>
        <p:nvSpPr>
          <p:cNvPr id="23" name="Text 21"/>
          <p:cNvSpPr/>
          <p:nvPr/>
        </p:nvSpPr>
        <p:spPr>
          <a:xfrm>
            <a:off x="9162288" y="184708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TARGET</a:t>
            </a:r>
            <a:endParaRPr lang="en-US" sz="730" dirty="0"/>
          </a:p>
        </p:txBody>
      </p:sp>
      <p:sp>
        <p:nvSpPr>
          <p:cNvPr id="24" name="Text 22"/>
          <p:cNvSpPr/>
          <p:nvPr/>
        </p:nvSpPr>
        <p:spPr>
          <a:xfrm>
            <a:off x="9162288" y="2185416"/>
            <a:ext cx="2011680"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Analytical copy</a:t>
            </a:r>
            <a:endParaRPr lang="en-US" sz="1400" dirty="0"/>
          </a:p>
        </p:txBody>
      </p:sp>
      <p:sp>
        <p:nvSpPr>
          <p:cNvPr id="25" name="Text 23"/>
          <p:cNvSpPr/>
          <p:nvPr/>
        </p:nvSpPr>
        <p:spPr>
          <a:xfrm>
            <a:off x="9162288" y="2560320"/>
            <a:ext cx="1993392" cy="184708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Current state</a:t>
            </a: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 optional history</a:t>
            </a: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 ingestion metadata</a:t>
            </a:r>
            <a:endParaRPr lang="en-US" sz="1050" dirty="0"/>
          </a:p>
        </p:txBody>
      </p:sp>
      <p:sp>
        <p:nvSpPr>
          <p:cNvPr id="26" name="Shape 24"/>
          <p:cNvSpPr/>
          <p:nvPr/>
        </p:nvSpPr>
        <p:spPr>
          <a:xfrm>
            <a:off x="1325880" y="4983480"/>
            <a:ext cx="9601200" cy="640080"/>
          </a:xfrm>
          <a:prstGeom prst="roundRect">
            <a:avLst>
              <a:gd name="adj" fmla="val 8571"/>
            </a:avLst>
          </a:prstGeom>
          <a:solidFill>
            <a:srgbClr val="FFF7E6"/>
          </a:solidFill>
          <a:ln w="12700">
            <a:solidFill>
              <a:srgbClr val="FFF7E6"/>
            </a:solidFill>
            <a:prstDash val="solid"/>
          </a:ln>
        </p:spPr>
      </p:sp>
      <p:sp>
        <p:nvSpPr>
          <p:cNvPr id="27" name="Text 25"/>
          <p:cNvSpPr/>
          <p:nvPr/>
        </p:nvSpPr>
        <p:spPr>
          <a:xfrm>
            <a:off x="1490472" y="5102352"/>
            <a:ext cx="9272016" cy="411480"/>
          </a:xfrm>
          <a:prstGeom prst="rect">
            <a:avLst/>
          </a:prstGeom>
          <a:noFill/>
          <a:ln/>
        </p:spPr>
        <p:txBody>
          <a:bodyPr wrap="square" lIns="0" tIns="0" rIns="0" bIns="0" rtlCol="0" anchor="ctr">
            <a:normAutofit/>
          </a:bodyPr>
          <a:lstStyle/>
          <a:p>
            <a:pPr indent="0" marL="0">
              <a:buNone/>
            </a:pPr>
            <a:r>
              <a:rPr lang="en-US" sz="1100" b="1" dirty="0">
                <a:solidFill>
                  <a:srgbClr val="F3A712"/>
                </a:solidFill>
                <a:latin typeface="Aptos" pitchFamily="34" charset="0"/>
                <a:ea typeface="Aptos" pitchFamily="34" charset="-122"/>
                <a:cs typeface="Aptos" pitchFamily="34" charset="-120"/>
              </a:rPr>
              <a:t>Avoid repeatedly running heavy full-table extracts against systems that run the business.</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API Ingestion Pattern</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APIs add protocol and service constraints on top of data constraints.</a:t>
            </a:r>
            <a:endParaRPr lang="en-US" sz="1100" dirty="0"/>
          </a:p>
        </p:txBody>
      </p:sp>
      <p:sp>
        <p:nvSpPr>
          <p:cNvPr id="4" name="Shape 2"/>
          <p:cNvSpPr/>
          <p:nvPr/>
        </p:nvSpPr>
        <p:spPr>
          <a:xfrm>
            <a:off x="640080" y="1417320"/>
            <a:ext cx="2926080" cy="896112"/>
          </a:xfrm>
          <a:prstGeom prst="roundRect">
            <a:avLst>
              <a:gd name="adj" fmla="val 7143"/>
            </a:avLst>
          </a:prstGeom>
          <a:solidFill>
            <a:srgbClr val="FFFFFF"/>
          </a:solidFill>
          <a:ln w="12700">
            <a:solidFill>
              <a:srgbClr val="DDE2EA"/>
            </a:solidFill>
            <a:prstDash val="solid"/>
          </a:ln>
        </p:spPr>
      </p:sp>
      <p:sp>
        <p:nvSpPr>
          <p:cNvPr id="5" name="Shape 3"/>
          <p:cNvSpPr/>
          <p:nvPr/>
        </p:nvSpPr>
        <p:spPr>
          <a:xfrm>
            <a:off x="640080" y="1417320"/>
            <a:ext cx="50292" cy="896112"/>
          </a:xfrm>
          <a:prstGeom prst="rect">
            <a:avLst/>
          </a:prstGeom>
          <a:solidFill>
            <a:srgbClr val="3B6FF5"/>
          </a:solidFill>
          <a:ln w="12700">
            <a:solidFill>
              <a:srgbClr val="3B6FF5"/>
            </a:solidFill>
            <a:prstDash val="solid"/>
          </a:ln>
        </p:spPr>
      </p:sp>
      <p:sp>
        <p:nvSpPr>
          <p:cNvPr id="6" name="Text 4"/>
          <p:cNvSpPr/>
          <p:nvPr/>
        </p:nvSpPr>
        <p:spPr>
          <a:xfrm>
            <a:off x="841248" y="1636776"/>
            <a:ext cx="2560320" cy="347472"/>
          </a:xfrm>
          <a:prstGeom prst="rect">
            <a:avLst/>
          </a:prstGeom>
          <a:noFill/>
          <a:ln/>
        </p:spPr>
        <p:txBody>
          <a:bodyPr wrap="square" lIns="0" tIns="0" rIns="0" bIns="0" rtlCol="0" anchor="ctr">
            <a:normAutofit/>
          </a:bodyPr>
          <a:lstStyle/>
          <a:p>
            <a:pPr indent="0" marL="0">
              <a:buNone/>
            </a:pPr>
            <a:r>
              <a:rPr lang="en-US" sz="1180" b="1" dirty="0">
                <a:solidFill>
                  <a:srgbClr val="17233C"/>
                </a:solidFill>
                <a:latin typeface="Aptos Display" pitchFamily="34" charset="0"/>
                <a:ea typeface="Aptos Display" pitchFamily="34" charset="-122"/>
                <a:cs typeface="Aptos Display" pitchFamily="34" charset="-120"/>
              </a:rPr>
              <a:t>Authentication</a:t>
            </a:r>
            <a:endParaRPr lang="en-US" sz="1180" dirty="0"/>
          </a:p>
        </p:txBody>
      </p:sp>
      <p:sp>
        <p:nvSpPr>
          <p:cNvPr id="7" name="Text 5"/>
          <p:cNvSpPr/>
          <p:nvPr/>
        </p:nvSpPr>
        <p:spPr>
          <a:xfrm>
            <a:off x="841248" y="2075688"/>
            <a:ext cx="2542032" cy="73152"/>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Tokens / secrets / OAuth</a:t>
            </a:r>
            <a:endParaRPr lang="en-US" sz="880" dirty="0"/>
          </a:p>
        </p:txBody>
      </p:sp>
      <p:sp>
        <p:nvSpPr>
          <p:cNvPr id="8" name="Shape 6"/>
          <p:cNvSpPr/>
          <p:nvPr/>
        </p:nvSpPr>
        <p:spPr>
          <a:xfrm>
            <a:off x="640080" y="2514600"/>
            <a:ext cx="2926080" cy="896112"/>
          </a:xfrm>
          <a:prstGeom prst="roundRect">
            <a:avLst>
              <a:gd name="adj" fmla="val 7143"/>
            </a:avLst>
          </a:prstGeom>
          <a:solidFill>
            <a:srgbClr val="FFFFFF"/>
          </a:solidFill>
          <a:ln w="12700">
            <a:solidFill>
              <a:srgbClr val="DDE2EA"/>
            </a:solidFill>
            <a:prstDash val="solid"/>
          </a:ln>
        </p:spPr>
      </p:sp>
      <p:sp>
        <p:nvSpPr>
          <p:cNvPr id="9" name="Shape 7"/>
          <p:cNvSpPr/>
          <p:nvPr/>
        </p:nvSpPr>
        <p:spPr>
          <a:xfrm>
            <a:off x="640080" y="2514600"/>
            <a:ext cx="50292" cy="896112"/>
          </a:xfrm>
          <a:prstGeom prst="rect">
            <a:avLst/>
          </a:prstGeom>
          <a:solidFill>
            <a:srgbClr val="00A972"/>
          </a:solidFill>
          <a:ln w="12700">
            <a:solidFill>
              <a:srgbClr val="00A972"/>
            </a:solidFill>
            <a:prstDash val="solid"/>
          </a:ln>
        </p:spPr>
      </p:sp>
      <p:sp>
        <p:nvSpPr>
          <p:cNvPr id="10" name="Text 8"/>
          <p:cNvSpPr/>
          <p:nvPr/>
        </p:nvSpPr>
        <p:spPr>
          <a:xfrm>
            <a:off x="841248" y="2734056"/>
            <a:ext cx="2560320" cy="347472"/>
          </a:xfrm>
          <a:prstGeom prst="rect">
            <a:avLst/>
          </a:prstGeom>
          <a:noFill/>
          <a:ln/>
        </p:spPr>
        <p:txBody>
          <a:bodyPr wrap="square" lIns="0" tIns="0" rIns="0" bIns="0" rtlCol="0" anchor="ctr">
            <a:normAutofit/>
          </a:bodyPr>
          <a:lstStyle/>
          <a:p>
            <a:pPr indent="0" marL="0">
              <a:buNone/>
            </a:pPr>
            <a:r>
              <a:rPr lang="en-US" sz="1180" b="1" dirty="0">
                <a:solidFill>
                  <a:srgbClr val="17233C"/>
                </a:solidFill>
                <a:latin typeface="Aptos Display" pitchFamily="34" charset="0"/>
                <a:ea typeface="Aptos Display" pitchFamily="34" charset="-122"/>
                <a:cs typeface="Aptos Display" pitchFamily="34" charset="-120"/>
              </a:rPr>
              <a:t>Pagination</a:t>
            </a:r>
            <a:endParaRPr lang="en-US" sz="1180" dirty="0"/>
          </a:p>
        </p:txBody>
      </p:sp>
      <p:sp>
        <p:nvSpPr>
          <p:cNvPr id="11" name="Text 9"/>
          <p:cNvSpPr/>
          <p:nvPr/>
        </p:nvSpPr>
        <p:spPr>
          <a:xfrm>
            <a:off x="841248" y="3172968"/>
            <a:ext cx="2542032" cy="73152"/>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How to request all records</a:t>
            </a:r>
            <a:endParaRPr lang="en-US" sz="880" dirty="0"/>
          </a:p>
        </p:txBody>
      </p:sp>
      <p:sp>
        <p:nvSpPr>
          <p:cNvPr id="12" name="Shape 10"/>
          <p:cNvSpPr/>
          <p:nvPr/>
        </p:nvSpPr>
        <p:spPr>
          <a:xfrm>
            <a:off x="640080" y="3611880"/>
            <a:ext cx="2926080" cy="896112"/>
          </a:xfrm>
          <a:prstGeom prst="roundRect">
            <a:avLst>
              <a:gd name="adj" fmla="val 7143"/>
            </a:avLst>
          </a:prstGeom>
          <a:solidFill>
            <a:srgbClr val="FFFFFF"/>
          </a:solidFill>
          <a:ln w="12700">
            <a:solidFill>
              <a:srgbClr val="DDE2EA"/>
            </a:solidFill>
            <a:prstDash val="solid"/>
          </a:ln>
        </p:spPr>
      </p:sp>
      <p:sp>
        <p:nvSpPr>
          <p:cNvPr id="13" name="Shape 11"/>
          <p:cNvSpPr/>
          <p:nvPr/>
        </p:nvSpPr>
        <p:spPr>
          <a:xfrm>
            <a:off x="640080" y="3611880"/>
            <a:ext cx="50292" cy="896112"/>
          </a:xfrm>
          <a:prstGeom prst="rect">
            <a:avLst/>
          </a:prstGeom>
          <a:solidFill>
            <a:srgbClr val="7C4DFF"/>
          </a:solidFill>
          <a:ln w="12700">
            <a:solidFill>
              <a:srgbClr val="7C4DFF"/>
            </a:solidFill>
            <a:prstDash val="solid"/>
          </a:ln>
        </p:spPr>
      </p:sp>
      <p:sp>
        <p:nvSpPr>
          <p:cNvPr id="14" name="Text 12"/>
          <p:cNvSpPr/>
          <p:nvPr/>
        </p:nvSpPr>
        <p:spPr>
          <a:xfrm>
            <a:off x="841248" y="3831336"/>
            <a:ext cx="2560320" cy="347472"/>
          </a:xfrm>
          <a:prstGeom prst="rect">
            <a:avLst/>
          </a:prstGeom>
          <a:noFill/>
          <a:ln/>
        </p:spPr>
        <p:txBody>
          <a:bodyPr wrap="square" lIns="0" tIns="0" rIns="0" bIns="0" rtlCol="0" anchor="ctr">
            <a:normAutofit/>
          </a:bodyPr>
          <a:lstStyle/>
          <a:p>
            <a:pPr indent="0" marL="0">
              <a:buNone/>
            </a:pPr>
            <a:r>
              <a:rPr lang="en-US" sz="1180" b="1" dirty="0">
                <a:solidFill>
                  <a:srgbClr val="17233C"/>
                </a:solidFill>
                <a:latin typeface="Aptos Display" pitchFamily="34" charset="0"/>
                <a:ea typeface="Aptos Display" pitchFamily="34" charset="-122"/>
                <a:cs typeface="Aptos Display" pitchFamily="34" charset="-120"/>
              </a:rPr>
              <a:t>Rate limits</a:t>
            </a:r>
            <a:endParaRPr lang="en-US" sz="1180" dirty="0"/>
          </a:p>
        </p:txBody>
      </p:sp>
      <p:sp>
        <p:nvSpPr>
          <p:cNvPr id="15" name="Text 13"/>
          <p:cNvSpPr/>
          <p:nvPr/>
        </p:nvSpPr>
        <p:spPr>
          <a:xfrm>
            <a:off x="841248" y="4270248"/>
            <a:ext cx="2542032" cy="73152"/>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Requests per second / minute</a:t>
            </a:r>
            <a:endParaRPr lang="en-US" sz="880" dirty="0"/>
          </a:p>
        </p:txBody>
      </p:sp>
      <p:sp>
        <p:nvSpPr>
          <p:cNvPr id="16" name="Shape 14"/>
          <p:cNvSpPr/>
          <p:nvPr/>
        </p:nvSpPr>
        <p:spPr>
          <a:xfrm>
            <a:off x="640080" y="4709160"/>
            <a:ext cx="2926080" cy="896112"/>
          </a:xfrm>
          <a:prstGeom prst="roundRect">
            <a:avLst>
              <a:gd name="adj" fmla="val 7143"/>
            </a:avLst>
          </a:prstGeom>
          <a:solidFill>
            <a:srgbClr val="FFFFFF"/>
          </a:solidFill>
          <a:ln w="12700">
            <a:solidFill>
              <a:srgbClr val="DDE2EA"/>
            </a:solidFill>
            <a:prstDash val="solid"/>
          </a:ln>
        </p:spPr>
      </p:sp>
      <p:sp>
        <p:nvSpPr>
          <p:cNvPr id="17" name="Shape 15"/>
          <p:cNvSpPr/>
          <p:nvPr/>
        </p:nvSpPr>
        <p:spPr>
          <a:xfrm>
            <a:off x="640080" y="4709160"/>
            <a:ext cx="50292" cy="896112"/>
          </a:xfrm>
          <a:prstGeom prst="rect">
            <a:avLst/>
          </a:prstGeom>
          <a:solidFill>
            <a:srgbClr val="F3A712"/>
          </a:solidFill>
          <a:ln w="12700">
            <a:solidFill>
              <a:srgbClr val="F3A712"/>
            </a:solidFill>
            <a:prstDash val="solid"/>
          </a:ln>
        </p:spPr>
      </p:sp>
      <p:sp>
        <p:nvSpPr>
          <p:cNvPr id="18" name="Text 16"/>
          <p:cNvSpPr/>
          <p:nvPr/>
        </p:nvSpPr>
        <p:spPr>
          <a:xfrm>
            <a:off x="841248" y="4928616"/>
            <a:ext cx="2560320" cy="347472"/>
          </a:xfrm>
          <a:prstGeom prst="rect">
            <a:avLst/>
          </a:prstGeom>
          <a:noFill/>
          <a:ln/>
        </p:spPr>
        <p:txBody>
          <a:bodyPr wrap="square" lIns="0" tIns="0" rIns="0" bIns="0" rtlCol="0" anchor="ctr">
            <a:normAutofit/>
          </a:bodyPr>
          <a:lstStyle/>
          <a:p>
            <a:pPr indent="0" marL="0">
              <a:buNone/>
            </a:pPr>
            <a:r>
              <a:rPr lang="en-US" sz="1180" b="1" dirty="0">
                <a:solidFill>
                  <a:srgbClr val="17233C"/>
                </a:solidFill>
                <a:latin typeface="Aptos Display" pitchFamily="34" charset="0"/>
                <a:ea typeface="Aptos Display" pitchFamily="34" charset="-122"/>
                <a:cs typeface="Aptos Display" pitchFamily="34" charset="-120"/>
              </a:rPr>
              <a:t>Retries</a:t>
            </a:r>
            <a:endParaRPr lang="en-US" sz="1180" dirty="0"/>
          </a:p>
        </p:txBody>
      </p:sp>
      <p:sp>
        <p:nvSpPr>
          <p:cNvPr id="19" name="Text 17"/>
          <p:cNvSpPr/>
          <p:nvPr/>
        </p:nvSpPr>
        <p:spPr>
          <a:xfrm>
            <a:off x="841248" y="5367528"/>
            <a:ext cx="2542032" cy="73152"/>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Transient failures and backoff</a:t>
            </a:r>
            <a:endParaRPr lang="en-US" sz="880" dirty="0"/>
          </a:p>
        </p:txBody>
      </p:sp>
      <p:sp>
        <p:nvSpPr>
          <p:cNvPr id="20" name="Shape 18"/>
          <p:cNvSpPr/>
          <p:nvPr/>
        </p:nvSpPr>
        <p:spPr>
          <a:xfrm>
            <a:off x="4069080" y="1572768"/>
            <a:ext cx="3657600" cy="3566160"/>
          </a:xfrm>
          <a:prstGeom prst="roundRect">
            <a:avLst>
              <a:gd name="adj" fmla="val 1538"/>
            </a:avLst>
          </a:prstGeom>
          <a:solidFill>
            <a:srgbClr val="111827"/>
          </a:solidFill>
          <a:ln w="12700">
            <a:solidFill>
              <a:srgbClr val="111827"/>
            </a:solidFill>
            <a:prstDash val="solid"/>
          </a:ln>
        </p:spPr>
      </p:sp>
      <p:sp>
        <p:nvSpPr>
          <p:cNvPr id="21" name="Text 19"/>
          <p:cNvSpPr/>
          <p:nvPr/>
        </p:nvSpPr>
        <p:spPr>
          <a:xfrm>
            <a:off x="4270248" y="1755648"/>
            <a:ext cx="3255264" cy="3218688"/>
          </a:xfrm>
          <a:prstGeom prst="rect">
            <a:avLst/>
          </a:prstGeom>
          <a:noFill/>
          <a:ln/>
        </p:spPr>
        <p:txBody>
          <a:bodyPr wrap="square" lIns="0" tIns="0" rIns="0" bIns="0" rtlCol="0" anchor="ctr">
            <a:normAutofit/>
          </a:bodyPr>
          <a:lstStyle/>
          <a:p>
            <a:pPr indent="0" marL="0">
              <a:buNone/>
            </a:pPr>
            <a:r>
              <a:rPr lang="en-US" sz="1120" dirty="0">
                <a:solidFill>
                  <a:srgbClr val="F3F4F6"/>
                </a:solidFill>
                <a:latin typeface="Consolas" pitchFamily="34" charset="0"/>
                <a:ea typeface="Consolas" pitchFamily="34" charset="-122"/>
                <a:cs typeface="Consolas" pitchFamily="34" charset="-120"/>
              </a:rPr>
              <a:t>GET /orders?updated_after=...</a:t>
            </a:r>
            <a:endParaRPr lang="en-US" sz="1120" dirty="0"/>
          </a:p>
          <a:p>
            <a:pPr indent="0" marL="0">
              <a:buNone/>
            </a:pPr>
            <a:r>
              <a:rPr lang="en-US" sz="1120" dirty="0">
                <a:solidFill>
                  <a:srgbClr val="F3F4F6"/>
                </a:solidFill>
                <a:latin typeface="Consolas" pitchFamily="34" charset="0"/>
                <a:ea typeface="Consolas" pitchFamily="34" charset="-122"/>
                <a:cs typeface="Consolas" pitchFamily="34" charset="-120"/>
              </a:rPr>
              <a:t>Authorization: Bearer &lt;token&gt;</a:t>
            </a:r>
            <a:endParaRPr lang="en-US" sz="1120" dirty="0"/>
          </a:p>
          <a:p>
            <a:pPr indent="0" marL="0">
              <a:buNone/>
            </a:pPr>
            <a:endParaRPr lang="en-US" sz="1120" dirty="0"/>
          </a:p>
          <a:p>
            <a:pPr indent="0" marL="0">
              <a:buNone/>
            </a:pPr>
            <a:r>
              <a:rPr lang="en-US" sz="1120" dirty="0">
                <a:solidFill>
                  <a:srgbClr val="F3F4F6"/>
                </a:solidFill>
                <a:latin typeface="Consolas" pitchFamily="34" charset="0"/>
                <a:ea typeface="Consolas" pitchFamily="34" charset="-122"/>
                <a:cs typeface="Consolas" pitchFamily="34" charset="-120"/>
              </a:rPr>
              <a:t>→ page 1 / 200</a:t>
            </a:r>
            <a:endParaRPr lang="en-US" sz="1120" dirty="0"/>
          </a:p>
          <a:p>
            <a:pPr indent="0" marL="0">
              <a:buNone/>
            </a:pPr>
            <a:r>
              <a:rPr lang="en-US" sz="1120" dirty="0">
                <a:solidFill>
                  <a:srgbClr val="F3F4F6"/>
                </a:solidFill>
                <a:latin typeface="Consolas" pitchFamily="34" charset="0"/>
                <a:ea typeface="Consolas" pitchFamily="34" charset="-122"/>
                <a:cs typeface="Consolas" pitchFamily="34" charset="-120"/>
              </a:rPr>
              <a:t>→ retry on 429 / 5xx</a:t>
            </a:r>
            <a:endParaRPr lang="en-US" sz="1120" dirty="0"/>
          </a:p>
          <a:p>
            <a:pPr indent="0" marL="0">
              <a:buNone/>
            </a:pPr>
            <a:r>
              <a:rPr lang="en-US" sz="1120" dirty="0">
                <a:solidFill>
                  <a:srgbClr val="F3F4F6"/>
                </a:solidFill>
                <a:latin typeface="Consolas" pitchFamily="34" charset="0"/>
                <a:ea typeface="Consolas" pitchFamily="34" charset="-122"/>
                <a:cs typeface="Consolas" pitchFamily="34" charset="-120"/>
              </a:rPr>
              <a:t>→ persist watermark</a:t>
            </a:r>
            <a:endParaRPr lang="en-US" sz="1120" dirty="0"/>
          </a:p>
          <a:p>
            <a:pPr indent="0" marL="0">
              <a:buNone/>
            </a:pPr>
            <a:r>
              <a:rPr lang="en-US" sz="1120" dirty="0">
                <a:solidFill>
                  <a:srgbClr val="F3F4F6"/>
                </a:solidFill>
                <a:latin typeface="Consolas" pitchFamily="34" charset="0"/>
                <a:ea typeface="Consolas" pitchFamily="34" charset="-122"/>
                <a:cs typeface="Consolas" pitchFamily="34" charset="-120"/>
              </a:rPr>
              <a:t>→ validate payload schema</a:t>
            </a:r>
            <a:endParaRPr lang="en-US" sz="1120" dirty="0"/>
          </a:p>
        </p:txBody>
      </p:sp>
      <p:sp>
        <p:nvSpPr>
          <p:cNvPr id="22" name="Shape 20"/>
          <p:cNvSpPr/>
          <p:nvPr/>
        </p:nvSpPr>
        <p:spPr>
          <a:xfrm>
            <a:off x="8229600" y="1691640"/>
            <a:ext cx="3154680" cy="2514600"/>
          </a:xfrm>
          <a:prstGeom prst="roundRect">
            <a:avLst>
              <a:gd name="adj" fmla="val 2545"/>
            </a:avLst>
          </a:prstGeom>
          <a:solidFill>
            <a:srgbClr val="FFFFFF"/>
          </a:solidFill>
          <a:ln w="12700">
            <a:solidFill>
              <a:srgbClr val="DDE2EA"/>
            </a:solidFill>
            <a:prstDash val="solid"/>
          </a:ln>
        </p:spPr>
      </p:sp>
      <p:sp>
        <p:nvSpPr>
          <p:cNvPr id="23" name="Shape 21"/>
          <p:cNvSpPr/>
          <p:nvPr/>
        </p:nvSpPr>
        <p:spPr>
          <a:xfrm>
            <a:off x="8229600" y="1691640"/>
            <a:ext cx="50292" cy="2514600"/>
          </a:xfrm>
          <a:prstGeom prst="rect">
            <a:avLst/>
          </a:prstGeom>
          <a:solidFill>
            <a:srgbClr val="FF3621"/>
          </a:solidFill>
          <a:ln w="12700">
            <a:solidFill>
              <a:srgbClr val="FF3621"/>
            </a:solidFill>
            <a:prstDash val="solid"/>
          </a:ln>
        </p:spPr>
      </p:sp>
      <p:sp>
        <p:nvSpPr>
          <p:cNvPr id="24" name="Shape 22"/>
          <p:cNvSpPr/>
          <p:nvPr/>
        </p:nvSpPr>
        <p:spPr>
          <a:xfrm>
            <a:off x="8430768" y="1874520"/>
            <a:ext cx="566928" cy="310896"/>
          </a:xfrm>
          <a:prstGeom prst="roundRect">
            <a:avLst>
              <a:gd name="adj" fmla="val 14706"/>
            </a:avLst>
          </a:prstGeom>
          <a:solidFill>
            <a:srgbClr val="FFF0ED"/>
          </a:solidFill>
          <a:ln w="12700">
            <a:solidFill>
              <a:srgbClr val="FFF0ED"/>
            </a:solidFill>
            <a:prstDash val="solid"/>
          </a:ln>
        </p:spPr>
      </p:sp>
      <p:sp>
        <p:nvSpPr>
          <p:cNvPr id="25" name="Text 23"/>
          <p:cNvSpPr/>
          <p:nvPr/>
        </p:nvSpPr>
        <p:spPr>
          <a:xfrm>
            <a:off x="8430768" y="193852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ROBUST</a:t>
            </a:r>
            <a:endParaRPr lang="en-US" sz="730" dirty="0"/>
          </a:p>
        </p:txBody>
      </p:sp>
      <p:sp>
        <p:nvSpPr>
          <p:cNvPr id="26" name="Text 24"/>
          <p:cNvSpPr/>
          <p:nvPr/>
        </p:nvSpPr>
        <p:spPr>
          <a:xfrm>
            <a:off x="8430768" y="2276856"/>
            <a:ext cx="278892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Design goal</a:t>
            </a:r>
            <a:endParaRPr lang="en-US" sz="1500" dirty="0"/>
          </a:p>
        </p:txBody>
      </p:sp>
      <p:sp>
        <p:nvSpPr>
          <p:cNvPr id="27" name="Text 25"/>
          <p:cNvSpPr/>
          <p:nvPr/>
        </p:nvSpPr>
        <p:spPr>
          <a:xfrm>
            <a:off x="8430768" y="2651760"/>
            <a:ext cx="2770632" cy="138988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Make ingestion restartable. Persist the last successful cursor / timestamp and make retries safe.</a:t>
            </a:r>
            <a:endParaRPr lang="en-US" sz="1050" dirty="0"/>
          </a:p>
        </p:txBody>
      </p:sp>
      <p:sp>
        <p:nvSpPr>
          <p:cNvPr id="28" name="Shape 26"/>
          <p:cNvSpPr/>
          <p:nvPr/>
        </p:nvSpPr>
        <p:spPr>
          <a:xfrm>
            <a:off x="8183880" y="4617720"/>
            <a:ext cx="3246120" cy="868680"/>
          </a:xfrm>
          <a:prstGeom prst="roundRect">
            <a:avLst>
              <a:gd name="adj" fmla="val 6316"/>
            </a:avLst>
          </a:prstGeom>
          <a:solidFill>
            <a:srgbClr val="FFF4F1"/>
          </a:solidFill>
          <a:ln w="12700">
            <a:solidFill>
              <a:srgbClr val="FFF4F1"/>
            </a:solidFill>
            <a:prstDash val="solid"/>
          </a:ln>
        </p:spPr>
      </p:sp>
      <p:sp>
        <p:nvSpPr>
          <p:cNvPr id="29" name="Text 27"/>
          <p:cNvSpPr/>
          <p:nvPr/>
        </p:nvSpPr>
        <p:spPr>
          <a:xfrm>
            <a:off x="8348472" y="4736592"/>
            <a:ext cx="2916936" cy="640080"/>
          </a:xfrm>
          <a:prstGeom prst="rect">
            <a:avLst/>
          </a:prstGeom>
          <a:noFill/>
          <a:ln/>
        </p:spPr>
        <p:txBody>
          <a:bodyPr wrap="square" lIns="0" tIns="0" rIns="0" bIns="0" rtlCol="0" anchor="ctr">
            <a:normAutofit/>
          </a:bodyPr>
          <a:lstStyle/>
          <a:p>
            <a:pPr indent="0" marL="0">
              <a:buNone/>
            </a:pPr>
            <a:r>
              <a:rPr lang="en-US" sz="1100" b="1" dirty="0">
                <a:solidFill>
                  <a:srgbClr val="FF3621"/>
                </a:solidFill>
                <a:latin typeface="Aptos" pitchFamily="34" charset="0"/>
                <a:ea typeface="Aptos" pitchFamily="34" charset="-122"/>
                <a:cs typeface="Aptos" pitchFamily="34" charset="-120"/>
              </a:rPr>
              <a:t>A connector is not “done” when it works once; it is done when it can run unattended.</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Change Data Capture (CDC)</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Capture mutations rather than repeatedly copying the full source state.</a:t>
            </a:r>
            <a:endParaRPr lang="en-US" sz="1100" dirty="0"/>
          </a:p>
        </p:txBody>
      </p:sp>
      <p:sp>
        <p:nvSpPr>
          <p:cNvPr id="4" name="Shape 2"/>
          <p:cNvSpPr/>
          <p:nvPr/>
        </p:nvSpPr>
        <p:spPr>
          <a:xfrm>
            <a:off x="594360" y="1508760"/>
            <a:ext cx="2971800" cy="3063240"/>
          </a:xfrm>
          <a:prstGeom prst="roundRect">
            <a:avLst>
              <a:gd name="adj" fmla="val 2154"/>
            </a:avLst>
          </a:prstGeom>
          <a:solidFill>
            <a:srgbClr val="FFFFFF"/>
          </a:solidFill>
          <a:ln w="12700">
            <a:solidFill>
              <a:srgbClr val="DDE2EA"/>
            </a:solidFill>
            <a:prstDash val="solid"/>
          </a:ln>
        </p:spPr>
      </p:sp>
      <p:sp>
        <p:nvSpPr>
          <p:cNvPr id="5" name="Shape 3"/>
          <p:cNvSpPr/>
          <p:nvPr/>
        </p:nvSpPr>
        <p:spPr>
          <a:xfrm>
            <a:off x="594360" y="1508760"/>
            <a:ext cx="50292" cy="3063240"/>
          </a:xfrm>
          <a:prstGeom prst="rect">
            <a:avLst/>
          </a:prstGeom>
          <a:solidFill>
            <a:srgbClr val="3B6FF5"/>
          </a:solidFill>
          <a:ln w="12700">
            <a:solidFill>
              <a:srgbClr val="3B6FF5"/>
            </a:solidFill>
            <a:prstDash val="solid"/>
          </a:ln>
        </p:spPr>
      </p:sp>
      <p:sp>
        <p:nvSpPr>
          <p:cNvPr id="6" name="Shape 4"/>
          <p:cNvSpPr/>
          <p:nvPr/>
        </p:nvSpPr>
        <p:spPr>
          <a:xfrm>
            <a:off x="795528" y="169164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795528" y="175564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STATE t0</a:t>
            </a:r>
            <a:endParaRPr lang="en-US" sz="730" dirty="0"/>
          </a:p>
        </p:txBody>
      </p:sp>
      <p:sp>
        <p:nvSpPr>
          <p:cNvPr id="8" name="Text 6"/>
          <p:cNvSpPr/>
          <p:nvPr/>
        </p:nvSpPr>
        <p:spPr>
          <a:xfrm>
            <a:off x="795528" y="2093976"/>
            <a:ext cx="2606040"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Before</a:t>
            </a:r>
            <a:endParaRPr lang="en-US" sz="1400" dirty="0"/>
          </a:p>
        </p:txBody>
      </p:sp>
      <p:sp>
        <p:nvSpPr>
          <p:cNvPr id="9" name="Text 7"/>
          <p:cNvSpPr/>
          <p:nvPr/>
        </p:nvSpPr>
        <p:spPr>
          <a:xfrm>
            <a:off x="795528" y="2468880"/>
            <a:ext cx="2587752" cy="1938528"/>
          </a:xfrm>
          <a:prstGeom prst="rect">
            <a:avLst/>
          </a:prstGeom>
          <a:noFill/>
          <a:ln/>
        </p:spPr>
        <p:txBody>
          <a:bodyPr wrap="square" lIns="254" tIns="254" rIns="254" bIns="254" rtlCol="0" anchor="t">
            <a:normAutofit/>
          </a:bodyPr>
          <a:lstStyle/>
          <a:p>
            <a:pPr indent="0" marL="0">
              <a:buNone/>
            </a:pPr>
            <a:r>
              <a:rPr lang="en-US" sz="1200" dirty="0">
                <a:solidFill>
                  <a:srgbClr val="283246"/>
                </a:solidFill>
                <a:latin typeface="Aptos" pitchFamily="34" charset="0"/>
                <a:ea typeface="Aptos" pitchFamily="34" charset="-122"/>
                <a:cs typeface="Aptos" pitchFamily="34" charset="-120"/>
              </a:rPr>
              <a:t>Customer 7</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Name = Amani</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City = Brisbane</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Status = Active</a:t>
            </a:r>
            <a:endParaRPr lang="en-US" sz="1200" dirty="0"/>
          </a:p>
        </p:txBody>
      </p:sp>
      <p:sp>
        <p:nvSpPr>
          <p:cNvPr id="10" name="Shape 8"/>
          <p:cNvSpPr/>
          <p:nvPr/>
        </p:nvSpPr>
        <p:spPr>
          <a:xfrm>
            <a:off x="4617720" y="1508760"/>
            <a:ext cx="2971800" cy="3063240"/>
          </a:xfrm>
          <a:prstGeom prst="roundRect">
            <a:avLst>
              <a:gd name="adj" fmla="val 2154"/>
            </a:avLst>
          </a:prstGeom>
          <a:solidFill>
            <a:srgbClr val="FFFFFF"/>
          </a:solidFill>
          <a:ln w="12700">
            <a:solidFill>
              <a:srgbClr val="DDE2EA"/>
            </a:solidFill>
            <a:prstDash val="solid"/>
          </a:ln>
        </p:spPr>
      </p:sp>
      <p:sp>
        <p:nvSpPr>
          <p:cNvPr id="11" name="Shape 9"/>
          <p:cNvSpPr/>
          <p:nvPr/>
        </p:nvSpPr>
        <p:spPr>
          <a:xfrm>
            <a:off x="4617720" y="1508760"/>
            <a:ext cx="50292" cy="3063240"/>
          </a:xfrm>
          <a:prstGeom prst="rect">
            <a:avLst/>
          </a:prstGeom>
          <a:solidFill>
            <a:srgbClr val="FF3621"/>
          </a:solidFill>
          <a:ln w="12700">
            <a:solidFill>
              <a:srgbClr val="FF3621"/>
            </a:solidFill>
            <a:prstDash val="solid"/>
          </a:ln>
        </p:spPr>
      </p:sp>
      <p:sp>
        <p:nvSpPr>
          <p:cNvPr id="12" name="Shape 10"/>
          <p:cNvSpPr/>
          <p:nvPr/>
        </p:nvSpPr>
        <p:spPr>
          <a:xfrm>
            <a:off x="4818888" y="1691640"/>
            <a:ext cx="566928" cy="310896"/>
          </a:xfrm>
          <a:prstGeom prst="roundRect">
            <a:avLst>
              <a:gd name="adj" fmla="val 14706"/>
            </a:avLst>
          </a:prstGeom>
          <a:solidFill>
            <a:srgbClr val="FFF0ED"/>
          </a:solidFill>
          <a:ln w="12700">
            <a:solidFill>
              <a:srgbClr val="FFF0ED"/>
            </a:solidFill>
            <a:prstDash val="solid"/>
          </a:ln>
        </p:spPr>
      </p:sp>
      <p:sp>
        <p:nvSpPr>
          <p:cNvPr id="13" name="Text 11"/>
          <p:cNvSpPr/>
          <p:nvPr/>
        </p:nvSpPr>
        <p:spPr>
          <a:xfrm>
            <a:off x="4818888" y="175564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CHANGE</a:t>
            </a:r>
            <a:endParaRPr lang="en-US" sz="730" dirty="0"/>
          </a:p>
        </p:txBody>
      </p:sp>
      <p:sp>
        <p:nvSpPr>
          <p:cNvPr id="14" name="Text 12"/>
          <p:cNvSpPr/>
          <p:nvPr/>
        </p:nvSpPr>
        <p:spPr>
          <a:xfrm>
            <a:off x="4818888" y="2093976"/>
            <a:ext cx="2606040"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CDC event</a:t>
            </a:r>
            <a:endParaRPr lang="en-US" sz="1400" dirty="0"/>
          </a:p>
        </p:txBody>
      </p:sp>
      <p:sp>
        <p:nvSpPr>
          <p:cNvPr id="15" name="Text 13"/>
          <p:cNvSpPr/>
          <p:nvPr/>
        </p:nvSpPr>
        <p:spPr>
          <a:xfrm>
            <a:off x="4818888" y="2468880"/>
            <a:ext cx="2587752" cy="1938528"/>
          </a:xfrm>
          <a:prstGeom prst="rect">
            <a:avLst/>
          </a:prstGeom>
          <a:noFill/>
          <a:ln/>
        </p:spPr>
        <p:txBody>
          <a:bodyPr wrap="square" lIns="254" tIns="254" rIns="254" bIns="254" rtlCol="0" anchor="t">
            <a:normAutofit/>
          </a:bodyPr>
          <a:lstStyle/>
          <a:p>
            <a:pPr indent="0" marL="0">
              <a:buNone/>
            </a:pPr>
            <a:r>
              <a:rPr lang="en-US" sz="1200" dirty="0">
                <a:solidFill>
                  <a:srgbClr val="283246"/>
                </a:solidFill>
                <a:latin typeface="Aptos" pitchFamily="34" charset="0"/>
                <a:ea typeface="Aptos" pitchFamily="34" charset="-122"/>
                <a:cs typeface="Aptos" pitchFamily="34" charset="-120"/>
              </a:rPr>
              <a:t>operation = UPDATE</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key = 7</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City = Sydney</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sequence = 1042</a:t>
            </a:r>
            <a:endParaRPr lang="en-US" sz="1200" dirty="0"/>
          </a:p>
        </p:txBody>
      </p:sp>
      <p:sp>
        <p:nvSpPr>
          <p:cNvPr id="16" name="Shape 14"/>
          <p:cNvSpPr/>
          <p:nvPr/>
        </p:nvSpPr>
        <p:spPr>
          <a:xfrm>
            <a:off x="8641080" y="1508760"/>
            <a:ext cx="2971800" cy="3063240"/>
          </a:xfrm>
          <a:prstGeom prst="roundRect">
            <a:avLst>
              <a:gd name="adj" fmla="val 2154"/>
            </a:avLst>
          </a:prstGeom>
          <a:solidFill>
            <a:srgbClr val="FFFFFF"/>
          </a:solidFill>
          <a:ln w="12700">
            <a:solidFill>
              <a:srgbClr val="DDE2EA"/>
            </a:solidFill>
            <a:prstDash val="solid"/>
          </a:ln>
        </p:spPr>
      </p:sp>
      <p:sp>
        <p:nvSpPr>
          <p:cNvPr id="17" name="Shape 15"/>
          <p:cNvSpPr/>
          <p:nvPr/>
        </p:nvSpPr>
        <p:spPr>
          <a:xfrm>
            <a:off x="8641080" y="1508760"/>
            <a:ext cx="50292" cy="3063240"/>
          </a:xfrm>
          <a:prstGeom prst="rect">
            <a:avLst/>
          </a:prstGeom>
          <a:solidFill>
            <a:srgbClr val="00A972"/>
          </a:solidFill>
          <a:ln w="12700">
            <a:solidFill>
              <a:srgbClr val="00A972"/>
            </a:solidFill>
            <a:prstDash val="solid"/>
          </a:ln>
        </p:spPr>
      </p:sp>
      <p:sp>
        <p:nvSpPr>
          <p:cNvPr id="18" name="Shape 16"/>
          <p:cNvSpPr/>
          <p:nvPr/>
        </p:nvSpPr>
        <p:spPr>
          <a:xfrm>
            <a:off x="8842248" y="1691640"/>
            <a:ext cx="566928" cy="310896"/>
          </a:xfrm>
          <a:prstGeom prst="roundRect">
            <a:avLst>
              <a:gd name="adj" fmla="val 14706"/>
            </a:avLst>
          </a:prstGeom>
          <a:solidFill>
            <a:srgbClr val="E9F8F3"/>
          </a:solidFill>
          <a:ln w="12700">
            <a:solidFill>
              <a:srgbClr val="E9F8F3"/>
            </a:solidFill>
            <a:prstDash val="solid"/>
          </a:ln>
        </p:spPr>
      </p:sp>
      <p:sp>
        <p:nvSpPr>
          <p:cNvPr id="19" name="Text 17"/>
          <p:cNvSpPr/>
          <p:nvPr/>
        </p:nvSpPr>
        <p:spPr>
          <a:xfrm>
            <a:off x="8842248" y="175564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STATE t1</a:t>
            </a:r>
            <a:endParaRPr lang="en-US" sz="730" dirty="0"/>
          </a:p>
        </p:txBody>
      </p:sp>
      <p:sp>
        <p:nvSpPr>
          <p:cNvPr id="20" name="Text 18"/>
          <p:cNvSpPr/>
          <p:nvPr/>
        </p:nvSpPr>
        <p:spPr>
          <a:xfrm>
            <a:off x="8842248" y="2093976"/>
            <a:ext cx="2606040"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After</a:t>
            </a:r>
            <a:endParaRPr lang="en-US" sz="1400" dirty="0"/>
          </a:p>
        </p:txBody>
      </p:sp>
      <p:sp>
        <p:nvSpPr>
          <p:cNvPr id="21" name="Text 19"/>
          <p:cNvSpPr/>
          <p:nvPr/>
        </p:nvSpPr>
        <p:spPr>
          <a:xfrm>
            <a:off x="8842248" y="2468880"/>
            <a:ext cx="2587752" cy="1938528"/>
          </a:xfrm>
          <a:prstGeom prst="rect">
            <a:avLst/>
          </a:prstGeom>
          <a:noFill/>
          <a:ln/>
        </p:spPr>
        <p:txBody>
          <a:bodyPr wrap="square" lIns="254" tIns="254" rIns="254" bIns="254" rtlCol="0" anchor="t">
            <a:normAutofit/>
          </a:bodyPr>
          <a:lstStyle/>
          <a:p>
            <a:pPr indent="0" marL="0">
              <a:buNone/>
            </a:pPr>
            <a:r>
              <a:rPr lang="en-US" sz="1200" dirty="0">
                <a:solidFill>
                  <a:srgbClr val="283246"/>
                </a:solidFill>
                <a:latin typeface="Aptos" pitchFamily="34" charset="0"/>
                <a:ea typeface="Aptos" pitchFamily="34" charset="-122"/>
                <a:cs typeface="Aptos" pitchFamily="34" charset="-120"/>
              </a:rPr>
              <a:t>Customer 7</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Name = Amani</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City = Sydney</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Status = Active</a:t>
            </a:r>
            <a:endParaRPr lang="en-US" sz="1200" dirty="0"/>
          </a:p>
        </p:txBody>
      </p:sp>
      <p:sp>
        <p:nvSpPr>
          <p:cNvPr id="22" name="Shape 20"/>
          <p:cNvSpPr/>
          <p:nvPr/>
        </p:nvSpPr>
        <p:spPr>
          <a:xfrm>
            <a:off x="3611880" y="2971800"/>
            <a:ext cx="914400" cy="0"/>
          </a:xfrm>
          <a:prstGeom prst="line">
            <a:avLst/>
          </a:prstGeom>
          <a:noFill/>
          <a:ln w="12700">
            <a:solidFill>
              <a:srgbClr val="687386"/>
            </a:solidFill>
            <a:prstDash val="solid"/>
            <a:headEnd type="none"/>
            <a:tailEnd type="triangle"/>
          </a:ln>
        </p:spPr>
      </p:sp>
      <p:sp>
        <p:nvSpPr>
          <p:cNvPr id="23" name="Shape 21"/>
          <p:cNvSpPr/>
          <p:nvPr/>
        </p:nvSpPr>
        <p:spPr>
          <a:xfrm>
            <a:off x="7635240" y="2971800"/>
            <a:ext cx="914400" cy="0"/>
          </a:xfrm>
          <a:prstGeom prst="line">
            <a:avLst/>
          </a:prstGeom>
          <a:noFill/>
          <a:ln w="12700">
            <a:solidFill>
              <a:srgbClr val="687386"/>
            </a:solidFill>
            <a:prstDash val="solid"/>
            <a:headEnd type="none"/>
            <a:tailEnd type="triangle"/>
          </a:ln>
        </p:spPr>
      </p:sp>
      <p:sp>
        <p:nvSpPr>
          <p:cNvPr id="24" name="Shape 22"/>
          <p:cNvSpPr/>
          <p:nvPr/>
        </p:nvSpPr>
        <p:spPr>
          <a:xfrm>
            <a:off x="1920240" y="5074920"/>
            <a:ext cx="8321040" cy="640080"/>
          </a:xfrm>
          <a:prstGeom prst="roundRect">
            <a:avLst>
              <a:gd name="adj" fmla="val 8571"/>
            </a:avLst>
          </a:prstGeom>
          <a:solidFill>
            <a:srgbClr val="F2EEFF"/>
          </a:solidFill>
          <a:ln w="12700">
            <a:solidFill>
              <a:srgbClr val="F2EEFF"/>
            </a:solidFill>
            <a:prstDash val="solid"/>
          </a:ln>
        </p:spPr>
      </p:sp>
      <p:sp>
        <p:nvSpPr>
          <p:cNvPr id="25" name="Text 23"/>
          <p:cNvSpPr/>
          <p:nvPr/>
        </p:nvSpPr>
        <p:spPr>
          <a:xfrm>
            <a:off x="2084832" y="5193792"/>
            <a:ext cx="7991856" cy="411480"/>
          </a:xfrm>
          <a:prstGeom prst="rect">
            <a:avLst/>
          </a:prstGeom>
          <a:noFill/>
          <a:ln/>
        </p:spPr>
        <p:txBody>
          <a:bodyPr wrap="square" lIns="0" tIns="0" rIns="0" bIns="0" rtlCol="0" anchor="ctr">
            <a:normAutofit/>
          </a:bodyPr>
          <a:lstStyle/>
          <a:p>
            <a:pPr indent="0" marL="0">
              <a:buNone/>
            </a:pPr>
            <a:r>
              <a:rPr lang="en-US" sz="1100" b="1" dirty="0">
                <a:solidFill>
                  <a:srgbClr val="7C4DFF"/>
                </a:solidFill>
                <a:latin typeface="Aptos" pitchFamily="34" charset="0"/>
                <a:ea typeface="Aptos" pitchFamily="34" charset="-122"/>
                <a:cs typeface="Aptos" pitchFamily="34" charset="-120"/>
              </a:rPr>
              <a:t>CDC enables efficient current-state tables and historical SCD Type 2 tables.</a:t>
            </a:r>
            <a:endParaRPr lang="en-US" sz="1100" dirty="0"/>
          </a:p>
        </p:txBody>
      </p:sp>
      <p:sp>
        <p:nvSpPr>
          <p:cNvPr id="26" name="Text 24"/>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Databricks ETL SQL Guide (2025)</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233C"/>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FF3621"/>
          </a:solidFill>
          <a:ln w="12700">
            <a:solidFill>
              <a:srgbClr val="FF3621"/>
            </a:solidFill>
            <a:prstDash val="solid"/>
          </a:ln>
        </p:spPr>
      </p:sp>
      <p:sp>
        <p:nvSpPr>
          <p:cNvPr id="3" name="Text 1"/>
          <p:cNvSpPr/>
          <p:nvPr/>
        </p:nvSpPr>
        <p:spPr>
          <a:xfrm>
            <a:off x="640080" y="1042416"/>
            <a:ext cx="1371600" cy="274320"/>
          </a:xfrm>
          <a:prstGeom prst="rect">
            <a:avLst/>
          </a:prstGeom>
          <a:noFill/>
          <a:ln/>
        </p:spPr>
        <p:txBody>
          <a:bodyPr wrap="square" lIns="0" tIns="0" rIns="0" bIns="0" rtlCol="0" anchor="ctr"/>
          <a:lstStyle/>
          <a:p>
            <a:pPr indent="0" marL="0">
              <a:buNone/>
            </a:pPr>
            <a:r>
              <a:rPr lang="en-US" sz="900" b="1" spc="160" kern="0" dirty="0">
                <a:solidFill>
                  <a:srgbClr val="FF8A7B"/>
                </a:solidFill>
                <a:latin typeface="Aptos" pitchFamily="34" charset="0"/>
                <a:ea typeface="Aptos" pitchFamily="34" charset="-122"/>
                <a:cs typeface="Aptos" pitchFamily="34" charset="-120"/>
              </a:rPr>
              <a:t>PART 3</a:t>
            </a:r>
            <a:endParaRPr lang="en-US" sz="900" dirty="0"/>
          </a:p>
        </p:txBody>
      </p:sp>
      <p:sp>
        <p:nvSpPr>
          <p:cNvPr id="4" name="Text 2"/>
          <p:cNvSpPr/>
          <p:nvPr/>
        </p:nvSpPr>
        <p:spPr>
          <a:xfrm>
            <a:off x="640080" y="1481328"/>
            <a:ext cx="8138160" cy="9601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Transform</a:t>
            </a:r>
            <a:endParaRPr lang="en-US" sz="3000" dirty="0"/>
          </a:p>
        </p:txBody>
      </p:sp>
      <p:sp>
        <p:nvSpPr>
          <p:cNvPr id="5" name="Text 3"/>
          <p:cNvSpPr/>
          <p:nvPr/>
        </p:nvSpPr>
        <p:spPr>
          <a:xfrm>
            <a:off x="658368" y="2542032"/>
            <a:ext cx="8686800" cy="777240"/>
          </a:xfrm>
          <a:prstGeom prst="rect">
            <a:avLst/>
          </a:prstGeom>
          <a:noFill/>
          <a:ln/>
        </p:spPr>
        <p:txBody>
          <a:bodyPr wrap="square" lIns="0" tIns="0" rIns="0" bIns="0" rtlCol="0" anchor="ctr">
            <a:normAutofit/>
          </a:bodyPr>
          <a:lstStyle/>
          <a:p>
            <a:pPr indent="0" marL="0">
              <a:buNone/>
            </a:pPr>
            <a:r>
              <a:rPr lang="en-US" sz="1400" dirty="0">
                <a:solidFill>
                  <a:srgbClr val="CFD7E6"/>
                </a:solidFill>
                <a:latin typeface="Aptos" pitchFamily="34" charset="0"/>
                <a:ea typeface="Aptos" pitchFamily="34" charset="-122"/>
                <a:cs typeface="Aptos" pitchFamily="34" charset="-120"/>
              </a:rPr>
              <a:t>Raw data becomes useful only when it is made consistent, trustworthy, and shaped for consumption.</a:t>
            </a:r>
            <a:endParaRPr lang="en-US" sz="1400" dirty="0"/>
          </a:p>
        </p:txBody>
      </p:sp>
      <p:sp>
        <p:nvSpPr>
          <p:cNvPr id="6" name="Shape 4"/>
          <p:cNvSpPr/>
          <p:nvPr/>
        </p:nvSpPr>
        <p:spPr>
          <a:xfrm>
            <a:off x="685800" y="3995928"/>
            <a:ext cx="201168" cy="201168"/>
          </a:xfrm>
          <a:prstGeom prst="ellipse">
            <a:avLst/>
          </a:prstGeom>
          <a:solidFill>
            <a:srgbClr val="FF3621"/>
          </a:solidFill>
          <a:ln w="12700">
            <a:solidFill>
              <a:srgbClr val="FF3621"/>
            </a:solidFill>
            <a:prstDash val="solid"/>
          </a:ln>
        </p:spPr>
      </p:sp>
      <p:sp>
        <p:nvSpPr>
          <p:cNvPr id="7" name="Text 5"/>
          <p:cNvSpPr/>
          <p:nvPr/>
        </p:nvSpPr>
        <p:spPr>
          <a:xfrm>
            <a:off x="987552" y="3977640"/>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Transformation patterns</a:t>
            </a:r>
            <a:endParaRPr lang="en-US" sz="1150" dirty="0"/>
          </a:p>
        </p:txBody>
      </p:sp>
      <p:sp>
        <p:nvSpPr>
          <p:cNvPr id="8" name="Shape 6"/>
          <p:cNvSpPr/>
          <p:nvPr/>
        </p:nvSpPr>
        <p:spPr>
          <a:xfrm>
            <a:off x="685800" y="4562856"/>
            <a:ext cx="201168" cy="201168"/>
          </a:xfrm>
          <a:prstGeom prst="ellipse">
            <a:avLst/>
          </a:prstGeom>
          <a:solidFill>
            <a:srgbClr val="00A972"/>
          </a:solidFill>
          <a:ln w="12700">
            <a:solidFill>
              <a:srgbClr val="00A972"/>
            </a:solidFill>
            <a:prstDash val="solid"/>
          </a:ln>
        </p:spPr>
      </p:sp>
      <p:sp>
        <p:nvSpPr>
          <p:cNvPr id="9" name="Text 7"/>
          <p:cNvSpPr/>
          <p:nvPr/>
        </p:nvSpPr>
        <p:spPr>
          <a:xfrm>
            <a:off x="987552" y="4544568"/>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Profiling and quality rules</a:t>
            </a:r>
            <a:endParaRPr lang="en-US" sz="1150" dirty="0"/>
          </a:p>
        </p:txBody>
      </p:sp>
      <p:sp>
        <p:nvSpPr>
          <p:cNvPr id="10" name="Shape 8"/>
          <p:cNvSpPr/>
          <p:nvPr/>
        </p:nvSpPr>
        <p:spPr>
          <a:xfrm>
            <a:off x="685800" y="5129784"/>
            <a:ext cx="201168" cy="201168"/>
          </a:xfrm>
          <a:prstGeom prst="ellipse">
            <a:avLst/>
          </a:prstGeom>
          <a:solidFill>
            <a:srgbClr val="FF3621"/>
          </a:solidFill>
          <a:ln w="12700">
            <a:solidFill>
              <a:srgbClr val="FF3621"/>
            </a:solidFill>
            <a:prstDash val="solid"/>
          </a:ln>
        </p:spPr>
      </p:sp>
      <p:sp>
        <p:nvSpPr>
          <p:cNvPr id="11" name="Text 9"/>
          <p:cNvSpPr/>
          <p:nvPr/>
        </p:nvSpPr>
        <p:spPr>
          <a:xfrm>
            <a:off x="987552" y="5111496"/>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Staging and Medallion architecture</a:t>
            </a:r>
            <a:endParaRPr lang="en-US" sz="1150" dirty="0"/>
          </a:p>
        </p:txBody>
      </p:sp>
      <p:sp>
        <p:nvSpPr>
          <p:cNvPr id="12" name="Shape 10"/>
          <p:cNvSpPr/>
          <p:nvPr/>
        </p:nvSpPr>
        <p:spPr>
          <a:xfrm>
            <a:off x="685800" y="5696712"/>
            <a:ext cx="201168" cy="201168"/>
          </a:xfrm>
          <a:prstGeom prst="ellipse">
            <a:avLst/>
          </a:prstGeom>
          <a:solidFill>
            <a:srgbClr val="00A972"/>
          </a:solidFill>
          <a:ln w="12700">
            <a:solidFill>
              <a:srgbClr val="00A972"/>
            </a:solidFill>
            <a:prstDash val="solid"/>
          </a:ln>
        </p:spPr>
      </p:sp>
      <p:sp>
        <p:nvSpPr>
          <p:cNvPr id="13" name="Text 11"/>
          <p:cNvSpPr/>
          <p:nvPr/>
        </p:nvSpPr>
        <p:spPr>
          <a:xfrm>
            <a:off x="987552" y="5678424"/>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Incremental and idempotent processing</a:t>
            </a:r>
            <a:endParaRPr lang="en-US" sz="1150" dirty="0"/>
          </a:p>
        </p:txBody>
      </p:sp>
      <p:sp>
        <p:nvSpPr>
          <p:cNvPr id="14" name="Text 12"/>
          <p:cNvSpPr/>
          <p:nvPr/>
        </p:nvSpPr>
        <p:spPr>
          <a:xfrm>
            <a:off x="9326880" y="6172200"/>
            <a:ext cx="2194560" cy="274320"/>
          </a:xfrm>
          <a:prstGeom prst="rect">
            <a:avLst/>
          </a:prstGeom>
          <a:noFill/>
          <a:ln/>
        </p:spPr>
        <p:txBody>
          <a:bodyPr wrap="square" lIns="0" tIns="0" rIns="0" bIns="0" rtlCol="0" anchor="ctr"/>
          <a:lstStyle/>
          <a:p>
            <a:pPr algn="r" indent="0" marL="0">
              <a:buNone/>
            </a:pPr>
            <a:r>
              <a:rPr lang="en-US" sz="800" b="1" dirty="0">
                <a:solidFill>
                  <a:srgbClr val="8FA0BB"/>
                </a:solidFill>
                <a:latin typeface="Aptos" pitchFamily="34" charset="0"/>
                <a:ea typeface="Aptos" pitchFamily="34" charset="-122"/>
                <a:cs typeface="Aptos" pitchFamily="34" charset="-120"/>
              </a:rPr>
              <a:t>COMP 454 • 2026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What Is Data Transformation?</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Taking data in its current state and moving it closer to the form required by the consumer.</a:t>
            </a:r>
            <a:endParaRPr lang="en-US" sz="1100" dirty="0"/>
          </a:p>
        </p:txBody>
      </p:sp>
      <p:sp>
        <p:nvSpPr>
          <p:cNvPr id="4" name="Shape 2"/>
          <p:cNvSpPr/>
          <p:nvPr/>
        </p:nvSpPr>
        <p:spPr>
          <a:xfrm>
            <a:off x="713232" y="1600200"/>
            <a:ext cx="3246120" cy="2834640"/>
          </a:xfrm>
          <a:prstGeom prst="roundRect">
            <a:avLst>
              <a:gd name="adj" fmla="val 2258"/>
            </a:avLst>
          </a:prstGeom>
          <a:solidFill>
            <a:srgbClr val="FFFFFF"/>
          </a:solidFill>
          <a:ln w="12700">
            <a:solidFill>
              <a:srgbClr val="DDE2EA"/>
            </a:solidFill>
            <a:prstDash val="solid"/>
          </a:ln>
        </p:spPr>
      </p:sp>
      <p:sp>
        <p:nvSpPr>
          <p:cNvPr id="5" name="Shape 3"/>
          <p:cNvSpPr/>
          <p:nvPr/>
        </p:nvSpPr>
        <p:spPr>
          <a:xfrm>
            <a:off x="713232" y="1600200"/>
            <a:ext cx="50292" cy="2834640"/>
          </a:xfrm>
          <a:prstGeom prst="rect">
            <a:avLst/>
          </a:prstGeom>
          <a:solidFill>
            <a:srgbClr val="3B6FF5"/>
          </a:solidFill>
          <a:ln w="12700">
            <a:solidFill>
              <a:srgbClr val="3B6FF5"/>
            </a:solidFill>
            <a:prstDash val="solid"/>
          </a:ln>
        </p:spPr>
      </p:sp>
      <p:sp>
        <p:nvSpPr>
          <p:cNvPr id="6" name="Shape 4"/>
          <p:cNvSpPr/>
          <p:nvPr/>
        </p:nvSpPr>
        <p:spPr>
          <a:xfrm>
            <a:off x="914400" y="178308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914400" y="184708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BEFORE</a:t>
            </a:r>
            <a:endParaRPr lang="en-US" sz="730" dirty="0"/>
          </a:p>
        </p:txBody>
      </p:sp>
      <p:sp>
        <p:nvSpPr>
          <p:cNvPr id="8" name="Text 6"/>
          <p:cNvSpPr/>
          <p:nvPr/>
        </p:nvSpPr>
        <p:spPr>
          <a:xfrm>
            <a:off x="914400" y="2185416"/>
            <a:ext cx="288036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Input</a:t>
            </a:r>
            <a:endParaRPr lang="en-US" sz="1500" dirty="0"/>
          </a:p>
        </p:txBody>
      </p:sp>
      <p:sp>
        <p:nvSpPr>
          <p:cNvPr id="9" name="Text 7"/>
          <p:cNvSpPr/>
          <p:nvPr/>
        </p:nvSpPr>
        <p:spPr>
          <a:xfrm>
            <a:off x="914400" y="2560320"/>
            <a:ext cx="2862072" cy="1709928"/>
          </a:xfrm>
          <a:prstGeom prst="rect">
            <a:avLst/>
          </a:prstGeom>
          <a:noFill/>
          <a:ln/>
        </p:spPr>
        <p:txBody>
          <a:bodyPr wrap="square" lIns="254" tIns="254" rIns="254" bIns="254" rtlCol="0" anchor="t">
            <a:normAutofit/>
          </a:bodyPr>
          <a:lstStyle/>
          <a:p>
            <a:pPr indent="0" marL="0">
              <a:buNone/>
            </a:pPr>
            <a:r>
              <a:rPr lang="en-US" sz="1070" dirty="0">
                <a:solidFill>
                  <a:srgbClr val="283246"/>
                </a:solidFill>
                <a:latin typeface="Aptos" pitchFamily="34" charset="0"/>
                <a:ea typeface="Aptos" pitchFamily="34" charset="-122"/>
                <a:cs typeface="Aptos" pitchFamily="34" charset="-120"/>
              </a:rPr>
              <a:t>Raw or partially processed data</a:t>
            </a:r>
            <a:endParaRPr lang="en-US" sz="1070" dirty="0"/>
          </a:p>
          <a:p>
            <a:pPr indent="0" marL="0">
              <a:buNone/>
            </a:pPr>
            <a:endParaRPr lang="en-US" sz="1070" dirty="0"/>
          </a:p>
          <a:p>
            <a:pPr indent="0" marL="0">
              <a:buNone/>
            </a:pPr>
            <a:r>
              <a:rPr lang="en-US" sz="1070" dirty="0">
                <a:solidFill>
                  <a:srgbClr val="283246"/>
                </a:solidFill>
                <a:latin typeface="Aptos" pitchFamily="34" charset="0"/>
                <a:ea typeface="Aptos" pitchFamily="34" charset="-122"/>
                <a:cs typeface="Aptos" pitchFamily="34" charset="-120"/>
              </a:rPr>
              <a:t>Examples: JSON events, order rows, product master data.</a:t>
            </a:r>
            <a:endParaRPr lang="en-US" sz="1070" dirty="0"/>
          </a:p>
        </p:txBody>
      </p:sp>
      <p:sp>
        <p:nvSpPr>
          <p:cNvPr id="10" name="Shape 8"/>
          <p:cNvSpPr/>
          <p:nvPr/>
        </p:nvSpPr>
        <p:spPr>
          <a:xfrm>
            <a:off x="4041648" y="2834640"/>
            <a:ext cx="1353312" cy="0"/>
          </a:xfrm>
          <a:prstGeom prst="line">
            <a:avLst/>
          </a:prstGeom>
          <a:noFill/>
          <a:ln w="12700">
            <a:solidFill>
              <a:srgbClr val="687386"/>
            </a:solidFill>
            <a:prstDash val="solid"/>
            <a:headEnd type="none"/>
            <a:tailEnd type="triangle"/>
          </a:ln>
        </p:spPr>
      </p:sp>
      <p:sp>
        <p:nvSpPr>
          <p:cNvPr id="11" name="Shape 9"/>
          <p:cNvSpPr/>
          <p:nvPr/>
        </p:nvSpPr>
        <p:spPr>
          <a:xfrm>
            <a:off x="4279392" y="2258568"/>
            <a:ext cx="914400" cy="384048"/>
          </a:xfrm>
          <a:prstGeom prst="roundRect">
            <a:avLst>
              <a:gd name="adj" fmla="val 21429"/>
            </a:avLst>
          </a:prstGeom>
          <a:solidFill>
            <a:srgbClr val="F2EEFF"/>
          </a:solidFill>
          <a:ln w="12700">
            <a:solidFill>
              <a:srgbClr val="F2EEFF"/>
            </a:solidFill>
            <a:prstDash val="solid"/>
          </a:ln>
        </p:spPr>
      </p:sp>
      <p:sp>
        <p:nvSpPr>
          <p:cNvPr id="12" name="Text 10"/>
          <p:cNvSpPr/>
          <p:nvPr/>
        </p:nvSpPr>
        <p:spPr>
          <a:xfrm>
            <a:off x="4325112" y="2313432"/>
            <a:ext cx="822960" cy="274320"/>
          </a:xfrm>
          <a:prstGeom prst="rect">
            <a:avLst/>
          </a:prstGeom>
          <a:noFill/>
          <a:ln/>
        </p:spPr>
        <p:txBody>
          <a:bodyPr wrap="square" lIns="0" tIns="0" rIns="0" bIns="0" rtlCol="0" anchor="ctr">
            <a:normAutofit/>
          </a:bodyPr>
          <a:lstStyle/>
          <a:p>
            <a:pPr algn="ctr" indent="0" marL="0">
              <a:buNone/>
            </a:pPr>
            <a:r>
              <a:rPr lang="en-US" sz="900" b="1" dirty="0">
                <a:solidFill>
                  <a:srgbClr val="7C4DFF"/>
                </a:solidFill>
                <a:latin typeface="Aptos" pitchFamily="34" charset="0"/>
                <a:ea typeface="Aptos" pitchFamily="34" charset="-122"/>
                <a:cs typeface="Aptos" pitchFamily="34" charset="-120"/>
              </a:rPr>
              <a:t>LOGIC</a:t>
            </a:r>
            <a:endParaRPr lang="en-US" sz="900" dirty="0"/>
          </a:p>
        </p:txBody>
      </p:sp>
      <p:sp>
        <p:nvSpPr>
          <p:cNvPr id="13" name="Shape 11"/>
          <p:cNvSpPr/>
          <p:nvPr/>
        </p:nvSpPr>
        <p:spPr>
          <a:xfrm>
            <a:off x="5486400" y="1600200"/>
            <a:ext cx="1965960" cy="2834640"/>
          </a:xfrm>
          <a:prstGeom prst="roundRect">
            <a:avLst>
              <a:gd name="adj" fmla="val 3256"/>
            </a:avLst>
          </a:prstGeom>
          <a:solidFill>
            <a:srgbClr val="FFFFFF"/>
          </a:solidFill>
          <a:ln w="12700">
            <a:solidFill>
              <a:srgbClr val="DDE2EA"/>
            </a:solidFill>
            <a:prstDash val="solid"/>
          </a:ln>
        </p:spPr>
      </p:sp>
      <p:sp>
        <p:nvSpPr>
          <p:cNvPr id="14" name="Shape 12"/>
          <p:cNvSpPr/>
          <p:nvPr/>
        </p:nvSpPr>
        <p:spPr>
          <a:xfrm>
            <a:off x="5486400" y="1600200"/>
            <a:ext cx="50292" cy="2834640"/>
          </a:xfrm>
          <a:prstGeom prst="rect">
            <a:avLst/>
          </a:prstGeom>
          <a:solidFill>
            <a:srgbClr val="7C4DFF"/>
          </a:solidFill>
          <a:ln w="12700">
            <a:solidFill>
              <a:srgbClr val="7C4DFF"/>
            </a:solidFill>
            <a:prstDash val="solid"/>
          </a:ln>
        </p:spPr>
      </p:sp>
      <p:sp>
        <p:nvSpPr>
          <p:cNvPr id="15" name="Shape 13"/>
          <p:cNvSpPr/>
          <p:nvPr/>
        </p:nvSpPr>
        <p:spPr>
          <a:xfrm>
            <a:off x="5687568" y="1783080"/>
            <a:ext cx="566928" cy="310896"/>
          </a:xfrm>
          <a:prstGeom prst="roundRect">
            <a:avLst>
              <a:gd name="adj" fmla="val 14706"/>
            </a:avLst>
          </a:prstGeom>
          <a:solidFill>
            <a:srgbClr val="F2EEFF"/>
          </a:solidFill>
          <a:ln w="12700">
            <a:solidFill>
              <a:srgbClr val="F2EEFF"/>
            </a:solidFill>
            <a:prstDash val="solid"/>
          </a:ln>
        </p:spPr>
      </p:sp>
      <p:sp>
        <p:nvSpPr>
          <p:cNvPr id="16" name="Text 14"/>
          <p:cNvSpPr/>
          <p:nvPr/>
        </p:nvSpPr>
        <p:spPr>
          <a:xfrm>
            <a:off x="5687568" y="184708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T</a:t>
            </a:r>
            <a:endParaRPr lang="en-US" sz="730" dirty="0"/>
          </a:p>
        </p:txBody>
      </p:sp>
      <p:sp>
        <p:nvSpPr>
          <p:cNvPr id="17" name="Text 15"/>
          <p:cNvSpPr/>
          <p:nvPr/>
        </p:nvSpPr>
        <p:spPr>
          <a:xfrm>
            <a:off x="5687568" y="2185416"/>
            <a:ext cx="1600200"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Operations</a:t>
            </a:r>
            <a:endParaRPr lang="en-US" sz="1400" dirty="0"/>
          </a:p>
        </p:txBody>
      </p:sp>
      <p:sp>
        <p:nvSpPr>
          <p:cNvPr id="18" name="Text 16"/>
          <p:cNvSpPr/>
          <p:nvPr/>
        </p:nvSpPr>
        <p:spPr>
          <a:xfrm>
            <a:off x="5687568" y="2560320"/>
            <a:ext cx="1581912" cy="1709928"/>
          </a:xfrm>
          <a:prstGeom prst="rect">
            <a:avLst/>
          </a:prstGeom>
          <a:noFill/>
          <a:ln/>
        </p:spPr>
        <p:txBody>
          <a:bodyPr wrap="square" lIns="254" tIns="254" rIns="254" bIns="254" rtlCol="0" anchor="t">
            <a:normAutofit/>
          </a:bodyPr>
          <a:lstStyle/>
          <a:p>
            <a:pPr indent="0" marL="0">
              <a:buNone/>
            </a:pPr>
            <a:r>
              <a:rPr lang="en-US" sz="1080" dirty="0">
                <a:solidFill>
                  <a:srgbClr val="283246"/>
                </a:solidFill>
                <a:latin typeface="Aptos" pitchFamily="34" charset="0"/>
                <a:ea typeface="Aptos" pitchFamily="34" charset="-122"/>
                <a:cs typeface="Aptos" pitchFamily="34" charset="-120"/>
              </a:rPr>
              <a:t>Filter</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Cast</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Join</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Enrich</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Aggregate</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Reshape</a:t>
            </a:r>
            <a:endParaRPr lang="en-US" sz="1080" dirty="0"/>
          </a:p>
        </p:txBody>
      </p:sp>
      <p:sp>
        <p:nvSpPr>
          <p:cNvPr id="19" name="Shape 17"/>
          <p:cNvSpPr/>
          <p:nvPr/>
        </p:nvSpPr>
        <p:spPr>
          <a:xfrm>
            <a:off x="7543800" y="2834640"/>
            <a:ext cx="960120" cy="0"/>
          </a:xfrm>
          <a:prstGeom prst="line">
            <a:avLst/>
          </a:prstGeom>
          <a:noFill/>
          <a:ln w="12700">
            <a:solidFill>
              <a:srgbClr val="687386"/>
            </a:solidFill>
            <a:prstDash val="solid"/>
            <a:headEnd type="none"/>
            <a:tailEnd type="triangle"/>
          </a:ln>
        </p:spPr>
      </p:sp>
      <p:sp>
        <p:nvSpPr>
          <p:cNvPr id="20" name="Shape 18"/>
          <p:cNvSpPr/>
          <p:nvPr/>
        </p:nvSpPr>
        <p:spPr>
          <a:xfrm>
            <a:off x="8595360" y="1600200"/>
            <a:ext cx="2880360" cy="2834640"/>
          </a:xfrm>
          <a:prstGeom prst="roundRect">
            <a:avLst>
              <a:gd name="adj" fmla="val 2258"/>
            </a:avLst>
          </a:prstGeom>
          <a:solidFill>
            <a:srgbClr val="FFFFFF"/>
          </a:solidFill>
          <a:ln w="12700">
            <a:solidFill>
              <a:srgbClr val="DDE2EA"/>
            </a:solidFill>
            <a:prstDash val="solid"/>
          </a:ln>
        </p:spPr>
      </p:sp>
      <p:sp>
        <p:nvSpPr>
          <p:cNvPr id="21" name="Shape 19"/>
          <p:cNvSpPr/>
          <p:nvPr/>
        </p:nvSpPr>
        <p:spPr>
          <a:xfrm>
            <a:off x="8595360" y="1600200"/>
            <a:ext cx="50292" cy="2834640"/>
          </a:xfrm>
          <a:prstGeom prst="rect">
            <a:avLst/>
          </a:prstGeom>
          <a:solidFill>
            <a:srgbClr val="00A972"/>
          </a:solidFill>
          <a:ln w="12700">
            <a:solidFill>
              <a:srgbClr val="00A972"/>
            </a:solidFill>
            <a:prstDash val="solid"/>
          </a:ln>
        </p:spPr>
      </p:sp>
      <p:sp>
        <p:nvSpPr>
          <p:cNvPr id="22" name="Shape 20"/>
          <p:cNvSpPr/>
          <p:nvPr/>
        </p:nvSpPr>
        <p:spPr>
          <a:xfrm>
            <a:off x="8796528" y="1783080"/>
            <a:ext cx="566928" cy="310896"/>
          </a:xfrm>
          <a:prstGeom prst="roundRect">
            <a:avLst>
              <a:gd name="adj" fmla="val 14706"/>
            </a:avLst>
          </a:prstGeom>
          <a:solidFill>
            <a:srgbClr val="E9F8F3"/>
          </a:solidFill>
          <a:ln w="12700">
            <a:solidFill>
              <a:srgbClr val="E9F8F3"/>
            </a:solidFill>
            <a:prstDash val="solid"/>
          </a:ln>
        </p:spPr>
      </p:sp>
      <p:sp>
        <p:nvSpPr>
          <p:cNvPr id="23" name="Text 21"/>
          <p:cNvSpPr/>
          <p:nvPr/>
        </p:nvSpPr>
        <p:spPr>
          <a:xfrm>
            <a:off x="8796528" y="184708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AFTER</a:t>
            </a:r>
            <a:endParaRPr lang="en-US" sz="730" dirty="0"/>
          </a:p>
        </p:txBody>
      </p:sp>
      <p:sp>
        <p:nvSpPr>
          <p:cNvPr id="24" name="Text 22"/>
          <p:cNvSpPr/>
          <p:nvPr/>
        </p:nvSpPr>
        <p:spPr>
          <a:xfrm>
            <a:off x="8796528" y="2185416"/>
            <a:ext cx="251460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Output</a:t>
            </a:r>
            <a:endParaRPr lang="en-US" sz="1500" dirty="0"/>
          </a:p>
        </p:txBody>
      </p:sp>
      <p:sp>
        <p:nvSpPr>
          <p:cNvPr id="25" name="Text 23"/>
          <p:cNvSpPr/>
          <p:nvPr/>
        </p:nvSpPr>
        <p:spPr>
          <a:xfrm>
            <a:off x="8796528" y="2560320"/>
            <a:ext cx="2496312" cy="1709928"/>
          </a:xfrm>
          <a:prstGeom prst="rect">
            <a:avLst/>
          </a:prstGeom>
          <a:noFill/>
          <a:ln/>
        </p:spPr>
        <p:txBody>
          <a:bodyPr wrap="square" lIns="254" tIns="254" rIns="254" bIns="254" rtlCol="0" anchor="t">
            <a:normAutofit/>
          </a:bodyPr>
          <a:lstStyle/>
          <a:p>
            <a:pPr indent="0" marL="0">
              <a:buNone/>
            </a:pPr>
            <a:r>
              <a:rPr lang="en-US" sz="1070" dirty="0">
                <a:solidFill>
                  <a:srgbClr val="283246"/>
                </a:solidFill>
                <a:latin typeface="Aptos" pitchFamily="34" charset="0"/>
                <a:ea typeface="Aptos" pitchFamily="34" charset="-122"/>
                <a:cs typeface="Aptos" pitchFamily="34" charset="-120"/>
              </a:rPr>
              <a:t>A trusted asset aligned with analytical or operational requirements.</a:t>
            </a:r>
            <a:endParaRPr lang="en-US" sz="1070" dirty="0"/>
          </a:p>
        </p:txBody>
      </p:sp>
      <p:sp>
        <p:nvSpPr>
          <p:cNvPr id="26" name="Shape 24"/>
          <p:cNvSpPr/>
          <p:nvPr/>
        </p:nvSpPr>
        <p:spPr>
          <a:xfrm>
            <a:off x="1051560" y="4892040"/>
            <a:ext cx="10058400" cy="685800"/>
          </a:xfrm>
          <a:prstGeom prst="roundRect">
            <a:avLst>
              <a:gd name="adj" fmla="val 8000"/>
            </a:avLst>
          </a:prstGeom>
          <a:solidFill>
            <a:srgbClr val="FFF4F1"/>
          </a:solidFill>
          <a:ln w="12700">
            <a:solidFill>
              <a:srgbClr val="FFF4F1"/>
            </a:solidFill>
            <a:prstDash val="solid"/>
          </a:ln>
        </p:spPr>
      </p:sp>
      <p:sp>
        <p:nvSpPr>
          <p:cNvPr id="27" name="Text 25"/>
          <p:cNvSpPr/>
          <p:nvPr/>
        </p:nvSpPr>
        <p:spPr>
          <a:xfrm>
            <a:off x="1216152" y="5010912"/>
            <a:ext cx="9729216" cy="457200"/>
          </a:xfrm>
          <a:prstGeom prst="rect">
            <a:avLst/>
          </a:prstGeom>
          <a:noFill/>
          <a:ln/>
        </p:spPr>
        <p:txBody>
          <a:bodyPr wrap="square" lIns="0" tIns="0" rIns="0" bIns="0" rtlCol="0" anchor="ctr">
            <a:normAutofit/>
          </a:bodyPr>
          <a:lstStyle/>
          <a:p>
            <a:pPr indent="0" marL="0">
              <a:buNone/>
            </a:pPr>
            <a:r>
              <a:rPr lang="en-US" sz="1100" b="1" dirty="0">
                <a:solidFill>
                  <a:srgbClr val="FF3621"/>
                </a:solidFill>
                <a:latin typeface="Aptos" pitchFamily="34" charset="0"/>
                <a:ea typeface="Aptos" pitchFamily="34" charset="-122"/>
                <a:cs typeface="Aptos" pitchFamily="34" charset="-120"/>
              </a:rPr>
              <a:t>Transformation can occur repeatedly at many points in the pipeline—not only once in the middle.</a:t>
            </a:r>
            <a:endParaRPr lang="en-US" sz="1100" dirty="0"/>
          </a:p>
        </p:txBody>
      </p:sp>
      <p:sp>
        <p:nvSpPr>
          <p:cNvPr id="28" name="Text 26"/>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2</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Transformation Exists on a Spectrum</a:t>
            </a:r>
            <a:endParaRPr lang="en-US" sz="2400" dirty="0"/>
          </a:p>
        </p:txBody>
      </p:sp>
      <p:sp>
        <p:nvSpPr>
          <p:cNvPr id="3" name="Shape 1"/>
          <p:cNvSpPr/>
          <p:nvPr/>
        </p:nvSpPr>
        <p:spPr>
          <a:xfrm>
            <a:off x="502920" y="1737360"/>
            <a:ext cx="1993392" cy="3246120"/>
          </a:xfrm>
          <a:prstGeom prst="roundRect">
            <a:avLst>
              <a:gd name="adj" fmla="val 3211"/>
            </a:avLst>
          </a:prstGeom>
          <a:solidFill>
            <a:srgbClr val="FFFFFF"/>
          </a:solidFill>
          <a:ln w="12700">
            <a:solidFill>
              <a:srgbClr val="DDE2EA"/>
            </a:solidFill>
            <a:prstDash val="solid"/>
          </a:ln>
        </p:spPr>
      </p:sp>
      <p:sp>
        <p:nvSpPr>
          <p:cNvPr id="4" name="Shape 2"/>
          <p:cNvSpPr/>
          <p:nvPr/>
        </p:nvSpPr>
        <p:spPr>
          <a:xfrm>
            <a:off x="502920" y="1737360"/>
            <a:ext cx="50292" cy="3246120"/>
          </a:xfrm>
          <a:prstGeom prst="rect">
            <a:avLst/>
          </a:prstGeom>
          <a:solidFill>
            <a:srgbClr val="3B6FF5"/>
          </a:solidFill>
          <a:ln w="12700">
            <a:solidFill>
              <a:srgbClr val="3B6FF5"/>
            </a:solidFill>
            <a:prstDash val="solid"/>
          </a:ln>
        </p:spPr>
      </p:sp>
      <p:sp>
        <p:nvSpPr>
          <p:cNvPr id="5" name="Shape 3"/>
          <p:cNvSpPr/>
          <p:nvPr/>
        </p:nvSpPr>
        <p:spPr>
          <a:xfrm>
            <a:off x="704088" y="1920240"/>
            <a:ext cx="566928" cy="310896"/>
          </a:xfrm>
          <a:prstGeom prst="roundRect">
            <a:avLst>
              <a:gd name="adj" fmla="val 14706"/>
            </a:avLst>
          </a:prstGeom>
          <a:solidFill>
            <a:srgbClr val="EBF1FE"/>
          </a:solidFill>
          <a:ln w="12700">
            <a:solidFill>
              <a:srgbClr val="EBF1FE"/>
            </a:solidFill>
            <a:prstDash val="solid"/>
          </a:ln>
        </p:spPr>
      </p:sp>
      <p:sp>
        <p:nvSpPr>
          <p:cNvPr id="6" name="Text 4"/>
          <p:cNvSpPr/>
          <p:nvPr/>
        </p:nvSpPr>
        <p:spPr>
          <a:xfrm>
            <a:off x="704088" y="198424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1</a:t>
            </a:r>
            <a:endParaRPr lang="en-US" sz="730" dirty="0"/>
          </a:p>
        </p:txBody>
      </p:sp>
      <p:sp>
        <p:nvSpPr>
          <p:cNvPr id="7" name="Text 5"/>
          <p:cNvSpPr/>
          <p:nvPr/>
        </p:nvSpPr>
        <p:spPr>
          <a:xfrm>
            <a:off x="704088" y="2322576"/>
            <a:ext cx="1627632"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Simple</a:t>
            </a:r>
            <a:endParaRPr lang="en-US" sz="1350" dirty="0"/>
          </a:p>
        </p:txBody>
      </p:sp>
      <p:sp>
        <p:nvSpPr>
          <p:cNvPr id="8" name="Text 6"/>
          <p:cNvSpPr/>
          <p:nvPr/>
        </p:nvSpPr>
        <p:spPr>
          <a:xfrm>
            <a:off x="704088" y="2697480"/>
            <a:ext cx="1609344" cy="212140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Rename column</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Cast data type</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Filter bad row</a:t>
            </a:r>
            <a:endParaRPr lang="en-US" sz="1000" dirty="0"/>
          </a:p>
        </p:txBody>
      </p:sp>
      <p:sp>
        <p:nvSpPr>
          <p:cNvPr id="9" name="Shape 7"/>
          <p:cNvSpPr/>
          <p:nvPr/>
        </p:nvSpPr>
        <p:spPr>
          <a:xfrm>
            <a:off x="2514600" y="3246120"/>
            <a:ext cx="228600" cy="0"/>
          </a:xfrm>
          <a:prstGeom prst="line">
            <a:avLst/>
          </a:prstGeom>
          <a:noFill/>
          <a:ln w="12700">
            <a:solidFill>
              <a:srgbClr val="A0A8B4"/>
            </a:solidFill>
            <a:prstDash val="solid"/>
            <a:headEnd type="none"/>
            <a:tailEnd type="triangle"/>
          </a:ln>
        </p:spPr>
      </p:sp>
      <p:sp>
        <p:nvSpPr>
          <p:cNvPr id="10" name="Shape 8"/>
          <p:cNvSpPr/>
          <p:nvPr/>
        </p:nvSpPr>
        <p:spPr>
          <a:xfrm>
            <a:off x="2807208" y="1737360"/>
            <a:ext cx="1993392" cy="3246120"/>
          </a:xfrm>
          <a:prstGeom prst="roundRect">
            <a:avLst>
              <a:gd name="adj" fmla="val 3211"/>
            </a:avLst>
          </a:prstGeom>
          <a:solidFill>
            <a:srgbClr val="FFFFFF"/>
          </a:solidFill>
          <a:ln w="12700">
            <a:solidFill>
              <a:srgbClr val="DDE2EA"/>
            </a:solidFill>
            <a:prstDash val="solid"/>
          </a:ln>
        </p:spPr>
      </p:sp>
      <p:sp>
        <p:nvSpPr>
          <p:cNvPr id="11" name="Shape 9"/>
          <p:cNvSpPr/>
          <p:nvPr/>
        </p:nvSpPr>
        <p:spPr>
          <a:xfrm>
            <a:off x="2807208" y="1737360"/>
            <a:ext cx="50292" cy="3246120"/>
          </a:xfrm>
          <a:prstGeom prst="rect">
            <a:avLst/>
          </a:prstGeom>
          <a:solidFill>
            <a:srgbClr val="00A972"/>
          </a:solidFill>
          <a:ln w="12700">
            <a:solidFill>
              <a:srgbClr val="00A972"/>
            </a:solidFill>
            <a:prstDash val="solid"/>
          </a:ln>
        </p:spPr>
      </p:sp>
      <p:sp>
        <p:nvSpPr>
          <p:cNvPr id="12" name="Shape 10"/>
          <p:cNvSpPr/>
          <p:nvPr/>
        </p:nvSpPr>
        <p:spPr>
          <a:xfrm>
            <a:off x="3008376" y="1920240"/>
            <a:ext cx="566928" cy="310896"/>
          </a:xfrm>
          <a:prstGeom prst="roundRect">
            <a:avLst>
              <a:gd name="adj" fmla="val 14706"/>
            </a:avLst>
          </a:prstGeom>
          <a:solidFill>
            <a:srgbClr val="E6F6F1"/>
          </a:solidFill>
          <a:ln w="12700">
            <a:solidFill>
              <a:srgbClr val="E6F6F1"/>
            </a:solidFill>
            <a:prstDash val="solid"/>
          </a:ln>
        </p:spPr>
      </p:sp>
      <p:sp>
        <p:nvSpPr>
          <p:cNvPr id="13" name="Text 11"/>
          <p:cNvSpPr/>
          <p:nvPr/>
        </p:nvSpPr>
        <p:spPr>
          <a:xfrm>
            <a:off x="3008376" y="198424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2</a:t>
            </a:r>
            <a:endParaRPr lang="en-US" sz="730" dirty="0"/>
          </a:p>
        </p:txBody>
      </p:sp>
      <p:sp>
        <p:nvSpPr>
          <p:cNvPr id="14" name="Text 12"/>
          <p:cNvSpPr/>
          <p:nvPr/>
        </p:nvSpPr>
        <p:spPr>
          <a:xfrm>
            <a:off x="3008376" y="2322576"/>
            <a:ext cx="1627632"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Structural</a:t>
            </a:r>
            <a:endParaRPr lang="en-US" sz="1350" dirty="0"/>
          </a:p>
        </p:txBody>
      </p:sp>
      <p:sp>
        <p:nvSpPr>
          <p:cNvPr id="15" name="Text 13"/>
          <p:cNvSpPr/>
          <p:nvPr/>
        </p:nvSpPr>
        <p:spPr>
          <a:xfrm>
            <a:off x="3008376" y="2697480"/>
            <a:ext cx="1609344" cy="212140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Flatten JSON</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Pivot/unpivot</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Normalize keys</a:t>
            </a:r>
            <a:endParaRPr lang="en-US" sz="1000" dirty="0"/>
          </a:p>
        </p:txBody>
      </p:sp>
      <p:sp>
        <p:nvSpPr>
          <p:cNvPr id="16" name="Shape 14"/>
          <p:cNvSpPr/>
          <p:nvPr/>
        </p:nvSpPr>
        <p:spPr>
          <a:xfrm>
            <a:off x="4818888" y="3246120"/>
            <a:ext cx="228600" cy="0"/>
          </a:xfrm>
          <a:prstGeom prst="line">
            <a:avLst/>
          </a:prstGeom>
          <a:noFill/>
          <a:ln w="12700">
            <a:solidFill>
              <a:srgbClr val="A0A8B4"/>
            </a:solidFill>
            <a:prstDash val="solid"/>
            <a:headEnd type="none"/>
            <a:tailEnd type="triangle"/>
          </a:ln>
        </p:spPr>
      </p:sp>
      <p:sp>
        <p:nvSpPr>
          <p:cNvPr id="17" name="Shape 15"/>
          <p:cNvSpPr/>
          <p:nvPr/>
        </p:nvSpPr>
        <p:spPr>
          <a:xfrm>
            <a:off x="5111496" y="1737360"/>
            <a:ext cx="1993392" cy="3246120"/>
          </a:xfrm>
          <a:prstGeom prst="roundRect">
            <a:avLst>
              <a:gd name="adj" fmla="val 3211"/>
            </a:avLst>
          </a:prstGeom>
          <a:solidFill>
            <a:srgbClr val="FFFFFF"/>
          </a:solidFill>
          <a:ln w="12700">
            <a:solidFill>
              <a:srgbClr val="DDE2EA"/>
            </a:solidFill>
            <a:prstDash val="solid"/>
          </a:ln>
        </p:spPr>
      </p:sp>
      <p:sp>
        <p:nvSpPr>
          <p:cNvPr id="18" name="Shape 16"/>
          <p:cNvSpPr/>
          <p:nvPr/>
        </p:nvSpPr>
        <p:spPr>
          <a:xfrm>
            <a:off x="5111496" y="1737360"/>
            <a:ext cx="50292" cy="3246120"/>
          </a:xfrm>
          <a:prstGeom prst="rect">
            <a:avLst/>
          </a:prstGeom>
          <a:solidFill>
            <a:srgbClr val="7C4DFF"/>
          </a:solidFill>
          <a:ln w="12700">
            <a:solidFill>
              <a:srgbClr val="7C4DFF"/>
            </a:solidFill>
            <a:prstDash val="solid"/>
          </a:ln>
        </p:spPr>
      </p:sp>
      <p:sp>
        <p:nvSpPr>
          <p:cNvPr id="19" name="Shape 17"/>
          <p:cNvSpPr/>
          <p:nvPr/>
        </p:nvSpPr>
        <p:spPr>
          <a:xfrm>
            <a:off x="5312664" y="1920240"/>
            <a:ext cx="566928" cy="310896"/>
          </a:xfrm>
          <a:prstGeom prst="roundRect">
            <a:avLst>
              <a:gd name="adj" fmla="val 14706"/>
            </a:avLst>
          </a:prstGeom>
          <a:solidFill>
            <a:srgbClr val="F2EDFF"/>
          </a:solidFill>
          <a:ln w="12700">
            <a:solidFill>
              <a:srgbClr val="F2EDFF"/>
            </a:solidFill>
            <a:prstDash val="solid"/>
          </a:ln>
        </p:spPr>
      </p:sp>
      <p:sp>
        <p:nvSpPr>
          <p:cNvPr id="20" name="Text 18"/>
          <p:cNvSpPr/>
          <p:nvPr/>
        </p:nvSpPr>
        <p:spPr>
          <a:xfrm>
            <a:off x="5312664" y="198424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3</a:t>
            </a:r>
            <a:endParaRPr lang="en-US" sz="730" dirty="0"/>
          </a:p>
        </p:txBody>
      </p:sp>
      <p:sp>
        <p:nvSpPr>
          <p:cNvPr id="21" name="Text 19"/>
          <p:cNvSpPr/>
          <p:nvPr/>
        </p:nvSpPr>
        <p:spPr>
          <a:xfrm>
            <a:off x="5312664" y="2322576"/>
            <a:ext cx="1627632"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Integrative</a:t>
            </a:r>
            <a:endParaRPr lang="en-US" sz="1350" dirty="0"/>
          </a:p>
        </p:txBody>
      </p:sp>
      <p:sp>
        <p:nvSpPr>
          <p:cNvPr id="22" name="Text 20"/>
          <p:cNvSpPr/>
          <p:nvPr/>
        </p:nvSpPr>
        <p:spPr>
          <a:xfrm>
            <a:off x="5312664" y="2697480"/>
            <a:ext cx="1609344" cy="212140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JOIN sources</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Map reference data</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Resolve entities</a:t>
            </a:r>
            <a:endParaRPr lang="en-US" sz="1000" dirty="0"/>
          </a:p>
        </p:txBody>
      </p:sp>
      <p:sp>
        <p:nvSpPr>
          <p:cNvPr id="23" name="Shape 21"/>
          <p:cNvSpPr/>
          <p:nvPr/>
        </p:nvSpPr>
        <p:spPr>
          <a:xfrm>
            <a:off x="7123176" y="3246120"/>
            <a:ext cx="228600" cy="0"/>
          </a:xfrm>
          <a:prstGeom prst="line">
            <a:avLst/>
          </a:prstGeom>
          <a:noFill/>
          <a:ln w="12700">
            <a:solidFill>
              <a:srgbClr val="A0A8B4"/>
            </a:solidFill>
            <a:prstDash val="solid"/>
            <a:headEnd type="none"/>
            <a:tailEnd type="triangle"/>
          </a:ln>
        </p:spPr>
      </p:sp>
      <p:sp>
        <p:nvSpPr>
          <p:cNvPr id="24" name="Shape 22"/>
          <p:cNvSpPr/>
          <p:nvPr/>
        </p:nvSpPr>
        <p:spPr>
          <a:xfrm>
            <a:off x="7415784" y="1737360"/>
            <a:ext cx="1993392" cy="3246120"/>
          </a:xfrm>
          <a:prstGeom prst="roundRect">
            <a:avLst>
              <a:gd name="adj" fmla="val 3211"/>
            </a:avLst>
          </a:prstGeom>
          <a:solidFill>
            <a:srgbClr val="FFFFFF"/>
          </a:solidFill>
          <a:ln w="12700">
            <a:solidFill>
              <a:srgbClr val="DDE2EA"/>
            </a:solidFill>
            <a:prstDash val="solid"/>
          </a:ln>
        </p:spPr>
      </p:sp>
      <p:sp>
        <p:nvSpPr>
          <p:cNvPr id="25" name="Shape 23"/>
          <p:cNvSpPr/>
          <p:nvPr/>
        </p:nvSpPr>
        <p:spPr>
          <a:xfrm>
            <a:off x="7415784" y="1737360"/>
            <a:ext cx="50292" cy="3246120"/>
          </a:xfrm>
          <a:prstGeom prst="rect">
            <a:avLst/>
          </a:prstGeom>
          <a:solidFill>
            <a:srgbClr val="F3A712"/>
          </a:solidFill>
          <a:ln w="12700">
            <a:solidFill>
              <a:srgbClr val="F3A712"/>
            </a:solidFill>
            <a:prstDash val="solid"/>
          </a:ln>
        </p:spPr>
      </p:sp>
      <p:sp>
        <p:nvSpPr>
          <p:cNvPr id="26" name="Shape 24"/>
          <p:cNvSpPr/>
          <p:nvPr/>
        </p:nvSpPr>
        <p:spPr>
          <a:xfrm>
            <a:off x="7616952" y="1920240"/>
            <a:ext cx="566928" cy="310896"/>
          </a:xfrm>
          <a:prstGeom prst="roundRect">
            <a:avLst>
              <a:gd name="adj" fmla="val 14706"/>
            </a:avLst>
          </a:prstGeom>
          <a:solidFill>
            <a:srgbClr val="FEF6E7"/>
          </a:solidFill>
          <a:ln w="12700">
            <a:solidFill>
              <a:srgbClr val="FEF6E7"/>
            </a:solidFill>
            <a:prstDash val="solid"/>
          </a:ln>
        </p:spPr>
      </p:sp>
      <p:sp>
        <p:nvSpPr>
          <p:cNvPr id="27" name="Text 25"/>
          <p:cNvSpPr/>
          <p:nvPr/>
        </p:nvSpPr>
        <p:spPr>
          <a:xfrm>
            <a:off x="7616952" y="1984248"/>
            <a:ext cx="566928" cy="128016"/>
          </a:xfrm>
          <a:prstGeom prst="rect">
            <a:avLst/>
          </a:prstGeom>
          <a:noFill/>
          <a:ln/>
        </p:spPr>
        <p:txBody>
          <a:bodyPr wrap="square" lIns="0" tIns="0" rIns="0" bIns="0" rtlCol="0" anchor="ctr"/>
          <a:lstStyle/>
          <a:p>
            <a:pPr algn="ctr" indent="0" marL="0">
              <a:buNone/>
            </a:pPr>
            <a:r>
              <a:rPr lang="en-US" sz="730" b="1" dirty="0">
                <a:solidFill>
                  <a:srgbClr val="F3A712"/>
                </a:solidFill>
              </a:rPr>
              <a:t>4</a:t>
            </a:r>
            <a:endParaRPr lang="en-US" sz="730" dirty="0"/>
          </a:p>
        </p:txBody>
      </p:sp>
      <p:sp>
        <p:nvSpPr>
          <p:cNvPr id="28" name="Text 26"/>
          <p:cNvSpPr/>
          <p:nvPr/>
        </p:nvSpPr>
        <p:spPr>
          <a:xfrm>
            <a:off x="7616952" y="2322576"/>
            <a:ext cx="1627632"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Analytical</a:t>
            </a:r>
            <a:endParaRPr lang="en-US" sz="1350" dirty="0"/>
          </a:p>
        </p:txBody>
      </p:sp>
      <p:sp>
        <p:nvSpPr>
          <p:cNvPr id="29" name="Text 27"/>
          <p:cNvSpPr/>
          <p:nvPr/>
        </p:nvSpPr>
        <p:spPr>
          <a:xfrm>
            <a:off x="7616952" y="2697480"/>
            <a:ext cx="1609344" cy="212140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Aggregate</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Window functions</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Feature engineering</a:t>
            </a:r>
            <a:endParaRPr lang="en-US" sz="1000" dirty="0"/>
          </a:p>
        </p:txBody>
      </p:sp>
      <p:sp>
        <p:nvSpPr>
          <p:cNvPr id="30" name="Shape 28"/>
          <p:cNvSpPr/>
          <p:nvPr/>
        </p:nvSpPr>
        <p:spPr>
          <a:xfrm>
            <a:off x="9427464" y="3246120"/>
            <a:ext cx="228600" cy="0"/>
          </a:xfrm>
          <a:prstGeom prst="line">
            <a:avLst/>
          </a:prstGeom>
          <a:noFill/>
          <a:ln w="12700">
            <a:solidFill>
              <a:srgbClr val="A0A8B4"/>
            </a:solidFill>
            <a:prstDash val="solid"/>
            <a:headEnd type="none"/>
            <a:tailEnd type="triangle"/>
          </a:ln>
        </p:spPr>
      </p:sp>
      <p:sp>
        <p:nvSpPr>
          <p:cNvPr id="31" name="Shape 29"/>
          <p:cNvSpPr/>
          <p:nvPr/>
        </p:nvSpPr>
        <p:spPr>
          <a:xfrm>
            <a:off x="9720072" y="1737360"/>
            <a:ext cx="1993392" cy="3246120"/>
          </a:xfrm>
          <a:prstGeom prst="roundRect">
            <a:avLst>
              <a:gd name="adj" fmla="val 3211"/>
            </a:avLst>
          </a:prstGeom>
          <a:solidFill>
            <a:srgbClr val="FFFFFF"/>
          </a:solidFill>
          <a:ln w="12700">
            <a:solidFill>
              <a:srgbClr val="DDE2EA"/>
            </a:solidFill>
            <a:prstDash val="solid"/>
          </a:ln>
        </p:spPr>
      </p:sp>
      <p:sp>
        <p:nvSpPr>
          <p:cNvPr id="32" name="Shape 30"/>
          <p:cNvSpPr/>
          <p:nvPr/>
        </p:nvSpPr>
        <p:spPr>
          <a:xfrm>
            <a:off x="9720072" y="1737360"/>
            <a:ext cx="50292" cy="3246120"/>
          </a:xfrm>
          <a:prstGeom prst="rect">
            <a:avLst/>
          </a:prstGeom>
          <a:solidFill>
            <a:srgbClr val="FF3621"/>
          </a:solidFill>
          <a:ln w="12700">
            <a:solidFill>
              <a:srgbClr val="FF3621"/>
            </a:solidFill>
            <a:prstDash val="solid"/>
          </a:ln>
        </p:spPr>
      </p:sp>
      <p:sp>
        <p:nvSpPr>
          <p:cNvPr id="33" name="Shape 31"/>
          <p:cNvSpPr/>
          <p:nvPr/>
        </p:nvSpPr>
        <p:spPr>
          <a:xfrm>
            <a:off x="9921240" y="1920240"/>
            <a:ext cx="566928" cy="310896"/>
          </a:xfrm>
          <a:prstGeom prst="roundRect">
            <a:avLst>
              <a:gd name="adj" fmla="val 14706"/>
            </a:avLst>
          </a:prstGeom>
          <a:solidFill>
            <a:srgbClr val="FFEBE9"/>
          </a:solidFill>
          <a:ln w="12700">
            <a:solidFill>
              <a:srgbClr val="FFEBE9"/>
            </a:solidFill>
            <a:prstDash val="solid"/>
          </a:ln>
        </p:spPr>
      </p:sp>
      <p:sp>
        <p:nvSpPr>
          <p:cNvPr id="34" name="Text 32"/>
          <p:cNvSpPr/>
          <p:nvPr/>
        </p:nvSpPr>
        <p:spPr>
          <a:xfrm>
            <a:off x="9921240" y="198424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5</a:t>
            </a:r>
            <a:endParaRPr lang="en-US" sz="730" dirty="0"/>
          </a:p>
        </p:txBody>
      </p:sp>
      <p:sp>
        <p:nvSpPr>
          <p:cNvPr id="35" name="Text 33"/>
          <p:cNvSpPr/>
          <p:nvPr/>
        </p:nvSpPr>
        <p:spPr>
          <a:xfrm>
            <a:off x="9921240" y="2322576"/>
            <a:ext cx="1627632" cy="347472"/>
          </a:xfrm>
          <a:prstGeom prst="rect">
            <a:avLst/>
          </a:prstGeom>
          <a:noFill/>
          <a:ln/>
        </p:spPr>
        <p:txBody>
          <a:bodyPr wrap="square" lIns="0" tIns="0" rIns="0" bIns="0" rtlCol="0" anchor="ctr">
            <a:normAutofit/>
          </a:bodyPr>
          <a:lstStyle/>
          <a:p>
            <a:pPr indent="0" marL="0">
              <a:buNone/>
            </a:pPr>
            <a:r>
              <a:rPr lang="en-US" sz="1350" b="1" dirty="0">
                <a:solidFill>
                  <a:srgbClr val="17233C"/>
                </a:solidFill>
                <a:latin typeface="Aptos Display" pitchFamily="34" charset="0"/>
                <a:ea typeface="Aptos Display" pitchFamily="34" charset="-122"/>
                <a:cs typeface="Aptos Display" pitchFamily="34" charset="-120"/>
              </a:rPr>
              <a:t>Modeling</a:t>
            </a:r>
            <a:endParaRPr lang="en-US" sz="1350" dirty="0"/>
          </a:p>
        </p:txBody>
      </p:sp>
      <p:sp>
        <p:nvSpPr>
          <p:cNvPr id="36" name="Text 34"/>
          <p:cNvSpPr/>
          <p:nvPr/>
        </p:nvSpPr>
        <p:spPr>
          <a:xfrm>
            <a:off x="9921240" y="2697480"/>
            <a:ext cx="1609344" cy="212140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Facts + dimensions</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SCD history</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Business marts</a:t>
            </a:r>
            <a:endParaRPr lang="en-US" sz="1000" dirty="0"/>
          </a:p>
        </p:txBody>
      </p:sp>
      <p:sp>
        <p:nvSpPr>
          <p:cNvPr id="37" name="Text 35"/>
          <p:cNvSpPr/>
          <p:nvPr/>
        </p:nvSpPr>
        <p:spPr>
          <a:xfrm>
            <a:off x="7818120" y="5257800"/>
            <a:ext cx="2834640" cy="274320"/>
          </a:xfrm>
          <a:prstGeom prst="rect">
            <a:avLst/>
          </a:prstGeom>
          <a:noFill/>
          <a:ln/>
        </p:spPr>
        <p:txBody>
          <a:bodyPr wrap="square" lIns="0" tIns="0" rIns="0" bIns="0" rtlCol="0" anchor="ctr"/>
          <a:lstStyle/>
          <a:p>
            <a:pPr algn="r" indent="0" marL="0">
              <a:buNone/>
            </a:pPr>
            <a:r>
              <a:rPr lang="en-US" sz="1000" b="1" dirty="0">
                <a:solidFill>
                  <a:srgbClr val="687386"/>
                </a:solidFill>
                <a:latin typeface="Aptos" pitchFamily="34" charset="0"/>
                <a:ea typeface="Aptos" pitchFamily="34" charset="-122"/>
                <a:cs typeface="Aptos" pitchFamily="34" charset="-120"/>
              </a:rPr>
              <a:t>Increasing business semantics →</a:t>
            </a:r>
            <a:endParaRPr lang="en-US" sz="10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Core Transformation Patterns</a:t>
            </a:r>
            <a:endParaRPr lang="en-US" sz="2400" dirty="0"/>
          </a:p>
        </p:txBody>
      </p:sp>
      <p:sp>
        <p:nvSpPr>
          <p:cNvPr id="3" name="Shape 1"/>
          <p:cNvSpPr/>
          <p:nvPr/>
        </p:nvSpPr>
        <p:spPr>
          <a:xfrm>
            <a:off x="438912" y="1426464"/>
            <a:ext cx="2615184" cy="1600200"/>
          </a:xfrm>
          <a:prstGeom prst="roundRect">
            <a:avLst>
              <a:gd name="adj" fmla="val 4000"/>
            </a:avLst>
          </a:prstGeom>
          <a:solidFill>
            <a:srgbClr val="FFFFFF"/>
          </a:solidFill>
          <a:ln w="12700">
            <a:solidFill>
              <a:srgbClr val="DDE2EA"/>
            </a:solidFill>
            <a:prstDash val="solid"/>
          </a:ln>
        </p:spPr>
      </p:sp>
      <p:sp>
        <p:nvSpPr>
          <p:cNvPr id="4" name="Shape 2"/>
          <p:cNvSpPr/>
          <p:nvPr/>
        </p:nvSpPr>
        <p:spPr>
          <a:xfrm>
            <a:off x="438912" y="1426464"/>
            <a:ext cx="50292" cy="1600200"/>
          </a:xfrm>
          <a:prstGeom prst="rect">
            <a:avLst/>
          </a:prstGeom>
          <a:solidFill>
            <a:srgbClr val="3B6FF5"/>
          </a:solidFill>
          <a:ln w="12700">
            <a:solidFill>
              <a:srgbClr val="3B6FF5"/>
            </a:solidFill>
            <a:prstDash val="solid"/>
          </a:ln>
        </p:spPr>
      </p:sp>
      <p:sp>
        <p:nvSpPr>
          <p:cNvPr id="5" name="Text 3"/>
          <p:cNvSpPr/>
          <p:nvPr/>
        </p:nvSpPr>
        <p:spPr>
          <a:xfrm>
            <a:off x="640080" y="1645920"/>
            <a:ext cx="2249424"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Filter</a:t>
            </a:r>
            <a:endParaRPr lang="en-US" sz="1250" dirty="0"/>
          </a:p>
        </p:txBody>
      </p:sp>
      <p:sp>
        <p:nvSpPr>
          <p:cNvPr id="6" name="Text 4"/>
          <p:cNvSpPr/>
          <p:nvPr/>
        </p:nvSpPr>
        <p:spPr>
          <a:xfrm>
            <a:off x="640080" y="2084832"/>
            <a:ext cx="2231136" cy="777240"/>
          </a:xfrm>
          <a:prstGeom prst="rect">
            <a:avLst/>
          </a:prstGeom>
          <a:noFill/>
          <a:ln/>
        </p:spPr>
        <p:txBody>
          <a:bodyPr wrap="square" lIns="254" tIns="254" rIns="254" bIns="254" rtlCol="0" anchor="t">
            <a:normAutofit/>
          </a:bodyPr>
          <a:lstStyle/>
          <a:p>
            <a:pPr indent="0" marL="0">
              <a:buNone/>
            </a:pPr>
            <a:r>
              <a:rPr lang="en-US" sz="910" dirty="0">
                <a:solidFill>
                  <a:srgbClr val="283246"/>
                </a:solidFill>
                <a:latin typeface="Aptos" pitchFamily="34" charset="0"/>
                <a:ea typeface="Aptos" pitchFamily="34" charset="-122"/>
                <a:cs typeface="Aptos" pitchFamily="34" charset="-120"/>
              </a:rPr>
              <a:t>Remove invalid or irrelevant rows</a:t>
            </a:r>
            <a:endParaRPr lang="en-US" sz="910" dirty="0"/>
          </a:p>
        </p:txBody>
      </p:sp>
      <p:sp>
        <p:nvSpPr>
          <p:cNvPr id="7" name="Shape 5"/>
          <p:cNvSpPr/>
          <p:nvPr/>
        </p:nvSpPr>
        <p:spPr>
          <a:xfrm>
            <a:off x="3328416" y="1426464"/>
            <a:ext cx="2615184" cy="1600200"/>
          </a:xfrm>
          <a:prstGeom prst="roundRect">
            <a:avLst>
              <a:gd name="adj" fmla="val 4000"/>
            </a:avLst>
          </a:prstGeom>
          <a:solidFill>
            <a:srgbClr val="FFFFFF"/>
          </a:solidFill>
          <a:ln w="12700">
            <a:solidFill>
              <a:srgbClr val="DDE2EA"/>
            </a:solidFill>
            <a:prstDash val="solid"/>
          </a:ln>
        </p:spPr>
      </p:sp>
      <p:sp>
        <p:nvSpPr>
          <p:cNvPr id="8" name="Shape 6"/>
          <p:cNvSpPr/>
          <p:nvPr/>
        </p:nvSpPr>
        <p:spPr>
          <a:xfrm>
            <a:off x="3328416" y="1426464"/>
            <a:ext cx="50292" cy="1600200"/>
          </a:xfrm>
          <a:prstGeom prst="rect">
            <a:avLst/>
          </a:prstGeom>
          <a:solidFill>
            <a:srgbClr val="00A972"/>
          </a:solidFill>
          <a:ln w="12700">
            <a:solidFill>
              <a:srgbClr val="00A972"/>
            </a:solidFill>
            <a:prstDash val="solid"/>
          </a:ln>
        </p:spPr>
      </p:sp>
      <p:sp>
        <p:nvSpPr>
          <p:cNvPr id="9" name="Text 7"/>
          <p:cNvSpPr/>
          <p:nvPr/>
        </p:nvSpPr>
        <p:spPr>
          <a:xfrm>
            <a:off x="3529584" y="1645920"/>
            <a:ext cx="2249424"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Convert</a:t>
            </a:r>
            <a:endParaRPr lang="en-US" sz="1250" dirty="0"/>
          </a:p>
        </p:txBody>
      </p:sp>
      <p:sp>
        <p:nvSpPr>
          <p:cNvPr id="10" name="Text 8"/>
          <p:cNvSpPr/>
          <p:nvPr/>
        </p:nvSpPr>
        <p:spPr>
          <a:xfrm>
            <a:off x="3529584" y="2084832"/>
            <a:ext cx="2231136" cy="777240"/>
          </a:xfrm>
          <a:prstGeom prst="rect">
            <a:avLst/>
          </a:prstGeom>
          <a:noFill/>
          <a:ln/>
        </p:spPr>
        <p:txBody>
          <a:bodyPr wrap="square" lIns="254" tIns="254" rIns="254" bIns="254" rtlCol="0" anchor="t">
            <a:normAutofit/>
          </a:bodyPr>
          <a:lstStyle/>
          <a:p>
            <a:pPr indent="0" marL="0">
              <a:buNone/>
            </a:pPr>
            <a:r>
              <a:rPr lang="en-US" sz="910" dirty="0">
                <a:solidFill>
                  <a:srgbClr val="283246"/>
                </a:solidFill>
                <a:latin typeface="Aptos" pitchFamily="34" charset="0"/>
                <a:ea typeface="Aptos" pitchFamily="34" charset="-122"/>
                <a:cs typeface="Aptos" pitchFamily="34" charset="-120"/>
              </a:rPr>
              <a:t>Cast types and standardise formats</a:t>
            </a:r>
            <a:endParaRPr lang="en-US" sz="910" dirty="0"/>
          </a:p>
        </p:txBody>
      </p:sp>
      <p:sp>
        <p:nvSpPr>
          <p:cNvPr id="11" name="Shape 9"/>
          <p:cNvSpPr/>
          <p:nvPr/>
        </p:nvSpPr>
        <p:spPr>
          <a:xfrm>
            <a:off x="6217920" y="1426464"/>
            <a:ext cx="2615184" cy="1600200"/>
          </a:xfrm>
          <a:prstGeom prst="roundRect">
            <a:avLst>
              <a:gd name="adj" fmla="val 4000"/>
            </a:avLst>
          </a:prstGeom>
          <a:solidFill>
            <a:srgbClr val="FFFFFF"/>
          </a:solidFill>
          <a:ln w="12700">
            <a:solidFill>
              <a:srgbClr val="DDE2EA"/>
            </a:solidFill>
            <a:prstDash val="solid"/>
          </a:ln>
        </p:spPr>
      </p:sp>
      <p:sp>
        <p:nvSpPr>
          <p:cNvPr id="12" name="Shape 10"/>
          <p:cNvSpPr/>
          <p:nvPr/>
        </p:nvSpPr>
        <p:spPr>
          <a:xfrm>
            <a:off x="6217920" y="1426464"/>
            <a:ext cx="50292" cy="1600200"/>
          </a:xfrm>
          <a:prstGeom prst="rect">
            <a:avLst/>
          </a:prstGeom>
          <a:solidFill>
            <a:srgbClr val="7C4DFF"/>
          </a:solidFill>
          <a:ln w="12700">
            <a:solidFill>
              <a:srgbClr val="7C4DFF"/>
            </a:solidFill>
            <a:prstDash val="solid"/>
          </a:ln>
        </p:spPr>
      </p:sp>
      <p:sp>
        <p:nvSpPr>
          <p:cNvPr id="13" name="Text 11"/>
          <p:cNvSpPr/>
          <p:nvPr/>
        </p:nvSpPr>
        <p:spPr>
          <a:xfrm>
            <a:off x="6419088" y="1645920"/>
            <a:ext cx="2249424"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Join</a:t>
            </a:r>
            <a:endParaRPr lang="en-US" sz="1250" dirty="0"/>
          </a:p>
        </p:txBody>
      </p:sp>
      <p:sp>
        <p:nvSpPr>
          <p:cNvPr id="14" name="Text 12"/>
          <p:cNvSpPr/>
          <p:nvPr/>
        </p:nvSpPr>
        <p:spPr>
          <a:xfrm>
            <a:off x="6419088" y="2084832"/>
            <a:ext cx="2231136" cy="777240"/>
          </a:xfrm>
          <a:prstGeom prst="rect">
            <a:avLst/>
          </a:prstGeom>
          <a:noFill/>
          <a:ln/>
        </p:spPr>
        <p:txBody>
          <a:bodyPr wrap="square" lIns="254" tIns="254" rIns="254" bIns="254" rtlCol="0" anchor="t">
            <a:normAutofit/>
          </a:bodyPr>
          <a:lstStyle/>
          <a:p>
            <a:pPr indent="0" marL="0">
              <a:buNone/>
            </a:pPr>
            <a:r>
              <a:rPr lang="en-US" sz="910" dirty="0">
                <a:solidFill>
                  <a:srgbClr val="283246"/>
                </a:solidFill>
                <a:latin typeface="Aptos" pitchFamily="34" charset="0"/>
                <a:ea typeface="Aptos" pitchFamily="34" charset="-122"/>
                <a:cs typeface="Aptos" pitchFamily="34" charset="-120"/>
              </a:rPr>
              <a:t>Combine related datasets</a:t>
            </a:r>
            <a:endParaRPr lang="en-US" sz="910" dirty="0"/>
          </a:p>
        </p:txBody>
      </p:sp>
      <p:sp>
        <p:nvSpPr>
          <p:cNvPr id="15" name="Shape 13"/>
          <p:cNvSpPr/>
          <p:nvPr/>
        </p:nvSpPr>
        <p:spPr>
          <a:xfrm>
            <a:off x="9107424" y="1426464"/>
            <a:ext cx="2615184" cy="1600200"/>
          </a:xfrm>
          <a:prstGeom prst="roundRect">
            <a:avLst>
              <a:gd name="adj" fmla="val 4000"/>
            </a:avLst>
          </a:prstGeom>
          <a:solidFill>
            <a:srgbClr val="FFFFFF"/>
          </a:solidFill>
          <a:ln w="12700">
            <a:solidFill>
              <a:srgbClr val="DDE2EA"/>
            </a:solidFill>
            <a:prstDash val="solid"/>
          </a:ln>
        </p:spPr>
      </p:sp>
      <p:sp>
        <p:nvSpPr>
          <p:cNvPr id="16" name="Shape 14"/>
          <p:cNvSpPr/>
          <p:nvPr/>
        </p:nvSpPr>
        <p:spPr>
          <a:xfrm>
            <a:off x="9107424" y="1426464"/>
            <a:ext cx="50292" cy="1600200"/>
          </a:xfrm>
          <a:prstGeom prst="rect">
            <a:avLst/>
          </a:prstGeom>
          <a:solidFill>
            <a:srgbClr val="F3A712"/>
          </a:solidFill>
          <a:ln w="12700">
            <a:solidFill>
              <a:srgbClr val="F3A712"/>
            </a:solidFill>
            <a:prstDash val="solid"/>
          </a:ln>
        </p:spPr>
      </p:sp>
      <p:sp>
        <p:nvSpPr>
          <p:cNvPr id="17" name="Text 15"/>
          <p:cNvSpPr/>
          <p:nvPr/>
        </p:nvSpPr>
        <p:spPr>
          <a:xfrm>
            <a:off x="9308592" y="1645920"/>
            <a:ext cx="2249424"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Enrich</a:t>
            </a:r>
            <a:endParaRPr lang="en-US" sz="1250" dirty="0"/>
          </a:p>
        </p:txBody>
      </p:sp>
      <p:sp>
        <p:nvSpPr>
          <p:cNvPr id="18" name="Text 16"/>
          <p:cNvSpPr/>
          <p:nvPr/>
        </p:nvSpPr>
        <p:spPr>
          <a:xfrm>
            <a:off x="9308592" y="2084832"/>
            <a:ext cx="2231136" cy="777240"/>
          </a:xfrm>
          <a:prstGeom prst="rect">
            <a:avLst/>
          </a:prstGeom>
          <a:noFill/>
          <a:ln/>
        </p:spPr>
        <p:txBody>
          <a:bodyPr wrap="square" lIns="254" tIns="254" rIns="254" bIns="254" rtlCol="0" anchor="t">
            <a:normAutofit/>
          </a:bodyPr>
          <a:lstStyle/>
          <a:p>
            <a:pPr indent="0" marL="0">
              <a:buNone/>
            </a:pPr>
            <a:r>
              <a:rPr lang="en-US" sz="910" dirty="0">
                <a:solidFill>
                  <a:srgbClr val="283246"/>
                </a:solidFill>
                <a:latin typeface="Aptos" pitchFamily="34" charset="0"/>
                <a:ea typeface="Aptos" pitchFamily="34" charset="-122"/>
                <a:cs typeface="Aptos" pitchFamily="34" charset="-120"/>
              </a:rPr>
              <a:t>Add reference or derived attributes</a:t>
            </a:r>
            <a:endParaRPr lang="en-US" sz="910" dirty="0"/>
          </a:p>
        </p:txBody>
      </p:sp>
      <p:sp>
        <p:nvSpPr>
          <p:cNvPr id="19" name="Shape 17"/>
          <p:cNvSpPr/>
          <p:nvPr/>
        </p:nvSpPr>
        <p:spPr>
          <a:xfrm>
            <a:off x="438912" y="3438144"/>
            <a:ext cx="2615184" cy="1600200"/>
          </a:xfrm>
          <a:prstGeom prst="roundRect">
            <a:avLst>
              <a:gd name="adj" fmla="val 4000"/>
            </a:avLst>
          </a:prstGeom>
          <a:solidFill>
            <a:srgbClr val="FFFFFF"/>
          </a:solidFill>
          <a:ln w="12700">
            <a:solidFill>
              <a:srgbClr val="DDE2EA"/>
            </a:solidFill>
            <a:prstDash val="solid"/>
          </a:ln>
        </p:spPr>
      </p:sp>
      <p:sp>
        <p:nvSpPr>
          <p:cNvPr id="20" name="Shape 18"/>
          <p:cNvSpPr/>
          <p:nvPr/>
        </p:nvSpPr>
        <p:spPr>
          <a:xfrm>
            <a:off x="438912" y="3438144"/>
            <a:ext cx="50292" cy="1600200"/>
          </a:xfrm>
          <a:prstGeom prst="rect">
            <a:avLst/>
          </a:prstGeom>
          <a:solidFill>
            <a:srgbClr val="FF3621"/>
          </a:solidFill>
          <a:ln w="12700">
            <a:solidFill>
              <a:srgbClr val="FF3621"/>
            </a:solidFill>
            <a:prstDash val="solid"/>
          </a:ln>
        </p:spPr>
      </p:sp>
      <p:sp>
        <p:nvSpPr>
          <p:cNvPr id="21" name="Text 19"/>
          <p:cNvSpPr/>
          <p:nvPr/>
        </p:nvSpPr>
        <p:spPr>
          <a:xfrm>
            <a:off x="640080" y="3657600"/>
            <a:ext cx="2249424"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Aggregate</a:t>
            </a:r>
            <a:endParaRPr lang="en-US" sz="1250" dirty="0"/>
          </a:p>
        </p:txBody>
      </p:sp>
      <p:sp>
        <p:nvSpPr>
          <p:cNvPr id="22" name="Text 20"/>
          <p:cNvSpPr/>
          <p:nvPr/>
        </p:nvSpPr>
        <p:spPr>
          <a:xfrm>
            <a:off x="640080" y="4096512"/>
            <a:ext cx="2231136" cy="777240"/>
          </a:xfrm>
          <a:prstGeom prst="rect">
            <a:avLst/>
          </a:prstGeom>
          <a:noFill/>
          <a:ln/>
        </p:spPr>
        <p:txBody>
          <a:bodyPr wrap="square" lIns="254" tIns="254" rIns="254" bIns="254" rtlCol="0" anchor="t">
            <a:normAutofit/>
          </a:bodyPr>
          <a:lstStyle/>
          <a:p>
            <a:pPr indent="0" marL="0">
              <a:buNone/>
            </a:pPr>
            <a:r>
              <a:rPr lang="en-US" sz="910" dirty="0">
                <a:solidFill>
                  <a:srgbClr val="283246"/>
                </a:solidFill>
                <a:latin typeface="Aptos" pitchFamily="34" charset="0"/>
                <a:ea typeface="Aptos" pitchFamily="34" charset="-122"/>
                <a:cs typeface="Aptos" pitchFamily="34" charset="-120"/>
              </a:rPr>
              <a:t>Summarise by group / time / entity</a:t>
            </a:r>
            <a:endParaRPr lang="en-US" sz="910" dirty="0"/>
          </a:p>
        </p:txBody>
      </p:sp>
      <p:sp>
        <p:nvSpPr>
          <p:cNvPr id="23" name="Shape 21"/>
          <p:cNvSpPr/>
          <p:nvPr/>
        </p:nvSpPr>
        <p:spPr>
          <a:xfrm>
            <a:off x="3328416" y="3438144"/>
            <a:ext cx="2615184" cy="1600200"/>
          </a:xfrm>
          <a:prstGeom prst="roundRect">
            <a:avLst>
              <a:gd name="adj" fmla="val 4000"/>
            </a:avLst>
          </a:prstGeom>
          <a:solidFill>
            <a:srgbClr val="FFFFFF"/>
          </a:solidFill>
          <a:ln w="12700">
            <a:solidFill>
              <a:srgbClr val="DDE2EA"/>
            </a:solidFill>
            <a:prstDash val="solid"/>
          </a:ln>
        </p:spPr>
      </p:sp>
      <p:sp>
        <p:nvSpPr>
          <p:cNvPr id="24" name="Shape 22"/>
          <p:cNvSpPr/>
          <p:nvPr/>
        </p:nvSpPr>
        <p:spPr>
          <a:xfrm>
            <a:off x="3328416" y="3438144"/>
            <a:ext cx="50292" cy="1600200"/>
          </a:xfrm>
          <a:prstGeom prst="rect">
            <a:avLst/>
          </a:prstGeom>
          <a:solidFill>
            <a:srgbClr val="29A86B"/>
          </a:solidFill>
          <a:ln w="12700">
            <a:solidFill>
              <a:srgbClr val="29A86B"/>
            </a:solidFill>
            <a:prstDash val="solid"/>
          </a:ln>
        </p:spPr>
      </p:sp>
      <p:sp>
        <p:nvSpPr>
          <p:cNvPr id="25" name="Text 23"/>
          <p:cNvSpPr/>
          <p:nvPr/>
        </p:nvSpPr>
        <p:spPr>
          <a:xfrm>
            <a:off x="3529584" y="3657600"/>
            <a:ext cx="2249424"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Deduplicate</a:t>
            </a:r>
            <a:endParaRPr lang="en-US" sz="1250" dirty="0"/>
          </a:p>
        </p:txBody>
      </p:sp>
      <p:sp>
        <p:nvSpPr>
          <p:cNvPr id="26" name="Text 24"/>
          <p:cNvSpPr/>
          <p:nvPr/>
        </p:nvSpPr>
        <p:spPr>
          <a:xfrm>
            <a:off x="3529584" y="4096512"/>
            <a:ext cx="2231136" cy="777240"/>
          </a:xfrm>
          <a:prstGeom prst="rect">
            <a:avLst/>
          </a:prstGeom>
          <a:noFill/>
          <a:ln/>
        </p:spPr>
        <p:txBody>
          <a:bodyPr wrap="square" lIns="254" tIns="254" rIns="254" bIns="254" rtlCol="0" anchor="t">
            <a:normAutofit/>
          </a:bodyPr>
          <a:lstStyle/>
          <a:p>
            <a:pPr indent="0" marL="0">
              <a:buNone/>
            </a:pPr>
            <a:r>
              <a:rPr lang="en-US" sz="910" dirty="0">
                <a:solidFill>
                  <a:srgbClr val="283246"/>
                </a:solidFill>
                <a:latin typeface="Aptos" pitchFamily="34" charset="0"/>
                <a:ea typeface="Aptos" pitchFamily="34" charset="-122"/>
                <a:cs typeface="Aptos" pitchFamily="34" charset="-120"/>
              </a:rPr>
              <a:t>Remove repeated business events</a:t>
            </a:r>
            <a:endParaRPr lang="en-US" sz="910" dirty="0"/>
          </a:p>
        </p:txBody>
      </p:sp>
      <p:sp>
        <p:nvSpPr>
          <p:cNvPr id="27" name="Shape 25"/>
          <p:cNvSpPr/>
          <p:nvPr/>
        </p:nvSpPr>
        <p:spPr>
          <a:xfrm>
            <a:off x="6217920" y="3438144"/>
            <a:ext cx="2615184" cy="1600200"/>
          </a:xfrm>
          <a:prstGeom prst="roundRect">
            <a:avLst>
              <a:gd name="adj" fmla="val 4000"/>
            </a:avLst>
          </a:prstGeom>
          <a:solidFill>
            <a:srgbClr val="FFFFFF"/>
          </a:solidFill>
          <a:ln w="12700">
            <a:solidFill>
              <a:srgbClr val="DDE2EA"/>
            </a:solidFill>
            <a:prstDash val="solid"/>
          </a:ln>
        </p:spPr>
      </p:sp>
      <p:sp>
        <p:nvSpPr>
          <p:cNvPr id="28" name="Shape 26"/>
          <p:cNvSpPr/>
          <p:nvPr/>
        </p:nvSpPr>
        <p:spPr>
          <a:xfrm>
            <a:off x="6217920" y="3438144"/>
            <a:ext cx="50292" cy="1600200"/>
          </a:xfrm>
          <a:prstGeom prst="rect">
            <a:avLst/>
          </a:prstGeom>
          <a:solidFill>
            <a:srgbClr val="3B6FF5"/>
          </a:solidFill>
          <a:ln w="12700">
            <a:solidFill>
              <a:srgbClr val="3B6FF5"/>
            </a:solidFill>
            <a:prstDash val="solid"/>
          </a:ln>
        </p:spPr>
      </p:sp>
      <p:sp>
        <p:nvSpPr>
          <p:cNvPr id="29" name="Text 27"/>
          <p:cNvSpPr/>
          <p:nvPr/>
        </p:nvSpPr>
        <p:spPr>
          <a:xfrm>
            <a:off x="6419088" y="3657600"/>
            <a:ext cx="2249424"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Restructure</a:t>
            </a:r>
            <a:endParaRPr lang="en-US" sz="1250" dirty="0"/>
          </a:p>
        </p:txBody>
      </p:sp>
      <p:sp>
        <p:nvSpPr>
          <p:cNvPr id="30" name="Text 28"/>
          <p:cNvSpPr/>
          <p:nvPr/>
        </p:nvSpPr>
        <p:spPr>
          <a:xfrm>
            <a:off x="6419088" y="4096512"/>
            <a:ext cx="2231136" cy="777240"/>
          </a:xfrm>
          <a:prstGeom prst="rect">
            <a:avLst/>
          </a:prstGeom>
          <a:noFill/>
          <a:ln/>
        </p:spPr>
        <p:txBody>
          <a:bodyPr wrap="square" lIns="254" tIns="254" rIns="254" bIns="254" rtlCol="0" anchor="t">
            <a:normAutofit/>
          </a:bodyPr>
          <a:lstStyle/>
          <a:p>
            <a:pPr indent="0" marL="0">
              <a:buNone/>
            </a:pPr>
            <a:r>
              <a:rPr lang="en-US" sz="910" dirty="0">
                <a:solidFill>
                  <a:srgbClr val="283246"/>
                </a:solidFill>
                <a:latin typeface="Aptos" pitchFamily="34" charset="0"/>
                <a:ea typeface="Aptos" pitchFamily="34" charset="-122"/>
                <a:cs typeface="Aptos" pitchFamily="34" charset="-120"/>
              </a:rPr>
              <a:t>Flatten, explode, pivot, reshape</a:t>
            </a:r>
            <a:endParaRPr lang="en-US" sz="910" dirty="0"/>
          </a:p>
        </p:txBody>
      </p:sp>
      <p:sp>
        <p:nvSpPr>
          <p:cNvPr id="31" name="Shape 29"/>
          <p:cNvSpPr/>
          <p:nvPr/>
        </p:nvSpPr>
        <p:spPr>
          <a:xfrm>
            <a:off x="9107424" y="3438144"/>
            <a:ext cx="2615184" cy="1600200"/>
          </a:xfrm>
          <a:prstGeom prst="roundRect">
            <a:avLst>
              <a:gd name="adj" fmla="val 4000"/>
            </a:avLst>
          </a:prstGeom>
          <a:solidFill>
            <a:srgbClr val="FFFFFF"/>
          </a:solidFill>
          <a:ln w="12700">
            <a:solidFill>
              <a:srgbClr val="DDE2EA"/>
            </a:solidFill>
            <a:prstDash val="solid"/>
          </a:ln>
        </p:spPr>
      </p:sp>
      <p:sp>
        <p:nvSpPr>
          <p:cNvPr id="32" name="Shape 30"/>
          <p:cNvSpPr/>
          <p:nvPr/>
        </p:nvSpPr>
        <p:spPr>
          <a:xfrm>
            <a:off x="9107424" y="3438144"/>
            <a:ext cx="50292" cy="1600200"/>
          </a:xfrm>
          <a:prstGeom prst="rect">
            <a:avLst/>
          </a:prstGeom>
          <a:solidFill>
            <a:srgbClr val="7C4DFF"/>
          </a:solidFill>
          <a:ln w="12700">
            <a:solidFill>
              <a:srgbClr val="7C4DFF"/>
            </a:solidFill>
            <a:prstDash val="solid"/>
          </a:ln>
        </p:spPr>
      </p:sp>
      <p:sp>
        <p:nvSpPr>
          <p:cNvPr id="33" name="Text 31"/>
          <p:cNvSpPr/>
          <p:nvPr/>
        </p:nvSpPr>
        <p:spPr>
          <a:xfrm>
            <a:off x="9308592" y="3657600"/>
            <a:ext cx="2249424"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Anonymise</a:t>
            </a:r>
            <a:endParaRPr lang="en-US" sz="1250" dirty="0"/>
          </a:p>
        </p:txBody>
      </p:sp>
      <p:sp>
        <p:nvSpPr>
          <p:cNvPr id="34" name="Text 32"/>
          <p:cNvSpPr/>
          <p:nvPr/>
        </p:nvSpPr>
        <p:spPr>
          <a:xfrm>
            <a:off x="9308592" y="4096512"/>
            <a:ext cx="2231136" cy="777240"/>
          </a:xfrm>
          <a:prstGeom prst="rect">
            <a:avLst/>
          </a:prstGeom>
          <a:noFill/>
          <a:ln/>
        </p:spPr>
        <p:txBody>
          <a:bodyPr wrap="square" lIns="254" tIns="254" rIns="254" bIns="254" rtlCol="0" anchor="t">
            <a:normAutofit/>
          </a:bodyPr>
          <a:lstStyle/>
          <a:p>
            <a:pPr indent="0" marL="0">
              <a:buNone/>
            </a:pPr>
            <a:r>
              <a:rPr lang="en-US" sz="910" dirty="0">
                <a:solidFill>
                  <a:srgbClr val="283246"/>
                </a:solidFill>
                <a:latin typeface="Aptos" pitchFamily="34" charset="0"/>
                <a:ea typeface="Aptos" pitchFamily="34" charset="-122"/>
                <a:cs typeface="Aptos" pitchFamily="34" charset="-120"/>
              </a:rPr>
              <a:t>Mask / tokenize sensitive values</a:t>
            </a:r>
            <a:endParaRPr lang="en-US" sz="91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Profile Before You Transform</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Do not design cleaning logic from assumptions—measure the source first.</a:t>
            </a:r>
            <a:endParaRPr lang="en-US" sz="1100" dirty="0"/>
          </a:p>
        </p:txBody>
      </p:sp>
      <p:sp>
        <p:nvSpPr>
          <p:cNvPr id="4" name="Shape 2"/>
          <p:cNvSpPr/>
          <p:nvPr/>
        </p:nvSpPr>
        <p:spPr>
          <a:xfrm>
            <a:off x="685800" y="1417320"/>
            <a:ext cx="5120640" cy="4023360"/>
          </a:xfrm>
          <a:prstGeom prst="roundRect">
            <a:avLst>
              <a:gd name="adj" fmla="val 1364"/>
            </a:avLst>
          </a:prstGeom>
          <a:solidFill>
            <a:srgbClr val="111827"/>
          </a:solidFill>
          <a:ln w="12700">
            <a:solidFill>
              <a:srgbClr val="111827"/>
            </a:solidFill>
            <a:prstDash val="solid"/>
          </a:ln>
        </p:spPr>
      </p:sp>
      <p:sp>
        <p:nvSpPr>
          <p:cNvPr id="5" name="Text 3"/>
          <p:cNvSpPr/>
          <p:nvPr/>
        </p:nvSpPr>
        <p:spPr>
          <a:xfrm>
            <a:off x="886968" y="1600200"/>
            <a:ext cx="4718304" cy="3675888"/>
          </a:xfrm>
          <a:prstGeom prst="rect">
            <a:avLst/>
          </a:prstGeom>
          <a:noFill/>
          <a:ln/>
        </p:spPr>
        <p:txBody>
          <a:bodyPr wrap="square" lIns="0" tIns="0" rIns="0" bIns="0" rtlCol="0" anchor="ctr">
            <a:normAutofit/>
          </a:bodyPr>
          <a:lstStyle/>
          <a:p>
            <a:pPr indent="0" marL="0">
              <a:buNone/>
            </a:pPr>
            <a:r>
              <a:rPr lang="en-US" sz="1060" dirty="0">
                <a:solidFill>
                  <a:srgbClr val="F3F4F6"/>
                </a:solidFill>
                <a:latin typeface="Consolas" pitchFamily="34" charset="0"/>
                <a:ea typeface="Consolas" pitchFamily="34" charset="-122"/>
                <a:cs typeface="Consolas" pitchFamily="34" charset="-120"/>
              </a:rPr>
              <a:t># PySpark profiling examples</a:t>
            </a:r>
            <a:endParaRPr lang="en-US" sz="1060" dirty="0"/>
          </a:p>
          <a:p>
            <a:pPr indent="0" marL="0">
              <a:buNone/>
            </a:pPr>
            <a:r>
              <a:rPr lang="en-US" sz="1060" dirty="0">
                <a:solidFill>
                  <a:srgbClr val="F3F4F6"/>
                </a:solidFill>
                <a:latin typeface="Consolas" pitchFamily="34" charset="0"/>
                <a:ea typeface="Consolas" pitchFamily="34" charset="-122"/>
                <a:cs typeface="Consolas" pitchFamily="34" charset="-120"/>
              </a:rPr>
              <a:t>df.printSchema()</a:t>
            </a:r>
            <a:endParaRPr lang="en-US" sz="1060" dirty="0"/>
          </a:p>
          <a:p>
            <a:pPr indent="0" marL="0">
              <a:buNone/>
            </a:pPr>
            <a:endParaRPr lang="en-US" sz="1060" dirty="0"/>
          </a:p>
          <a:p>
            <a:pPr indent="0" marL="0">
              <a:buNone/>
            </a:pPr>
            <a:r>
              <a:rPr lang="en-US" sz="1060" dirty="0">
                <a:solidFill>
                  <a:srgbClr val="F3F4F6"/>
                </a:solidFill>
                <a:latin typeface="Consolas" pitchFamily="34" charset="0"/>
                <a:ea typeface="Consolas" pitchFamily="34" charset="-122"/>
                <a:cs typeface="Consolas" pitchFamily="34" charset="-120"/>
              </a:rPr>
              <a:t>df.describe().show()</a:t>
            </a:r>
            <a:endParaRPr lang="en-US" sz="1060" dirty="0"/>
          </a:p>
          <a:p>
            <a:pPr indent="0" marL="0">
              <a:buNone/>
            </a:pPr>
            <a:endParaRPr lang="en-US" sz="1060" dirty="0"/>
          </a:p>
          <a:p>
            <a:pPr indent="0" marL="0">
              <a:buNone/>
            </a:pPr>
            <a:r>
              <a:rPr lang="en-US" sz="1060" dirty="0">
                <a:solidFill>
                  <a:srgbClr val="F3F4F6"/>
                </a:solidFill>
                <a:latin typeface="Consolas" pitchFamily="34" charset="0"/>
                <a:ea typeface="Consolas" pitchFamily="34" charset="-122"/>
                <a:cs typeface="Consolas" pitchFamily="34" charset="-120"/>
              </a:rPr>
              <a:t>df.groupBy("State").count().show()</a:t>
            </a:r>
            <a:endParaRPr lang="en-US" sz="1060" dirty="0"/>
          </a:p>
          <a:p>
            <a:pPr indent="0" marL="0">
              <a:buNone/>
            </a:pPr>
            <a:endParaRPr lang="en-US" sz="1060" dirty="0"/>
          </a:p>
          <a:p>
            <a:pPr indent="0" marL="0">
              <a:buNone/>
            </a:pPr>
            <a:r>
              <a:rPr lang="en-US" sz="1060" dirty="0">
                <a:solidFill>
                  <a:srgbClr val="F3F4F6"/>
                </a:solidFill>
                <a:latin typeface="Consolas" pitchFamily="34" charset="0"/>
                <a:ea typeface="Consolas" pitchFamily="34" charset="-122"/>
                <a:cs typeface="Consolas" pitchFamily="34" charset="-120"/>
              </a:rPr>
              <a:t>df.selectExpr(</a:t>
            </a:r>
            <a:endParaRPr lang="en-US" sz="1060" dirty="0"/>
          </a:p>
          <a:p>
            <a:pPr indent="0" marL="0">
              <a:buNone/>
            </a:pPr>
            <a:r>
              <a:rPr lang="en-US" sz="1060" dirty="0">
                <a:solidFill>
                  <a:srgbClr val="F3F4F6"/>
                </a:solidFill>
                <a:latin typeface="Consolas" pitchFamily="34" charset="0"/>
                <a:ea typeface="Consolas" pitchFamily="34" charset="-122"/>
                <a:cs typeface="Consolas" pitchFamily="34" charset="-120"/>
              </a:rPr>
              <a:t>  "count(*) AS rows",</a:t>
            </a:r>
            <a:endParaRPr lang="en-US" sz="1060" dirty="0"/>
          </a:p>
          <a:p>
            <a:pPr indent="0" marL="0">
              <a:buNone/>
            </a:pPr>
            <a:r>
              <a:rPr lang="en-US" sz="1060" dirty="0">
                <a:solidFill>
                  <a:srgbClr val="F3F4F6"/>
                </a:solidFill>
                <a:latin typeface="Consolas" pitchFamily="34" charset="0"/>
                <a:ea typeface="Consolas" pitchFamily="34" charset="-122"/>
                <a:cs typeface="Consolas" pitchFamily="34" charset="-120"/>
              </a:rPr>
              <a:t>  "sum(CASE WHEN CustomerID IS NULL THEN 1 ELSE 0 END) AS null_ids"</a:t>
            </a:r>
            <a:endParaRPr lang="en-US" sz="1060" dirty="0"/>
          </a:p>
          <a:p>
            <a:pPr indent="0" marL="0">
              <a:buNone/>
            </a:pPr>
            <a:r>
              <a:rPr lang="en-US" sz="1060" dirty="0">
                <a:solidFill>
                  <a:srgbClr val="F3F4F6"/>
                </a:solidFill>
                <a:latin typeface="Consolas" pitchFamily="34" charset="0"/>
                <a:ea typeface="Consolas" pitchFamily="34" charset="-122"/>
                <a:cs typeface="Consolas" pitchFamily="34" charset="-120"/>
              </a:rPr>
              <a:t>).show()</a:t>
            </a:r>
            <a:endParaRPr lang="en-US" sz="1060" dirty="0"/>
          </a:p>
        </p:txBody>
      </p:sp>
      <p:sp>
        <p:nvSpPr>
          <p:cNvPr id="6" name="Shape 4"/>
          <p:cNvSpPr/>
          <p:nvPr/>
        </p:nvSpPr>
        <p:spPr>
          <a:xfrm>
            <a:off x="6217920" y="1417320"/>
            <a:ext cx="5166360" cy="914400"/>
          </a:xfrm>
          <a:prstGeom prst="roundRect">
            <a:avLst>
              <a:gd name="adj" fmla="val 7000"/>
            </a:avLst>
          </a:prstGeom>
          <a:solidFill>
            <a:srgbClr val="FFFFFF"/>
          </a:solidFill>
          <a:ln w="12700">
            <a:solidFill>
              <a:srgbClr val="DDE2EA"/>
            </a:solidFill>
            <a:prstDash val="solid"/>
          </a:ln>
        </p:spPr>
      </p:sp>
      <p:sp>
        <p:nvSpPr>
          <p:cNvPr id="7" name="Shape 5"/>
          <p:cNvSpPr/>
          <p:nvPr/>
        </p:nvSpPr>
        <p:spPr>
          <a:xfrm>
            <a:off x="6217920" y="1417320"/>
            <a:ext cx="50292" cy="914400"/>
          </a:xfrm>
          <a:prstGeom prst="rect">
            <a:avLst/>
          </a:prstGeom>
          <a:solidFill>
            <a:srgbClr val="3B6FF5"/>
          </a:solidFill>
          <a:ln w="12700">
            <a:solidFill>
              <a:srgbClr val="3B6FF5"/>
            </a:solidFill>
            <a:prstDash val="solid"/>
          </a:ln>
        </p:spPr>
      </p:sp>
      <p:sp>
        <p:nvSpPr>
          <p:cNvPr id="8" name="Text 6"/>
          <p:cNvSpPr/>
          <p:nvPr/>
        </p:nvSpPr>
        <p:spPr>
          <a:xfrm>
            <a:off x="6419088" y="1636776"/>
            <a:ext cx="4800600" cy="347472"/>
          </a:xfrm>
          <a:prstGeom prst="rect">
            <a:avLst/>
          </a:prstGeom>
          <a:noFill/>
          <a:ln/>
        </p:spPr>
        <p:txBody>
          <a:bodyPr wrap="square" lIns="0" tIns="0" rIns="0" bIns="0" rtlCol="0" anchor="ctr">
            <a:normAutofit/>
          </a:bodyPr>
          <a:lstStyle/>
          <a:p>
            <a:pPr indent="0" marL="0">
              <a:buNone/>
            </a:pPr>
            <a:r>
              <a:rPr lang="en-US" sz="1200" b="1" dirty="0">
                <a:solidFill>
                  <a:srgbClr val="17233C"/>
                </a:solidFill>
                <a:latin typeface="Aptos Display" pitchFamily="34" charset="0"/>
                <a:ea typeface="Aptos Display" pitchFamily="34" charset="-122"/>
                <a:cs typeface="Aptos Display" pitchFamily="34" charset="-120"/>
              </a:rPr>
              <a:t>Schema</a:t>
            </a:r>
            <a:endParaRPr lang="en-US" sz="1200" dirty="0"/>
          </a:p>
        </p:txBody>
      </p:sp>
      <p:sp>
        <p:nvSpPr>
          <p:cNvPr id="9" name="Text 7"/>
          <p:cNvSpPr/>
          <p:nvPr/>
        </p:nvSpPr>
        <p:spPr>
          <a:xfrm>
            <a:off x="6419088" y="2075688"/>
            <a:ext cx="4782312" cy="9144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Actual columns and types vs. expected contract</a:t>
            </a:r>
            <a:endParaRPr lang="en-US" sz="880" dirty="0"/>
          </a:p>
        </p:txBody>
      </p:sp>
      <p:sp>
        <p:nvSpPr>
          <p:cNvPr id="10" name="Shape 8"/>
          <p:cNvSpPr/>
          <p:nvPr/>
        </p:nvSpPr>
        <p:spPr>
          <a:xfrm>
            <a:off x="6217920" y="2514600"/>
            <a:ext cx="5166360" cy="914400"/>
          </a:xfrm>
          <a:prstGeom prst="roundRect">
            <a:avLst>
              <a:gd name="adj" fmla="val 7000"/>
            </a:avLst>
          </a:prstGeom>
          <a:solidFill>
            <a:srgbClr val="FFFFFF"/>
          </a:solidFill>
          <a:ln w="12700">
            <a:solidFill>
              <a:srgbClr val="DDE2EA"/>
            </a:solidFill>
            <a:prstDash val="solid"/>
          </a:ln>
        </p:spPr>
      </p:sp>
      <p:sp>
        <p:nvSpPr>
          <p:cNvPr id="11" name="Shape 9"/>
          <p:cNvSpPr/>
          <p:nvPr/>
        </p:nvSpPr>
        <p:spPr>
          <a:xfrm>
            <a:off x="6217920" y="2514600"/>
            <a:ext cx="50292" cy="914400"/>
          </a:xfrm>
          <a:prstGeom prst="rect">
            <a:avLst/>
          </a:prstGeom>
          <a:solidFill>
            <a:srgbClr val="00A972"/>
          </a:solidFill>
          <a:ln w="12700">
            <a:solidFill>
              <a:srgbClr val="00A972"/>
            </a:solidFill>
            <a:prstDash val="solid"/>
          </a:ln>
        </p:spPr>
      </p:sp>
      <p:sp>
        <p:nvSpPr>
          <p:cNvPr id="12" name="Text 10"/>
          <p:cNvSpPr/>
          <p:nvPr/>
        </p:nvSpPr>
        <p:spPr>
          <a:xfrm>
            <a:off x="6419088" y="2734056"/>
            <a:ext cx="4800600" cy="347472"/>
          </a:xfrm>
          <a:prstGeom prst="rect">
            <a:avLst/>
          </a:prstGeom>
          <a:noFill/>
          <a:ln/>
        </p:spPr>
        <p:txBody>
          <a:bodyPr wrap="square" lIns="0" tIns="0" rIns="0" bIns="0" rtlCol="0" anchor="ctr">
            <a:normAutofit/>
          </a:bodyPr>
          <a:lstStyle/>
          <a:p>
            <a:pPr indent="0" marL="0">
              <a:buNone/>
            </a:pPr>
            <a:r>
              <a:rPr lang="en-US" sz="1200" b="1" dirty="0">
                <a:solidFill>
                  <a:srgbClr val="17233C"/>
                </a:solidFill>
                <a:latin typeface="Aptos Display" pitchFamily="34" charset="0"/>
                <a:ea typeface="Aptos Display" pitchFamily="34" charset="-122"/>
                <a:cs typeface="Aptos Display" pitchFamily="34" charset="-120"/>
              </a:rPr>
              <a:t>Distributions</a:t>
            </a:r>
            <a:endParaRPr lang="en-US" sz="1200" dirty="0"/>
          </a:p>
        </p:txBody>
      </p:sp>
      <p:sp>
        <p:nvSpPr>
          <p:cNvPr id="13" name="Text 11"/>
          <p:cNvSpPr/>
          <p:nvPr/>
        </p:nvSpPr>
        <p:spPr>
          <a:xfrm>
            <a:off x="6419088" y="3172968"/>
            <a:ext cx="4782312" cy="9144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Unexpected categories, ranges, outliers</a:t>
            </a:r>
            <a:endParaRPr lang="en-US" sz="880" dirty="0"/>
          </a:p>
        </p:txBody>
      </p:sp>
      <p:sp>
        <p:nvSpPr>
          <p:cNvPr id="14" name="Shape 12"/>
          <p:cNvSpPr/>
          <p:nvPr/>
        </p:nvSpPr>
        <p:spPr>
          <a:xfrm>
            <a:off x="6217920" y="3611880"/>
            <a:ext cx="5166360" cy="914400"/>
          </a:xfrm>
          <a:prstGeom prst="roundRect">
            <a:avLst>
              <a:gd name="adj" fmla="val 7000"/>
            </a:avLst>
          </a:prstGeom>
          <a:solidFill>
            <a:srgbClr val="FFFFFF"/>
          </a:solidFill>
          <a:ln w="12700">
            <a:solidFill>
              <a:srgbClr val="DDE2EA"/>
            </a:solidFill>
            <a:prstDash val="solid"/>
          </a:ln>
        </p:spPr>
      </p:sp>
      <p:sp>
        <p:nvSpPr>
          <p:cNvPr id="15" name="Shape 13"/>
          <p:cNvSpPr/>
          <p:nvPr/>
        </p:nvSpPr>
        <p:spPr>
          <a:xfrm>
            <a:off x="6217920" y="3611880"/>
            <a:ext cx="50292" cy="914400"/>
          </a:xfrm>
          <a:prstGeom prst="rect">
            <a:avLst/>
          </a:prstGeom>
          <a:solidFill>
            <a:srgbClr val="7C4DFF"/>
          </a:solidFill>
          <a:ln w="12700">
            <a:solidFill>
              <a:srgbClr val="7C4DFF"/>
            </a:solidFill>
            <a:prstDash val="solid"/>
          </a:ln>
        </p:spPr>
      </p:sp>
      <p:sp>
        <p:nvSpPr>
          <p:cNvPr id="16" name="Text 14"/>
          <p:cNvSpPr/>
          <p:nvPr/>
        </p:nvSpPr>
        <p:spPr>
          <a:xfrm>
            <a:off x="6419088" y="3831336"/>
            <a:ext cx="4800600" cy="347472"/>
          </a:xfrm>
          <a:prstGeom prst="rect">
            <a:avLst/>
          </a:prstGeom>
          <a:noFill/>
          <a:ln/>
        </p:spPr>
        <p:txBody>
          <a:bodyPr wrap="square" lIns="0" tIns="0" rIns="0" bIns="0" rtlCol="0" anchor="ctr">
            <a:normAutofit/>
          </a:bodyPr>
          <a:lstStyle/>
          <a:p>
            <a:pPr indent="0" marL="0">
              <a:buNone/>
            </a:pPr>
            <a:r>
              <a:rPr lang="en-US" sz="1200" b="1" dirty="0">
                <a:solidFill>
                  <a:srgbClr val="17233C"/>
                </a:solidFill>
                <a:latin typeface="Aptos Display" pitchFamily="34" charset="0"/>
                <a:ea typeface="Aptos Display" pitchFamily="34" charset="-122"/>
                <a:cs typeface="Aptos Display" pitchFamily="34" charset="-120"/>
              </a:rPr>
              <a:t>Completeness</a:t>
            </a:r>
            <a:endParaRPr lang="en-US" sz="1200" dirty="0"/>
          </a:p>
        </p:txBody>
      </p:sp>
      <p:sp>
        <p:nvSpPr>
          <p:cNvPr id="17" name="Text 15"/>
          <p:cNvSpPr/>
          <p:nvPr/>
        </p:nvSpPr>
        <p:spPr>
          <a:xfrm>
            <a:off x="6419088" y="4270248"/>
            <a:ext cx="4782312" cy="9144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Null / missing values and required fields</a:t>
            </a:r>
            <a:endParaRPr lang="en-US" sz="880" dirty="0"/>
          </a:p>
        </p:txBody>
      </p:sp>
      <p:sp>
        <p:nvSpPr>
          <p:cNvPr id="18" name="Shape 16"/>
          <p:cNvSpPr/>
          <p:nvPr/>
        </p:nvSpPr>
        <p:spPr>
          <a:xfrm>
            <a:off x="6217920" y="4709160"/>
            <a:ext cx="5166360" cy="914400"/>
          </a:xfrm>
          <a:prstGeom prst="roundRect">
            <a:avLst>
              <a:gd name="adj" fmla="val 7000"/>
            </a:avLst>
          </a:prstGeom>
          <a:solidFill>
            <a:srgbClr val="FFFFFF"/>
          </a:solidFill>
          <a:ln w="12700">
            <a:solidFill>
              <a:srgbClr val="DDE2EA"/>
            </a:solidFill>
            <a:prstDash val="solid"/>
          </a:ln>
        </p:spPr>
      </p:sp>
      <p:sp>
        <p:nvSpPr>
          <p:cNvPr id="19" name="Shape 17"/>
          <p:cNvSpPr/>
          <p:nvPr/>
        </p:nvSpPr>
        <p:spPr>
          <a:xfrm>
            <a:off x="6217920" y="4709160"/>
            <a:ext cx="50292" cy="914400"/>
          </a:xfrm>
          <a:prstGeom prst="rect">
            <a:avLst/>
          </a:prstGeom>
          <a:solidFill>
            <a:srgbClr val="F3A712"/>
          </a:solidFill>
          <a:ln w="12700">
            <a:solidFill>
              <a:srgbClr val="F3A712"/>
            </a:solidFill>
            <a:prstDash val="solid"/>
          </a:ln>
        </p:spPr>
      </p:sp>
      <p:sp>
        <p:nvSpPr>
          <p:cNvPr id="20" name="Text 18"/>
          <p:cNvSpPr/>
          <p:nvPr/>
        </p:nvSpPr>
        <p:spPr>
          <a:xfrm>
            <a:off x="6419088" y="4928616"/>
            <a:ext cx="4800600" cy="347472"/>
          </a:xfrm>
          <a:prstGeom prst="rect">
            <a:avLst/>
          </a:prstGeom>
          <a:noFill/>
          <a:ln/>
        </p:spPr>
        <p:txBody>
          <a:bodyPr wrap="square" lIns="0" tIns="0" rIns="0" bIns="0" rtlCol="0" anchor="ctr">
            <a:normAutofit/>
          </a:bodyPr>
          <a:lstStyle/>
          <a:p>
            <a:pPr indent="0" marL="0">
              <a:buNone/>
            </a:pPr>
            <a:r>
              <a:rPr lang="en-US" sz="1200" b="1" dirty="0">
                <a:solidFill>
                  <a:srgbClr val="17233C"/>
                </a:solidFill>
                <a:latin typeface="Aptos Display" pitchFamily="34" charset="0"/>
                <a:ea typeface="Aptos Display" pitchFamily="34" charset="-122"/>
                <a:cs typeface="Aptos Display" pitchFamily="34" charset="-120"/>
              </a:rPr>
              <a:t>Uniqueness &amp; relationships</a:t>
            </a:r>
            <a:endParaRPr lang="en-US" sz="1200" dirty="0"/>
          </a:p>
        </p:txBody>
      </p:sp>
      <p:sp>
        <p:nvSpPr>
          <p:cNvPr id="21" name="Text 19"/>
          <p:cNvSpPr/>
          <p:nvPr/>
        </p:nvSpPr>
        <p:spPr>
          <a:xfrm>
            <a:off x="6419088" y="5367528"/>
            <a:ext cx="4782312" cy="9144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Duplicates, keys, orphan references</a:t>
            </a:r>
            <a:endParaRPr lang="en-US" sz="880" dirty="0"/>
          </a:p>
        </p:txBody>
      </p:sp>
      <p:sp>
        <p:nvSpPr>
          <p:cNvPr id="22" name="Text 20"/>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1–2</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Data Quality Is Multi-Dimensional</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“Clean” data is not one property.</a:t>
            </a:r>
            <a:endParaRPr lang="en-US" sz="1100" dirty="0"/>
          </a:p>
        </p:txBody>
      </p:sp>
      <p:sp>
        <p:nvSpPr>
          <p:cNvPr id="4" name="Shape 2"/>
          <p:cNvSpPr/>
          <p:nvPr/>
        </p:nvSpPr>
        <p:spPr>
          <a:xfrm>
            <a:off x="4946904" y="804672"/>
            <a:ext cx="2286000" cy="960120"/>
          </a:xfrm>
          <a:prstGeom prst="roundRect">
            <a:avLst>
              <a:gd name="adj" fmla="val 6667"/>
            </a:avLst>
          </a:prstGeom>
          <a:solidFill>
            <a:srgbClr val="FFFFFF"/>
          </a:solidFill>
          <a:ln w="12700">
            <a:solidFill>
              <a:srgbClr val="DDE2EA"/>
            </a:solidFill>
            <a:prstDash val="solid"/>
          </a:ln>
        </p:spPr>
      </p:sp>
      <p:sp>
        <p:nvSpPr>
          <p:cNvPr id="5" name="Shape 3"/>
          <p:cNvSpPr/>
          <p:nvPr/>
        </p:nvSpPr>
        <p:spPr>
          <a:xfrm>
            <a:off x="4946904" y="804672"/>
            <a:ext cx="50292" cy="960120"/>
          </a:xfrm>
          <a:prstGeom prst="rect">
            <a:avLst/>
          </a:prstGeom>
          <a:solidFill>
            <a:srgbClr val="3B6FF5"/>
          </a:solidFill>
          <a:ln w="12700">
            <a:solidFill>
              <a:srgbClr val="3B6FF5"/>
            </a:solidFill>
            <a:prstDash val="solid"/>
          </a:ln>
        </p:spPr>
      </p:sp>
      <p:sp>
        <p:nvSpPr>
          <p:cNvPr id="6" name="Text 4"/>
          <p:cNvSpPr/>
          <p:nvPr/>
        </p:nvSpPr>
        <p:spPr>
          <a:xfrm>
            <a:off x="5148072" y="1024128"/>
            <a:ext cx="1920240" cy="347472"/>
          </a:xfrm>
          <a:prstGeom prst="rect">
            <a:avLst/>
          </a:prstGeom>
          <a:noFill/>
          <a:ln/>
        </p:spPr>
        <p:txBody>
          <a:bodyPr wrap="square" lIns="0" tIns="0" rIns="0" bIns="0" rtlCol="0" anchor="ctr">
            <a:normAutofit/>
          </a:bodyPr>
          <a:lstStyle/>
          <a:p>
            <a:pPr indent="0" marL="0">
              <a:buNone/>
            </a:pPr>
            <a:r>
              <a:rPr lang="en-US" sz="1070" b="1" dirty="0">
                <a:solidFill>
                  <a:srgbClr val="17233C"/>
                </a:solidFill>
                <a:latin typeface="Aptos Display" pitchFamily="34" charset="0"/>
                <a:ea typeface="Aptos Display" pitchFamily="34" charset="-122"/>
                <a:cs typeface="Aptos Display" pitchFamily="34" charset="-120"/>
              </a:rPr>
              <a:t>Completeness</a:t>
            </a:r>
            <a:endParaRPr lang="en-US" sz="1070" dirty="0"/>
          </a:p>
        </p:txBody>
      </p:sp>
      <p:sp>
        <p:nvSpPr>
          <p:cNvPr id="7" name="Text 5"/>
          <p:cNvSpPr/>
          <p:nvPr/>
        </p:nvSpPr>
        <p:spPr>
          <a:xfrm>
            <a:off x="5148072" y="1463040"/>
            <a:ext cx="1901952" cy="137160"/>
          </a:xfrm>
          <a:prstGeom prst="rect">
            <a:avLst/>
          </a:prstGeom>
          <a:noFill/>
          <a:ln/>
        </p:spPr>
        <p:txBody>
          <a:bodyPr wrap="square" lIns="254" tIns="254" rIns="254" bIns="254" rtlCol="0" anchor="t">
            <a:normAutofit/>
          </a:bodyPr>
          <a:lstStyle/>
          <a:p>
            <a:pPr indent="0" marL="0">
              <a:buNone/>
            </a:pPr>
            <a:r>
              <a:rPr lang="en-US" sz="790" dirty="0">
                <a:solidFill>
                  <a:srgbClr val="283246"/>
                </a:solidFill>
                <a:latin typeface="Aptos" pitchFamily="34" charset="0"/>
                <a:ea typeface="Aptos" pitchFamily="34" charset="-122"/>
                <a:cs typeface="Aptos" pitchFamily="34" charset="-120"/>
              </a:rPr>
              <a:t>Required values present?</a:t>
            </a:r>
            <a:endParaRPr lang="en-US" sz="790" dirty="0"/>
          </a:p>
        </p:txBody>
      </p:sp>
      <p:sp>
        <p:nvSpPr>
          <p:cNvPr id="8" name="Shape 6"/>
          <p:cNvSpPr/>
          <p:nvPr/>
        </p:nvSpPr>
        <p:spPr>
          <a:xfrm>
            <a:off x="8193668" y="1787652"/>
            <a:ext cx="2286000" cy="960120"/>
          </a:xfrm>
          <a:prstGeom prst="roundRect">
            <a:avLst>
              <a:gd name="adj" fmla="val 6667"/>
            </a:avLst>
          </a:prstGeom>
          <a:solidFill>
            <a:srgbClr val="FFFFFF"/>
          </a:solidFill>
          <a:ln w="12700">
            <a:solidFill>
              <a:srgbClr val="DDE2EA"/>
            </a:solidFill>
            <a:prstDash val="solid"/>
          </a:ln>
        </p:spPr>
      </p:sp>
      <p:sp>
        <p:nvSpPr>
          <p:cNvPr id="9" name="Shape 7"/>
          <p:cNvSpPr/>
          <p:nvPr/>
        </p:nvSpPr>
        <p:spPr>
          <a:xfrm>
            <a:off x="8193668" y="1787652"/>
            <a:ext cx="50292" cy="960120"/>
          </a:xfrm>
          <a:prstGeom prst="rect">
            <a:avLst/>
          </a:prstGeom>
          <a:solidFill>
            <a:srgbClr val="00A972"/>
          </a:solidFill>
          <a:ln w="12700">
            <a:solidFill>
              <a:srgbClr val="00A972"/>
            </a:solidFill>
            <a:prstDash val="solid"/>
          </a:ln>
        </p:spPr>
      </p:sp>
      <p:sp>
        <p:nvSpPr>
          <p:cNvPr id="10" name="Text 8"/>
          <p:cNvSpPr/>
          <p:nvPr/>
        </p:nvSpPr>
        <p:spPr>
          <a:xfrm>
            <a:off x="8394836" y="2007108"/>
            <a:ext cx="1920240" cy="347472"/>
          </a:xfrm>
          <a:prstGeom prst="rect">
            <a:avLst/>
          </a:prstGeom>
          <a:noFill/>
          <a:ln/>
        </p:spPr>
        <p:txBody>
          <a:bodyPr wrap="square" lIns="0" tIns="0" rIns="0" bIns="0" rtlCol="0" anchor="ctr">
            <a:normAutofit/>
          </a:bodyPr>
          <a:lstStyle/>
          <a:p>
            <a:pPr indent="0" marL="0">
              <a:buNone/>
            </a:pPr>
            <a:r>
              <a:rPr lang="en-US" sz="1070" b="1" dirty="0">
                <a:solidFill>
                  <a:srgbClr val="17233C"/>
                </a:solidFill>
                <a:latin typeface="Aptos Display" pitchFamily="34" charset="0"/>
                <a:ea typeface="Aptos Display" pitchFamily="34" charset="-122"/>
                <a:cs typeface="Aptos Display" pitchFamily="34" charset="-120"/>
              </a:rPr>
              <a:t>Validity</a:t>
            </a:r>
            <a:endParaRPr lang="en-US" sz="1070" dirty="0"/>
          </a:p>
        </p:txBody>
      </p:sp>
      <p:sp>
        <p:nvSpPr>
          <p:cNvPr id="11" name="Text 9"/>
          <p:cNvSpPr/>
          <p:nvPr/>
        </p:nvSpPr>
        <p:spPr>
          <a:xfrm>
            <a:off x="8394836" y="2446020"/>
            <a:ext cx="1901952" cy="137160"/>
          </a:xfrm>
          <a:prstGeom prst="rect">
            <a:avLst/>
          </a:prstGeom>
          <a:noFill/>
          <a:ln/>
        </p:spPr>
        <p:txBody>
          <a:bodyPr wrap="square" lIns="254" tIns="254" rIns="254" bIns="254" rtlCol="0" anchor="t">
            <a:normAutofit/>
          </a:bodyPr>
          <a:lstStyle/>
          <a:p>
            <a:pPr indent="0" marL="0">
              <a:buNone/>
            </a:pPr>
            <a:r>
              <a:rPr lang="en-US" sz="790" dirty="0">
                <a:solidFill>
                  <a:srgbClr val="283246"/>
                </a:solidFill>
                <a:latin typeface="Aptos" pitchFamily="34" charset="0"/>
                <a:ea typeface="Aptos" pitchFamily="34" charset="-122"/>
                <a:cs typeface="Aptos" pitchFamily="34" charset="-120"/>
              </a:rPr>
              <a:t>Values conform to rules / ranges?</a:t>
            </a:r>
            <a:endParaRPr lang="en-US" sz="790" dirty="0"/>
          </a:p>
        </p:txBody>
      </p:sp>
      <p:sp>
        <p:nvSpPr>
          <p:cNvPr id="12" name="Shape 10"/>
          <p:cNvSpPr/>
          <p:nvPr/>
        </p:nvSpPr>
        <p:spPr>
          <a:xfrm>
            <a:off x="8193668" y="3753612"/>
            <a:ext cx="2286000" cy="960120"/>
          </a:xfrm>
          <a:prstGeom prst="roundRect">
            <a:avLst>
              <a:gd name="adj" fmla="val 6667"/>
            </a:avLst>
          </a:prstGeom>
          <a:solidFill>
            <a:srgbClr val="FFFFFF"/>
          </a:solidFill>
          <a:ln w="12700">
            <a:solidFill>
              <a:srgbClr val="DDE2EA"/>
            </a:solidFill>
            <a:prstDash val="solid"/>
          </a:ln>
        </p:spPr>
      </p:sp>
      <p:sp>
        <p:nvSpPr>
          <p:cNvPr id="13" name="Shape 11"/>
          <p:cNvSpPr/>
          <p:nvPr/>
        </p:nvSpPr>
        <p:spPr>
          <a:xfrm>
            <a:off x="8193668" y="3753612"/>
            <a:ext cx="50292" cy="960120"/>
          </a:xfrm>
          <a:prstGeom prst="rect">
            <a:avLst/>
          </a:prstGeom>
          <a:solidFill>
            <a:srgbClr val="7C4DFF"/>
          </a:solidFill>
          <a:ln w="12700">
            <a:solidFill>
              <a:srgbClr val="7C4DFF"/>
            </a:solidFill>
            <a:prstDash val="solid"/>
          </a:ln>
        </p:spPr>
      </p:sp>
      <p:sp>
        <p:nvSpPr>
          <p:cNvPr id="14" name="Text 12"/>
          <p:cNvSpPr/>
          <p:nvPr/>
        </p:nvSpPr>
        <p:spPr>
          <a:xfrm>
            <a:off x="8394836" y="3973068"/>
            <a:ext cx="1920240" cy="347472"/>
          </a:xfrm>
          <a:prstGeom prst="rect">
            <a:avLst/>
          </a:prstGeom>
          <a:noFill/>
          <a:ln/>
        </p:spPr>
        <p:txBody>
          <a:bodyPr wrap="square" lIns="0" tIns="0" rIns="0" bIns="0" rtlCol="0" anchor="ctr">
            <a:normAutofit/>
          </a:bodyPr>
          <a:lstStyle/>
          <a:p>
            <a:pPr indent="0" marL="0">
              <a:buNone/>
            </a:pPr>
            <a:r>
              <a:rPr lang="en-US" sz="1070" b="1" dirty="0">
                <a:solidFill>
                  <a:srgbClr val="17233C"/>
                </a:solidFill>
                <a:latin typeface="Aptos Display" pitchFamily="34" charset="0"/>
                <a:ea typeface="Aptos Display" pitchFamily="34" charset="-122"/>
                <a:cs typeface="Aptos Display" pitchFamily="34" charset="-120"/>
              </a:rPr>
              <a:t>Uniqueness</a:t>
            </a:r>
            <a:endParaRPr lang="en-US" sz="1070" dirty="0"/>
          </a:p>
        </p:txBody>
      </p:sp>
      <p:sp>
        <p:nvSpPr>
          <p:cNvPr id="15" name="Text 13"/>
          <p:cNvSpPr/>
          <p:nvPr/>
        </p:nvSpPr>
        <p:spPr>
          <a:xfrm>
            <a:off x="8394836" y="4411980"/>
            <a:ext cx="1901952" cy="137160"/>
          </a:xfrm>
          <a:prstGeom prst="rect">
            <a:avLst/>
          </a:prstGeom>
          <a:noFill/>
          <a:ln/>
        </p:spPr>
        <p:txBody>
          <a:bodyPr wrap="square" lIns="254" tIns="254" rIns="254" bIns="254" rtlCol="0" anchor="t">
            <a:normAutofit/>
          </a:bodyPr>
          <a:lstStyle/>
          <a:p>
            <a:pPr indent="0" marL="0">
              <a:buNone/>
            </a:pPr>
            <a:r>
              <a:rPr lang="en-US" sz="790" dirty="0">
                <a:solidFill>
                  <a:srgbClr val="283246"/>
                </a:solidFill>
                <a:latin typeface="Aptos" pitchFamily="34" charset="0"/>
                <a:ea typeface="Aptos" pitchFamily="34" charset="-122"/>
                <a:cs typeface="Aptos" pitchFamily="34" charset="-120"/>
              </a:rPr>
              <a:t>Duplicates where there should be keys?</a:t>
            </a:r>
            <a:endParaRPr lang="en-US" sz="790" dirty="0"/>
          </a:p>
        </p:txBody>
      </p:sp>
      <p:sp>
        <p:nvSpPr>
          <p:cNvPr id="16" name="Shape 14"/>
          <p:cNvSpPr/>
          <p:nvPr/>
        </p:nvSpPr>
        <p:spPr>
          <a:xfrm>
            <a:off x="4946904" y="4736592"/>
            <a:ext cx="2286000" cy="960120"/>
          </a:xfrm>
          <a:prstGeom prst="roundRect">
            <a:avLst>
              <a:gd name="adj" fmla="val 6667"/>
            </a:avLst>
          </a:prstGeom>
          <a:solidFill>
            <a:srgbClr val="FFFFFF"/>
          </a:solidFill>
          <a:ln w="12700">
            <a:solidFill>
              <a:srgbClr val="DDE2EA"/>
            </a:solidFill>
            <a:prstDash val="solid"/>
          </a:ln>
        </p:spPr>
      </p:sp>
      <p:sp>
        <p:nvSpPr>
          <p:cNvPr id="17" name="Shape 15"/>
          <p:cNvSpPr/>
          <p:nvPr/>
        </p:nvSpPr>
        <p:spPr>
          <a:xfrm>
            <a:off x="4946904" y="4736592"/>
            <a:ext cx="50292" cy="960120"/>
          </a:xfrm>
          <a:prstGeom prst="rect">
            <a:avLst/>
          </a:prstGeom>
          <a:solidFill>
            <a:srgbClr val="F3A712"/>
          </a:solidFill>
          <a:ln w="12700">
            <a:solidFill>
              <a:srgbClr val="F3A712"/>
            </a:solidFill>
            <a:prstDash val="solid"/>
          </a:ln>
        </p:spPr>
      </p:sp>
      <p:sp>
        <p:nvSpPr>
          <p:cNvPr id="18" name="Text 16"/>
          <p:cNvSpPr/>
          <p:nvPr/>
        </p:nvSpPr>
        <p:spPr>
          <a:xfrm>
            <a:off x="5148072" y="4956048"/>
            <a:ext cx="1920240" cy="347472"/>
          </a:xfrm>
          <a:prstGeom prst="rect">
            <a:avLst/>
          </a:prstGeom>
          <a:noFill/>
          <a:ln/>
        </p:spPr>
        <p:txBody>
          <a:bodyPr wrap="square" lIns="0" tIns="0" rIns="0" bIns="0" rtlCol="0" anchor="ctr">
            <a:normAutofit/>
          </a:bodyPr>
          <a:lstStyle/>
          <a:p>
            <a:pPr indent="0" marL="0">
              <a:buNone/>
            </a:pPr>
            <a:r>
              <a:rPr lang="en-US" sz="1070" b="1" dirty="0">
                <a:solidFill>
                  <a:srgbClr val="17233C"/>
                </a:solidFill>
                <a:latin typeface="Aptos Display" pitchFamily="34" charset="0"/>
                <a:ea typeface="Aptos Display" pitchFamily="34" charset="-122"/>
                <a:cs typeface="Aptos Display" pitchFamily="34" charset="-120"/>
              </a:rPr>
              <a:t>Consistency</a:t>
            </a:r>
            <a:endParaRPr lang="en-US" sz="1070" dirty="0"/>
          </a:p>
        </p:txBody>
      </p:sp>
      <p:sp>
        <p:nvSpPr>
          <p:cNvPr id="19" name="Text 17"/>
          <p:cNvSpPr/>
          <p:nvPr/>
        </p:nvSpPr>
        <p:spPr>
          <a:xfrm>
            <a:off x="5148072" y="5394960"/>
            <a:ext cx="1901952" cy="137160"/>
          </a:xfrm>
          <a:prstGeom prst="rect">
            <a:avLst/>
          </a:prstGeom>
          <a:noFill/>
          <a:ln/>
        </p:spPr>
        <p:txBody>
          <a:bodyPr wrap="square" lIns="254" tIns="254" rIns="254" bIns="254" rtlCol="0" anchor="t">
            <a:normAutofit/>
          </a:bodyPr>
          <a:lstStyle/>
          <a:p>
            <a:pPr indent="0" marL="0">
              <a:buNone/>
            </a:pPr>
            <a:r>
              <a:rPr lang="en-US" sz="790" dirty="0">
                <a:solidFill>
                  <a:srgbClr val="283246"/>
                </a:solidFill>
                <a:latin typeface="Aptos" pitchFamily="34" charset="0"/>
                <a:ea typeface="Aptos" pitchFamily="34" charset="-122"/>
                <a:cs typeface="Aptos" pitchFamily="34" charset="-120"/>
              </a:rPr>
              <a:t>Same meaning across sources?</a:t>
            </a:r>
            <a:endParaRPr lang="en-US" sz="790" dirty="0"/>
          </a:p>
        </p:txBody>
      </p:sp>
      <p:sp>
        <p:nvSpPr>
          <p:cNvPr id="20" name="Shape 18"/>
          <p:cNvSpPr/>
          <p:nvPr/>
        </p:nvSpPr>
        <p:spPr>
          <a:xfrm>
            <a:off x="1700140" y="3753612"/>
            <a:ext cx="2286000" cy="960120"/>
          </a:xfrm>
          <a:prstGeom prst="roundRect">
            <a:avLst>
              <a:gd name="adj" fmla="val 6667"/>
            </a:avLst>
          </a:prstGeom>
          <a:solidFill>
            <a:srgbClr val="FFFFFF"/>
          </a:solidFill>
          <a:ln w="12700">
            <a:solidFill>
              <a:srgbClr val="DDE2EA"/>
            </a:solidFill>
            <a:prstDash val="solid"/>
          </a:ln>
        </p:spPr>
      </p:sp>
      <p:sp>
        <p:nvSpPr>
          <p:cNvPr id="21" name="Shape 19"/>
          <p:cNvSpPr/>
          <p:nvPr/>
        </p:nvSpPr>
        <p:spPr>
          <a:xfrm>
            <a:off x="1700140" y="3753612"/>
            <a:ext cx="50292" cy="960120"/>
          </a:xfrm>
          <a:prstGeom prst="rect">
            <a:avLst/>
          </a:prstGeom>
          <a:solidFill>
            <a:srgbClr val="FF3621"/>
          </a:solidFill>
          <a:ln w="12700">
            <a:solidFill>
              <a:srgbClr val="FF3621"/>
            </a:solidFill>
            <a:prstDash val="solid"/>
          </a:ln>
        </p:spPr>
      </p:sp>
      <p:sp>
        <p:nvSpPr>
          <p:cNvPr id="22" name="Text 20"/>
          <p:cNvSpPr/>
          <p:nvPr/>
        </p:nvSpPr>
        <p:spPr>
          <a:xfrm>
            <a:off x="1901308" y="3973068"/>
            <a:ext cx="1920240" cy="347472"/>
          </a:xfrm>
          <a:prstGeom prst="rect">
            <a:avLst/>
          </a:prstGeom>
          <a:noFill/>
          <a:ln/>
        </p:spPr>
        <p:txBody>
          <a:bodyPr wrap="square" lIns="0" tIns="0" rIns="0" bIns="0" rtlCol="0" anchor="ctr">
            <a:normAutofit/>
          </a:bodyPr>
          <a:lstStyle/>
          <a:p>
            <a:pPr indent="0" marL="0">
              <a:buNone/>
            </a:pPr>
            <a:r>
              <a:rPr lang="en-US" sz="1070" b="1" dirty="0">
                <a:solidFill>
                  <a:srgbClr val="17233C"/>
                </a:solidFill>
                <a:latin typeface="Aptos Display" pitchFamily="34" charset="0"/>
                <a:ea typeface="Aptos Display" pitchFamily="34" charset="-122"/>
                <a:cs typeface="Aptos Display" pitchFamily="34" charset="-120"/>
              </a:rPr>
              <a:t>Timeliness</a:t>
            </a:r>
            <a:endParaRPr lang="en-US" sz="1070" dirty="0"/>
          </a:p>
        </p:txBody>
      </p:sp>
      <p:sp>
        <p:nvSpPr>
          <p:cNvPr id="23" name="Text 21"/>
          <p:cNvSpPr/>
          <p:nvPr/>
        </p:nvSpPr>
        <p:spPr>
          <a:xfrm>
            <a:off x="1901308" y="4411980"/>
            <a:ext cx="1901952" cy="137160"/>
          </a:xfrm>
          <a:prstGeom prst="rect">
            <a:avLst/>
          </a:prstGeom>
          <a:noFill/>
          <a:ln/>
        </p:spPr>
        <p:txBody>
          <a:bodyPr wrap="square" lIns="254" tIns="254" rIns="254" bIns="254" rtlCol="0" anchor="t">
            <a:normAutofit/>
          </a:bodyPr>
          <a:lstStyle/>
          <a:p>
            <a:pPr indent="0" marL="0">
              <a:buNone/>
            </a:pPr>
            <a:r>
              <a:rPr lang="en-US" sz="790" dirty="0">
                <a:solidFill>
                  <a:srgbClr val="283246"/>
                </a:solidFill>
                <a:latin typeface="Aptos" pitchFamily="34" charset="0"/>
                <a:ea typeface="Aptos" pitchFamily="34" charset="-122"/>
                <a:cs typeface="Aptos" pitchFamily="34" charset="-120"/>
              </a:rPr>
              <a:t>Arrives within the freshness SLA?</a:t>
            </a:r>
            <a:endParaRPr lang="en-US" sz="790" dirty="0"/>
          </a:p>
        </p:txBody>
      </p:sp>
      <p:sp>
        <p:nvSpPr>
          <p:cNvPr id="24" name="Shape 22"/>
          <p:cNvSpPr/>
          <p:nvPr/>
        </p:nvSpPr>
        <p:spPr>
          <a:xfrm>
            <a:off x="1700140" y="1787652"/>
            <a:ext cx="2286000" cy="960120"/>
          </a:xfrm>
          <a:prstGeom prst="roundRect">
            <a:avLst>
              <a:gd name="adj" fmla="val 6667"/>
            </a:avLst>
          </a:prstGeom>
          <a:solidFill>
            <a:srgbClr val="FFFFFF"/>
          </a:solidFill>
          <a:ln w="12700">
            <a:solidFill>
              <a:srgbClr val="DDE2EA"/>
            </a:solidFill>
            <a:prstDash val="solid"/>
          </a:ln>
        </p:spPr>
      </p:sp>
      <p:sp>
        <p:nvSpPr>
          <p:cNvPr id="25" name="Shape 23"/>
          <p:cNvSpPr/>
          <p:nvPr/>
        </p:nvSpPr>
        <p:spPr>
          <a:xfrm>
            <a:off x="1700140" y="1787652"/>
            <a:ext cx="50292" cy="960120"/>
          </a:xfrm>
          <a:prstGeom prst="rect">
            <a:avLst/>
          </a:prstGeom>
          <a:solidFill>
            <a:srgbClr val="29A86B"/>
          </a:solidFill>
          <a:ln w="12700">
            <a:solidFill>
              <a:srgbClr val="29A86B"/>
            </a:solidFill>
            <a:prstDash val="solid"/>
          </a:ln>
        </p:spPr>
      </p:sp>
      <p:sp>
        <p:nvSpPr>
          <p:cNvPr id="26" name="Text 24"/>
          <p:cNvSpPr/>
          <p:nvPr/>
        </p:nvSpPr>
        <p:spPr>
          <a:xfrm>
            <a:off x="1901308" y="2007108"/>
            <a:ext cx="1920240" cy="347472"/>
          </a:xfrm>
          <a:prstGeom prst="rect">
            <a:avLst/>
          </a:prstGeom>
          <a:noFill/>
          <a:ln/>
        </p:spPr>
        <p:txBody>
          <a:bodyPr wrap="square" lIns="0" tIns="0" rIns="0" bIns="0" rtlCol="0" anchor="ctr">
            <a:normAutofit/>
          </a:bodyPr>
          <a:lstStyle/>
          <a:p>
            <a:pPr indent="0" marL="0">
              <a:buNone/>
            </a:pPr>
            <a:r>
              <a:rPr lang="en-US" sz="1070" b="1" dirty="0">
                <a:solidFill>
                  <a:srgbClr val="17233C"/>
                </a:solidFill>
                <a:latin typeface="Aptos Display" pitchFamily="34" charset="0"/>
                <a:ea typeface="Aptos Display" pitchFamily="34" charset="-122"/>
                <a:cs typeface="Aptos Display" pitchFamily="34" charset="-120"/>
              </a:rPr>
              <a:t>Referential integrity</a:t>
            </a:r>
            <a:endParaRPr lang="en-US" sz="1070" dirty="0"/>
          </a:p>
        </p:txBody>
      </p:sp>
      <p:sp>
        <p:nvSpPr>
          <p:cNvPr id="27" name="Text 25"/>
          <p:cNvSpPr/>
          <p:nvPr/>
        </p:nvSpPr>
        <p:spPr>
          <a:xfrm>
            <a:off x="1901308" y="2446020"/>
            <a:ext cx="1901952" cy="137160"/>
          </a:xfrm>
          <a:prstGeom prst="rect">
            <a:avLst/>
          </a:prstGeom>
          <a:noFill/>
          <a:ln/>
        </p:spPr>
        <p:txBody>
          <a:bodyPr wrap="square" lIns="254" tIns="254" rIns="254" bIns="254" rtlCol="0" anchor="t">
            <a:normAutofit/>
          </a:bodyPr>
          <a:lstStyle/>
          <a:p>
            <a:pPr indent="0" marL="0">
              <a:buNone/>
            </a:pPr>
            <a:r>
              <a:rPr lang="en-US" sz="790" dirty="0">
                <a:solidFill>
                  <a:srgbClr val="283246"/>
                </a:solidFill>
                <a:latin typeface="Aptos" pitchFamily="34" charset="0"/>
                <a:ea typeface="Aptos" pitchFamily="34" charset="-122"/>
                <a:cs typeface="Aptos" pitchFamily="34" charset="-120"/>
              </a:rPr>
              <a:t>Foreign keys map to valid entities?</a:t>
            </a:r>
            <a:endParaRPr lang="en-US" sz="790" dirty="0"/>
          </a:p>
        </p:txBody>
      </p:sp>
      <p:sp>
        <p:nvSpPr>
          <p:cNvPr id="28" name="Shape 26"/>
          <p:cNvSpPr/>
          <p:nvPr/>
        </p:nvSpPr>
        <p:spPr>
          <a:xfrm>
            <a:off x="5010912" y="2313432"/>
            <a:ext cx="2157984" cy="1874520"/>
          </a:xfrm>
          <a:prstGeom prst="ellipse">
            <a:avLst/>
          </a:prstGeom>
          <a:solidFill>
            <a:srgbClr val="FFFFFF"/>
          </a:solidFill>
          <a:ln w="12700">
            <a:solidFill>
              <a:srgbClr val="FF3621"/>
            </a:solidFill>
            <a:prstDash val="solid"/>
          </a:ln>
        </p:spPr>
      </p:sp>
      <p:sp>
        <p:nvSpPr>
          <p:cNvPr id="29" name="Text 27"/>
          <p:cNvSpPr/>
          <p:nvPr/>
        </p:nvSpPr>
        <p:spPr>
          <a:xfrm>
            <a:off x="5321808" y="2788920"/>
            <a:ext cx="1554480" cy="640080"/>
          </a:xfrm>
          <a:prstGeom prst="rect">
            <a:avLst/>
          </a:prstGeom>
          <a:noFill/>
          <a:ln/>
        </p:spPr>
        <p:txBody>
          <a:bodyPr wrap="square" lIns="0" tIns="0" rIns="0" bIns="0" rtlCol="0" anchor="ctr"/>
          <a:lstStyle/>
          <a:p>
            <a:pPr algn="ctr" indent="0" marL="0">
              <a:buNone/>
            </a:pPr>
            <a:r>
              <a:rPr lang="en-US" sz="1600" b="1" dirty="0">
                <a:solidFill>
                  <a:srgbClr val="17233C"/>
                </a:solidFill>
                <a:latin typeface="Aptos Display" pitchFamily="34" charset="0"/>
                <a:ea typeface="Aptos Display" pitchFamily="34" charset="-122"/>
                <a:cs typeface="Aptos Display" pitchFamily="34" charset="-120"/>
              </a:rPr>
              <a:t>TRUSTED</a:t>
            </a:r>
            <a:endParaRPr lang="en-US" sz="1600" dirty="0"/>
          </a:p>
          <a:p>
            <a:pPr algn="ctr" indent="0" marL="0">
              <a:buNone/>
            </a:pPr>
            <a:r>
              <a:rPr lang="en-US" sz="1600" b="1" dirty="0">
                <a:solidFill>
                  <a:srgbClr val="17233C"/>
                </a:solidFill>
                <a:latin typeface="Aptos Display" pitchFamily="34" charset="0"/>
                <a:ea typeface="Aptos Display" pitchFamily="34" charset="-122"/>
                <a:cs typeface="Aptos Display" pitchFamily="34" charset="-120"/>
              </a:rPr>
              <a:t>DATA</a:t>
            </a:r>
            <a:endParaRPr lang="en-US" sz="16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Business Rules Become Data Quality Tests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Write human rules first; encode them second.</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4023360"/>
        </p:xfrm>
        <a:graphic>
          <a:graphicData uri="http://schemas.openxmlformats.org/drawingml/2006/table">
            <a:tbl>
              <a:tblPr/>
              <a:tblGrid>
                <a:gridCol w="5029200"/>
                <a:gridCol w="5669280"/>
              </a:tblGrid>
              <a:tr h="530352">
                <a:tc>
                  <a:txBody>
                    <a:bodyPr/>
                    <a:lstStyle/>
                    <a:p>
                      <a:pPr indent="0" marL="0">
                        <a:buNone/>
                      </a:pPr>
                      <a:r>
                        <a:rPr lang="en-US" sz="1100" dirty="0">
                          <a:solidFill>
                            <a:srgbClr val="283246"/>
                          </a:solidFill>
                          <a:latin typeface="Aptos" pitchFamily="34" charset="0"/>
                          <a:ea typeface="Aptos" pitchFamily="34" charset="-122"/>
                          <a:cs typeface="Aptos" pitchFamily="34" charset="-120"/>
                        </a:rPr>
                        <a:t>Business rule</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c>
                  <a:txBody>
                    <a:bodyPr/>
                    <a:lstStyle/>
                    <a:p>
                      <a:pPr indent="0" marL="0">
                        <a:buNone/>
                      </a:pPr>
                      <a:r>
                        <a:rPr lang="en-US" sz="1100" dirty="0">
                          <a:solidFill>
                            <a:srgbClr val="283246"/>
                          </a:solidFill>
                          <a:latin typeface="Aptos" pitchFamily="34" charset="0"/>
                          <a:ea typeface="Aptos" pitchFamily="34" charset="-122"/>
                          <a:cs typeface="Aptos" pitchFamily="34" charset="-120"/>
                        </a:rPr>
                        <a:t>Executable test / expectation</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r>
              <a:tr h="658368">
                <a:tc>
                  <a:txBody>
                    <a:bodyPr/>
                    <a:lstStyle/>
                    <a:p>
                      <a:pPr indent="0" marL="0">
                        <a:buNone/>
                      </a:pPr>
                      <a:r>
                        <a:rPr lang="en-US" sz="1100" dirty="0">
                          <a:solidFill>
                            <a:srgbClr val="283246"/>
                          </a:solidFill>
                          <a:latin typeface="Aptos" pitchFamily="34" charset="0"/>
                          <a:ea typeface="Aptos" pitchFamily="34" charset="-122"/>
                          <a:cs typeface="Aptos" pitchFamily="34" charset="-120"/>
                        </a:rPr>
                        <a:t>Order quantity must be positive</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c>
                  <a:txBody>
                    <a:bodyPr/>
                    <a:lstStyle/>
                    <a:p>
                      <a:pPr indent="0" marL="0">
                        <a:buNone/>
                      </a:pPr>
                      <a:r>
                        <a:rPr lang="en-US" sz="1100" dirty="0">
                          <a:solidFill>
                            <a:srgbClr val="283246"/>
                          </a:solidFill>
                          <a:latin typeface="Aptos" pitchFamily="34" charset="0"/>
                          <a:ea typeface="Aptos" pitchFamily="34" charset="-122"/>
                          <a:cs typeface="Aptos" pitchFamily="34" charset="-120"/>
                        </a:rPr>
                        <a:t>Quantity &gt; 0</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r>
              <a:tr h="658368">
                <a:tc>
                  <a:txBody>
                    <a:bodyPr/>
                    <a:lstStyle/>
                    <a:p>
                      <a:pPr indent="0" marL="0">
                        <a:buNone/>
                      </a:pPr>
                      <a:r>
                        <a:rPr lang="en-US" sz="1100" dirty="0">
                          <a:solidFill>
                            <a:srgbClr val="283246"/>
                          </a:solidFill>
                          <a:latin typeface="Aptos" pitchFamily="34" charset="0"/>
                          <a:ea typeface="Aptos" pitchFamily="34" charset="-122"/>
                          <a:cs typeface="Aptos" pitchFamily="34" charset="-120"/>
                        </a:rPr>
                        <a:t>Order date must parse as a valid date</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c>
                  <a:txBody>
                    <a:bodyPr/>
                    <a:lstStyle/>
                    <a:p>
                      <a:pPr indent="0" marL="0">
                        <a:buNone/>
                      </a:pPr>
                      <a:r>
                        <a:rPr lang="en-US" sz="1100" dirty="0">
                          <a:solidFill>
                            <a:srgbClr val="283246"/>
                          </a:solidFill>
                          <a:latin typeface="Aptos" pitchFamily="34" charset="0"/>
                          <a:ea typeface="Aptos" pitchFamily="34" charset="-122"/>
                          <a:cs typeface="Aptos" pitchFamily="34" charset="-120"/>
                        </a:rPr>
                        <a:t>to_date(OrderDate) IS NOT NULL</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r>
              <a:tr h="658368">
                <a:tc>
                  <a:txBody>
                    <a:bodyPr/>
                    <a:lstStyle/>
                    <a:p>
                      <a:pPr indent="0" marL="0">
                        <a:buNone/>
                      </a:pPr>
                      <a:r>
                        <a:rPr lang="en-US" sz="1100" dirty="0">
                          <a:solidFill>
                            <a:srgbClr val="283246"/>
                          </a:solidFill>
                          <a:latin typeface="Aptos" pitchFamily="34" charset="0"/>
                          <a:ea typeface="Aptos" pitchFamily="34" charset="-122"/>
                          <a:cs typeface="Aptos" pitchFamily="34" charset="-120"/>
                        </a:rPr>
                        <a:t>Every sold product must exist</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c>
                  <a:txBody>
                    <a:bodyPr/>
                    <a:lstStyle/>
                    <a:p>
                      <a:pPr indent="0" marL="0">
                        <a:buNone/>
                      </a:pPr>
                      <a:r>
                        <a:rPr lang="en-US" sz="1100" dirty="0">
                          <a:solidFill>
                            <a:srgbClr val="283246"/>
                          </a:solidFill>
                          <a:latin typeface="Aptos" pitchFamily="34" charset="0"/>
                          <a:ea typeface="Aptos" pitchFamily="34" charset="-122"/>
                          <a:cs typeface="Aptos" pitchFamily="34" charset="-120"/>
                        </a:rPr>
                        <a:t>ProductKey join succeeds / no orphan</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r>
              <a:tr h="658368">
                <a:tc>
                  <a:txBody>
                    <a:bodyPr/>
                    <a:lstStyle/>
                    <a:p>
                      <a:pPr indent="0" marL="0">
                        <a:buNone/>
                      </a:pPr>
                      <a:r>
                        <a:rPr lang="en-US" sz="1100" dirty="0">
                          <a:solidFill>
                            <a:srgbClr val="283246"/>
                          </a:solidFill>
                          <a:latin typeface="Aptos" pitchFamily="34" charset="0"/>
                          <a:ea typeface="Aptos" pitchFamily="34" charset="-122"/>
                          <a:cs typeface="Aptos" pitchFamily="34" charset="-120"/>
                        </a:rPr>
                        <a:t>Customer email is required for campaign mart</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c>
                  <a:txBody>
                    <a:bodyPr/>
                    <a:lstStyle/>
                    <a:p>
                      <a:pPr indent="0" marL="0">
                        <a:buNone/>
                      </a:pPr>
                      <a:r>
                        <a:rPr lang="en-US" sz="1100" dirty="0">
                          <a:solidFill>
                            <a:srgbClr val="283246"/>
                          </a:solidFill>
                          <a:latin typeface="Aptos" pitchFamily="34" charset="0"/>
                          <a:ea typeface="Aptos" pitchFamily="34" charset="-122"/>
                          <a:cs typeface="Aptos" pitchFamily="34" charset="-120"/>
                        </a:rPr>
                        <a:t>email IS NOT NULL</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r>
              <a:tr h="658368">
                <a:tc>
                  <a:txBody>
                    <a:bodyPr/>
                    <a:lstStyle/>
                    <a:p>
                      <a:pPr indent="0" marL="0">
                        <a:buNone/>
                      </a:pPr>
                      <a:r>
                        <a:rPr lang="en-US" sz="1100" dirty="0">
                          <a:solidFill>
                            <a:srgbClr val="283246"/>
                          </a:solidFill>
                          <a:latin typeface="Aptos" pitchFamily="34" charset="0"/>
                          <a:ea typeface="Aptos" pitchFamily="34" charset="-122"/>
                          <a:cs typeface="Aptos" pitchFamily="34" charset="-120"/>
                        </a:rPr>
                        <a:t>Revenue must not be negative</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c>
                  <a:txBody>
                    <a:bodyPr/>
                    <a:lstStyle/>
                    <a:p>
                      <a:pPr indent="0" marL="0">
                        <a:buNone/>
                      </a:pPr>
                      <a:r>
                        <a:rPr lang="en-US" sz="1100" dirty="0">
                          <a:solidFill>
                            <a:srgbClr val="283246"/>
                          </a:solidFill>
                          <a:latin typeface="Aptos" pitchFamily="34" charset="0"/>
                          <a:ea typeface="Aptos" pitchFamily="34" charset="-122"/>
                          <a:cs typeface="Aptos" pitchFamily="34" charset="-120"/>
                        </a:rPr>
                        <a:t>SalesAmount &gt;= 0</a:t>
                      </a:r>
                      <a:endParaRPr lang="en-US" sz="1100" dirty="0">
                        <a:latin typeface="Aptos" charset="0"/>
                        <a:ea typeface="Aptos" charset="0"/>
                        <a:cs typeface="Aptos" charset="0"/>
                      </a:endParaRPr>
                    </a:p>
                  </a:txBody>
                  <a:tcPr marL="91440" marR="91440" marT="91440" marB="91440">
                    <a:lnL w="10160" cap="flat" cmpd="sng" algn="ctr">
                      <a:solidFill>
                        <a:srgbClr val="D7DDE6"/>
                      </a:solidFill>
                      <a:prstDash val="solid"/>
                      <a:round/>
                      <a:headEnd type="none" w="med" len="med"/>
                      <a:tailEnd type="none" w="med" len="med"/>
                    </a:lnL>
                    <a:lnR w="10160" cap="flat" cmpd="sng" algn="ctr">
                      <a:solidFill>
                        <a:srgbClr val="D7DDE6"/>
                      </a:solidFill>
                      <a:prstDash val="solid"/>
                      <a:round/>
                      <a:headEnd type="none" w="med" len="med"/>
                      <a:tailEnd type="none" w="med" len="med"/>
                    </a:lnR>
                    <a:lnT w="10160" cap="flat" cmpd="sng" algn="ctr">
                      <a:solidFill>
                        <a:srgbClr val="D7DDE6"/>
                      </a:solidFill>
                      <a:prstDash val="solid"/>
                      <a:round/>
                      <a:headEnd type="none" w="med" len="med"/>
                      <a:tailEnd type="none" w="med" len="med"/>
                    </a:lnT>
                    <a:lnB w="10160" cap="flat" cmpd="sng" algn="ctr">
                      <a:solidFill>
                        <a:srgbClr val="D7DDE6"/>
                      </a:solidFill>
                      <a:prstDash val="solid"/>
                      <a:round/>
                      <a:headEnd type="none" w="med" len="med"/>
                      <a:tailEnd type="none" w="med" len="med"/>
                    </a:lnB>
                  </a:tcPr>
                </a:tc>
              </a:tr>
            </a:tbl>
          </a:graphicData>
        </a:graphic>
      </p:graphicFrame>
      <p:sp>
        <p:nvSpPr>
          <p:cNvPr id="5" name="Shape 2"/>
          <p:cNvSpPr/>
          <p:nvPr/>
        </p:nvSpPr>
        <p:spPr>
          <a:xfrm>
            <a:off x="731520" y="1463040"/>
            <a:ext cx="10698480" cy="530352"/>
          </a:xfrm>
          <a:prstGeom prst="rect">
            <a:avLst/>
          </a:prstGeom>
          <a:solidFill>
            <a:srgbClr val="17233C"/>
          </a:solidFill>
          <a:ln w="12700">
            <a:solidFill>
              <a:srgbClr val="17233C"/>
            </a:solidFill>
            <a:prstDash val="solid"/>
          </a:ln>
        </p:spPr>
      </p:sp>
      <p:sp>
        <p:nvSpPr>
          <p:cNvPr id="6" name="Text 3"/>
          <p:cNvSpPr/>
          <p:nvPr/>
        </p:nvSpPr>
        <p:spPr>
          <a:xfrm>
            <a:off x="868680" y="1627632"/>
            <a:ext cx="4480560" cy="164592"/>
          </a:xfrm>
          <a:prstGeom prst="rect">
            <a:avLst/>
          </a:prstGeom>
          <a:noFill/>
          <a:ln/>
        </p:spPr>
        <p:txBody>
          <a:bodyPr wrap="square" lIns="0" tIns="0" rIns="0" bIns="0" rtlCol="0" anchor="ctr"/>
          <a:lstStyle/>
          <a:p>
            <a:pPr indent="0" marL="0">
              <a:buNone/>
            </a:pPr>
            <a:r>
              <a:rPr lang="en-US" sz="1000" b="1" dirty="0">
                <a:solidFill>
                  <a:srgbClr val="FFFFFF"/>
                </a:solidFill>
              </a:rPr>
              <a:t>Business rule</a:t>
            </a:r>
            <a:endParaRPr lang="en-US" sz="1000" dirty="0"/>
          </a:p>
        </p:txBody>
      </p:sp>
      <p:sp>
        <p:nvSpPr>
          <p:cNvPr id="7" name="Text 4"/>
          <p:cNvSpPr/>
          <p:nvPr/>
        </p:nvSpPr>
        <p:spPr>
          <a:xfrm>
            <a:off x="5742432" y="1627632"/>
            <a:ext cx="5212080" cy="164592"/>
          </a:xfrm>
          <a:prstGeom prst="rect">
            <a:avLst/>
          </a:prstGeom>
          <a:noFill/>
          <a:ln/>
        </p:spPr>
        <p:txBody>
          <a:bodyPr wrap="square" lIns="0" tIns="0" rIns="0" bIns="0" rtlCol="0" anchor="ctr"/>
          <a:lstStyle/>
          <a:p>
            <a:pPr indent="0" marL="0">
              <a:buNone/>
            </a:pPr>
            <a:r>
              <a:rPr lang="en-US" sz="1000" b="1" dirty="0">
                <a:solidFill>
                  <a:srgbClr val="FFFFFF"/>
                </a:solidFill>
              </a:rPr>
              <a:t>Executable test / expectation</a:t>
            </a:r>
            <a:endParaRPr lang="en-US" sz="1000" dirty="0"/>
          </a:p>
        </p:txBody>
      </p:sp>
      <p:sp>
        <p:nvSpPr>
          <p:cNvPr id="8" name="Shape 5"/>
          <p:cNvSpPr/>
          <p:nvPr/>
        </p:nvSpPr>
        <p:spPr>
          <a:xfrm>
            <a:off x="1097280" y="5715000"/>
            <a:ext cx="9966960" cy="438912"/>
          </a:xfrm>
          <a:prstGeom prst="roundRect">
            <a:avLst>
              <a:gd name="adj" fmla="val 12500"/>
            </a:avLst>
          </a:prstGeom>
          <a:solidFill>
            <a:srgbClr val="ECF8F3"/>
          </a:solidFill>
          <a:ln w="12700">
            <a:solidFill>
              <a:srgbClr val="ECF8F3"/>
            </a:solidFill>
            <a:prstDash val="solid"/>
          </a:ln>
        </p:spPr>
      </p:sp>
      <p:sp>
        <p:nvSpPr>
          <p:cNvPr id="9" name="Text 6"/>
          <p:cNvSpPr/>
          <p:nvPr/>
        </p:nvSpPr>
        <p:spPr>
          <a:xfrm>
            <a:off x="1261872" y="5833872"/>
            <a:ext cx="9637776" cy="210312"/>
          </a:xfrm>
          <a:prstGeom prst="rect">
            <a:avLst/>
          </a:prstGeom>
          <a:noFill/>
          <a:ln/>
        </p:spPr>
        <p:txBody>
          <a:bodyPr wrap="square" lIns="0" tIns="0" rIns="0" bIns="0" rtlCol="0" anchor="ctr">
            <a:normAutofit/>
          </a:bodyPr>
          <a:lstStyle/>
          <a:p>
            <a:pPr indent="0" marL="0">
              <a:buNone/>
            </a:pPr>
            <a:r>
              <a:rPr lang="en-US" sz="1100" b="1" dirty="0">
                <a:solidFill>
                  <a:srgbClr val="00A972"/>
                </a:solidFill>
                <a:latin typeface="Aptos" pitchFamily="34" charset="0"/>
                <a:ea typeface="Aptos" pitchFamily="34" charset="-122"/>
                <a:cs typeface="Aptos" pitchFamily="34" charset="-120"/>
              </a:rPr>
              <a:t>Data quality improves when business meaning is explicit, testable, and monitored continuously.</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Staging Improves Recoverability</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Preserve intermediate states so failures do not force you back to the source.</a:t>
            </a:r>
            <a:endParaRPr lang="en-US" sz="1100" dirty="0"/>
          </a:p>
        </p:txBody>
      </p:sp>
      <p:sp>
        <p:nvSpPr>
          <p:cNvPr id="4" name="Shape 2"/>
          <p:cNvSpPr/>
          <p:nvPr/>
        </p:nvSpPr>
        <p:spPr>
          <a:xfrm>
            <a:off x="731520" y="1965960"/>
            <a:ext cx="2331720" cy="713232"/>
          </a:xfrm>
          <a:prstGeom prst="roundRect">
            <a:avLst>
              <a:gd name="adj" fmla="val 7692"/>
            </a:avLst>
          </a:prstGeom>
          <a:solidFill>
            <a:srgbClr val="EBF1FE"/>
          </a:solidFill>
          <a:ln w="12700">
            <a:solidFill>
              <a:srgbClr val="3B6FF5"/>
            </a:solidFill>
            <a:prstDash val="solid"/>
          </a:ln>
        </p:spPr>
      </p:sp>
      <p:sp>
        <p:nvSpPr>
          <p:cNvPr id="5" name="Text 3"/>
          <p:cNvSpPr/>
          <p:nvPr/>
        </p:nvSpPr>
        <p:spPr>
          <a:xfrm>
            <a:off x="804672" y="2139696"/>
            <a:ext cx="2185416" cy="320040"/>
          </a:xfrm>
          <a:prstGeom prst="rect">
            <a:avLst/>
          </a:prstGeom>
          <a:noFill/>
          <a:ln/>
        </p:spPr>
        <p:txBody>
          <a:bodyPr wrap="square" lIns="0" tIns="0" rIns="0" bIns="0" rtlCol="0" anchor="ctr">
            <a:normAutofit/>
          </a:bodyPr>
          <a:lstStyle/>
          <a:p>
            <a:pPr algn="ctr" indent="0" marL="0">
              <a:buNone/>
            </a:pPr>
            <a:r>
              <a:rPr lang="en-US" sz="1150" b="1" dirty="0">
                <a:solidFill>
                  <a:srgbClr val="17233C"/>
                </a:solidFill>
                <a:latin typeface="Aptos" pitchFamily="34" charset="0"/>
                <a:ea typeface="Aptos" pitchFamily="34" charset="-122"/>
                <a:cs typeface="Aptos" pitchFamily="34" charset="-120"/>
              </a:rPr>
              <a:t>RAW SOURCE</a:t>
            </a:r>
            <a:endParaRPr lang="en-US" sz="1150" dirty="0"/>
          </a:p>
        </p:txBody>
      </p:sp>
      <p:sp>
        <p:nvSpPr>
          <p:cNvPr id="6" name="Shape 4"/>
          <p:cNvSpPr/>
          <p:nvPr/>
        </p:nvSpPr>
        <p:spPr>
          <a:xfrm>
            <a:off x="3108960" y="2322576"/>
            <a:ext cx="320040" cy="0"/>
          </a:xfrm>
          <a:prstGeom prst="line">
            <a:avLst/>
          </a:prstGeom>
          <a:noFill/>
          <a:ln w="12700">
            <a:solidFill>
              <a:srgbClr val="9AA4B3"/>
            </a:solidFill>
            <a:prstDash val="solid"/>
            <a:headEnd type="none"/>
            <a:tailEnd type="triangle"/>
          </a:ln>
        </p:spPr>
      </p:sp>
      <p:sp>
        <p:nvSpPr>
          <p:cNvPr id="7" name="Shape 5"/>
          <p:cNvSpPr/>
          <p:nvPr/>
        </p:nvSpPr>
        <p:spPr>
          <a:xfrm>
            <a:off x="3474720" y="1965960"/>
            <a:ext cx="2331720" cy="713232"/>
          </a:xfrm>
          <a:prstGeom prst="roundRect">
            <a:avLst>
              <a:gd name="adj" fmla="val 7692"/>
            </a:avLst>
          </a:prstGeom>
          <a:solidFill>
            <a:srgbClr val="FEF6E7"/>
          </a:solidFill>
          <a:ln w="12700">
            <a:solidFill>
              <a:srgbClr val="F3A712"/>
            </a:solidFill>
            <a:prstDash val="solid"/>
          </a:ln>
        </p:spPr>
      </p:sp>
      <p:sp>
        <p:nvSpPr>
          <p:cNvPr id="8" name="Text 6"/>
          <p:cNvSpPr/>
          <p:nvPr/>
        </p:nvSpPr>
        <p:spPr>
          <a:xfrm>
            <a:off x="3547872" y="2139696"/>
            <a:ext cx="2185416" cy="320040"/>
          </a:xfrm>
          <a:prstGeom prst="rect">
            <a:avLst/>
          </a:prstGeom>
          <a:noFill/>
          <a:ln/>
        </p:spPr>
        <p:txBody>
          <a:bodyPr wrap="square" lIns="0" tIns="0" rIns="0" bIns="0" rtlCol="0" anchor="ctr">
            <a:normAutofit/>
          </a:bodyPr>
          <a:lstStyle/>
          <a:p>
            <a:pPr algn="ctr" indent="0" marL="0">
              <a:buNone/>
            </a:pPr>
            <a:r>
              <a:rPr lang="en-US" sz="1150" b="1" dirty="0">
                <a:solidFill>
                  <a:srgbClr val="17233C"/>
                </a:solidFill>
                <a:latin typeface="Aptos" pitchFamily="34" charset="0"/>
                <a:ea typeface="Aptos" pitchFamily="34" charset="-122"/>
                <a:cs typeface="Aptos" pitchFamily="34" charset="-120"/>
              </a:rPr>
              <a:t>STAGE 1</a:t>
            </a:r>
            <a:endParaRPr lang="en-US" sz="1150" dirty="0"/>
          </a:p>
        </p:txBody>
      </p:sp>
      <p:sp>
        <p:nvSpPr>
          <p:cNvPr id="9" name="Shape 7"/>
          <p:cNvSpPr/>
          <p:nvPr/>
        </p:nvSpPr>
        <p:spPr>
          <a:xfrm>
            <a:off x="5852160" y="2322576"/>
            <a:ext cx="320040" cy="0"/>
          </a:xfrm>
          <a:prstGeom prst="line">
            <a:avLst/>
          </a:prstGeom>
          <a:noFill/>
          <a:ln w="12700">
            <a:solidFill>
              <a:srgbClr val="9AA4B3"/>
            </a:solidFill>
            <a:prstDash val="solid"/>
            <a:headEnd type="none"/>
            <a:tailEnd type="triangle"/>
          </a:ln>
        </p:spPr>
      </p:sp>
      <p:sp>
        <p:nvSpPr>
          <p:cNvPr id="10" name="Shape 8"/>
          <p:cNvSpPr/>
          <p:nvPr/>
        </p:nvSpPr>
        <p:spPr>
          <a:xfrm>
            <a:off x="6217920" y="1965960"/>
            <a:ext cx="2331720" cy="713232"/>
          </a:xfrm>
          <a:prstGeom prst="roundRect">
            <a:avLst>
              <a:gd name="adj" fmla="val 7692"/>
            </a:avLst>
          </a:prstGeom>
          <a:solidFill>
            <a:srgbClr val="E6F6F1"/>
          </a:solidFill>
          <a:ln w="12700">
            <a:solidFill>
              <a:srgbClr val="00A972"/>
            </a:solidFill>
            <a:prstDash val="solid"/>
          </a:ln>
        </p:spPr>
      </p:sp>
      <p:sp>
        <p:nvSpPr>
          <p:cNvPr id="11" name="Text 9"/>
          <p:cNvSpPr/>
          <p:nvPr/>
        </p:nvSpPr>
        <p:spPr>
          <a:xfrm>
            <a:off x="6291072" y="2139696"/>
            <a:ext cx="2185416" cy="320040"/>
          </a:xfrm>
          <a:prstGeom prst="rect">
            <a:avLst/>
          </a:prstGeom>
          <a:noFill/>
          <a:ln/>
        </p:spPr>
        <p:txBody>
          <a:bodyPr wrap="square" lIns="0" tIns="0" rIns="0" bIns="0" rtlCol="0" anchor="ctr">
            <a:normAutofit/>
          </a:bodyPr>
          <a:lstStyle/>
          <a:p>
            <a:pPr algn="ctr" indent="0" marL="0">
              <a:buNone/>
            </a:pPr>
            <a:r>
              <a:rPr lang="en-US" sz="1150" b="1" dirty="0">
                <a:solidFill>
                  <a:srgbClr val="17233C"/>
                </a:solidFill>
                <a:latin typeface="Aptos" pitchFamily="34" charset="0"/>
                <a:ea typeface="Aptos" pitchFamily="34" charset="-122"/>
                <a:cs typeface="Aptos" pitchFamily="34" charset="-120"/>
              </a:rPr>
              <a:t>STAGE 2</a:t>
            </a:r>
            <a:endParaRPr lang="en-US" sz="1150" dirty="0"/>
          </a:p>
        </p:txBody>
      </p:sp>
      <p:sp>
        <p:nvSpPr>
          <p:cNvPr id="12" name="Shape 10"/>
          <p:cNvSpPr/>
          <p:nvPr/>
        </p:nvSpPr>
        <p:spPr>
          <a:xfrm>
            <a:off x="8595360" y="2322576"/>
            <a:ext cx="320040" cy="0"/>
          </a:xfrm>
          <a:prstGeom prst="line">
            <a:avLst/>
          </a:prstGeom>
          <a:noFill/>
          <a:ln w="12700">
            <a:solidFill>
              <a:srgbClr val="9AA4B3"/>
            </a:solidFill>
            <a:prstDash val="solid"/>
            <a:headEnd type="none"/>
            <a:tailEnd type="triangle"/>
          </a:ln>
        </p:spPr>
      </p:sp>
      <p:sp>
        <p:nvSpPr>
          <p:cNvPr id="13" name="Shape 11"/>
          <p:cNvSpPr/>
          <p:nvPr/>
        </p:nvSpPr>
        <p:spPr>
          <a:xfrm>
            <a:off x="8961120" y="1965960"/>
            <a:ext cx="2331720" cy="713232"/>
          </a:xfrm>
          <a:prstGeom prst="roundRect">
            <a:avLst>
              <a:gd name="adj" fmla="val 7692"/>
            </a:avLst>
          </a:prstGeom>
          <a:solidFill>
            <a:srgbClr val="FFEBE9"/>
          </a:solidFill>
          <a:ln w="12700">
            <a:solidFill>
              <a:srgbClr val="FF3621"/>
            </a:solidFill>
            <a:prstDash val="solid"/>
          </a:ln>
        </p:spPr>
      </p:sp>
      <p:sp>
        <p:nvSpPr>
          <p:cNvPr id="14" name="Text 12"/>
          <p:cNvSpPr/>
          <p:nvPr/>
        </p:nvSpPr>
        <p:spPr>
          <a:xfrm>
            <a:off x="9034272" y="2139696"/>
            <a:ext cx="2185416" cy="320040"/>
          </a:xfrm>
          <a:prstGeom prst="rect">
            <a:avLst/>
          </a:prstGeom>
          <a:noFill/>
          <a:ln/>
        </p:spPr>
        <p:txBody>
          <a:bodyPr wrap="square" lIns="0" tIns="0" rIns="0" bIns="0" rtlCol="0" anchor="ctr">
            <a:normAutofit/>
          </a:bodyPr>
          <a:lstStyle/>
          <a:p>
            <a:pPr algn="ctr" indent="0" marL="0">
              <a:buNone/>
            </a:pPr>
            <a:r>
              <a:rPr lang="en-US" sz="1150" b="1" dirty="0">
                <a:solidFill>
                  <a:srgbClr val="17233C"/>
                </a:solidFill>
                <a:latin typeface="Aptos" pitchFamily="34" charset="0"/>
                <a:ea typeface="Aptos" pitchFamily="34" charset="-122"/>
                <a:cs typeface="Aptos" pitchFamily="34" charset="-120"/>
              </a:rPr>
              <a:t>PUBLISHED</a:t>
            </a:r>
            <a:endParaRPr lang="en-US" sz="1150" dirty="0"/>
          </a:p>
        </p:txBody>
      </p:sp>
      <p:sp>
        <p:nvSpPr>
          <p:cNvPr id="15" name="Shape 13"/>
          <p:cNvSpPr/>
          <p:nvPr/>
        </p:nvSpPr>
        <p:spPr>
          <a:xfrm>
            <a:off x="777240" y="3246120"/>
            <a:ext cx="3154680" cy="1600200"/>
          </a:xfrm>
          <a:prstGeom prst="roundRect">
            <a:avLst>
              <a:gd name="adj" fmla="val 4000"/>
            </a:avLst>
          </a:prstGeom>
          <a:solidFill>
            <a:srgbClr val="FFFFFF"/>
          </a:solidFill>
          <a:ln w="12700">
            <a:solidFill>
              <a:srgbClr val="DDE2EA"/>
            </a:solidFill>
            <a:prstDash val="solid"/>
          </a:ln>
        </p:spPr>
      </p:sp>
      <p:sp>
        <p:nvSpPr>
          <p:cNvPr id="16" name="Shape 14"/>
          <p:cNvSpPr/>
          <p:nvPr/>
        </p:nvSpPr>
        <p:spPr>
          <a:xfrm>
            <a:off x="777240" y="3246120"/>
            <a:ext cx="50292" cy="1600200"/>
          </a:xfrm>
          <a:prstGeom prst="rect">
            <a:avLst/>
          </a:prstGeom>
          <a:solidFill>
            <a:srgbClr val="3B6FF5"/>
          </a:solidFill>
          <a:ln w="12700">
            <a:solidFill>
              <a:srgbClr val="3B6FF5"/>
            </a:solidFill>
            <a:prstDash val="solid"/>
          </a:ln>
        </p:spPr>
      </p:sp>
      <p:sp>
        <p:nvSpPr>
          <p:cNvPr id="17" name="Text 15"/>
          <p:cNvSpPr/>
          <p:nvPr/>
        </p:nvSpPr>
        <p:spPr>
          <a:xfrm>
            <a:off x="978408" y="3465576"/>
            <a:ext cx="278892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Why stage?</a:t>
            </a:r>
            <a:endParaRPr lang="en-US" sz="1300" dirty="0"/>
          </a:p>
        </p:txBody>
      </p:sp>
      <p:sp>
        <p:nvSpPr>
          <p:cNvPr id="18" name="Text 16"/>
          <p:cNvSpPr/>
          <p:nvPr/>
        </p:nvSpPr>
        <p:spPr>
          <a:xfrm>
            <a:off x="978408" y="3904488"/>
            <a:ext cx="2770632" cy="777240"/>
          </a:xfrm>
          <a:prstGeom prst="rect">
            <a:avLst/>
          </a:prstGeom>
          <a:noFill/>
          <a:ln/>
        </p:spPr>
        <p:txBody>
          <a:bodyPr wrap="square" lIns="254" tIns="254" rIns="254" bIns="254" rtlCol="0" anchor="t">
            <a:normAutofit/>
          </a:bodyPr>
          <a:lstStyle/>
          <a:p>
            <a:pPr indent="0" marL="0">
              <a:buNone/>
            </a:pPr>
            <a:r>
              <a:rPr lang="en-US" sz="970" dirty="0">
                <a:solidFill>
                  <a:srgbClr val="283246"/>
                </a:solidFill>
                <a:latin typeface="Aptos" pitchFamily="34" charset="0"/>
                <a:ea typeface="Aptos" pitchFamily="34" charset="-122"/>
                <a:cs typeface="Aptos" pitchFamily="34" charset="-120"/>
              </a:rPr>
              <a:t>Replay transformations without re-extracting upstream systems.</a:t>
            </a:r>
            <a:endParaRPr lang="en-US" sz="970" dirty="0"/>
          </a:p>
        </p:txBody>
      </p:sp>
      <p:sp>
        <p:nvSpPr>
          <p:cNvPr id="19" name="Shape 17"/>
          <p:cNvSpPr/>
          <p:nvPr/>
        </p:nvSpPr>
        <p:spPr>
          <a:xfrm>
            <a:off x="4526280" y="3246120"/>
            <a:ext cx="3154680" cy="1600200"/>
          </a:xfrm>
          <a:prstGeom prst="roundRect">
            <a:avLst>
              <a:gd name="adj" fmla="val 4000"/>
            </a:avLst>
          </a:prstGeom>
          <a:solidFill>
            <a:srgbClr val="FFFFFF"/>
          </a:solidFill>
          <a:ln w="12700">
            <a:solidFill>
              <a:srgbClr val="DDE2EA"/>
            </a:solidFill>
            <a:prstDash val="solid"/>
          </a:ln>
        </p:spPr>
      </p:sp>
      <p:sp>
        <p:nvSpPr>
          <p:cNvPr id="20" name="Shape 18"/>
          <p:cNvSpPr/>
          <p:nvPr/>
        </p:nvSpPr>
        <p:spPr>
          <a:xfrm>
            <a:off x="4526280" y="3246120"/>
            <a:ext cx="50292" cy="1600200"/>
          </a:xfrm>
          <a:prstGeom prst="rect">
            <a:avLst/>
          </a:prstGeom>
          <a:solidFill>
            <a:srgbClr val="00A972"/>
          </a:solidFill>
          <a:ln w="12700">
            <a:solidFill>
              <a:srgbClr val="00A972"/>
            </a:solidFill>
            <a:prstDash val="solid"/>
          </a:ln>
        </p:spPr>
      </p:sp>
      <p:sp>
        <p:nvSpPr>
          <p:cNvPr id="21" name="Text 19"/>
          <p:cNvSpPr/>
          <p:nvPr/>
        </p:nvSpPr>
        <p:spPr>
          <a:xfrm>
            <a:off x="4727448" y="3465576"/>
            <a:ext cx="278892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Recovery</a:t>
            </a:r>
            <a:endParaRPr lang="en-US" sz="1300" dirty="0"/>
          </a:p>
        </p:txBody>
      </p:sp>
      <p:sp>
        <p:nvSpPr>
          <p:cNvPr id="22" name="Text 20"/>
          <p:cNvSpPr/>
          <p:nvPr/>
        </p:nvSpPr>
        <p:spPr>
          <a:xfrm>
            <a:off x="4727448" y="3904488"/>
            <a:ext cx="2770632" cy="777240"/>
          </a:xfrm>
          <a:prstGeom prst="rect">
            <a:avLst/>
          </a:prstGeom>
          <a:noFill/>
          <a:ln/>
        </p:spPr>
        <p:txBody>
          <a:bodyPr wrap="square" lIns="254" tIns="254" rIns="254" bIns="254" rtlCol="0" anchor="t">
            <a:normAutofit/>
          </a:bodyPr>
          <a:lstStyle/>
          <a:p>
            <a:pPr indent="0" marL="0">
              <a:buNone/>
            </a:pPr>
            <a:r>
              <a:rPr lang="en-US" sz="970" dirty="0">
                <a:solidFill>
                  <a:srgbClr val="283246"/>
                </a:solidFill>
                <a:latin typeface="Aptos" pitchFamily="34" charset="0"/>
                <a:ea typeface="Aptos" pitchFamily="34" charset="-122"/>
                <a:cs typeface="Aptos" pitchFamily="34" charset="-120"/>
              </a:rPr>
              <a:t>Lower time-to-recovery when logic changes or a job fails.</a:t>
            </a:r>
            <a:endParaRPr lang="en-US" sz="970" dirty="0"/>
          </a:p>
        </p:txBody>
      </p:sp>
      <p:sp>
        <p:nvSpPr>
          <p:cNvPr id="23" name="Shape 21"/>
          <p:cNvSpPr/>
          <p:nvPr/>
        </p:nvSpPr>
        <p:spPr>
          <a:xfrm>
            <a:off x="8275320" y="3246120"/>
            <a:ext cx="3154680" cy="1600200"/>
          </a:xfrm>
          <a:prstGeom prst="roundRect">
            <a:avLst>
              <a:gd name="adj" fmla="val 4000"/>
            </a:avLst>
          </a:prstGeom>
          <a:solidFill>
            <a:srgbClr val="FFFFFF"/>
          </a:solidFill>
          <a:ln w="12700">
            <a:solidFill>
              <a:srgbClr val="DDE2EA"/>
            </a:solidFill>
            <a:prstDash val="solid"/>
          </a:ln>
        </p:spPr>
      </p:sp>
      <p:sp>
        <p:nvSpPr>
          <p:cNvPr id="24" name="Shape 22"/>
          <p:cNvSpPr/>
          <p:nvPr/>
        </p:nvSpPr>
        <p:spPr>
          <a:xfrm>
            <a:off x="8275320" y="3246120"/>
            <a:ext cx="50292" cy="1600200"/>
          </a:xfrm>
          <a:prstGeom prst="rect">
            <a:avLst/>
          </a:prstGeom>
          <a:solidFill>
            <a:srgbClr val="7C4DFF"/>
          </a:solidFill>
          <a:ln w="12700">
            <a:solidFill>
              <a:srgbClr val="7C4DFF"/>
            </a:solidFill>
            <a:prstDash val="solid"/>
          </a:ln>
        </p:spPr>
      </p:sp>
      <p:sp>
        <p:nvSpPr>
          <p:cNvPr id="25" name="Text 23"/>
          <p:cNvSpPr/>
          <p:nvPr/>
        </p:nvSpPr>
        <p:spPr>
          <a:xfrm>
            <a:off x="8476488" y="3465576"/>
            <a:ext cx="278892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Auditability</a:t>
            </a:r>
            <a:endParaRPr lang="en-US" sz="1300" dirty="0"/>
          </a:p>
        </p:txBody>
      </p:sp>
      <p:sp>
        <p:nvSpPr>
          <p:cNvPr id="26" name="Text 24"/>
          <p:cNvSpPr/>
          <p:nvPr/>
        </p:nvSpPr>
        <p:spPr>
          <a:xfrm>
            <a:off x="8476488" y="3904488"/>
            <a:ext cx="2770632" cy="777240"/>
          </a:xfrm>
          <a:prstGeom prst="rect">
            <a:avLst/>
          </a:prstGeom>
          <a:noFill/>
          <a:ln/>
        </p:spPr>
        <p:txBody>
          <a:bodyPr wrap="square" lIns="254" tIns="254" rIns="254" bIns="254" rtlCol="0" anchor="t">
            <a:normAutofit/>
          </a:bodyPr>
          <a:lstStyle/>
          <a:p>
            <a:pPr indent="0" marL="0">
              <a:buNone/>
            </a:pPr>
            <a:r>
              <a:rPr lang="en-US" sz="970" dirty="0">
                <a:solidFill>
                  <a:srgbClr val="283246"/>
                </a:solidFill>
                <a:latin typeface="Aptos" pitchFamily="34" charset="0"/>
                <a:ea typeface="Aptos" pitchFamily="34" charset="-122"/>
                <a:cs typeface="Aptos" pitchFamily="34" charset="-120"/>
              </a:rPr>
              <a:t>Keep source history and intermediate evidence for debugging.</a:t>
            </a:r>
            <a:endParaRPr lang="en-US" sz="970" dirty="0"/>
          </a:p>
        </p:txBody>
      </p:sp>
      <p:sp>
        <p:nvSpPr>
          <p:cNvPr id="27" name="Text 25"/>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2</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Medallion Architecture</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Progressive refinement: preserve raw history, then increase trust and business semantics.</a:t>
            </a:r>
            <a:endParaRPr lang="en-US" sz="1100" dirty="0"/>
          </a:p>
        </p:txBody>
      </p:sp>
      <p:sp>
        <p:nvSpPr>
          <p:cNvPr id="4" name="Shape 2"/>
          <p:cNvSpPr/>
          <p:nvPr/>
        </p:nvSpPr>
        <p:spPr>
          <a:xfrm>
            <a:off x="731520" y="1737360"/>
            <a:ext cx="3154680" cy="2743200"/>
          </a:xfrm>
          <a:prstGeom prst="roundRect">
            <a:avLst>
              <a:gd name="adj" fmla="val 2667"/>
            </a:avLst>
          </a:prstGeom>
          <a:solidFill>
            <a:srgbClr val="FFF2D3"/>
          </a:solidFill>
          <a:ln w="12700">
            <a:solidFill>
              <a:srgbClr val="F3A712"/>
            </a:solidFill>
            <a:prstDash val="solid"/>
          </a:ln>
        </p:spPr>
      </p:sp>
      <p:sp>
        <p:nvSpPr>
          <p:cNvPr id="5" name="Text 3"/>
          <p:cNvSpPr/>
          <p:nvPr/>
        </p:nvSpPr>
        <p:spPr>
          <a:xfrm>
            <a:off x="960120" y="2011680"/>
            <a:ext cx="2697480" cy="411480"/>
          </a:xfrm>
          <a:prstGeom prst="rect">
            <a:avLst/>
          </a:prstGeom>
          <a:noFill/>
          <a:ln/>
        </p:spPr>
        <p:txBody>
          <a:bodyPr wrap="square" lIns="0" tIns="0" rIns="0" bIns="0" rtlCol="0" anchor="ctr"/>
          <a:lstStyle/>
          <a:p>
            <a:pPr algn="ctr" indent="0" marL="0">
              <a:buNone/>
            </a:pPr>
            <a:r>
              <a:rPr lang="en-US" sz="2000" b="1" dirty="0">
                <a:solidFill>
                  <a:srgbClr val="17233C"/>
                </a:solidFill>
                <a:latin typeface="Aptos Display" pitchFamily="34" charset="0"/>
                <a:ea typeface="Aptos Display" pitchFamily="34" charset="-122"/>
                <a:cs typeface="Aptos Display" pitchFamily="34" charset="-120"/>
              </a:rPr>
              <a:t>BRONZE</a:t>
            </a:r>
            <a:endParaRPr lang="en-US" sz="2000" dirty="0"/>
          </a:p>
        </p:txBody>
      </p:sp>
      <p:sp>
        <p:nvSpPr>
          <p:cNvPr id="6" name="Text 4"/>
          <p:cNvSpPr/>
          <p:nvPr/>
        </p:nvSpPr>
        <p:spPr>
          <a:xfrm>
            <a:off x="1005840" y="2697480"/>
            <a:ext cx="2606040" cy="320040"/>
          </a:xfrm>
          <a:prstGeom prst="rect">
            <a:avLst/>
          </a:prstGeom>
          <a:noFill/>
          <a:ln/>
        </p:spPr>
        <p:txBody>
          <a:bodyPr wrap="square" lIns="0" tIns="0" rIns="0" bIns="0" rtlCol="0" anchor="ctr"/>
          <a:lstStyle/>
          <a:p>
            <a:pPr algn="ctr" indent="0" marL="0">
              <a:buNone/>
            </a:pPr>
            <a:r>
              <a:rPr lang="en-US" sz="1100" b="1" dirty="0">
                <a:solidFill>
                  <a:srgbClr val="283246"/>
                </a:solidFill>
                <a:latin typeface="Aptos" pitchFamily="34" charset="0"/>
                <a:ea typeface="Aptos" pitchFamily="34" charset="-122"/>
                <a:cs typeface="Aptos" pitchFamily="34" charset="-120"/>
              </a:rPr>
              <a:t>Raw / minimally processed</a:t>
            </a:r>
            <a:endParaRPr lang="en-US" sz="1100" dirty="0"/>
          </a:p>
        </p:txBody>
      </p:sp>
      <p:sp>
        <p:nvSpPr>
          <p:cNvPr id="7" name="Text 5"/>
          <p:cNvSpPr/>
          <p:nvPr/>
        </p:nvSpPr>
        <p:spPr>
          <a:xfrm>
            <a:off x="1078992" y="3246120"/>
            <a:ext cx="2468880" cy="749808"/>
          </a:xfrm>
          <a:prstGeom prst="rect">
            <a:avLst/>
          </a:prstGeom>
          <a:noFill/>
          <a:ln/>
        </p:spPr>
        <p:txBody>
          <a:bodyPr wrap="square" lIns="0" tIns="0" rIns="0" bIns="0" rtlCol="0" anchor="ctr">
            <a:normAutofit/>
          </a:bodyPr>
          <a:lstStyle/>
          <a:p>
            <a:pPr algn="ctr" indent="0" marL="0">
              <a:buNone/>
            </a:pPr>
            <a:r>
              <a:rPr lang="en-US" sz="1000" dirty="0">
                <a:solidFill>
                  <a:srgbClr val="283246"/>
                </a:solidFill>
                <a:latin typeface="Aptos" pitchFamily="34" charset="0"/>
                <a:ea typeface="Aptos" pitchFamily="34" charset="-122"/>
                <a:cs typeface="Aptos" pitchFamily="34" charset="-120"/>
              </a:rPr>
              <a:t>Preserve source fidelity</a:t>
            </a:r>
            <a:endParaRPr lang="en-US" sz="1000" dirty="0"/>
          </a:p>
          <a:p>
            <a:pPr algn="ctr" indent="0" marL="0">
              <a:buNone/>
            </a:pPr>
            <a:r>
              <a:rPr lang="en-US" sz="1000" dirty="0">
                <a:solidFill>
                  <a:srgbClr val="283246"/>
                </a:solidFill>
                <a:latin typeface="Aptos" pitchFamily="34" charset="0"/>
                <a:ea typeface="Aptos" pitchFamily="34" charset="-122"/>
                <a:cs typeface="Aptos" pitchFamily="34" charset="-120"/>
              </a:rPr>
              <a:t>+ ingestion metadata</a:t>
            </a:r>
            <a:endParaRPr lang="en-US" sz="1000" dirty="0"/>
          </a:p>
        </p:txBody>
      </p:sp>
      <p:sp>
        <p:nvSpPr>
          <p:cNvPr id="8" name="Shape 6"/>
          <p:cNvSpPr/>
          <p:nvPr/>
        </p:nvSpPr>
        <p:spPr>
          <a:xfrm>
            <a:off x="3931920" y="3108960"/>
            <a:ext cx="457200" cy="0"/>
          </a:xfrm>
          <a:prstGeom prst="line">
            <a:avLst/>
          </a:prstGeom>
          <a:noFill/>
          <a:ln w="12700">
            <a:solidFill>
              <a:srgbClr val="687386"/>
            </a:solidFill>
            <a:prstDash val="solid"/>
            <a:headEnd type="none"/>
            <a:tailEnd type="triangle"/>
          </a:ln>
        </p:spPr>
      </p:sp>
      <p:sp>
        <p:nvSpPr>
          <p:cNvPr id="9" name="Shape 7"/>
          <p:cNvSpPr/>
          <p:nvPr/>
        </p:nvSpPr>
        <p:spPr>
          <a:xfrm>
            <a:off x="4526280" y="1737360"/>
            <a:ext cx="3154680" cy="2743200"/>
          </a:xfrm>
          <a:prstGeom prst="roundRect">
            <a:avLst>
              <a:gd name="adj" fmla="val 2667"/>
            </a:avLst>
          </a:prstGeom>
          <a:solidFill>
            <a:srgbClr val="EEF1F5"/>
          </a:solidFill>
          <a:ln w="12700">
            <a:solidFill>
              <a:srgbClr val="687386"/>
            </a:solidFill>
            <a:prstDash val="solid"/>
          </a:ln>
        </p:spPr>
      </p:sp>
      <p:sp>
        <p:nvSpPr>
          <p:cNvPr id="10" name="Text 8"/>
          <p:cNvSpPr/>
          <p:nvPr/>
        </p:nvSpPr>
        <p:spPr>
          <a:xfrm>
            <a:off x="4754880" y="2011680"/>
            <a:ext cx="2697480" cy="411480"/>
          </a:xfrm>
          <a:prstGeom prst="rect">
            <a:avLst/>
          </a:prstGeom>
          <a:noFill/>
          <a:ln/>
        </p:spPr>
        <p:txBody>
          <a:bodyPr wrap="square" lIns="0" tIns="0" rIns="0" bIns="0" rtlCol="0" anchor="ctr"/>
          <a:lstStyle/>
          <a:p>
            <a:pPr algn="ctr" indent="0" marL="0">
              <a:buNone/>
            </a:pPr>
            <a:r>
              <a:rPr lang="en-US" sz="2000" b="1" dirty="0">
                <a:solidFill>
                  <a:srgbClr val="17233C"/>
                </a:solidFill>
                <a:latin typeface="Aptos Display" pitchFamily="34" charset="0"/>
                <a:ea typeface="Aptos Display" pitchFamily="34" charset="-122"/>
                <a:cs typeface="Aptos Display" pitchFamily="34" charset="-120"/>
              </a:rPr>
              <a:t>SILVER</a:t>
            </a:r>
            <a:endParaRPr lang="en-US" sz="2000" dirty="0"/>
          </a:p>
        </p:txBody>
      </p:sp>
      <p:sp>
        <p:nvSpPr>
          <p:cNvPr id="11" name="Text 9"/>
          <p:cNvSpPr/>
          <p:nvPr/>
        </p:nvSpPr>
        <p:spPr>
          <a:xfrm>
            <a:off x="4800600" y="2697480"/>
            <a:ext cx="2606040" cy="320040"/>
          </a:xfrm>
          <a:prstGeom prst="rect">
            <a:avLst/>
          </a:prstGeom>
          <a:noFill/>
          <a:ln/>
        </p:spPr>
        <p:txBody>
          <a:bodyPr wrap="square" lIns="0" tIns="0" rIns="0" bIns="0" rtlCol="0" anchor="ctr"/>
          <a:lstStyle/>
          <a:p>
            <a:pPr algn="ctr" indent="0" marL="0">
              <a:buNone/>
            </a:pPr>
            <a:r>
              <a:rPr lang="en-US" sz="1100" b="1" dirty="0">
                <a:solidFill>
                  <a:srgbClr val="283246"/>
                </a:solidFill>
                <a:latin typeface="Aptos" pitchFamily="34" charset="0"/>
                <a:ea typeface="Aptos" pitchFamily="34" charset="-122"/>
                <a:cs typeface="Aptos" pitchFamily="34" charset="-120"/>
              </a:rPr>
              <a:t>Clean / integrated</a:t>
            </a:r>
            <a:endParaRPr lang="en-US" sz="1100" dirty="0"/>
          </a:p>
        </p:txBody>
      </p:sp>
      <p:sp>
        <p:nvSpPr>
          <p:cNvPr id="12" name="Text 10"/>
          <p:cNvSpPr/>
          <p:nvPr/>
        </p:nvSpPr>
        <p:spPr>
          <a:xfrm>
            <a:off x="4873752" y="3246120"/>
            <a:ext cx="2468880" cy="749808"/>
          </a:xfrm>
          <a:prstGeom prst="rect">
            <a:avLst/>
          </a:prstGeom>
          <a:noFill/>
          <a:ln/>
        </p:spPr>
        <p:txBody>
          <a:bodyPr wrap="square" lIns="0" tIns="0" rIns="0" bIns="0" rtlCol="0" anchor="ctr">
            <a:normAutofit/>
          </a:bodyPr>
          <a:lstStyle/>
          <a:p>
            <a:pPr algn="ctr" indent="0" marL="0">
              <a:buNone/>
            </a:pPr>
            <a:r>
              <a:rPr lang="en-US" sz="1000" dirty="0">
                <a:solidFill>
                  <a:srgbClr val="283246"/>
                </a:solidFill>
                <a:latin typeface="Aptos" pitchFamily="34" charset="0"/>
                <a:ea typeface="Aptos" pitchFamily="34" charset="-122"/>
                <a:cs typeface="Aptos" pitchFamily="34" charset="-120"/>
              </a:rPr>
              <a:t>Validate, cast, dedupe, standardise, enrich</a:t>
            </a:r>
            <a:endParaRPr lang="en-US" sz="1000" dirty="0"/>
          </a:p>
        </p:txBody>
      </p:sp>
      <p:sp>
        <p:nvSpPr>
          <p:cNvPr id="13" name="Shape 11"/>
          <p:cNvSpPr/>
          <p:nvPr/>
        </p:nvSpPr>
        <p:spPr>
          <a:xfrm>
            <a:off x="7726680" y="3108960"/>
            <a:ext cx="457200" cy="0"/>
          </a:xfrm>
          <a:prstGeom prst="line">
            <a:avLst/>
          </a:prstGeom>
          <a:noFill/>
          <a:ln w="12700">
            <a:solidFill>
              <a:srgbClr val="687386"/>
            </a:solidFill>
            <a:prstDash val="solid"/>
            <a:headEnd type="none"/>
            <a:tailEnd type="triangle"/>
          </a:ln>
        </p:spPr>
      </p:sp>
      <p:sp>
        <p:nvSpPr>
          <p:cNvPr id="14" name="Shape 12"/>
          <p:cNvSpPr/>
          <p:nvPr/>
        </p:nvSpPr>
        <p:spPr>
          <a:xfrm>
            <a:off x="8321040" y="1737360"/>
            <a:ext cx="3154680" cy="2743200"/>
          </a:xfrm>
          <a:prstGeom prst="roundRect">
            <a:avLst>
              <a:gd name="adj" fmla="val 2667"/>
            </a:avLst>
          </a:prstGeom>
          <a:solidFill>
            <a:srgbClr val="FFF7DE"/>
          </a:solidFill>
          <a:ln w="12700">
            <a:solidFill>
              <a:srgbClr val="F3A712"/>
            </a:solidFill>
            <a:prstDash val="solid"/>
          </a:ln>
        </p:spPr>
      </p:sp>
      <p:sp>
        <p:nvSpPr>
          <p:cNvPr id="15" name="Text 13"/>
          <p:cNvSpPr/>
          <p:nvPr/>
        </p:nvSpPr>
        <p:spPr>
          <a:xfrm>
            <a:off x="8549640" y="2011680"/>
            <a:ext cx="2697480" cy="411480"/>
          </a:xfrm>
          <a:prstGeom prst="rect">
            <a:avLst/>
          </a:prstGeom>
          <a:noFill/>
          <a:ln/>
        </p:spPr>
        <p:txBody>
          <a:bodyPr wrap="square" lIns="0" tIns="0" rIns="0" bIns="0" rtlCol="0" anchor="ctr"/>
          <a:lstStyle/>
          <a:p>
            <a:pPr algn="ctr" indent="0" marL="0">
              <a:buNone/>
            </a:pPr>
            <a:r>
              <a:rPr lang="en-US" sz="2000" b="1" dirty="0">
                <a:solidFill>
                  <a:srgbClr val="17233C"/>
                </a:solidFill>
                <a:latin typeface="Aptos Display" pitchFamily="34" charset="0"/>
                <a:ea typeface="Aptos Display" pitchFamily="34" charset="-122"/>
                <a:cs typeface="Aptos Display" pitchFamily="34" charset="-120"/>
              </a:rPr>
              <a:t>GOLD</a:t>
            </a:r>
            <a:endParaRPr lang="en-US" sz="2000" dirty="0"/>
          </a:p>
        </p:txBody>
      </p:sp>
      <p:sp>
        <p:nvSpPr>
          <p:cNvPr id="16" name="Text 14"/>
          <p:cNvSpPr/>
          <p:nvPr/>
        </p:nvSpPr>
        <p:spPr>
          <a:xfrm>
            <a:off x="8595360" y="2697480"/>
            <a:ext cx="2606040" cy="320040"/>
          </a:xfrm>
          <a:prstGeom prst="rect">
            <a:avLst/>
          </a:prstGeom>
          <a:noFill/>
          <a:ln/>
        </p:spPr>
        <p:txBody>
          <a:bodyPr wrap="square" lIns="0" tIns="0" rIns="0" bIns="0" rtlCol="0" anchor="ctr"/>
          <a:lstStyle/>
          <a:p>
            <a:pPr algn="ctr" indent="0" marL="0">
              <a:buNone/>
            </a:pPr>
            <a:r>
              <a:rPr lang="en-US" sz="1100" b="1" dirty="0">
                <a:solidFill>
                  <a:srgbClr val="283246"/>
                </a:solidFill>
                <a:latin typeface="Aptos" pitchFamily="34" charset="0"/>
                <a:ea typeface="Aptos" pitchFamily="34" charset="-122"/>
                <a:cs typeface="Aptos" pitchFamily="34" charset="-120"/>
              </a:rPr>
              <a:t>Business-ready</a:t>
            </a:r>
            <a:endParaRPr lang="en-US" sz="1100" dirty="0"/>
          </a:p>
        </p:txBody>
      </p:sp>
      <p:sp>
        <p:nvSpPr>
          <p:cNvPr id="17" name="Text 15"/>
          <p:cNvSpPr/>
          <p:nvPr/>
        </p:nvSpPr>
        <p:spPr>
          <a:xfrm>
            <a:off x="8668512" y="3246120"/>
            <a:ext cx="2468880" cy="749808"/>
          </a:xfrm>
          <a:prstGeom prst="rect">
            <a:avLst/>
          </a:prstGeom>
          <a:noFill/>
          <a:ln/>
        </p:spPr>
        <p:txBody>
          <a:bodyPr wrap="square" lIns="0" tIns="0" rIns="0" bIns="0" rtlCol="0" anchor="ctr">
            <a:normAutofit/>
          </a:bodyPr>
          <a:lstStyle/>
          <a:p>
            <a:pPr algn="ctr" indent="0" marL="0">
              <a:buNone/>
            </a:pPr>
            <a:r>
              <a:rPr lang="en-US" sz="1000" dirty="0">
                <a:solidFill>
                  <a:srgbClr val="283246"/>
                </a:solidFill>
                <a:latin typeface="Aptos" pitchFamily="34" charset="0"/>
                <a:ea typeface="Aptos" pitchFamily="34" charset="-122"/>
                <a:cs typeface="Aptos" pitchFamily="34" charset="-120"/>
              </a:rPr>
              <a:t>Facts, dimensions, aggregates, feature marts</a:t>
            </a:r>
            <a:endParaRPr lang="en-US" sz="1000" dirty="0"/>
          </a:p>
        </p:txBody>
      </p:sp>
      <p:sp>
        <p:nvSpPr>
          <p:cNvPr id="18" name="Shape 16"/>
          <p:cNvSpPr/>
          <p:nvPr/>
        </p:nvSpPr>
        <p:spPr>
          <a:xfrm>
            <a:off x="2011680" y="4983480"/>
            <a:ext cx="8138160" cy="640080"/>
          </a:xfrm>
          <a:prstGeom prst="roundRect">
            <a:avLst>
              <a:gd name="adj" fmla="val 8571"/>
            </a:avLst>
          </a:prstGeom>
          <a:solidFill>
            <a:srgbClr val="EEF7FF"/>
          </a:solidFill>
          <a:ln w="12700">
            <a:solidFill>
              <a:srgbClr val="EEF7FF"/>
            </a:solidFill>
            <a:prstDash val="solid"/>
          </a:ln>
        </p:spPr>
      </p:sp>
      <p:sp>
        <p:nvSpPr>
          <p:cNvPr id="19" name="Text 17"/>
          <p:cNvSpPr/>
          <p:nvPr/>
        </p:nvSpPr>
        <p:spPr>
          <a:xfrm>
            <a:off x="2176272" y="5102352"/>
            <a:ext cx="7808976" cy="411480"/>
          </a:xfrm>
          <a:prstGeom prst="rect">
            <a:avLst/>
          </a:prstGeom>
          <a:noFill/>
          <a:ln/>
        </p:spPr>
        <p:txBody>
          <a:bodyPr wrap="square" lIns="0" tIns="0" rIns="0" bIns="0" rtlCol="0" anchor="ctr">
            <a:normAutofit/>
          </a:bodyPr>
          <a:lstStyle/>
          <a:p>
            <a:pPr indent="0" marL="0">
              <a:buNone/>
            </a:pPr>
            <a:r>
              <a:rPr lang="en-US" sz="1100" b="1" dirty="0">
                <a:solidFill>
                  <a:srgbClr val="3B6FF5"/>
                </a:solidFill>
                <a:latin typeface="Aptos" pitchFamily="34" charset="0"/>
                <a:ea typeface="Aptos" pitchFamily="34" charset="-122"/>
                <a:cs typeface="Aptos" pitchFamily="34" charset="-120"/>
              </a:rPr>
              <a:t>Quality increases → structure increases → consumer readiness increases</a:t>
            </a:r>
            <a:endParaRPr lang="en-US" sz="1100" dirty="0"/>
          </a:p>
        </p:txBody>
      </p:sp>
      <p:sp>
        <p:nvSpPr>
          <p:cNvPr id="20" name="Text 18"/>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2; Databricks ETL SQL Guide (2025)</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Bronze Layer — Preserve the Source</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The rule: do not hide source problems too early.</a:t>
            </a:r>
            <a:endParaRPr lang="en-US" sz="1100" dirty="0"/>
          </a:p>
        </p:txBody>
      </p:sp>
      <p:sp>
        <p:nvSpPr>
          <p:cNvPr id="4" name="Shape 2"/>
          <p:cNvSpPr/>
          <p:nvPr/>
        </p:nvSpPr>
        <p:spPr>
          <a:xfrm>
            <a:off x="685800" y="1463040"/>
            <a:ext cx="3794760" cy="3977640"/>
          </a:xfrm>
          <a:prstGeom prst="roundRect">
            <a:avLst>
              <a:gd name="adj" fmla="val 1687"/>
            </a:avLst>
          </a:prstGeom>
          <a:solidFill>
            <a:srgbClr val="FFFFFF"/>
          </a:solidFill>
          <a:ln w="12700">
            <a:solidFill>
              <a:srgbClr val="DDE2EA"/>
            </a:solidFill>
            <a:prstDash val="solid"/>
          </a:ln>
        </p:spPr>
      </p:sp>
      <p:sp>
        <p:nvSpPr>
          <p:cNvPr id="5" name="Shape 3"/>
          <p:cNvSpPr/>
          <p:nvPr/>
        </p:nvSpPr>
        <p:spPr>
          <a:xfrm>
            <a:off x="685800" y="1463040"/>
            <a:ext cx="50292" cy="3977640"/>
          </a:xfrm>
          <a:prstGeom prst="rect">
            <a:avLst/>
          </a:prstGeom>
          <a:solidFill>
            <a:srgbClr val="F3A712"/>
          </a:solidFill>
          <a:ln w="12700">
            <a:solidFill>
              <a:srgbClr val="F3A712"/>
            </a:solidFill>
            <a:prstDash val="solid"/>
          </a:ln>
        </p:spPr>
      </p:sp>
      <p:sp>
        <p:nvSpPr>
          <p:cNvPr id="6" name="Shape 4"/>
          <p:cNvSpPr/>
          <p:nvPr/>
        </p:nvSpPr>
        <p:spPr>
          <a:xfrm>
            <a:off x="886968" y="1645920"/>
            <a:ext cx="566928" cy="310896"/>
          </a:xfrm>
          <a:prstGeom prst="roundRect">
            <a:avLst>
              <a:gd name="adj" fmla="val 14706"/>
            </a:avLst>
          </a:prstGeom>
          <a:solidFill>
            <a:srgbClr val="FFF7E5"/>
          </a:solidFill>
          <a:ln w="12700">
            <a:solidFill>
              <a:srgbClr val="FFF7E5"/>
            </a:solidFill>
            <a:prstDash val="solid"/>
          </a:ln>
        </p:spPr>
      </p:sp>
      <p:sp>
        <p:nvSpPr>
          <p:cNvPr id="7" name="Text 5"/>
          <p:cNvSpPr/>
          <p:nvPr/>
        </p:nvSpPr>
        <p:spPr>
          <a:xfrm>
            <a:off x="886968" y="1709928"/>
            <a:ext cx="566928" cy="128016"/>
          </a:xfrm>
          <a:prstGeom prst="rect">
            <a:avLst/>
          </a:prstGeom>
          <a:noFill/>
          <a:ln/>
        </p:spPr>
        <p:txBody>
          <a:bodyPr wrap="square" lIns="0" tIns="0" rIns="0" bIns="0" rtlCol="0" anchor="ctr"/>
          <a:lstStyle/>
          <a:p>
            <a:pPr algn="ctr" indent="0" marL="0">
              <a:buNone/>
            </a:pPr>
            <a:r>
              <a:rPr lang="en-US" sz="730" b="1" dirty="0">
                <a:solidFill>
                  <a:srgbClr val="F3A712"/>
                </a:solidFill>
              </a:rPr>
              <a:t>RAW</a:t>
            </a:r>
            <a:endParaRPr lang="en-US" sz="730" dirty="0"/>
          </a:p>
        </p:txBody>
      </p:sp>
      <p:sp>
        <p:nvSpPr>
          <p:cNvPr id="8" name="Text 6"/>
          <p:cNvSpPr/>
          <p:nvPr/>
        </p:nvSpPr>
        <p:spPr>
          <a:xfrm>
            <a:off x="886968" y="2048256"/>
            <a:ext cx="3429000" cy="347472"/>
          </a:xfrm>
          <a:prstGeom prst="rect">
            <a:avLst/>
          </a:prstGeom>
          <a:noFill/>
          <a:ln/>
        </p:spPr>
        <p:txBody>
          <a:bodyPr wrap="square" lIns="0" tIns="0" rIns="0" bIns="0" rtlCol="0" anchor="ctr">
            <a:normAutofit/>
          </a:bodyPr>
          <a:lstStyle/>
          <a:p>
            <a:pPr indent="0" marL="0">
              <a:buNone/>
            </a:pPr>
            <a:r>
              <a:rPr lang="en-US" sz="1600" b="1" dirty="0">
                <a:solidFill>
                  <a:srgbClr val="17233C"/>
                </a:solidFill>
                <a:latin typeface="Aptos Display" pitchFamily="34" charset="0"/>
                <a:ea typeface="Aptos Display" pitchFamily="34" charset="-122"/>
                <a:cs typeface="Aptos Display" pitchFamily="34" charset="-120"/>
              </a:rPr>
              <a:t>Bronze responsibilities</a:t>
            </a:r>
            <a:endParaRPr lang="en-US" sz="1600" dirty="0"/>
          </a:p>
        </p:txBody>
      </p:sp>
      <p:sp>
        <p:nvSpPr>
          <p:cNvPr id="9" name="Text 7"/>
          <p:cNvSpPr/>
          <p:nvPr/>
        </p:nvSpPr>
        <p:spPr>
          <a:xfrm>
            <a:off x="886968" y="2423160"/>
            <a:ext cx="3410712" cy="2852928"/>
          </a:xfrm>
          <a:prstGeom prst="rect">
            <a:avLst/>
          </a:prstGeom>
          <a:noFill/>
          <a:ln/>
        </p:spPr>
        <p:txBody>
          <a:bodyPr wrap="square" lIns="254" tIns="254" rIns="254" bIns="254" rtlCol="0" anchor="t">
            <a:normAutofit/>
          </a:bodyPr>
          <a:lstStyle/>
          <a:p>
            <a:pPr indent="0" marL="0">
              <a:buNone/>
            </a:pPr>
            <a:r>
              <a:rPr lang="en-US" sz="1200" dirty="0">
                <a:solidFill>
                  <a:srgbClr val="283246"/>
                </a:solidFill>
                <a:latin typeface="Aptos" pitchFamily="34" charset="0"/>
                <a:ea typeface="Aptos" pitchFamily="34" charset="-122"/>
                <a:cs typeface="Aptos" pitchFamily="34" charset="-120"/>
              </a:rPr>
              <a:t>• Land raw records</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 Preserve source columns</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 Add ingestion metadata</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 Keep enough history to replay</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 Prefer append / incremental ingestion</a:t>
            </a:r>
            <a:endParaRPr lang="en-US" sz="1200" dirty="0"/>
          </a:p>
          <a:p>
            <a:pPr indent="0" marL="0">
              <a:buNone/>
            </a:pPr>
            <a:r>
              <a:rPr lang="en-US" sz="1200" dirty="0">
                <a:solidFill>
                  <a:srgbClr val="283246"/>
                </a:solidFill>
                <a:latin typeface="Aptos" pitchFamily="34" charset="0"/>
                <a:ea typeface="Aptos" pitchFamily="34" charset="-122"/>
                <a:cs typeface="Aptos" pitchFamily="34" charset="-120"/>
              </a:rPr>
              <a:t>• Avoid premature business logic</a:t>
            </a:r>
            <a:endParaRPr lang="en-US" sz="1200" dirty="0"/>
          </a:p>
        </p:txBody>
      </p:sp>
      <p:sp>
        <p:nvSpPr>
          <p:cNvPr id="10" name="Shape 8"/>
          <p:cNvSpPr/>
          <p:nvPr/>
        </p:nvSpPr>
        <p:spPr>
          <a:xfrm>
            <a:off x="4892040" y="1737360"/>
            <a:ext cx="5989320" cy="2468880"/>
          </a:xfrm>
          <a:prstGeom prst="roundRect">
            <a:avLst>
              <a:gd name="adj" fmla="val 2222"/>
            </a:avLst>
          </a:prstGeom>
          <a:solidFill>
            <a:srgbClr val="111827"/>
          </a:solidFill>
          <a:ln w="12700">
            <a:solidFill>
              <a:srgbClr val="111827"/>
            </a:solidFill>
            <a:prstDash val="solid"/>
          </a:ln>
        </p:spPr>
      </p:sp>
      <p:sp>
        <p:nvSpPr>
          <p:cNvPr id="11" name="Text 9"/>
          <p:cNvSpPr/>
          <p:nvPr/>
        </p:nvSpPr>
        <p:spPr>
          <a:xfrm>
            <a:off x="5093208" y="1920240"/>
            <a:ext cx="5586984" cy="2121408"/>
          </a:xfrm>
          <a:prstGeom prst="rect">
            <a:avLst/>
          </a:prstGeom>
          <a:noFill/>
          <a:ln/>
        </p:spPr>
        <p:txBody>
          <a:bodyPr wrap="square" lIns="0" tIns="0" rIns="0" bIns="0" rtlCol="0" anchor="ctr">
            <a:normAutofit/>
          </a:bodyPr>
          <a:lstStyle/>
          <a:p>
            <a:pPr indent="0" marL="0">
              <a:buNone/>
            </a:pPr>
            <a:r>
              <a:rPr lang="en-US" sz="1140" dirty="0">
                <a:solidFill>
                  <a:srgbClr val="F3F4F6"/>
                </a:solidFill>
                <a:latin typeface="Consolas" pitchFamily="34" charset="0"/>
                <a:ea typeface="Consolas" pitchFamily="34" charset="-122"/>
                <a:cs typeface="Consolas" pitchFamily="34" charset="-120"/>
              </a:rPr>
              <a:t>CREATE OR REFRESH STREAMING TABLE bronze_orders AS</a:t>
            </a:r>
            <a:endParaRPr lang="en-US" sz="1140" dirty="0"/>
          </a:p>
          <a:p>
            <a:pPr indent="0" marL="0">
              <a:buNone/>
            </a:pPr>
            <a:r>
              <a:rPr lang="en-US" sz="1140" dirty="0">
                <a:solidFill>
                  <a:srgbClr val="F3F4F6"/>
                </a:solidFill>
                <a:latin typeface="Consolas" pitchFamily="34" charset="0"/>
                <a:ea typeface="Consolas" pitchFamily="34" charset="-122"/>
                <a:cs typeface="Consolas" pitchFamily="34" charset="-120"/>
              </a:rPr>
              <a:t>SELECT *</a:t>
            </a:r>
            <a:endParaRPr lang="en-US" sz="1140" dirty="0"/>
          </a:p>
          <a:p>
            <a:pPr indent="0" marL="0">
              <a:buNone/>
            </a:pPr>
            <a:r>
              <a:rPr lang="en-US" sz="1140" dirty="0">
                <a:solidFill>
                  <a:srgbClr val="F3F4F6"/>
                </a:solidFill>
                <a:latin typeface="Consolas" pitchFamily="34" charset="0"/>
                <a:ea typeface="Consolas" pitchFamily="34" charset="-122"/>
                <a:cs typeface="Consolas" pitchFamily="34" charset="-120"/>
              </a:rPr>
              <a:t>FROM STREAM read_files(</a:t>
            </a:r>
            <a:endParaRPr lang="en-US" sz="1140" dirty="0"/>
          </a:p>
          <a:p>
            <a:pPr indent="0" marL="0">
              <a:buNone/>
            </a:pPr>
            <a:r>
              <a:rPr lang="en-US" sz="1140" dirty="0">
                <a:solidFill>
                  <a:srgbClr val="F3F4F6"/>
                </a:solidFill>
                <a:latin typeface="Consolas" pitchFamily="34" charset="0"/>
                <a:ea typeface="Consolas" pitchFamily="34" charset="-122"/>
                <a:cs typeface="Consolas" pitchFamily="34" charset="-120"/>
              </a:rPr>
              <a:t>  '/Volumes/smartretail/raw/orders',</a:t>
            </a:r>
            <a:endParaRPr lang="en-US" sz="1140" dirty="0"/>
          </a:p>
          <a:p>
            <a:pPr indent="0" marL="0">
              <a:buNone/>
            </a:pPr>
            <a:r>
              <a:rPr lang="en-US" sz="1140" dirty="0">
                <a:solidFill>
                  <a:srgbClr val="F3F4F6"/>
                </a:solidFill>
                <a:latin typeface="Consolas" pitchFamily="34" charset="0"/>
                <a:ea typeface="Consolas" pitchFamily="34" charset="-122"/>
                <a:cs typeface="Consolas" pitchFamily="34" charset="-120"/>
              </a:rPr>
              <a:t>  format =&gt; 'json'</a:t>
            </a:r>
            <a:endParaRPr lang="en-US" sz="1140" dirty="0"/>
          </a:p>
          <a:p>
            <a:pPr indent="0" marL="0">
              <a:buNone/>
            </a:pPr>
            <a:r>
              <a:rPr lang="en-US" sz="1140" dirty="0">
                <a:solidFill>
                  <a:srgbClr val="F3F4F6"/>
                </a:solidFill>
                <a:latin typeface="Consolas" pitchFamily="34" charset="0"/>
                <a:ea typeface="Consolas" pitchFamily="34" charset="-122"/>
                <a:cs typeface="Consolas" pitchFamily="34" charset="-120"/>
              </a:rPr>
              <a:t>);</a:t>
            </a:r>
            <a:endParaRPr lang="en-US" sz="1140" dirty="0"/>
          </a:p>
        </p:txBody>
      </p:sp>
      <p:sp>
        <p:nvSpPr>
          <p:cNvPr id="12" name="Shape 10"/>
          <p:cNvSpPr/>
          <p:nvPr/>
        </p:nvSpPr>
        <p:spPr>
          <a:xfrm>
            <a:off x="4892040" y="4526280"/>
            <a:ext cx="5989320" cy="868680"/>
          </a:xfrm>
          <a:prstGeom prst="roundRect">
            <a:avLst>
              <a:gd name="adj" fmla="val 6316"/>
            </a:avLst>
          </a:prstGeom>
          <a:solidFill>
            <a:srgbClr val="FFF7E6"/>
          </a:solidFill>
          <a:ln w="12700">
            <a:solidFill>
              <a:srgbClr val="FFF7E6"/>
            </a:solidFill>
            <a:prstDash val="solid"/>
          </a:ln>
        </p:spPr>
      </p:sp>
      <p:sp>
        <p:nvSpPr>
          <p:cNvPr id="13" name="Text 11"/>
          <p:cNvSpPr/>
          <p:nvPr/>
        </p:nvSpPr>
        <p:spPr>
          <a:xfrm>
            <a:off x="5056632" y="4645152"/>
            <a:ext cx="5660136" cy="640080"/>
          </a:xfrm>
          <a:prstGeom prst="rect">
            <a:avLst/>
          </a:prstGeom>
          <a:noFill/>
          <a:ln/>
        </p:spPr>
        <p:txBody>
          <a:bodyPr wrap="square" lIns="0" tIns="0" rIns="0" bIns="0" rtlCol="0" anchor="ctr">
            <a:normAutofit/>
          </a:bodyPr>
          <a:lstStyle/>
          <a:p>
            <a:pPr indent="0" marL="0">
              <a:buNone/>
            </a:pPr>
            <a:r>
              <a:rPr lang="en-US" sz="1100" b="1" dirty="0">
                <a:solidFill>
                  <a:srgbClr val="F3A712"/>
                </a:solidFill>
                <a:latin typeface="Aptos" pitchFamily="34" charset="0"/>
                <a:ea typeface="Aptos" pitchFamily="34" charset="-122"/>
                <a:cs typeface="Aptos" pitchFamily="34" charset="-120"/>
              </a:rPr>
              <a:t>Bronze is your safety net: when downstream logic changes, replay from trusted raw history.</a:t>
            </a:r>
            <a:endParaRPr lang="en-US" sz="1100" dirty="0"/>
          </a:p>
        </p:txBody>
      </p:sp>
      <p:sp>
        <p:nvSpPr>
          <p:cNvPr id="14" name="Text 12"/>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Databricks SQL syntax verified against current docs (Sep 2026)</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Silver Layer — Clean, Validate, Integrate</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This is where the heavy data-quality work usually happens.</a:t>
            </a:r>
            <a:endParaRPr lang="en-US" sz="1100" dirty="0"/>
          </a:p>
        </p:txBody>
      </p:sp>
      <p:sp>
        <p:nvSpPr>
          <p:cNvPr id="4" name="Shape 2"/>
          <p:cNvSpPr/>
          <p:nvPr/>
        </p:nvSpPr>
        <p:spPr>
          <a:xfrm>
            <a:off x="640080" y="1417320"/>
            <a:ext cx="6217920" cy="4114800"/>
          </a:xfrm>
          <a:prstGeom prst="roundRect">
            <a:avLst>
              <a:gd name="adj" fmla="val 1333"/>
            </a:avLst>
          </a:prstGeom>
          <a:solidFill>
            <a:srgbClr val="111827"/>
          </a:solidFill>
          <a:ln w="12700">
            <a:solidFill>
              <a:srgbClr val="111827"/>
            </a:solidFill>
            <a:prstDash val="solid"/>
          </a:ln>
        </p:spPr>
      </p:sp>
      <p:sp>
        <p:nvSpPr>
          <p:cNvPr id="5" name="Text 3"/>
          <p:cNvSpPr/>
          <p:nvPr/>
        </p:nvSpPr>
        <p:spPr>
          <a:xfrm>
            <a:off x="841248" y="1600200"/>
            <a:ext cx="5815584" cy="3767328"/>
          </a:xfrm>
          <a:prstGeom prst="rect">
            <a:avLst/>
          </a:prstGeom>
          <a:noFill/>
          <a:ln/>
        </p:spPr>
        <p:txBody>
          <a:bodyPr wrap="square" lIns="0" tIns="0" rIns="0" bIns="0" rtlCol="0" anchor="ctr">
            <a:normAutofit/>
          </a:bodyPr>
          <a:lstStyle/>
          <a:p>
            <a:pPr indent="0" marL="0">
              <a:buNone/>
            </a:pPr>
            <a:r>
              <a:rPr lang="en-US" sz="970" dirty="0">
                <a:solidFill>
                  <a:srgbClr val="F3F4F6"/>
                </a:solidFill>
                <a:latin typeface="Consolas" pitchFamily="34" charset="0"/>
                <a:ea typeface="Consolas" pitchFamily="34" charset="-122"/>
                <a:cs typeface="Consolas" pitchFamily="34" charset="-120"/>
              </a:rPr>
              <a:t>CREATE OR REFRESH MATERIALIZED VIEW silver_orders</a:t>
            </a:r>
            <a:endParaRPr lang="en-US" sz="970" dirty="0"/>
          </a:p>
          <a:p>
            <a:pPr indent="0" marL="0">
              <a:buNone/>
            </a:pPr>
            <a:r>
              <a:rPr lang="en-US" sz="970" dirty="0">
                <a:solidFill>
                  <a:srgbClr val="F3F4F6"/>
                </a:solidFill>
                <a:latin typeface="Consolas" pitchFamily="34" charset="0"/>
                <a:ea typeface="Consolas" pitchFamily="34" charset="-122"/>
                <a:cs typeface="Consolas" pitchFamily="34" charset="-120"/>
              </a:rPr>
              <a:t>CONSTRAINT valid_qty EXPECT (Quantity &gt; 0) ON VIOLATION DROP ROW</a:t>
            </a:r>
            <a:endParaRPr lang="en-US" sz="970" dirty="0"/>
          </a:p>
          <a:p>
            <a:pPr indent="0" marL="0">
              <a:buNone/>
            </a:pPr>
            <a:r>
              <a:rPr lang="en-US" sz="970" dirty="0">
                <a:solidFill>
                  <a:srgbClr val="F3F4F6"/>
                </a:solidFill>
                <a:latin typeface="Consolas" pitchFamily="34" charset="0"/>
                <a:ea typeface="Consolas" pitchFamily="34" charset="-122"/>
                <a:cs typeface="Consolas" pitchFamily="34" charset="-120"/>
              </a:rPr>
              <a:t>AS SELECT</a:t>
            </a:r>
            <a:endParaRPr lang="en-US" sz="970" dirty="0"/>
          </a:p>
          <a:p>
            <a:pPr indent="0" marL="0">
              <a:buNone/>
            </a:pPr>
            <a:r>
              <a:rPr lang="en-US" sz="970" dirty="0">
                <a:solidFill>
                  <a:srgbClr val="F3F4F6"/>
                </a:solidFill>
                <a:latin typeface="Consolas" pitchFamily="34" charset="0"/>
                <a:ea typeface="Consolas" pitchFamily="34" charset="-122"/>
                <a:cs typeface="Consolas" pitchFamily="34" charset="-120"/>
              </a:rPr>
              <a:t>  CAST(OrderID AS BIGINT) AS OrderID,</a:t>
            </a:r>
            <a:endParaRPr lang="en-US" sz="970" dirty="0"/>
          </a:p>
          <a:p>
            <a:pPr indent="0" marL="0">
              <a:buNone/>
            </a:pPr>
            <a:r>
              <a:rPr lang="en-US" sz="970" dirty="0">
                <a:solidFill>
                  <a:srgbClr val="F3F4F6"/>
                </a:solidFill>
                <a:latin typeface="Consolas" pitchFamily="34" charset="0"/>
                <a:ea typeface="Consolas" pitchFamily="34" charset="-122"/>
                <a:cs typeface="Consolas" pitchFamily="34" charset="-120"/>
              </a:rPr>
              <a:t>  CAST(CustomerID AS BIGINT) AS CustomerID,</a:t>
            </a:r>
            <a:endParaRPr lang="en-US" sz="970" dirty="0"/>
          </a:p>
          <a:p>
            <a:pPr indent="0" marL="0">
              <a:buNone/>
            </a:pPr>
            <a:r>
              <a:rPr lang="en-US" sz="970" dirty="0">
                <a:solidFill>
                  <a:srgbClr val="F3F4F6"/>
                </a:solidFill>
                <a:latin typeface="Consolas" pitchFamily="34" charset="0"/>
                <a:ea typeface="Consolas" pitchFamily="34" charset="-122"/>
                <a:cs typeface="Consolas" pitchFamily="34" charset="-120"/>
              </a:rPr>
              <a:t>  to_date(OrderDate) AS OrderDate,</a:t>
            </a:r>
            <a:endParaRPr lang="en-US" sz="970" dirty="0"/>
          </a:p>
          <a:p>
            <a:pPr indent="0" marL="0">
              <a:buNone/>
            </a:pPr>
            <a:r>
              <a:rPr lang="en-US" sz="970" dirty="0">
                <a:solidFill>
                  <a:srgbClr val="F3F4F6"/>
                </a:solidFill>
                <a:latin typeface="Consolas" pitchFamily="34" charset="0"/>
                <a:ea typeface="Consolas" pitchFamily="34" charset="-122"/>
                <a:cs typeface="Consolas" pitchFamily="34" charset="-120"/>
              </a:rPr>
              <a:t>  CAST(Quantity AS INT) AS Quantity,</a:t>
            </a:r>
            <a:endParaRPr lang="en-US" sz="970" dirty="0"/>
          </a:p>
          <a:p>
            <a:pPr indent="0" marL="0">
              <a:buNone/>
            </a:pPr>
            <a:r>
              <a:rPr lang="en-US" sz="970" dirty="0">
                <a:solidFill>
                  <a:srgbClr val="F3F4F6"/>
                </a:solidFill>
                <a:latin typeface="Consolas" pitchFamily="34" charset="0"/>
                <a:ea typeface="Consolas" pitchFamily="34" charset="-122"/>
                <a:cs typeface="Consolas" pitchFamily="34" charset="-120"/>
              </a:rPr>
              <a:t>  CAST(UnitPrice AS DECIMAL(12,2)) AS UnitPrice</a:t>
            </a:r>
            <a:endParaRPr lang="en-US" sz="970" dirty="0"/>
          </a:p>
          <a:p>
            <a:pPr indent="0" marL="0">
              <a:buNone/>
            </a:pPr>
            <a:r>
              <a:rPr lang="en-US" sz="970" dirty="0">
                <a:solidFill>
                  <a:srgbClr val="F3F4F6"/>
                </a:solidFill>
                <a:latin typeface="Consolas" pitchFamily="34" charset="0"/>
                <a:ea typeface="Consolas" pitchFamily="34" charset="-122"/>
                <a:cs typeface="Consolas" pitchFamily="34" charset="-120"/>
              </a:rPr>
              <a:t>FROM bronze_orders;</a:t>
            </a:r>
            <a:endParaRPr lang="en-US" sz="970" dirty="0"/>
          </a:p>
        </p:txBody>
      </p:sp>
      <p:sp>
        <p:nvSpPr>
          <p:cNvPr id="6" name="Shape 4"/>
          <p:cNvSpPr/>
          <p:nvPr/>
        </p:nvSpPr>
        <p:spPr>
          <a:xfrm>
            <a:off x="7223760" y="1508760"/>
            <a:ext cx="4069080" cy="914400"/>
          </a:xfrm>
          <a:prstGeom prst="roundRect">
            <a:avLst>
              <a:gd name="adj" fmla="val 7000"/>
            </a:avLst>
          </a:prstGeom>
          <a:solidFill>
            <a:srgbClr val="FFFFFF"/>
          </a:solidFill>
          <a:ln w="12700">
            <a:solidFill>
              <a:srgbClr val="DDE2EA"/>
            </a:solidFill>
            <a:prstDash val="solid"/>
          </a:ln>
        </p:spPr>
      </p:sp>
      <p:sp>
        <p:nvSpPr>
          <p:cNvPr id="7" name="Shape 5"/>
          <p:cNvSpPr/>
          <p:nvPr/>
        </p:nvSpPr>
        <p:spPr>
          <a:xfrm>
            <a:off x="7223760" y="1508760"/>
            <a:ext cx="50292" cy="914400"/>
          </a:xfrm>
          <a:prstGeom prst="rect">
            <a:avLst/>
          </a:prstGeom>
          <a:solidFill>
            <a:srgbClr val="FF3621"/>
          </a:solidFill>
          <a:ln w="12700">
            <a:solidFill>
              <a:srgbClr val="FF3621"/>
            </a:solidFill>
            <a:prstDash val="solid"/>
          </a:ln>
        </p:spPr>
      </p:sp>
      <p:sp>
        <p:nvSpPr>
          <p:cNvPr id="8" name="Text 6"/>
          <p:cNvSpPr/>
          <p:nvPr/>
        </p:nvSpPr>
        <p:spPr>
          <a:xfrm>
            <a:off x="7424928" y="1728216"/>
            <a:ext cx="3703320" cy="347472"/>
          </a:xfrm>
          <a:prstGeom prst="rect">
            <a:avLst/>
          </a:prstGeom>
          <a:noFill/>
          <a:ln/>
        </p:spPr>
        <p:txBody>
          <a:bodyPr wrap="square" lIns="0" tIns="0" rIns="0" bIns="0" rtlCol="0" anchor="ctr">
            <a:normAutofit/>
          </a:bodyPr>
          <a:lstStyle/>
          <a:p>
            <a:pPr indent="0" marL="0">
              <a:buNone/>
            </a:pPr>
            <a:r>
              <a:rPr lang="en-US" sz="1200" b="1" dirty="0">
                <a:solidFill>
                  <a:srgbClr val="17233C"/>
                </a:solidFill>
                <a:latin typeface="Aptos Display" pitchFamily="34" charset="0"/>
                <a:ea typeface="Aptos Display" pitchFamily="34" charset="-122"/>
                <a:cs typeface="Aptos Display" pitchFamily="34" charset="-120"/>
              </a:rPr>
              <a:t>Validate</a:t>
            </a:r>
            <a:endParaRPr lang="en-US" sz="1200" dirty="0"/>
          </a:p>
        </p:txBody>
      </p:sp>
      <p:sp>
        <p:nvSpPr>
          <p:cNvPr id="9" name="Text 7"/>
          <p:cNvSpPr/>
          <p:nvPr/>
        </p:nvSpPr>
        <p:spPr>
          <a:xfrm>
            <a:off x="7424928" y="2167128"/>
            <a:ext cx="3685032" cy="9144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Nulls, ranges, parse failures, impossible values</a:t>
            </a:r>
            <a:endParaRPr lang="en-US" sz="880" dirty="0"/>
          </a:p>
        </p:txBody>
      </p:sp>
      <p:sp>
        <p:nvSpPr>
          <p:cNvPr id="10" name="Shape 8"/>
          <p:cNvSpPr/>
          <p:nvPr/>
        </p:nvSpPr>
        <p:spPr>
          <a:xfrm>
            <a:off x="7223760" y="2633472"/>
            <a:ext cx="4069080" cy="914400"/>
          </a:xfrm>
          <a:prstGeom prst="roundRect">
            <a:avLst>
              <a:gd name="adj" fmla="val 7000"/>
            </a:avLst>
          </a:prstGeom>
          <a:solidFill>
            <a:srgbClr val="FFFFFF"/>
          </a:solidFill>
          <a:ln w="12700">
            <a:solidFill>
              <a:srgbClr val="DDE2EA"/>
            </a:solidFill>
            <a:prstDash val="solid"/>
          </a:ln>
        </p:spPr>
      </p:sp>
      <p:sp>
        <p:nvSpPr>
          <p:cNvPr id="11" name="Shape 9"/>
          <p:cNvSpPr/>
          <p:nvPr/>
        </p:nvSpPr>
        <p:spPr>
          <a:xfrm>
            <a:off x="7223760" y="2633472"/>
            <a:ext cx="50292" cy="914400"/>
          </a:xfrm>
          <a:prstGeom prst="rect">
            <a:avLst/>
          </a:prstGeom>
          <a:solidFill>
            <a:srgbClr val="3B6FF5"/>
          </a:solidFill>
          <a:ln w="12700">
            <a:solidFill>
              <a:srgbClr val="3B6FF5"/>
            </a:solidFill>
            <a:prstDash val="solid"/>
          </a:ln>
        </p:spPr>
      </p:sp>
      <p:sp>
        <p:nvSpPr>
          <p:cNvPr id="12" name="Text 10"/>
          <p:cNvSpPr/>
          <p:nvPr/>
        </p:nvSpPr>
        <p:spPr>
          <a:xfrm>
            <a:off x="7424928" y="2852928"/>
            <a:ext cx="3703320" cy="347472"/>
          </a:xfrm>
          <a:prstGeom prst="rect">
            <a:avLst/>
          </a:prstGeom>
          <a:noFill/>
          <a:ln/>
        </p:spPr>
        <p:txBody>
          <a:bodyPr wrap="square" lIns="0" tIns="0" rIns="0" bIns="0" rtlCol="0" anchor="ctr">
            <a:normAutofit/>
          </a:bodyPr>
          <a:lstStyle/>
          <a:p>
            <a:pPr indent="0" marL="0">
              <a:buNone/>
            </a:pPr>
            <a:r>
              <a:rPr lang="en-US" sz="1200" b="1" dirty="0">
                <a:solidFill>
                  <a:srgbClr val="17233C"/>
                </a:solidFill>
                <a:latin typeface="Aptos Display" pitchFamily="34" charset="0"/>
                <a:ea typeface="Aptos Display" pitchFamily="34" charset="-122"/>
                <a:cs typeface="Aptos Display" pitchFamily="34" charset="-120"/>
              </a:rPr>
              <a:t>Standardise</a:t>
            </a:r>
            <a:endParaRPr lang="en-US" sz="1200" dirty="0"/>
          </a:p>
        </p:txBody>
      </p:sp>
      <p:sp>
        <p:nvSpPr>
          <p:cNvPr id="13" name="Text 11"/>
          <p:cNvSpPr/>
          <p:nvPr/>
        </p:nvSpPr>
        <p:spPr>
          <a:xfrm>
            <a:off x="7424928" y="3291840"/>
            <a:ext cx="3685032" cy="9144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Types, names, dates, units, categorical conventions</a:t>
            </a:r>
            <a:endParaRPr lang="en-US" sz="880" dirty="0"/>
          </a:p>
        </p:txBody>
      </p:sp>
      <p:sp>
        <p:nvSpPr>
          <p:cNvPr id="14" name="Shape 12"/>
          <p:cNvSpPr/>
          <p:nvPr/>
        </p:nvSpPr>
        <p:spPr>
          <a:xfrm>
            <a:off x="7223760" y="3758184"/>
            <a:ext cx="4069080" cy="914400"/>
          </a:xfrm>
          <a:prstGeom prst="roundRect">
            <a:avLst>
              <a:gd name="adj" fmla="val 7000"/>
            </a:avLst>
          </a:prstGeom>
          <a:solidFill>
            <a:srgbClr val="FFFFFF"/>
          </a:solidFill>
          <a:ln w="12700">
            <a:solidFill>
              <a:srgbClr val="DDE2EA"/>
            </a:solidFill>
            <a:prstDash val="solid"/>
          </a:ln>
        </p:spPr>
      </p:sp>
      <p:sp>
        <p:nvSpPr>
          <p:cNvPr id="15" name="Shape 13"/>
          <p:cNvSpPr/>
          <p:nvPr/>
        </p:nvSpPr>
        <p:spPr>
          <a:xfrm>
            <a:off x="7223760" y="3758184"/>
            <a:ext cx="50292" cy="914400"/>
          </a:xfrm>
          <a:prstGeom prst="rect">
            <a:avLst/>
          </a:prstGeom>
          <a:solidFill>
            <a:srgbClr val="00A972"/>
          </a:solidFill>
          <a:ln w="12700">
            <a:solidFill>
              <a:srgbClr val="00A972"/>
            </a:solidFill>
            <a:prstDash val="solid"/>
          </a:ln>
        </p:spPr>
      </p:sp>
      <p:sp>
        <p:nvSpPr>
          <p:cNvPr id="16" name="Text 14"/>
          <p:cNvSpPr/>
          <p:nvPr/>
        </p:nvSpPr>
        <p:spPr>
          <a:xfrm>
            <a:off x="7424928" y="3977640"/>
            <a:ext cx="3703320" cy="347472"/>
          </a:xfrm>
          <a:prstGeom prst="rect">
            <a:avLst/>
          </a:prstGeom>
          <a:noFill/>
          <a:ln/>
        </p:spPr>
        <p:txBody>
          <a:bodyPr wrap="square" lIns="0" tIns="0" rIns="0" bIns="0" rtlCol="0" anchor="ctr">
            <a:normAutofit/>
          </a:bodyPr>
          <a:lstStyle/>
          <a:p>
            <a:pPr indent="0" marL="0">
              <a:buNone/>
            </a:pPr>
            <a:r>
              <a:rPr lang="en-US" sz="1200" b="1" dirty="0">
                <a:solidFill>
                  <a:srgbClr val="17233C"/>
                </a:solidFill>
                <a:latin typeface="Aptos Display" pitchFamily="34" charset="0"/>
                <a:ea typeface="Aptos Display" pitchFamily="34" charset="-122"/>
                <a:cs typeface="Aptos Display" pitchFamily="34" charset="-120"/>
              </a:rPr>
              <a:t>Integrate</a:t>
            </a:r>
            <a:endParaRPr lang="en-US" sz="1200" dirty="0"/>
          </a:p>
        </p:txBody>
      </p:sp>
      <p:sp>
        <p:nvSpPr>
          <p:cNvPr id="17" name="Text 15"/>
          <p:cNvSpPr/>
          <p:nvPr/>
        </p:nvSpPr>
        <p:spPr>
          <a:xfrm>
            <a:off x="7424928" y="4416552"/>
            <a:ext cx="3685032" cy="9144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Deduplicate, resolve keys, join trusted reference data</a:t>
            </a:r>
            <a:endParaRPr lang="en-US" sz="880" dirty="0"/>
          </a:p>
        </p:txBody>
      </p:sp>
      <p:sp>
        <p:nvSpPr>
          <p:cNvPr id="18" name="Shape 16"/>
          <p:cNvSpPr/>
          <p:nvPr/>
        </p:nvSpPr>
        <p:spPr>
          <a:xfrm>
            <a:off x="7223760" y="4882896"/>
            <a:ext cx="4069080" cy="749808"/>
          </a:xfrm>
          <a:prstGeom prst="roundRect">
            <a:avLst>
              <a:gd name="adj" fmla="val 8537"/>
            </a:avLst>
          </a:prstGeom>
          <a:solidFill>
            <a:srgbClr val="FFFFFF"/>
          </a:solidFill>
          <a:ln w="12700">
            <a:solidFill>
              <a:srgbClr val="DDE2EA"/>
            </a:solidFill>
            <a:prstDash val="solid"/>
          </a:ln>
        </p:spPr>
      </p:sp>
      <p:sp>
        <p:nvSpPr>
          <p:cNvPr id="19" name="Shape 17"/>
          <p:cNvSpPr/>
          <p:nvPr/>
        </p:nvSpPr>
        <p:spPr>
          <a:xfrm>
            <a:off x="7223760" y="4882896"/>
            <a:ext cx="50292" cy="749808"/>
          </a:xfrm>
          <a:prstGeom prst="rect">
            <a:avLst/>
          </a:prstGeom>
          <a:solidFill>
            <a:srgbClr val="7C4DFF"/>
          </a:solidFill>
          <a:ln w="12700">
            <a:solidFill>
              <a:srgbClr val="7C4DFF"/>
            </a:solidFill>
            <a:prstDash val="solid"/>
          </a:ln>
        </p:spPr>
      </p:sp>
      <p:sp>
        <p:nvSpPr>
          <p:cNvPr id="20" name="Text 18"/>
          <p:cNvSpPr/>
          <p:nvPr/>
        </p:nvSpPr>
        <p:spPr>
          <a:xfrm>
            <a:off x="7424928" y="5102352"/>
            <a:ext cx="3703320" cy="347472"/>
          </a:xfrm>
          <a:prstGeom prst="rect">
            <a:avLst/>
          </a:prstGeom>
          <a:noFill/>
          <a:ln/>
        </p:spPr>
        <p:txBody>
          <a:bodyPr wrap="square" lIns="0" tIns="0" rIns="0" bIns="0" rtlCol="0" anchor="ctr">
            <a:normAutofit/>
          </a:bodyPr>
          <a:lstStyle/>
          <a:p>
            <a:pPr indent="0" marL="0">
              <a:buNone/>
            </a:pPr>
            <a:r>
              <a:rPr lang="en-US" sz="1150" b="1" dirty="0">
                <a:solidFill>
                  <a:srgbClr val="17233C"/>
                </a:solidFill>
                <a:latin typeface="Aptos Display" pitchFamily="34" charset="0"/>
                <a:ea typeface="Aptos Display" pitchFamily="34" charset="-122"/>
                <a:cs typeface="Aptos Display" pitchFamily="34" charset="-120"/>
              </a:rPr>
              <a:t>Preserve grain</a:t>
            </a:r>
            <a:endParaRPr lang="en-US" sz="1150" dirty="0"/>
          </a:p>
        </p:txBody>
      </p:sp>
      <p:sp>
        <p:nvSpPr>
          <p:cNvPr id="21" name="Text 19"/>
          <p:cNvSpPr/>
          <p:nvPr/>
        </p:nvSpPr>
        <p:spPr>
          <a:xfrm>
            <a:off x="7424928" y="5541264"/>
            <a:ext cx="3685032" cy="-73152"/>
          </a:xfrm>
          <a:prstGeom prst="rect">
            <a:avLst/>
          </a:prstGeom>
          <a:noFill/>
          <a:ln/>
        </p:spPr>
        <p:txBody>
          <a:bodyPr wrap="square" lIns="254" tIns="254" rIns="254" bIns="254" rtlCol="0" anchor="t">
            <a:normAutofit/>
          </a:bodyPr>
          <a:lstStyle/>
          <a:p>
            <a:pPr indent="0" marL="0">
              <a:buNone/>
            </a:pPr>
            <a:r>
              <a:rPr lang="en-US" sz="820" dirty="0">
                <a:solidFill>
                  <a:srgbClr val="283246"/>
                </a:solidFill>
                <a:latin typeface="Aptos" pitchFamily="34" charset="0"/>
                <a:ea typeface="Aptos" pitchFamily="34" charset="-122"/>
                <a:cs typeface="Aptos" pitchFamily="34" charset="-120"/>
              </a:rPr>
              <a:t>Avoid accidental aggregation before the business model requires it</a:t>
            </a:r>
            <a:endParaRPr lang="en-US" sz="82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Gold Layer — Business-Ready Data</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Gold encodes the shape that consumers actually want.</a:t>
            </a:r>
            <a:endParaRPr lang="en-US" sz="1100" dirty="0"/>
          </a:p>
        </p:txBody>
      </p:sp>
      <p:sp>
        <p:nvSpPr>
          <p:cNvPr id="4" name="Shape 2"/>
          <p:cNvSpPr/>
          <p:nvPr/>
        </p:nvSpPr>
        <p:spPr>
          <a:xfrm>
            <a:off x="685800" y="1554480"/>
            <a:ext cx="3246120" cy="3291840"/>
          </a:xfrm>
          <a:prstGeom prst="roundRect">
            <a:avLst>
              <a:gd name="adj" fmla="val 1972"/>
            </a:avLst>
          </a:prstGeom>
          <a:solidFill>
            <a:srgbClr val="FFFFFF"/>
          </a:solidFill>
          <a:ln w="12700">
            <a:solidFill>
              <a:srgbClr val="DDE2EA"/>
            </a:solidFill>
            <a:prstDash val="solid"/>
          </a:ln>
        </p:spPr>
      </p:sp>
      <p:sp>
        <p:nvSpPr>
          <p:cNvPr id="5" name="Shape 3"/>
          <p:cNvSpPr/>
          <p:nvPr/>
        </p:nvSpPr>
        <p:spPr>
          <a:xfrm>
            <a:off x="685800" y="1554480"/>
            <a:ext cx="50292" cy="3291840"/>
          </a:xfrm>
          <a:prstGeom prst="rect">
            <a:avLst/>
          </a:prstGeom>
          <a:solidFill>
            <a:srgbClr val="F3A712"/>
          </a:solidFill>
          <a:ln w="12700">
            <a:solidFill>
              <a:srgbClr val="F3A712"/>
            </a:solidFill>
            <a:prstDash val="solid"/>
          </a:ln>
        </p:spPr>
      </p:sp>
      <p:sp>
        <p:nvSpPr>
          <p:cNvPr id="6" name="Shape 4"/>
          <p:cNvSpPr/>
          <p:nvPr/>
        </p:nvSpPr>
        <p:spPr>
          <a:xfrm>
            <a:off x="886968" y="1737360"/>
            <a:ext cx="566928" cy="310896"/>
          </a:xfrm>
          <a:prstGeom prst="roundRect">
            <a:avLst>
              <a:gd name="adj" fmla="val 14706"/>
            </a:avLst>
          </a:prstGeom>
          <a:solidFill>
            <a:srgbClr val="FFF7E5"/>
          </a:solidFill>
          <a:ln w="12700">
            <a:solidFill>
              <a:srgbClr val="FFF7E5"/>
            </a:solidFill>
            <a:prstDash val="solid"/>
          </a:ln>
        </p:spPr>
      </p:sp>
      <p:sp>
        <p:nvSpPr>
          <p:cNvPr id="7" name="Text 5"/>
          <p:cNvSpPr/>
          <p:nvPr/>
        </p:nvSpPr>
        <p:spPr>
          <a:xfrm>
            <a:off x="886968" y="1801368"/>
            <a:ext cx="566928" cy="128016"/>
          </a:xfrm>
          <a:prstGeom prst="rect">
            <a:avLst/>
          </a:prstGeom>
          <a:noFill/>
          <a:ln/>
        </p:spPr>
        <p:txBody>
          <a:bodyPr wrap="square" lIns="0" tIns="0" rIns="0" bIns="0" rtlCol="0" anchor="ctr"/>
          <a:lstStyle/>
          <a:p>
            <a:pPr algn="ctr" indent="0" marL="0">
              <a:buNone/>
            </a:pPr>
            <a:r>
              <a:rPr lang="en-US" sz="730" b="1" dirty="0">
                <a:solidFill>
                  <a:srgbClr val="F3A712"/>
                </a:solidFill>
              </a:rPr>
              <a:t>DW</a:t>
            </a:r>
            <a:endParaRPr lang="en-US" sz="730" dirty="0"/>
          </a:p>
        </p:txBody>
      </p:sp>
      <p:sp>
        <p:nvSpPr>
          <p:cNvPr id="8" name="Text 6"/>
          <p:cNvSpPr/>
          <p:nvPr/>
        </p:nvSpPr>
        <p:spPr>
          <a:xfrm>
            <a:off x="886968" y="2139696"/>
            <a:ext cx="288036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Dimensional models</a:t>
            </a:r>
            <a:endParaRPr lang="en-US" sz="1500" dirty="0"/>
          </a:p>
        </p:txBody>
      </p:sp>
      <p:sp>
        <p:nvSpPr>
          <p:cNvPr id="9" name="Text 7"/>
          <p:cNvSpPr/>
          <p:nvPr/>
        </p:nvSpPr>
        <p:spPr>
          <a:xfrm>
            <a:off x="886968" y="2514600"/>
            <a:ext cx="2862072" cy="2167128"/>
          </a:xfrm>
          <a:prstGeom prst="rect">
            <a:avLst/>
          </a:prstGeom>
          <a:noFill/>
          <a:ln/>
        </p:spPr>
        <p:txBody>
          <a:bodyPr wrap="square" lIns="254" tIns="254" rIns="254" bIns="254" rtlCol="0" anchor="t">
            <a:normAutofit/>
          </a:bodyPr>
          <a:lstStyle/>
          <a:p>
            <a:pPr indent="0" marL="0">
              <a:buNone/>
            </a:pPr>
            <a:r>
              <a:rPr lang="en-US" sz="1150" dirty="0">
                <a:solidFill>
                  <a:srgbClr val="283246"/>
                </a:solidFill>
                <a:latin typeface="Aptos" pitchFamily="34" charset="0"/>
                <a:ea typeface="Aptos" pitchFamily="34" charset="-122"/>
                <a:cs typeface="Aptos" pitchFamily="34" charset="-120"/>
              </a:rPr>
              <a:t>FactSales</a:t>
            </a:r>
            <a:endParaRPr lang="en-US" sz="1150" dirty="0"/>
          </a:p>
          <a:p>
            <a:pPr indent="0" marL="0">
              <a:buNone/>
            </a:pPr>
            <a:r>
              <a:rPr lang="en-US" sz="1150" dirty="0">
                <a:solidFill>
                  <a:srgbClr val="283246"/>
                </a:solidFill>
                <a:latin typeface="Aptos" pitchFamily="34" charset="0"/>
                <a:ea typeface="Aptos" pitchFamily="34" charset="-122"/>
                <a:cs typeface="Aptos" pitchFamily="34" charset="-120"/>
              </a:rPr>
              <a:t>DimCustomer</a:t>
            </a:r>
            <a:endParaRPr lang="en-US" sz="1150" dirty="0"/>
          </a:p>
          <a:p>
            <a:pPr indent="0" marL="0">
              <a:buNone/>
            </a:pPr>
            <a:r>
              <a:rPr lang="en-US" sz="1150" dirty="0">
                <a:solidFill>
                  <a:srgbClr val="283246"/>
                </a:solidFill>
                <a:latin typeface="Aptos" pitchFamily="34" charset="0"/>
                <a:ea typeface="Aptos" pitchFamily="34" charset="-122"/>
                <a:cs typeface="Aptos" pitchFamily="34" charset="-120"/>
              </a:rPr>
              <a:t>DimProduct</a:t>
            </a:r>
            <a:endParaRPr lang="en-US" sz="1150" dirty="0"/>
          </a:p>
          <a:p>
            <a:pPr indent="0" marL="0">
              <a:buNone/>
            </a:pPr>
            <a:r>
              <a:rPr lang="en-US" sz="1150" dirty="0">
                <a:solidFill>
                  <a:srgbClr val="283246"/>
                </a:solidFill>
                <a:latin typeface="Aptos" pitchFamily="34" charset="0"/>
                <a:ea typeface="Aptos" pitchFamily="34" charset="-122"/>
                <a:cs typeface="Aptos" pitchFamily="34" charset="-120"/>
              </a:rPr>
              <a:t>DimDate</a:t>
            </a:r>
            <a:endParaRPr lang="en-US" sz="1150" dirty="0"/>
          </a:p>
          <a:p>
            <a:pPr indent="0" marL="0">
              <a:buNone/>
            </a:pPr>
            <a:r>
              <a:rPr lang="en-US" sz="1150" dirty="0">
                <a:solidFill>
                  <a:srgbClr val="283246"/>
                </a:solidFill>
                <a:latin typeface="Aptos" pitchFamily="34" charset="0"/>
                <a:ea typeface="Aptos" pitchFamily="34" charset="-122"/>
                <a:cs typeface="Aptos" pitchFamily="34" charset="-120"/>
              </a:rPr>
              <a:t>DimStore</a:t>
            </a:r>
            <a:endParaRPr lang="en-US" sz="1150" dirty="0"/>
          </a:p>
        </p:txBody>
      </p:sp>
      <p:sp>
        <p:nvSpPr>
          <p:cNvPr id="10" name="Shape 8"/>
          <p:cNvSpPr/>
          <p:nvPr/>
        </p:nvSpPr>
        <p:spPr>
          <a:xfrm>
            <a:off x="4480560" y="1554480"/>
            <a:ext cx="3246120" cy="3291840"/>
          </a:xfrm>
          <a:prstGeom prst="roundRect">
            <a:avLst>
              <a:gd name="adj" fmla="val 1972"/>
            </a:avLst>
          </a:prstGeom>
          <a:solidFill>
            <a:srgbClr val="FFFFFF"/>
          </a:solidFill>
          <a:ln w="12700">
            <a:solidFill>
              <a:srgbClr val="DDE2EA"/>
            </a:solidFill>
            <a:prstDash val="solid"/>
          </a:ln>
        </p:spPr>
      </p:sp>
      <p:sp>
        <p:nvSpPr>
          <p:cNvPr id="11" name="Shape 9"/>
          <p:cNvSpPr/>
          <p:nvPr/>
        </p:nvSpPr>
        <p:spPr>
          <a:xfrm>
            <a:off x="4480560" y="1554480"/>
            <a:ext cx="50292" cy="3291840"/>
          </a:xfrm>
          <a:prstGeom prst="rect">
            <a:avLst/>
          </a:prstGeom>
          <a:solidFill>
            <a:srgbClr val="FF3621"/>
          </a:solidFill>
          <a:ln w="12700">
            <a:solidFill>
              <a:srgbClr val="FF3621"/>
            </a:solidFill>
            <a:prstDash val="solid"/>
          </a:ln>
        </p:spPr>
      </p:sp>
      <p:sp>
        <p:nvSpPr>
          <p:cNvPr id="12" name="Shape 10"/>
          <p:cNvSpPr/>
          <p:nvPr/>
        </p:nvSpPr>
        <p:spPr>
          <a:xfrm>
            <a:off x="4681728" y="1737360"/>
            <a:ext cx="566928" cy="310896"/>
          </a:xfrm>
          <a:prstGeom prst="roundRect">
            <a:avLst>
              <a:gd name="adj" fmla="val 14706"/>
            </a:avLst>
          </a:prstGeom>
          <a:solidFill>
            <a:srgbClr val="FFF0ED"/>
          </a:solidFill>
          <a:ln w="12700">
            <a:solidFill>
              <a:srgbClr val="FFF0ED"/>
            </a:solidFill>
            <a:prstDash val="solid"/>
          </a:ln>
        </p:spPr>
      </p:sp>
      <p:sp>
        <p:nvSpPr>
          <p:cNvPr id="13" name="Text 11"/>
          <p:cNvSpPr/>
          <p:nvPr/>
        </p:nvSpPr>
        <p:spPr>
          <a:xfrm>
            <a:off x="4681728" y="180136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BI</a:t>
            </a:r>
            <a:endParaRPr lang="en-US" sz="730" dirty="0"/>
          </a:p>
        </p:txBody>
      </p:sp>
      <p:sp>
        <p:nvSpPr>
          <p:cNvPr id="14" name="Text 12"/>
          <p:cNvSpPr/>
          <p:nvPr/>
        </p:nvSpPr>
        <p:spPr>
          <a:xfrm>
            <a:off x="4681728" y="2139696"/>
            <a:ext cx="288036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Aggregates / marts</a:t>
            </a:r>
            <a:endParaRPr lang="en-US" sz="1500" dirty="0"/>
          </a:p>
        </p:txBody>
      </p:sp>
      <p:sp>
        <p:nvSpPr>
          <p:cNvPr id="15" name="Text 13"/>
          <p:cNvSpPr/>
          <p:nvPr/>
        </p:nvSpPr>
        <p:spPr>
          <a:xfrm>
            <a:off x="4681728" y="2514600"/>
            <a:ext cx="2862072" cy="2167128"/>
          </a:xfrm>
          <a:prstGeom prst="rect">
            <a:avLst/>
          </a:prstGeom>
          <a:noFill/>
          <a:ln/>
        </p:spPr>
        <p:txBody>
          <a:bodyPr wrap="square" lIns="254" tIns="254" rIns="254" bIns="254" rtlCol="0" anchor="t">
            <a:normAutofit/>
          </a:bodyPr>
          <a:lstStyle/>
          <a:p>
            <a:pPr indent="0" marL="0">
              <a:buNone/>
            </a:pPr>
            <a:r>
              <a:rPr lang="en-US" sz="1150" dirty="0">
                <a:solidFill>
                  <a:srgbClr val="283246"/>
                </a:solidFill>
                <a:latin typeface="Aptos" pitchFamily="34" charset="0"/>
                <a:ea typeface="Aptos" pitchFamily="34" charset="-122"/>
                <a:cs typeface="Aptos" pitchFamily="34" charset="-120"/>
              </a:rPr>
              <a:t>Daily revenue</a:t>
            </a:r>
            <a:endParaRPr lang="en-US" sz="1150" dirty="0"/>
          </a:p>
          <a:p>
            <a:pPr indent="0" marL="0">
              <a:buNone/>
            </a:pPr>
            <a:r>
              <a:rPr lang="en-US" sz="1150" dirty="0">
                <a:solidFill>
                  <a:srgbClr val="283246"/>
                </a:solidFill>
                <a:latin typeface="Aptos" pitchFamily="34" charset="0"/>
                <a:ea typeface="Aptos" pitchFamily="34" charset="-122"/>
                <a:cs typeface="Aptos" pitchFamily="34" charset="-120"/>
              </a:rPr>
              <a:t>Customer RFM</a:t>
            </a:r>
            <a:endParaRPr lang="en-US" sz="1150" dirty="0"/>
          </a:p>
          <a:p>
            <a:pPr indent="0" marL="0">
              <a:buNone/>
            </a:pPr>
            <a:r>
              <a:rPr lang="en-US" sz="1150" dirty="0">
                <a:solidFill>
                  <a:srgbClr val="283246"/>
                </a:solidFill>
                <a:latin typeface="Aptos" pitchFamily="34" charset="0"/>
                <a:ea typeface="Aptos" pitchFamily="34" charset="-122"/>
                <a:cs typeface="Aptos" pitchFamily="34" charset="-120"/>
              </a:rPr>
              <a:t>Inventory KPIs</a:t>
            </a:r>
            <a:endParaRPr lang="en-US" sz="1150" dirty="0"/>
          </a:p>
          <a:p>
            <a:pPr indent="0" marL="0">
              <a:buNone/>
            </a:pPr>
            <a:r>
              <a:rPr lang="en-US" sz="1150" dirty="0">
                <a:solidFill>
                  <a:srgbClr val="283246"/>
                </a:solidFill>
                <a:latin typeface="Aptos" pitchFamily="34" charset="0"/>
                <a:ea typeface="Aptos" pitchFamily="34" charset="-122"/>
                <a:cs typeface="Aptos" pitchFamily="34" charset="-120"/>
              </a:rPr>
              <a:t>Product performance</a:t>
            </a:r>
            <a:endParaRPr lang="en-US" sz="1150" dirty="0"/>
          </a:p>
        </p:txBody>
      </p:sp>
      <p:sp>
        <p:nvSpPr>
          <p:cNvPr id="16" name="Shape 14"/>
          <p:cNvSpPr/>
          <p:nvPr/>
        </p:nvSpPr>
        <p:spPr>
          <a:xfrm>
            <a:off x="8275320" y="1554480"/>
            <a:ext cx="3246120" cy="3291840"/>
          </a:xfrm>
          <a:prstGeom prst="roundRect">
            <a:avLst>
              <a:gd name="adj" fmla="val 1972"/>
            </a:avLst>
          </a:prstGeom>
          <a:solidFill>
            <a:srgbClr val="FFFFFF"/>
          </a:solidFill>
          <a:ln w="12700">
            <a:solidFill>
              <a:srgbClr val="DDE2EA"/>
            </a:solidFill>
            <a:prstDash val="solid"/>
          </a:ln>
        </p:spPr>
      </p:sp>
      <p:sp>
        <p:nvSpPr>
          <p:cNvPr id="17" name="Shape 15"/>
          <p:cNvSpPr/>
          <p:nvPr/>
        </p:nvSpPr>
        <p:spPr>
          <a:xfrm>
            <a:off x="8275320" y="1554480"/>
            <a:ext cx="50292" cy="3291840"/>
          </a:xfrm>
          <a:prstGeom prst="rect">
            <a:avLst/>
          </a:prstGeom>
          <a:solidFill>
            <a:srgbClr val="7C4DFF"/>
          </a:solidFill>
          <a:ln w="12700">
            <a:solidFill>
              <a:srgbClr val="7C4DFF"/>
            </a:solidFill>
            <a:prstDash val="solid"/>
          </a:ln>
        </p:spPr>
      </p:sp>
      <p:sp>
        <p:nvSpPr>
          <p:cNvPr id="18" name="Shape 16"/>
          <p:cNvSpPr/>
          <p:nvPr/>
        </p:nvSpPr>
        <p:spPr>
          <a:xfrm>
            <a:off x="8476488" y="1737360"/>
            <a:ext cx="566928" cy="310896"/>
          </a:xfrm>
          <a:prstGeom prst="roundRect">
            <a:avLst>
              <a:gd name="adj" fmla="val 14706"/>
            </a:avLst>
          </a:prstGeom>
          <a:solidFill>
            <a:srgbClr val="F2EEFF"/>
          </a:solidFill>
          <a:ln w="12700">
            <a:solidFill>
              <a:srgbClr val="F2EEFF"/>
            </a:solidFill>
            <a:prstDash val="solid"/>
          </a:ln>
        </p:spPr>
      </p:sp>
      <p:sp>
        <p:nvSpPr>
          <p:cNvPr id="19" name="Text 17"/>
          <p:cNvSpPr/>
          <p:nvPr/>
        </p:nvSpPr>
        <p:spPr>
          <a:xfrm>
            <a:off x="8476488" y="180136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ML</a:t>
            </a:r>
            <a:endParaRPr lang="en-US" sz="730" dirty="0"/>
          </a:p>
        </p:txBody>
      </p:sp>
      <p:sp>
        <p:nvSpPr>
          <p:cNvPr id="20" name="Text 18"/>
          <p:cNvSpPr/>
          <p:nvPr/>
        </p:nvSpPr>
        <p:spPr>
          <a:xfrm>
            <a:off x="8476488" y="2139696"/>
            <a:ext cx="288036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ML-ready datasets</a:t>
            </a:r>
            <a:endParaRPr lang="en-US" sz="1500" dirty="0"/>
          </a:p>
        </p:txBody>
      </p:sp>
      <p:sp>
        <p:nvSpPr>
          <p:cNvPr id="21" name="Text 19"/>
          <p:cNvSpPr/>
          <p:nvPr/>
        </p:nvSpPr>
        <p:spPr>
          <a:xfrm>
            <a:off x="8476488" y="2514600"/>
            <a:ext cx="2862072" cy="2167128"/>
          </a:xfrm>
          <a:prstGeom prst="rect">
            <a:avLst/>
          </a:prstGeom>
          <a:noFill/>
          <a:ln/>
        </p:spPr>
        <p:txBody>
          <a:bodyPr wrap="square" lIns="254" tIns="254" rIns="254" bIns="254" rtlCol="0" anchor="t">
            <a:normAutofit/>
          </a:bodyPr>
          <a:lstStyle/>
          <a:p>
            <a:pPr indent="0" marL="0">
              <a:buNone/>
            </a:pPr>
            <a:r>
              <a:rPr lang="en-US" sz="1080" dirty="0">
                <a:solidFill>
                  <a:srgbClr val="283246"/>
                </a:solidFill>
                <a:latin typeface="Aptos" pitchFamily="34" charset="0"/>
                <a:ea typeface="Aptos" pitchFamily="34" charset="-122"/>
                <a:cs typeface="Aptos" pitchFamily="34" charset="-120"/>
              </a:rPr>
              <a:t>Features calculated from trusted historical data with leakage-safe time windows.</a:t>
            </a:r>
            <a:endParaRPr lang="en-US" sz="1080" dirty="0"/>
          </a:p>
        </p:txBody>
      </p:sp>
      <p:sp>
        <p:nvSpPr>
          <p:cNvPr id="22" name="Shape 20"/>
          <p:cNvSpPr/>
          <p:nvPr/>
        </p:nvSpPr>
        <p:spPr>
          <a:xfrm>
            <a:off x="1097280" y="5166360"/>
            <a:ext cx="9966960" cy="594360"/>
          </a:xfrm>
          <a:prstGeom prst="roundRect">
            <a:avLst>
              <a:gd name="adj" fmla="val 9231"/>
            </a:avLst>
          </a:prstGeom>
          <a:solidFill>
            <a:srgbClr val="ECF8F3"/>
          </a:solidFill>
          <a:ln w="12700">
            <a:solidFill>
              <a:srgbClr val="ECF8F3"/>
            </a:solidFill>
            <a:prstDash val="solid"/>
          </a:ln>
        </p:spPr>
      </p:sp>
      <p:sp>
        <p:nvSpPr>
          <p:cNvPr id="23" name="Text 21"/>
          <p:cNvSpPr/>
          <p:nvPr/>
        </p:nvSpPr>
        <p:spPr>
          <a:xfrm>
            <a:off x="1261872" y="5285232"/>
            <a:ext cx="9637776" cy="365760"/>
          </a:xfrm>
          <a:prstGeom prst="rect">
            <a:avLst/>
          </a:prstGeom>
          <a:noFill/>
          <a:ln/>
        </p:spPr>
        <p:txBody>
          <a:bodyPr wrap="square" lIns="0" tIns="0" rIns="0" bIns="0" rtlCol="0" anchor="ctr">
            <a:normAutofit/>
          </a:bodyPr>
          <a:lstStyle/>
          <a:p>
            <a:pPr indent="0" marL="0">
              <a:buNone/>
            </a:pPr>
            <a:r>
              <a:rPr lang="en-US" sz="1100" b="1" dirty="0">
                <a:solidFill>
                  <a:srgbClr val="00A972"/>
                </a:solidFill>
                <a:latin typeface="Aptos" pitchFamily="34" charset="0"/>
                <a:ea typeface="Aptos" pitchFamily="34" charset="-122"/>
                <a:cs typeface="Aptos" pitchFamily="34" charset="-120"/>
              </a:rPr>
              <a:t>Gold should reduce the amount of logic required in dashboards, reports and downstream models.</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SQL vs PySpark for Transformation</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Both are first-class tools; choose based on the nature of the logic and the team.</a:t>
            </a:r>
            <a:endParaRPr lang="en-US" sz="1100" dirty="0"/>
          </a:p>
        </p:txBody>
      </p:sp>
      <p:sp>
        <p:nvSpPr>
          <p:cNvPr id="4" name="Shape 2"/>
          <p:cNvSpPr/>
          <p:nvPr/>
        </p:nvSpPr>
        <p:spPr>
          <a:xfrm>
            <a:off x="685800" y="1508760"/>
            <a:ext cx="5257800" cy="3429000"/>
          </a:xfrm>
          <a:prstGeom prst="roundRect">
            <a:avLst>
              <a:gd name="adj" fmla="val 1867"/>
            </a:avLst>
          </a:prstGeom>
          <a:solidFill>
            <a:srgbClr val="FFFFFF"/>
          </a:solidFill>
          <a:ln w="12700">
            <a:solidFill>
              <a:srgbClr val="DDE2EA"/>
            </a:solidFill>
            <a:prstDash val="solid"/>
          </a:ln>
        </p:spPr>
      </p:sp>
      <p:sp>
        <p:nvSpPr>
          <p:cNvPr id="5" name="Shape 3"/>
          <p:cNvSpPr/>
          <p:nvPr/>
        </p:nvSpPr>
        <p:spPr>
          <a:xfrm>
            <a:off x="685800" y="1508760"/>
            <a:ext cx="50292" cy="3429000"/>
          </a:xfrm>
          <a:prstGeom prst="rect">
            <a:avLst/>
          </a:prstGeom>
          <a:solidFill>
            <a:srgbClr val="3B6FF5"/>
          </a:solidFill>
          <a:ln w="12700">
            <a:solidFill>
              <a:srgbClr val="3B6FF5"/>
            </a:solidFill>
            <a:prstDash val="solid"/>
          </a:ln>
        </p:spPr>
      </p:sp>
      <p:sp>
        <p:nvSpPr>
          <p:cNvPr id="6" name="Shape 4"/>
          <p:cNvSpPr/>
          <p:nvPr/>
        </p:nvSpPr>
        <p:spPr>
          <a:xfrm>
            <a:off x="886968" y="169164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886968" y="175564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DECLARATIVE</a:t>
            </a:r>
            <a:endParaRPr lang="en-US" sz="730" dirty="0"/>
          </a:p>
        </p:txBody>
      </p:sp>
      <p:sp>
        <p:nvSpPr>
          <p:cNvPr id="8" name="Text 6"/>
          <p:cNvSpPr/>
          <p:nvPr/>
        </p:nvSpPr>
        <p:spPr>
          <a:xfrm>
            <a:off x="886968" y="2093976"/>
            <a:ext cx="4892040" cy="347472"/>
          </a:xfrm>
          <a:prstGeom prst="rect">
            <a:avLst/>
          </a:prstGeom>
          <a:noFill/>
          <a:ln/>
        </p:spPr>
        <p:txBody>
          <a:bodyPr wrap="square" lIns="0" tIns="0" rIns="0" bIns="0" rtlCol="0" anchor="ctr">
            <a:normAutofit/>
          </a:bodyPr>
          <a:lstStyle/>
          <a:p>
            <a:pPr indent="0" marL="0">
              <a:buNone/>
            </a:pPr>
            <a:r>
              <a:rPr lang="en-US" sz="1700" b="1" dirty="0">
                <a:solidFill>
                  <a:srgbClr val="17233C"/>
                </a:solidFill>
                <a:latin typeface="Aptos Display" pitchFamily="34" charset="0"/>
                <a:ea typeface="Aptos Display" pitchFamily="34" charset="-122"/>
                <a:cs typeface="Aptos Display" pitchFamily="34" charset="-120"/>
              </a:rPr>
              <a:t>SQL</a:t>
            </a:r>
            <a:endParaRPr lang="en-US" sz="1700" dirty="0"/>
          </a:p>
        </p:txBody>
      </p:sp>
      <p:sp>
        <p:nvSpPr>
          <p:cNvPr id="9" name="Text 7"/>
          <p:cNvSpPr/>
          <p:nvPr/>
        </p:nvSpPr>
        <p:spPr>
          <a:xfrm>
            <a:off x="886968" y="2468880"/>
            <a:ext cx="4873752" cy="230428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Best when transformations are relational and declarative:</a:t>
            </a:r>
            <a:endParaRPr lang="en-US" sz="1100" dirty="0"/>
          </a:p>
          <a:p>
            <a:pPr indent="0" marL="0">
              <a:buNone/>
            </a:pP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joins / filters / aggregation</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dimensional modeling</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materialized views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readable business logic</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SQL-native teams</a:t>
            </a:r>
            <a:endParaRPr lang="en-US" sz="1100" dirty="0"/>
          </a:p>
        </p:txBody>
      </p:sp>
      <p:sp>
        <p:nvSpPr>
          <p:cNvPr id="10" name="Shape 8"/>
          <p:cNvSpPr/>
          <p:nvPr/>
        </p:nvSpPr>
        <p:spPr>
          <a:xfrm>
            <a:off x="6263640" y="1508760"/>
            <a:ext cx="5257800" cy="3429000"/>
          </a:xfrm>
          <a:prstGeom prst="roundRect">
            <a:avLst>
              <a:gd name="adj" fmla="val 1867"/>
            </a:avLst>
          </a:prstGeom>
          <a:solidFill>
            <a:srgbClr val="FFFFFF"/>
          </a:solidFill>
          <a:ln w="12700">
            <a:solidFill>
              <a:srgbClr val="DDE2EA"/>
            </a:solidFill>
            <a:prstDash val="solid"/>
          </a:ln>
        </p:spPr>
      </p:sp>
      <p:sp>
        <p:nvSpPr>
          <p:cNvPr id="11" name="Shape 9"/>
          <p:cNvSpPr/>
          <p:nvPr/>
        </p:nvSpPr>
        <p:spPr>
          <a:xfrm>
            <a:off x="6263640" y="1508760"/>
            <a:ext cx="50292" cy="3429000"/>
          </a:xfrm>
          <a:prstGeom prst="rect">
            <a:avLst/>
          </a:prstGeom>
          <a:solidFill>
            <a:srgbClr val="7C4DFF"/>
          </a:solidFill>
          <a:ln w="12700">
            <a:solidFill>
              <a:srgbClr val="7C4DFF"/>
            </a:solidFill>
            <a:prstDash val="solid"/>
          </a:ln>
        </p:spPr>
      </p:sp>
      <p:sp>
        <p:nvSpPr>
          <p:cNvPr id="12" name="Shape 10"/>
          <p:cNvSpPr/>
          <p:nvPr/>
        </p:nvSpPr>
        <p:spPr>
          <a:xfrm>
            <a:off x="6464808" y="1691640"/>
            <a:ext cx="566928" cy="310896"/>
          </a:xfrm>
          <a:prstGeom prst="roundRect">
            <a:avLst>
              <a:gd name="adj" fmla="val 14706"/>
            </a:avLst>
          </a:prstGeom>
          <a:solidFill>
            <a:srgbClr val="F2EEFF"/>
          </a:solidFill>
          <a:ln w="12700">
            <a:solidFill>
              <a:srgbClr val="F2EEFF"/>
            </a:solidFill>
            <a:prstDash val="solid"/>
          </a:ln>
        </p:spPr>
      </p:sp>
      <p:sp>
        <p:nvSpPr>
          <p:cNvPr id="13" name="Text 11"/>
          <p:cNvSpPr/>
          <p:nvPr/>
        </p:nvSpPr>
        <p:spPr>
          <a:xfrm>
            <a:off x="6464808" y="175564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IMPERATIVE</a:t>
            </a:r>
            <a:endParaRPr lang="en-US" sz="730" dirty="0"/>
          </a:p>
        </p:txBody>
      </p:sp>
      <p:sp>
        <p:nvSpPr>
          <p:cNvPr id="14" name="Text 12"/>
          <p:cNvSpPr/>
          <p:nvPr/>
        </p:nvSpPr>
        <p:spPr>
          <a:xfrm>
            <a:off x="6464808" y="2093976"/>
            <a:ext cx="4892040" cy="347472"/>
          </a:xfrm>
          <a:prstGeom prst="rect">
            <a:avLst/>
          </a:prstGeom>
          <a:noFill/>
          <a:ln/>
        </p:spPr>
        <p:txBody>
          <a:bodyPr wrap="square" lIns="0" tIns="0" rIns="0" bIns="0" rtlCol="0" anchor="ctr">
            <a:normAutofit/>
          </a:bodyPr>
          <a:lstStyle/>
          <a:p>
            <a:pPr indent="0" marL="0">
              <a:buNone/>
            </a:pPr>
            <a:r>
              <a:rPr lang="en-US" sz="1700" b="1" dirty="0">
                <a:solidFill>
                  <a:srgbClr val="17233C"/>
                </a:solidFill>
                <a:latin typeface="Aptos Display" pitchFamily="34" charset="0"/>
                <a:ea typeface="Aptos Display" pitchFamily="34" charset="-122"/>
                <a:cs typeface="Aptos Display" pitchFamily="34" charset="-120"/>
              </a:rPr>
              <a:t>PySpark</a:t>
            </a:r>
            <a:endParaRPr lang="en-US" sz="1700" dirty="0"/>
          </a:p>
        </p:txBody>
      </p:sp>
      <p:sp>
        <p:nvSpPr>
          <p:cNvPr id="15" name="Text 13"/>
          <p:cNvSpPr/>
          <p:nvPr/>
        </p:nvSpPr>
        <p:spPr>
          <a:xfrm>
            <a:off x="6464808" y="2468880"/>
            <a:ext cx="4873752" cy="230428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Best when logic needs programmatic control:</a:t>
            </a:r>
            <a:endParaRPr lang="en-US" sz="1100" dirty="0"/>
          </a:p>
          <a:p>
            <a:pPr indent="0" marL="0">
              <a:buNone/>
            </a:pP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custom libraries / UDFs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complex procedural logic</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advanced streaming state</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ML/data-science integration</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 metadata-driven workflows</a:t>
            </a:r>
            <a:endParaRPr lang="en-US" sz="1100" dirty="0"/>
          </a:p>
        </p:txBody>
      </p:sp>
      <p:sp>
        <p:nvSpPr>
          <p:cNvPr id="16" name="Shape 14"/>
          <p:cNvSpPr/>
          <p:nvPr/>
        </p:nvSpPr>
        <p:spPr>
          <a:xfrm>
            <a:off x="914400" y="5257800"/>
            <a:ext cx="10424160" cy="594360"/>
          </a:xfrm>
          <a:prstGeom prst="roundRect">
            <a:avLst>
              <a:gd name="adj" fmla="val 9231"/>
            </a:avLst>
          </a:prstGeom>
          <a:solidFill>
            <a:srgbClr val="FFF4F1"/>
          </a:solidFill>
          <a:ln w="12700">
            <a:solidFill>
              <a:srgbClr val="FFF4F1"/>
            </a:solidFill>
            <a:prstDash val="solid"/>
          </a:ln>
        </p:spPr>
      </p:sp>
      <p:sp>
        <p:nvSpPr>
          <p:cNvPr id="17" name="Text 15"/>
          <p:cNvSpPr/>
          <p:nvPr/>
        </p:nvSpPr>
        <p:spPr>
          <a:xfrm>
            <a:off x="1078992" y="5376672"/>
            <a:ext cx="10094976" cy="365760"/>
          </a:xfrm>
          <a:prstGeom prst="rect">
            <a:avLst/>
          </a:prstGeom>
          <a:noFill/>
          <a:ln/>
        </p:spPr>
        <p:txBody>
          <a:bodyPr wrap="square" lIns="0" tIns="0" rIns="0" bIns="0" rtlCol="0" anchor="ctr">
            <a:normAutofit/>
          </a:bodyPr>
          <a:lstStyle/>
          <a:p>
            <a:pPr indent="0" marL="0">
              <a:buNone/>
            </a:pPr>
            <a:r>
              <a:rPr lang="en-US" sz="1100" b="1" dirty="0">
                <a:solidFill>
                  <a:srgbClr val="FF3621"/>
                </a:solidFill>
                <a:latin typeface="Aptos" pitchFamily="34" charset="0"/>
                <a:ea typeface="Aptos" pitchFamily="34" charset="-122"/>
                <a:cs typeface="Aptos" pitchFamily="34" charset="-120"/>
              </a:rPr>
              <a:t>Databricks guidance: use declarative pipelines as the default; reserve imperative logic for cases that genuinely need it.</a:t>
            </a:r>
            <a:endParaRPr lang="en-US" sz="1100" dirty="0"/>
          </a:p>
        </p:txBody>
      </p:sp>
      <p:sp>
        <p:nvSpPr>
          <p:cNvPr id="18" name="Text 16"/>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Databricks ETL SQL Guide (2025); current docs (2026)</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Incremental Transformations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At scale, reprocessing everything on every run becomes expensive.</a:t>
            </a:r>
            <a:endParaRPr lang="en-US" sz="1100" dirty="0"/>
          </a:p>
        </p:txBody>
      </p:sp>
      <p:sp>
        <p:nvSpPr>
          <p:cNvPr id="4" name="Shape 2"/>
          <p:cNvSpPr/>
          <p:nvPr/>
        </p:nvSpPr>
        <p:spPr>
          <a:xfrm>
            <a:off x="658368" y="1554480"/>
            <a:ext cx="3337560" cy="3154680"/>
          </a:xfrm>
          <a:prstGeom prst="roundRect">
            <a:avLst>
              <a:gd name="adj" fmla="val 2029"/>
            </a:avLst>
          </a:prstGeom>
          <a:solidFill>
            <a:srgbClr val="FFFFFF"/>
          </a:solidFill>
          <a:ln w="12700">
            <a:solidFill>
              <a:srgbClr val="DDE2EA"/>
            </a:solidFill>
            <a:prstDash val="solid"/>
          </a:ln>
        </p:spPr>
      </p:sp>
      <p:sp>
        <p:nvSpPr>
          <p:cNvPr id="5" name="Shape 3"/>
          <p:cNvSpPr/>
          <p:nvPr/>
        </p:nvSpPr>
        <p:spPr>
          <a:xfrm>
            <a:off x="658368" y="1554480"/>
            <a:ext cx="50292" cy="3154680"/>
          </a:xfrm>
          <a:prstGeom prst="rect">
            <a:avLst/>
          </a:prstGeom>
          <a:solidFill>
            <a:srgbClr val="3B6FF5"/>
          </a:solidFill>
          <a:ln w="12700">
            <a:solidFill>
              <a:srgbClr val="3B6FF5"/>
            </a:solidFill>
            <a:prstDash val="solid"/>
          </a:ln>
        </p:spPr>
      </p:sp>
      <p:sp>
        <p:nvSpPr>
          <p:cNvPr id="6" name="Shape 4"/>
          <p:cNvSpPr/>
          <p:nvPr/>
        </p:nvSpPr>
        <p:spPr>
          <a:xfrm>
            <a:off x="859536" y="173736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859536" y="180136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REBUILD</a:t>
            </a:r>
            <a:endParaRPr lang="en-US" sz="730" dirty="0"/>
          </a:p>
        </p:txBody>
      </p:sp>
      <p:sp>
        <p:nvSpPr>
          <p:cNvPr id="8" name="Text 6"/>
          <p:cNvSpPr/>
          <p:nvPr/>
        </p:nvSpPr>
        <p:spPr>
          <a:xfrm>
            <a:off x="859536" y="2139696"/>
            <a:ext cx="297180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Full overwrite</a:t>
            </a:r>
            <a:endParaRPr lang="en-US" sz="1500" dirty="0"/>
          </a:p>
        </p:txBody>
      </p:sp>
      <p:sp>
        <p:nvSpPr>
          <p:cNvPr id="9" name="Text 7"/>
          <p:cNvSpPr/>
          <p:nvPr/>
        </p:nvSpPr>
        <p:spPr>
          <a:xfrm>
            <a:off x="859536" y="2514600"/>
            <a:ext cx="2953512" cy="202996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Rebuild the entire target from scratch.</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Simple and reliable at small scale; increasingly costly as data grows.</a:t>
            </a:r>
            <a:endParaRPr lang="en-US" sz="1050" dirty="0"/>
          </a:p>
        </p:txBody>
      </p:sp>
      <p:sp>
        <p:nvSpPr>
          <p:cNvPr id="10" name="Shape 8"/>
          <p:cNvSpPr/>
          <p:nvPr/>
        </p:nvSpPr>
        <p:spPr>
          <a:xfrm>
            <a:off x="4425696" y="1554480"/>
            <a:ext cx="3337560" cy="3154680"/>
          </a:xfrm>
          <a:prstGeom prst="roundRect">
            <a:avLst>
              <a:gd name="adj" fmla="val 2029"/>
            </a:avLst>
          </a:prstGeom>
          <a:solidFill>
            <a:srgbClr val="FFFFFF"/>
          </a:solidFill>
          <a:ln w="12700">
            <a:solidFill>
              <a:srgbClr val="DDE2EA"/>
            </a:solidFill>
            <a:prstDash val="solid"/>
          </a:ln>
        </p:spPr>
      </p:sp>
      <p:sp>
        <p:nvSpPr>
          <p:cNvPr id="11" name="Shape 9"/>
          <p:cNvSpPr/>
          <p:nvPr/>
        </p:nvSpPr>
        <p:spPr>
          <a:xfrm>
            <a:off x="4425696" y="1554480"/>
            <a:ext cx="50292" cy="3154680"/>
          </a:xfrm>
          <a:prstGeom prst="rect">
            <a:avLst/>
          </a:prstGeom>
          <a:solidFill>
            <a:srgbClr val="00A972"/>
          </a:solidFill>
          <a:ln w="12700">
            <a:solidFill>
              <a:srgbClr val="00A972"/>
            </a:solidFill>
            <a:prstDash val="solid"/>
          </a:ln>
        </p:spPr>
      </p:sp>
      <p:sp>
        <p:nvSpPr>
          <p:cNvPr id="12" name="Shape 10"/>
          <p:cNvSpPr/>
          <p:nvPr/>
        </p:nvSpPr>
        <p:spPr>
          <a:xfrm>
            <a:off x="4626864" y="1737360"/>
            <a:ext cx="566928" cy="310896"/>
          </a:xfrm>
          <a:prstGeom prst="roundRect">
            <a:avLst>
              <a:gd name="adj" fmla="val 14706"/>
            </a:avLst>
          </a:prstGeom>
          <a:solidFill>
            <a:srgbClr val="E9F8F3"/>
          </a:solidFill>
          <a:ln w="12700">
            <a:solidFill>
              <a:srgbClr val="E9F8F3"/>
            </a:solidFill>
            <a:prstDash val="solid"/>
          </a:ln>
        </p:spPr>
      </p:sp>
      <p:sp>
        <p:nvSpPr>
          <p:cNvPr id="13" name="Text 11"/>
          <p:cNvSpPr/>
          <p:nvPr/>
        </p:nvSpPr>
        <p:spPr>
          <a:xfrm>
            <a:off x="4626864" y="180136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INSERT</a:t>
            </a:r>
            <a:endParaRPr lang="en-US" sz="730" dirty="0"/>
          </a:p>
        </p:txBody>
      </p:sp>
      <p:sp>
        <p:nvSpPr>
          <p:cNvPr id="14" name="Text 12"/>
          <p:cNvSpPr/>
          <p:nvPr/>
        </p:nvSpPr>
        <p:spPr>
          <a:xfrm>
            <a:off x="4626864" y="2139696"/>
            <a:ext cx="297180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Append</a:t>
            </a:r>
            <a:endParaRPr lang="en-US" sz="1500" dirty="0"/>
          </a:p>
        </p:txBody>
      </p:sp>
      <p:sp>
        <p:nvSpPr>
          <p:cNvPr id="15" name="Text 13"/>
          <p:cNvSpPr/>
          <p:nvPr/>
        </p:nvSpPr>
        <p:spPr>
          <a:xfrm>
            <a:off x="4626864" y="2514600"/>
            <a:ext cx="2953512" cy="202996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Add only new records.</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Works well for immutable event data; does not handle updates or deletes by itself.</a:t>
            </a:r>
            <a:endParaRPr lang="en-US" sz="1050" dirty="0"/>
          </a:p>
        </p:txBody>
      </p:sp>
      <p:sp>
        <p:nvSpPr>
          <p:cNvPr id="16" name="Shape 14"/>
          <p:cNvSpPr/>
          <p:nvPr/>
        </p:nvSpPr>
        <p:spPr>
          <a:xfrm>
            <a:off x="8193024" y="1554480"/>
            <a:ext cx="3337560" cy="3154680"/>
          </a:xfrm>
          <a:prstGeom prst="roundRect">
            <a:avLst>
              <a:gd name="adj" fmla="val 2029"/>
            </a:avLst>
          </a:prstGeom>
          <a:solidFill>
            <a:srgbClr val="FFFFFF"/>
          </a:solidFill>
          <a:ln w="12700">
            <a:solidFill>
              <a:srgbClr val="DDE2EA"/>
            </a:solidFill>
            <a:prstDash val="solid"/>
          </a:ln>
        </p:spPr>
      </p:sp>
      <p:sp>
        <p:nvSpPr>
          <p:cNvPr id="17" name="Shape 15"/>
          <p:cNvSpPr/>
          <p:nvPr/>
        </p:nvSpPr>
        <p:spPr>
          <a:xfrm>
            <a:off x="8193024" y="1554480"/>
            <a:ext cx="50292" cy="3154680"/>
          </a:xfrm>
          <a:prstGeom prst="rect">
            <a:avLst/>
          </a:prstGeom>
          <a:solidFill>
            <a:srgbClr val="7C4DFF"/>
          </a:solidFill>
          <a:ln w="12700">
            <a:solidFill>
              <a:srgbClr val="7C4DFF"/>
            </a:solidFill>
            <a:prstDash val="solid"/>
          </a:ln>
        </p:spPr>
      </p:sp>
      <p:sp>
        <p:nvSpPr>
          <p:cNvPr id="18" name="Shape 16"/>
          <p:cNvSpPr/>
          <p:nvPr/>
        </p:nvSpPr>
        <p:spPr>
          <a:xfrm>
            <a:off x="8394192" y="1737360"/>
            <a:ext cx="566928" cy="310896"/>
          </a:xfrm>
          <a:prstGeom prst="roundRect">
            <a:avLst>
              <a:gd name="adj" fmla="val 14706"/>
            </a:avLst>
          </a:prstGeom>
          <a:solidFill>
            <a:srgbClr val="F2EEFF"/>
          </a:solidFill>
          <a:ln w="12700">
            <a:solidFill>
              <a:srgbClr val="F2EEFF"/>
            </a:solidFill>
            <a:prstDash val="solid"/>
          </a:ln>
        </p:spPr>
      </p:sp>
      <p:sp>
        <p:nvSpPr>
          <p:cNvPr id="19" name="Text 17"/>
          <p:cNvSpPr/>
          <p:nvPr/>
        </p:nvSpPr>
        <p:spPr>
          <a:xfrm>
            <a:off x="8394192" y="180136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UPSERT</a:t>
            </a:r>
            <a:endParaRPr lang="en-US" sz="730" dirty="0"/>
          </a:p>
        </p:txBody>
      </p:sp>
      <p:sp>
        <p:nvSpPr>
          <p:cNvPr id="20" name="Text 18"/>
          <p:cNvSpPr/>
          <p:nvPr/>
        </p:nvSpPr>
        <p:spPr>
          <a:xfrm>
            <a:off x="8394192" y="2139696"/>
            <a:ext cx="297180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Upsert / MERGE</a:t>
            </a:r>
            <a:endParaRPr lang="en-US" sz="1500" dirty="0"/>
          </a:p>
        </p:txBody>
      </p:sp>
      <p:sp>
        <p:nvSpPr>
          <p:cNvPr id="21" name="Text 19"/>
          <p:cNvSpPr/>
          <p:nvPr/>
        </p:nvSpPr>
        <p:spPr>
          <a:xfrm>
            <a:off x="8394192" y="2514600"/>
            <a:ext cx="2953512" cy="202996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Update matching rows and insert new rows.</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Useful for current-state tables and mutable business entities.</a:t>
            </a:r>
            <a:endParaRPr lang="en-US" sz="1050" dirty="0"/>
          </a:p>
        </p:txBody>
      </p:sp>
      <p:sp>
        <p:nvSpPr>
          <p:cNvPr id="22" name="Shape 20"/>
          <p:cNvSpPr/>
          <p:nvPr/>
        </p:nvSpPr>
        <p:spPr>
          <a:xfrm>
            <a:off x="1097280" y="5074920"/>
            <a:ext cx="9966960" cy="658368"/>
          </a:xfrm>
          <a:prstGeom prst="roundRect">
            <a:avLst>
              <a:gd name="adj" fmla="val 8333"/>
            </a:avLst>
          </a:prstGeom>
          <a:solidFill>
            <a:srgbClr val="FFF7E6"/>
          </a:solidFill>
          <a:ln w="12700">
            <a:solidFill>
              <a:srgbClr val="FFF7E6"/>
            </a:solidFill>
            <a:prstDash val="solid"/>
          </a:ln>
        </p:spPr>
      </p:sp>
      <p:sp>
        <p:nvSpPr>
          <p:cNvPr id="23" name="Text 21"/>
          <p:cNvSpPr/>
          <p:nvPr/>
        </p:nvSpPr>
        <p:spPr>
          <a:xfrm>
            <a:off x="1261872" y="5193792"/>
            <a:ext cx="9637776" cy="429768"/>
          </a:xfrm>
          <a:prstGeom prst="rect">
            <a:avLst/>
          </a:prstGeom>
          <a:noFill/>
          <a:ln/>
        </p:spPr>
        <p:txBody>
          <a:bodyPr wrap="square" lIns="0" tIns="0" rIns="0" bIns="0" rtlCol="0" anchor="ctr">
            <a:normAutofit/>
          </a:bodyPr>
          <a:lstStyle/>
          <a:p>
            <a:pPr indent="0" marL="0">
              <a:buNone/>
            </a:pPr>
            <a:r>
              <a:rPr lang="en-US" sz="1100" b="1" dirty="0">
                <a:solidFill>
                  <a:srgbClr val="F3A712"/>
                </a:solidFill>
                <a:latin typeface="Aptos" pitchFamily="34" charset="0"/>
                <a:ea typeface="Aptos" pitchFamily="34" charset="-122"/>
                <a:cs typeface="Aptos" pitchFamily="34" charset="-120"/>
              </a:rPr>
              <a:t>Incremental processing is a scalability pattern: process only the data that changed when correctness permits.</a:t>
            </a:r>
            <a:endParaRPr lang="en-US" sz="1100" dirty="0"/>
          </a:p>
        </p:txBody>
      </p:sp>
      <p:sp>
        <p:nvSpPr>
          <p:cNvPr id="24" name="Text 22"/>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2 &amp; 5</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Idempotency — The Foundation of Safe Reruns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Running the same pipeline again should not corrupt or duplicate the result.</a:t>
            </a:r>
            <a:endParaRPr lang="en-US" sz="1100" dirty="0"/>
          </a:p>
        </p:txBody>
      </p:sp>
      <p:sp>
        <p:nvSpPr>
          <p:cNvPr id="4" name="Shape 2"/>
          <p:cNvSpPr/>
          <p:nvPr/>
        </p:nvSpPr>
        <p:spPr>
          <a:xfrm>
            <a:off x="777240" y="1508760"/>
            <a:ext cx="4754880" cy="3246120"/>
          </a:xfrm>
          <a:prstGeom prst="roundRect">
            <a:avLst>
              <a:gd name="adj" fmla="val 1972"/>
            </a:avLst>
          </a:prstGeom>
          <a:solidFill>
            <a:srgbClr val="FFFFFF"/>
          </a:solidFill>
          <a:ln w="12700">
            <a:solidFill>
              <a:srgbClr val="DDE2EA"/>
            </a:solidFill>
            <a:prstDash val="solid"/>
          </a:ln>
        </p:spPr>
      </p:sp>
      <p:sp>
        <p:nvSpPr>
          <p:cNvPr id="5" name="Shape 3"/>
          <p:cNvSpPr/>
          <p:nvPr/>
        </p:nvSpPr>
        <p:spPr>
          <a:xfrm>
            <a:off x="777240" y="1508760"/>
            <a:ext cx="50292" cy="3246120"/>
          </a:xfrm>
          <a:prstGeom prst="rect">
            <a:avLst/>
          </a:prstGeom>
          <a:solidFill>
            <a:srgbClr val="FF3621"/>
          </a:solidFill>
          <a:ln w="12700">
            <a:solidFill>
              <a:srgbClr val="FF3621"/>
            </a:solidFill>
            <a:prstDash val="solid"/>
          </a:ln>
        </p:spPr>
      </p:sp>
      <p:sp>
        <p:nvSpPr>
          <p:cNvPr id="6" name="Shape 4"/>
          <p:cNvSpPr/>
          <p:nvPr/>
        </p:nvSpPr>
        <p:spPr>
          <a:xfrm>
            <a:off x="978408" y="1691640"/>
            <a:ext cx="566928" cy="310896"/>
          </a:xfrm>
          <a:prstGeom prst="roundRect">
            <a:avLst>
              <a:gd name="adj" fmla="val 14706"/>
            </a:avLst>
          </a:prstGeom>
          <a:solidFill>
            <a:srgbClr val="FFF0ED"/>
          </a:solidFill>
          <a:ln w="12700">
            <a:solidFill>
              <a:srgbClr val="FFF0ED"/>
            </a:solidFill>
            <a:prstDash val="solid"/>
          </a:ln>
        </p:spPr>
      </p:sp>
      <p:sp>
        <p:nvSpPr>
          <p:cNvPr id="7" name="Text 5"/>
          <p:cNvSpPr/>
          <p:nvPr/>
        </p:nvSpPr>
        <p:spPr>
          <a:xfrm>
            <a:off x="978408" y="175564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DANGER</a:t>
            </a:r>
            <a:endParaRPr lang="en-US" sz="730" dirty="0"/>
          </a:p>
        </p:txBody>
      </p:sp>
      <p:sp>
        <p:nvSpPr>
          <p:cNvPr id="8" name="Text 6"/>
          <p:cNvSpPr/>
          <p:nvPr/>
        </p:nvSpPr>
        <p:spPr>
          <a:xfrm>
            <a:off x="978408" y="2093976"/>
            <a:ext cx="4389120" cy="347472"/>
          </a:xfrm>
          <a:prstGeom prst="rect">
            <a:avLst/>
          </a:prstGeom>
          <a:noFill/>
          <a:ln/>
        </p:spPr>
        <p:txBody>
          <a:bodyPr wrap="square" lIns="0" tIns="0" rIns="0" bIns="0" rtlCol="0" anchor="ctr">
            <a:normAutofit/>
          </a:bodyPr>
          <a:lstStyle/>
          <a:p>
            <a:pPr indent="0" marL="0">
              <a:buNone/>
            </a:pPr>
            <a:r>
              <a:rPr lang="en-US" sz="1600" b="1" dirty="0">
                <a:solidFill>
                  <a:srgbClr val="17233C"/>
                </a:solidFill>
                <a:latin typeface="Aptos Display" pitchFamily="34" charset="0"/>
                <a:ea typeface="Aptos Display" pitchFamily="34" charset="-122"/>
                <a:cs typeface="Aptos Display" pitchFamily="34" charset="-120"/>
              </a:rPr>
              <a:t>Not idempotent</a:t>
            </a:r>
            <a:endParaRPr lang="en-US" sz="1600" dirty="0"/>
          </a:p>
        </p:txBody>
      </p:sp>
      <p:sp>
        <p:nvSpPr>
          <p:cNvPr id="9" name="Text 7"/>
          <p:cNvSpPr/>
          <p:nvPr/>
        </p:nvSpPr>
        <p:spPr>
          <a:xfrm>
            <a:off x="978408" y="2468880"/>
            <a:ext cx="4370832" cy="2121408"/>
          </a:xfrm>
          <a:prstGeom prst="rect">
            <a:avLst/>
          </a:prstGeom>
          <a:noFill/>
          <a:ln/>
        </p:spPr>
        <p:txBody>
          <a:bodyPr wrap="square" lIns="254" tIns="254" rIns="254" bIns="254" rtlCol="0" anchor="t">
            <a:normAutofit/>
          </a:bodyPr>
          <a:lstStyle/>
          <a:p>
            <a:pPr indent="0" marL="0">
              <a:buNone/>
            </a:pPr>
            <a:r>
              <a:rPr lang="en-US" sz="1120" dirty="0">
                <a:solidFill>
                  <a:srgbClr val="283246"/>
                </a:solidFill>
                <a:latin typeface="Aptos" pitchFamily="34" charset="0"/>
                <a:ea typeface="Aptos" pitchFamily="34" charset="-122"/>
                <a:cs typeface="Aptos" pitchFamily="34" charset="-120"/>
              </a:rPr>
              <a:t>Run 1 → 1,000 sales rows</a:t>
            </a:r>
            <a:endParaRPr lang="en-US" sz="1120" dirty="0"/>
          </a:p>
          <a:p>
            <a:pPr indent="0" marL="0">
              <a:buNone/>
            </a:pPr>
            <a:r>
              <a:rPr lang="en-US" sz="1120" dirty="0">
                <a:solidFill>
                  <a:srgbClr val="283246"/>
                </a:solidFill>
                <a:latin typeface="Aptos" pitchFamily="34" charset="0"/>
                <a:ea typeface="Aptos" pitchFamily="34" charset="-122"/>
                <a:cs typeface="Aptos" pitchFamily="34" charset="-120"/>
              </a:rPr>
              <a:t>Run 2 → 2,000 rows</a:t>
            </a:r>
            <a:endParaRPr lang="en-US" sz="1120" dirty="0"/>
          </a:p>
          <a:p>
            <a:pPr indent="0" marL="0">
              <a:buNone/>
            </a:pPr>
            <a:endParaRPr lang="en-US" sz="1120" dirty="0"/>
          </a:p>
          <a:p>
            <a:pPr indent="0" marL="0">
              <a:buNone/>
            </a:pPr>
            <a:r>
              <a:rPr lang="en-US" sz="1120" dirty="0">
                <a:solidFill>
                  <a:srgbClr val="283246"/>
                </a:solidFill>
                <a:latin typeface="Aptos" pitchFamily="34" charset="0"/>
                <a:ea typeface="Aptos" pitchFamily="34" charset="-122"/>
                <a:cs typeface="Aptos" pitchFamily="34" charset="-120"/>
              </a:rPr>
              <a:t>The second run blindly appended the same data again.</a:t>
            </a:r>
            <a:endParaRPr lang="en-US" sz="1120" dirty="0"/>
          </a:p>
        </p:txBody>
      </p:sp>
      <p:sp>
        <p:nvSpPr>
          <p:cNvPr id="10" name="Shape 8"/>
          <p:cNvSpPr/>
          <p:nvPr/>
        </p:nvSpPr>
        <p:spPr>
          <a:xfrm>
            <a:off x="6629400" y="1508760"/>
            <a:ext cx="4754880" cy="3246120"/>
          </a:xfrm>
          <a:prstGeom prst="roundRect">
            <a:avLst>
              <a:gd name="adj" fmla="val 1972"/>
            </a:avLst>
          </a:prstGeom>
          <a:solidFill>
            <a:srgbClr val="FFFFFF"/>
          </a:solidFill>
          <a:ln w="12700">
            <a:solidFill>
              <a:srgbClr val="DDE2EA"/>
            </a:solidFill>
            <a:prstDash val="solid"/>
          </a:ln>
        </p:spPr>
      </p:sp>
      <p:sp>
        <p:nvSpPr>
          <p:cNvPr id="11" name="Shape 9"/>
          <p:cNvSpPr/>
          <p:nvPr/>
        </p:nvSpPr>
        <p:spPr>
          <a:xfrm>
            <a:off x="6629400" y="1508760"/>
            <a:ext cx="50292" cy="3246120"/>
          </a:xfrm>
          <a:prstGeom prst="rect">
            <a:avLst/>
          </a:prstGeom>
          <a:solidFill>
            <a:srgbClr val="00A972"/>
          </a:solidFill>
          <a:ln w="12700">
            <a:solidFill>
              <a:srgbClr val="00A972"/>
            </a:solidFill>
            <a:prstDash val="solid"/>
          </a:ln>
        </p:spPr>
      </p:sp>
      <p:sp>
        <p:nvSpPr>
          <p:cNvPr id="12" name="Shape 10"/>
          <p:cNvSpPr/>
          <p:nvPr/>
        </p:nvSpPr>
        <p:spPr>
          <a:xfrm>
            <a:off x="6830568" y="1691640"/>
            <a:ext cx="566928" cy="310896"/>
          </a:xfrm>
          <a:prstGeom prst="roundRect">
            <a:avLst>
              <a:gd name="adj" fmla="val 14706"/>
            </a:avLst>
          </a:prstGeom>
          <a:solidFill>
            <a:srgbClr val="E9F8F3"/>
          </a:solidFill>
          <a:ln w="12700">
            <a:solidFill>
              <a:srgbClr val="E9F8F3"/>
            </a:solidFill>
            <a:prstDash val="solid"/>
          </a:ln>
        </p:spPr>
      </p:sp>
      <p:sp>
        <p:nvSpPr>
          <p:cNvPr id="13" name="Text 11"/>
          <p:cNvSpPr/>
          <p:nvPr/>
        </p:nvSpPr>
        <p:spPr>
          <a:xfrm>
            <a:off x="6830568" y="175564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SAFE RERUN</a:t>
            </a:r>
            <a:endParaRPr lang="en-US" sz="730" dirty="0"/>
          </a:p>
        </p:txBody>
      </p:sp>
      <p:sp>
        <p:nvSpPr>
          <p:cNvPr id="14" name="Text 12"/>
          <p:cNvSpPr/>
          <p:nvPr/>
        </p:nvSpPr>
        <p:spPr>
          <a:xfrm>
            <a:off x="6830568" y="2093976"/>
            <a:ext cx="4389120" cy="347472"/>
          </a:xfrm>
          <a:prstGeom prst="rect">
            <a:avLst/>
          </a:prstGeom>
          <a:noFill/>
          <a:ln/>
        </p:spPr>
        <p:txBody>
          <a:bodyPr wrap="square" lIns="0" tIns="0" rIns="0" bIns="0" rtlCol="0" anchor="ctr">
            <a:normAutofit/>
          </a:bodyPr>
          <a:lstStyle/>
          <a:p>
            <a:pPr indent="0" marL="0">
              <a:buNone/>
            </a:pPr>
            <a:r>
              <a:rPr lang="en-US" sz="1600" b="1" dirty="0">
                <a:solidFill>
                  <a:srgbClr val="17233C"/>
                </a:solidFill>
                <a:latin typeface="Aptos Display" pitchFamily="34" charset="0"/>
                <a:ea typeface="Aptos Display" pitchFamily="34" charset="-122"/>
                <a:cs typeface="Aptos Display" pitchFamily="34" charset="-120"/>
              </a:rPr>
              <a:t>Idempotent</a:t>
            </a:r>
            <a:endParaRPr lang="en-US" sz="1600" dirty="0"/>
          </a:p>
        </p:txBody>
      </p:sp>
      <p:sp>
        <p:nvSpPr>
          <p:cNvPr id="15" name="Text 13"/>
          <p:cNvSpPr/>
          <p:nvPr/>
        </p:nvSpPr>
        <p:spPr>
          <a:xfrm>
            <a:off x="6830568" y="2468880"/>
            <a:ext cx="4370832" cy="2121408"/>
          </a:xfrm>
          <a:prstGeom prst="rect">
            <a:avLst/>
          </a:prstGeom>
          <a:noFill/>
          <a:ln/>
        </p:spPr>
        <p:txBody>
          <a:bodyPr wrap="square" lIns="254" tIns="254" rIns="254" bIns="254" rtlCol="0" anchor="t">
            <a:normAutofit/>
          </a:bodyPr>
          <a:lstStyle/>
          <a:p>
            <a:pPr indent="0" marL="0">
              <a:buNone/>
            </a:pPr>
            <a:r>
              <a:rPr lang="en-US" sz="1080" dirty="0">
                <a:solidFill>
                  <a:srgbClr val="283246"/>
                </a:solidFill>
                <a:latin typeface="Aptos" pitchFamily="34" charset="0"/>
                <a:ea typeface="Aptos" pitchFamily="34" charset="-122"/>
                <a:cs typeface="Aptos" pitchFamily="34" charset="-120"/>
              </a:rPr>
              <a:t>Run 1 → 1,000 sales rows</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Run 2 → 1,000 rows</a:t>
            </a:r>
            <a:endParaRPr lang="en-US" sz="1080" dirty="0"/>
          </a:p>
          <a:p>
            <a:pPr indent="0" marL="0">
              <a:buNone/>
            </a:pP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The second run recognises the same keys / checkpoint and produces the same state.</a:t>
            </a:r>
            <a:endParaRPr lang="en-US" sz="1080" dirty="0"/>
          </a:p>
        </p:txBody>
      </p:sp>
      <p:sp>
        <p:nvSpPr>
          <p:cNvPr id="16" name="Shape 14"/>
          <p:cNvSpPr/>
          <p:nvPr/>
        </p:nvSpPr>
        <p:spPr>
          <a:xfrm>
            <a:off x="2377440" y="5074920"/>
            <a:ext cx="7498080" cy="658368"/>
          </a:xfrm>
          <a:prstGeom prst="roundRect">
            <a:avLst>
              <a:gd name="adj" fmla="val 8333"/>
            </a:avLst>
          </a:prstGeom>
          <a:solidFill>
            <a:srgbClr val="EEF7FF"/>
          </a:solidFill>
          <a:ln w="12700">
            <a:solidFill>
              <a:srgbClr val="EEF7FF"/>
            </a:solidFill>
            <a:prstDash val="solid"/>
          </a:ln>
        </p:spPr>
      </p:sp>
      <p:sp>
        <p:nvSpPr>
          <p:cNvPr id="17" name="Text 15"/>
          <p:cNvSpPr/>
          <p:nvPr/>
        </p:nvSpPr>
        <p:spPr>
          <a:xfrm>
            <a:off x="2542032" y="5193792"/>
            <a:ext cx="7168896" cy="429768"/>
          </a:xfrm>
          <a:prstGeom prst="rect">
            <a:avLst/>
          </a:prstGeom>
          <a:noFill/>
          <a:ln/>
        </p:spPr>
        <p:txBody>
          <a:bodyPr wrap="square" lIns="0" tIns="0" rIns="0" bIns="0" rtlCol="0" anchor="ctr">
            <a:normAutofit/>
          </a:bodyPr>
          <a:lstStyle/>
          <a:p>
            <a:pPr indent="0" marL="0">
              <a:buNone/>
            </a:pPr>
            <a:r>
              <a:rPr lang="en-US" sz="1100" b="1" dirty="0">
                <a:solidFill>
                  <a:srgbClr val="3B6FF5"/>
                </a:solidFill>
                <a:latin typeface="Aptos" pitchFamily="34" charset="0"/>
                <a:ea typeface="Aptos" pitchFamily="34" charset="-122"/>
                <a:cs typeface="Aptos" pitchFamily="34" charset="-120"/>
              </a:rPr>
              <a:t>Idempotency makes retries, backfills and failure recovery predictable.</a:t>
            </a:r>
            <a:endParaRPr lang="en-US" sz="1100" dirty="0"/>
          </a:p>
        </p:txBody>
      </p:sp>
      <p:sp>
        <p:nvSpPr>
          <p:cNvPr id="18" name="Text 16"/>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2–3</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7233C"/>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FF3621"/>
          </a:solidFill>
          <a:ln w="12700">
            <a:solidFill>
              <a:srgbClr val="FF3621"/>
            </a:solidFill>
            <a:prstDash val="solid"/>
          </a:ln>
        </p:spPr>
      </p:sp>
      <p:sp>
        <p:nvSpPr>
          <p:cNvPr id="3" name="Text 1"/>
          <p:cNvSpPr/>
          <p:nvPr/>
        </p:nvSpPr>
        <p:spPr>
          <a:xfrm>
            <a:off x="640080" y="1042416"/>
            <a:ext cx="1371600" cy="274320"/>
          </a:xfrm>
          <a:prstGeom prst="rect">
            <a:avLst/>
          </a:prstGeom>
          <a:noFill/>
          <a:ln/>
        </p:spPr>
        <p:txBody>
          <a:bodyPr wrap="square" lIns="0" tIns="0" rIns="0" bIns="0" rtlCol="0" anchor="ctr"/>
          <a:lstStyle/>
          <a:p>
            <a:pPr indent="0" marL="0">
              <a:buNone/>
            </a:pPr>
            <a:r>
              <a:rPr lang="en-US" sz="900" b="1" spc="160" kern="0" dirty="0">
                <a:solidFill>
                  <a:srgbClr val="FF8A7B"/>
                </a:solidFill>
                <a:latin typeface="Aptos" pitchFamily="34" charset="0"/>
                <a:ea typeface="Aptos" pitchFamily="34" charset="-122"/>
                <a:cs typeface="Aptos" pitchFamily="34" charset="-120"/>
              </a:rPr>
              <a:t>PART 4</a:t>
            </a:r>
            <a:endParaRPr lang="en-US" sz="900" dirty="0"/>
          </a:p>
        </p:txBody>
      </p:sp>
      <p:sp>
        <p:nvSpPr>
          <p:cNvPr id="4" name="Text 2"/>
          <p:cNvSpPr/>
          <p:nvPr/>
        </p:nvSpPr>
        <p:spPr>
          <a:xfrm>
            <a:off x="640080" y="1481328"/>
            <a:ext cx="8138160" cy="9601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Load, Orchestrate &amp; Operate</a:t>
            </a:r>
            <a:endParaRPr lang="en-US" sz="3000" dirty="0"/>
          </a:p>
        </p:txBody>
      </p:sp>
      <p:sp>
        <p:nvSpPr>
          <p:cNvPr id="5" name="Text 3"/>
          <p:cNvSpPr/>
          <p:nvPr/>
        </p:nvSpPr>
        <p:spPr>
          <a:xfrm>
            <a:off x="658368" y="2542032"/>
            <a:ext cx="8686800" cy="777240"/>
          </a:xfrm>
          <a:prstGeom prst="rect">
            <a:avLst/>
          </a:prstGeom>
          <a:noFill/>
          <a:ln/>
        </p:spPr>
        <p:txBody>
          <a:bodyPr wrap="square" lIns="0" tIns="0" rIns="0" bIns="0" rtlCol="0" anchor="ctr">
            <a:normAutofit/>
          </a:bodyPr>
          <a:lstStyle/>
          <a:p>
            <a:pPr indent="0" marL="0">
              <a:buNone/>
            </a:pPr>
            <a:r>
              <a:rPr lang="en-US" sz="1400" dirty="0">
                <a:solidFill>
                  <a:srgbClr val="CFD7E6"/>
                </a:solidFill>
                <a:latin typeface="Aptos" pitchFamily="34" charset="0"/>
                <a:ea typeface="Aptos" pitchFamily="34" charset="-122"/>
                <a:cs typeface="Aptos" pitchFamily="34" charset="-120"/>
              </a:rPr>
              <a:t>A production ETL system must run repeatedly, recover from failure, and explain its own health.</a:t>
            </a:r>
            <a:endParaRPr lang="en-US" sz="1400" dirty="0"/>
          </a:p>
        </p:txBody>
      </p:sp>
      <p:sp>
        <p:nvSpPr>
          <p:cNvPr id="6" name="Shape 4"/>
          <p:cNvSpPr/>
          <p:nvPr/>
        </p:nvSpPr>
        <p:spPr>
          <a:xfrm>
            <a:off x="685800" y="3995928"/>
            <a:ext cx="201168" cy="201168"/>
          </a:xfrm>
          <a:prstGeom prst="ellipse">
            <a:avLst/>
          </a:prstGeom>
          <a:solidFill>
            <a:srgbClr val="FF3621"/>
          </a:solidFill>
          <a:ln w="12700">
            <a:solidFill>
              <a:srgbClr val="FF3621"/>
            </a:solidFill>
            <a:prstDash val="solid"/>
          </a:ln>
        </p:spPr>
      </p:sp>
      <p:sp>
        <p:nvSpPr>
          <p:cNvPr id="7" name="Text 5"/>
          <p:cNvSpPr/>
          <p:nvPr/>
        </p:nvSpPr>
        <p:spPr>
          <a:xfrm>
            <a:off x="987552" y="3977640"/>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Load strategies and targets</a:t>
            </a:r>
            <a:endParaRPr lang="en-US" sz="1150" dirty="0"/>
          </a:p>
        </p:txBody>
      </p:sp>
      <p:sp>
        <p:nvSpPr>
          <p:cNvPr id="8" name="Shape 6"/>
          <p:cNvSpPr/>
          <p:nvPr/>
        </p:nvSpPr>
        <p:spPr>
          <a:xfrm>
            <a:off x="685800" y="4562856"/>
            <a:ext cx="201168" cy="201168"/>
          </a:xfrm>
          <a:prstGeom prst="ellipse">
            <a:avLst/>
          </a:prstGeom>
          <a:solidFill>
            <a:srgbClr val="00A972"/>
          </a:solidFill>
          <a:ln w="12700">
            <a:solidFill>
              <a:srgbClr val="00A972"/>
            </a:solidFill>
            <a:prstDash val="solid"/>
          </a:ln>
        </p:spPr>
      </p:sp>
      <p:sp>
        <p:nvSpPr>
          <p:cNvPr id="9" name="Text 7"/>
          <p:cNvSpPr/>
          <p:nvPr/>
        </p:nvSpPr>
        <p:spPr>
          <a:xfrm>
            <a:off x="987552" y="4544568"/>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DAGs, schedules and event triggers</a:t>
            </a:r>
            <a:endParaRPr lang="en-US" sz="1150" dirty="0"/>
          </a:p>
        </p:txBody>
      </p:sp>
      <p:sp>
        <p:nvSpPr>
          <p:cNvPr id="10" name="Shape 8"/>
          <p:cNvSpPr/>
          <p:nvPr/>
        </p:nvSpPr>
        <p:spPr>
          <a:xfrm>
            <a:off x="685800" y="5129784"/>
            <a:ext cx="201168" cy="201168"/>
          </a:xfrm>
          <a:prstGeom prst="ellipse">
            <a:avLst/>
          </a:prstGeom>
          <a:solidFill>
            <a:srgbClr val="FF3621"/>
          </a:solidFill>
          <a:ln w="12700">
            <a:solidFill>
              <a:srgbClr val="FF3621"/>
            </a:solidFill>
            <a:prstDash val="solid"/>
          </a:ln>
        </p:spPr>
      </p:sp>
      <p:sp>
        <p:nvSpPr>
          <p:cNvPr id="11" name="Text 9"/>
          <p:cNvSpPr/>
          <p:nvPr/>
        </p:nvSpPr>
        <p:spPr>
          <a:xfrm>
            <a:off x="987552" y="5111496"/>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Backfills, idempotency and recovery</a:t>
            </a:r>
            <a:endParaRPr lang="en-US" sz="1150" dirty="0"/>
          </a:p>
        </p:txBody>
      </p:sp>
      <p:sp>
        <p:nvSpPr>
          <p:cNvPr id="12" name="Shape 10"/>
          <p:cNvSpPr/>
          <p:nvPr/>
        </p:nvSpPr>
        <p:spPr>
          <a:xfrm>
            <a:off x="685800" y="5696712"/>
            <a:ext cx="201168" cy="201168"/>
          </a:xfrm>
          <a:prstGeom prst="ellipse">
            <a:avLst/>
          </a:prstGeom>
          <a:solidFill>
            <a:srgbClr val="00A972"/>
          </a:solidFill>
          <a:ln w="12700">
            <a:solidFill>
              <a:srgbClr val="00A972"/>
            </a:solidFill>
            <a:prstDash val="solid"/>
          </a:ln>
        </p:spPr>
      </p:sp>
      <p:sp>
        <p:nvSpPr>
          <p:cNvPr id="13" name="Text 11"/>
          <p:cNvSpPr/>
          <p:nvPr/>
        </p:nvSpPr>
        <p:spPr>
          <a:xfrm>
            <a:off x="987552" y="5678424"/>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Observability, troubleshooting and scalability</a:t>
            </a:r>
            <a:endParaRPr lang="en-US" sz="1150" dirty="0"/>
          </a:p>
        </p:txBody>
      </p:sp>
      <p:sp>
        <p:nvSpPr>
          <p:cNvPr id="14" name="Text 12"/>
          <p:cNvSpPr/>
          <p:nvPr/>
        </p:nvSpPr>
        <p:spPr>
          <a:xfrm>
            <a:off x="9326880" y="6172200"/>
            <a:ext cx="2194560" cy="274320"/>
          </a:xfrm>
          <a:prstGeom prst="rect">
            <a:avLst/>
          </a:prstGeom>
          <a:noFill/>
          <a:ln/>
        </p:spPr>
        <p:txBody>
          <a:bodyPr wrap="square" lIns="0" tIns="0" rIns="0" bIns="0" rtlCol="0" anchor="ctr"/>
          <a:lstStyle/>
          <a:p>
            <a:pPr algn="r" indent="0" marL="0">
              <a:buNone/>
            </a:pPr>
            <a:r>
              <a:rPr lang="en-US" sz="800" b="1" dirty="0">
                <a:solidFill>
                  <a:srgbClr val="8FA0BB"/>
                </a:solidFill>
                <a:latin typeface="Aptos" pitchFamily="34" charset="0"/>
                <a:ea typeface="Aptos" pitchFamily="34" charset="-122"/>
                <a:cs typeface="Aptos" pitchFamily="34" charset="-120"/>
              </a:rPr>
              <a:t>COMP 454 • 2026</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Load Strategies and Target Shapes</a:t>
            </a:r>
            <a:endParaRPr lang="en-US" sz="2400" dirty="0"/>
          </a:p>
        </p:txBody>
      </p:sp>
      <p:sp>
        <p:nvSpPr>
          <p:cNvPr id="3" name="Shape 1"/>
          <p:cNvSpPr/>
          <p:nvPr/>
        </p:nvSpPr>
        <p:spPr>
          <a:xfrm>
            <a:off x="594360" y="1600200"/>
            <a:ext cx="2606040" cy="3337560"/>
          </a:xfrm>
          <a:prstGeom prst="roundRect">
            <a:avLst>
              <a:gd name="adj" fmla="val 2456"/>
            </a:avLst>
          </a:prstGeom>
          <a:solidFill>
            <a:srgbClr val="FFFFFF"/>
          </a:solidFill>
          <a:ln w="12700">
            <a:solidFill>
              <a:srgbClr val="DDE2EA"/>
            </a:solidFill>
            <a:prstDash val="solid"/>
          </a:ln>
        </p:spPr>
      </p:sp>
      <p:sp>
        <p:nvSpPr>
          <p:cNvPr id="4" name="Shape 2"/>
          <p:cNvSpPr/>
          <p:nvPr/>
        </p:nvSpPr>
        <p:spPr>
          <a:xfrm>
            <a:off x="594360" y="1600200"/>
            <a:ext cx="50292" cy="3337560"/>
          </a:xfrm>
          <a:prstGeom prst="rect">
            <a:avLst/>
          </a:prstGeom>
          <a:solidFill>
            <a:srgbClr val="3B6FF5"/>
          </a:solidFill>
          <a:ln w="12700">
            <a:solidFill>
              <a:srgbClr val="3B6FF5"/>
            </a:solidFill>
            <a:prstDash val="solid"/>
          </a:ln>
        </p:spPr>
      </p:sp>
      <p:sp>
        <p:nvSpPr>
          <p:cNvPr id="5" name="Shape 3"/>
          <p:cNvSpPr/>
          <p:nvPr/>
        </p:nvSpPr>
        <p:spPr>
          <a:xfrm>
            <a:off x="795528" y="1783080"/>
            <a:ext cx="566928" cy="310896"/>
          </a:xfrm>
          <a:prstGeom prst="roundRect">
            <a:avLst>
              <a:gd name="adj" fmla="val 14706"/>
            </a:avLst>
          </a:prstGeom>
          <a:solidFill>
            <a:srgbClr val="EBF1FE"/>
          </a:solidFill>
          <a:ln w="12700">
            <a:solidFill>
              <a:srgbClr val="EBF1FE"/>
            </a:solidFill>
            <a:prstDash val="solid"/>
          </a:ln>
        </p:spPr>
      </p:sp>
      <p:sp>
        <p:nvSpPr>
          <p:cNvPr id="6" name="Text 4"/>
          <p:cNvSpPr/>
          <p:nvPr/>
        </p:nvSpPr>
        <p:spPr>
          <a:xfrm>
            <a:off x="795528" y="184708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1</a:t>
            </a:r>
            <a:endParaRPr lang="en-US" sz="730" dirty="0"/>
          </a:p>
        </p:txBody>
      </p:sp>
      <p:sp>
        <p:nvSpPr>
          <p:cNvPr id="7" name="Text 5"/>
          <p:cNvSpPr/>
          <p:nvPr/>
        </p:nvSpPr>
        <p:spPr>
          <a:xfrm>
            <a:off x="795528" y="2185416"/>
            <a:ext cx="2240280" cy="347472"/>
          </a:xfrm>
          <a:prstGeom prst="rect">
            <a:avLst/>
          </a:prstGeom>
          <a:noFill/>
          <a:ln/>
        </p:spPr>
        <p:txBody>
          <a:bodyPr wrap="square" lIns="0" tIns="0" rIns="0" bIns="0" rtlCol="0" anchor="ctr">
            <a:normAutofit/>
          </a:bodyPr>
          <a:lstStyle/>
          <a:p>
            <a:pPr indent="0" marL="0">
              <a:buNone/>
            </a:pPr>
            <a:r>
              <a:rPr lang="en-US" sz="1320" b="1" dirty="0">
                <a:solidFill>
                  <a:srgbClr val="17233C"/>
                </a:solidFill>
                <a:latin typeface="Aptos Display" pitchFamily="34" charset="0"/>
                <a:ea typeface="Aptos Display" pitchFamily="34" charset="-122"/>
                <a:cs typeface="Aptos Display" pitchFamily="34" charset="-120"/>
              </a:rPr>
              <a:t>Append-only fact / event</a:t>
            </a:r>
            <a:endParaRPr lang="en-US" sz="1320" dirty="0"/>
          </a:p>
        </p:txBody>
      </p:sp>
      <p:sp>
        <p:nvSpPr>
          <p:cNvPr id="8" name="Text 6"/>
          <p:cNvSpPr/>
          <p:nvPr/>
        </p:nvSpPr>
        <p:spPr>
          <a:xfrm>
            <a:off x="795528" y="2560320"/>
            <a:ext cx="2221992" cy="2212848"/>
          </a:xfrm>
          <a:prstGeom prst="rect">
            <a:avLst/>
          </a:prstGeom>
          <a:noFill/>
          <a:ln/>
        </p:spPr>
        <p:txBody>
          <a:bodyPr wrap="square" lIns="254" tIns="254" rIns="254" bIns="254" rtlCol="0" anchor="t">
            <a:normAutofit/>
          </a:bodyPr>
          <a:lstStyle/>
          <a:p>
            <a:pPr indent="0" marL="0">
              <a:buNone/>
            </a:pPr>
            <a:r>
              <a:rPr lang="en-US" sz="1020" dirty="0">
                <a:solidFill>
                  <a:srgbClr val="283246"/>
                </a:solidFill>
                <a:latin typeface="Aptos" pitchFamily="34" charset="0"/>
                <a:ea typeface="Aptos" pitchFamily="34" charset="-122"/>
                <a:cs typeface="Aptos" pitchFamily="34" charset="-120"/>
              </a:rPr>
              <a:t>New rows only</a:t>
            </a:r>
            <a:endParaRPr lang="en-US" sz="1020" dirty="0"/>
          </a:p>
          <a:p>
            <a:pPr indent="0" marL="0">
              <a:buNone/>
            </a:pPr>
            <a:r>
              <a:rPr lang="en-US" sz="1020" dirty="0">
                <a:solidFill>
                  <a:srgbClr val="283246"/>
                </a:solidFill>
                <a:latin typeface="Aptos" pitchFamily="34" charset="0"/>
                <a:ea typeface="Aptos" pitchFamily="34" charset="-122"/>
                <a:cs typeface="Aptos" pitchFamily="34" charset="-120"/>
              </a:rPr>
              <a:t>Ideal for immutable history</a:t>
            </a:r>
            <a:endParaRPr lang="en-US" sz="1020" dirty="0"/>
          </a:p>
        </p:txBody>
      </p:sp>
      <p:sp>
        <p:nvSpPr>
          <p:cNvPr id="9" name="Shape 7"/>
          <p:cNvSpPr/>
          <p:nvPr/>
        </p:nvSpPr>
        <p:spPr>
          <a:xfrm>
            <a:off x="3474720" y="1600200"/>
            <a:ext cx="2606040" cy="3337560"/>
          </a:xfrm>
          <a:prstGeom prst="roundRect">
            <a:avLst>
              <a:gd name="adj" fmla="val 2456"/>
            </a:avLst>
          </a:prstGeom>
          <a:solidFill>
            <a:srgbClr val="FFFFFF"/>
          </a:solidFill>
          <a:ln w="12700">
            <a:solidFill>
              <a:srgbClr val="DDE2EA"/>
            </a:solidFill>
            <a:prstDash val="solid"/>
          </a:ln>
        </p:spPr>
      </p:sp>
      <p:sp>
        <p:nvSpPr>
          <p:cNvPr id="10" name="Shape 8"/>
          <p:cNvSpPr/>
          <p:nvPr/>
        </p:nvSpPr>
        <p:spPr>
          <a:xfrm>
            <a:off x="3474720" y="1600200"/>
            <a:ext cx="50292" cy="3337560"/>
          </a:xfrm>
          <a:prstGeom prst="rect">
            <a:avLst/>
          </a:prstGeom>
          <a:solidFill>
            <a:srgbClr val="00A972"/>
          </a:solidFill>
          <a:ln w="12700">
            <a:solidFill>
              <a:srgbClr val="00A972"/>
            </a:solidFill>
            <a:prstDash val="solid"/>
          </a:ln>
        </p:spPr>
      </p:sp>
      <p:sp>
        <p:nvSpPr>
          <p:cNvPr id="11" name="Shape 9"/>
          <p:cNvSpPr/>
          <p:nvPr/>
        </p:nvSpPr>
        <p:spPr>
          <a:xfrm>
            <a:off x="3675888" y="1783080"/>
            <a:ext cx="566928" cy="310896"/>
          </a:xfrm>
          <a:prstGeom prst="roundRect">
            <a:avLst>
              <a:gd name="adj" fmla="val 14706"/>
            </a:avLst>
          </a:prstGeom>
          <a:solidFill>
            <a:srgbClr val="E6F6F1"/>
          </a:solidFill>
          <a:ln w="12700">
            <a:solidFill>
              <a:srgbClr val="E6F6F1"/>
            </a:solidFill>
            <a:prstDash val="solid"/>
          </a:ln>
        </p:spPr>
      </p:sp>
      <p:sp>
        <p:nvSpPr>
          <p:cNvPr id="12" name="Text 10"/>
          <p:cNvSpPr/>
          <p:nvPr/>
        </p:nvSpPr>
        <p:spPr>
          <a:xfrm>
            <a:off x="3675888" y="184708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2</a:t>
            </a:r>
            <a:endParaRPr lang="en-US" sz="730" dirty="0"/>
          </a:p>
        </p:txBody>
      </p:sp>
      <p:sp>
        <p:nvSpPr>
          <p:cNvPr id="13" name="Text 11"/>
          <p:cNvSpPr/>
          <p:nvPr/>
        </p:nvSpPr>
        <p:spPr>
          <a:xfrm>
            <a:off x="3675888" y="2185416"/>
            <a:ext cx="2240280" cy="347472"/>
          </a:xfrm>
          <a:prstGeom prst="rect">
            <a:avLst/>
          </a:prstGeom>
          <a:noFill/>
          <a:ln/>
        </p:spPr>
        <p:txBody>
          <a:bodyPr wrap="square" lIns="0" tIns="0" rIns="0" bIns="0" rtlCol="0" anchor="ctr">
            <a:normAutofit/>
          </a:bodyPr>
          <a:lstStyle/>
          <a:p>
            <a:pPr indent="0" marL="0">
              <a:buNone/>
            </a:pPr>
            <a:r>
              <a:rPr lang="en-US" sz="1320" b="1" dirty="0">
                <a:solidFill>
                  <a:srgbClr val="17233C"/>
                </a:solidFill>
                <a:latin typeface="Aptos Display" pitchFamily="34" charset="0"/>
                <a:ea typeface="Aptos Display" pitchFamily="34" charset="-122"/>
                <a:cs typeface="Aptos Display" pitchFamily="34" charset="-120"/>
              </a:rPr>
              <a:t>Current-state entity</a:t>
            </a:r>
            <a:endParaRPr lang="en-US" sz="1320" dirty="0"/>
          </a:p>
        </p:txBody>
      </p:sp>
      <p:sp>
        <p:nvSpPr>
          <p:cNvPr id="14" name="Text 12"/>
          <p:cNvSpPr/>
          <p:nvPr/>
        </p:nvSpPr>
        <p:spPr>
          <a:xfrm>
            <a:off x="3675888" y="2560320"/>
            <a:ext cx="2221992" cy="2212848"/>
          </a:xfrm>
          <a:prstGeom prst="rect">
            <a:avLst/>
          </a:prstGeom>
          <a:noFill/>
          <a:ln/>
        </p:spPr>
        <p:txBody>
          <a:bodyPr wrap="square" lIns="254" tIns="254" rIns="254" bIns="254" rtlCol="0" anchor="t">
            <a:normAutofit/>
          </a:bodyPr>
          <a:lstStyle/>
          <a:p>
            <a:pPr indent="0" marL="0">
              <a:buNone/>
            </a:pPr>
            <a:r>
              <a:rPr lang="en-US" sz="1020" dirty="0">
                <a:solidFill>
                  <a:srgbClr val="283246"/>
                </a:solidFill>
                <a:latin typeface="Aptos" pitchFamily="34" charset="0"/>
                <a:ea typeface="Aptos" pitchFamily="34" charset="-122"/>
                <a:cs typeface="Aptos" pitchFamily="34" charset="-120"/>
              </a:rPr>
              <a:t>Upsert by business key</a:t>
            </a:r>
            <a:endParaRPr lang="en-US" sz="1020" dirty="0"/>
          </a:p>
          <a:p>
            <a:pPr indent="0" marL="0">
              <a:buNone/>
            </a:pPr>
            <a:r>
              <a:rPr lang="en-US" sz="1020" dirty="0">
                <a:solidFill>
                  <a:srgbClr val="283246"/>
                </a:solidFill>
                <a:latin typeface="Aptos" pitchFamily="34" charset="0"/>
                <a:ea typeface="Aptos" pitchFamily="34" charset="-122"/>
                <a:cs typeface="Aptos" pitchFamily="34" charset="-120"/>
              </a:rPr>
              <a:t>Latest value wins</a:t>
            </a:r>
            <a:endParaRPr lang="en-US" sz="1020" dirty="0"/>
          </a:p>
        </p:txBody>
      </p:sp>
      <p:sp>
        <p:nvSpPr>
          <p:cNvPr id="15" name="Shape 13"/>
          <p:cNvSpPr/>
          <p:nvPr/>
        </p:nvSpPr>
        <p:spPr>
          <a:xfrm>
            <a:off x="6355080" y="1600200"/>
            <a:ext cx="2606040" cy="3337560"/>
          </a:xfrm>
          <a:prstGeom prst="roundRect">
            <a:avLst>
              <a:gd name="adj" fmla="val 2456"/>
            </a:avLst>
          </a:prstGeom>
          <a:solidFill>
            <a:srgbClr val="FFFFFF"/>
          </a:solidFill>
          <a:ln w="12700">
            <a:solidFill>
              <a:srgbClr val="DDE2EA"/>
            </a:solidFill>
            <a:prstDash val="solid"/>
          </a:ln>
        </p:spPr>
      </p:sp>
      <p:sp>
        <p:nvSpPr>
          <p:cNvPr id="16" name="Shape 14"/>
          <p:cNvSpPr/>
          <p:nvPr/>
        </p:nvSpPr>
        <p:spPr>
          <a:xfrm>
            <a:off x="6355080" y="1600200"/>
            <a:ext cx="50292" cy="3337560"/>
          </a:xfrm>
          <a:prstGeom prst="rect">
            <a:avLst/>
          </a:prstGeom>
          <a:solidFill>
            <a:srgbClr val="7C4DFF"/>
          </a:solidFill>
          <a:ln w="12700">
            <a:solidFill>
              <a:srgbClr val="7C4DFF"/>
            </a:solidFill>
            <a:prstDash val="solid"/>
          </a:ln>
        </p:spPr>
      </p:sp>
      <p:sp>
        <p:nvSpPr>
          <p:cNvPr id="17" name="Shape 15"/>
          <p:cNvSpPr/>
          <p:nvPr/>
        </p:nvSpPr>
        <p:spPr>
          <a:xfrm>
            <a:off x="6556248" y="1783080"/>
            <a:ext cx="566928" cy="310896"/>
          </a:xfrm>
          <a:prstGeom prst="roundRect">
            <a:avLst>
              <a:gd name="adj" fmla="val 14706"/>
            </a:avLst>
          </a:prstGeom>
          <a:solidFill>
            <a:srgbClr val="F2EDFF"/>
          </a:solidFill>
          <a:ln w="12700">
            <a:solidFill>
              <a:srgbClr val="F2EDFF"/>
            </a:solidFill>
            <a:prstDash val="solid"/>
          </a:ln>
        </p:spPr>
      </p:sp>
      <p:sp>
        <p:nvSpPr>
          <p:cNvPr id="18" name="Text 16"/>
          <p:cNvSpPr/>
          <p:nvPr/>
        </p:nvSpPr>
        <p:spPr>
          <a:xfrm>
            <a:off x="6556248" y="184708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3</a:t>
            </a:r>
            <a:endParaRPr lang="en-US" sz="730" dirty="0"/>
          </a:p>
        </p:txBody>
      </p:sp>
      <p:sp>
        <p:nvSpPr>
          <p:cNvPr id="19" name="Text 17"/>
          <p:cNvSpPr/>
          <p:nvPr/>
        </p:nvSpPr>
        <p:spPr>
          <a:xfrm>
            <a:off x="6556248" y="2185416"/>
            <a:ext cx="2240280" cy="347472"/>
          </a:xfrm>
          <a:prstGeom prst="rect">
            <a:avLst/>
          </a:prstGeom>
          <a:noFill/>
          <a:ln/>
        </p:spPr>
        <p:txBody>
          <a:bodyPr wrap="square" lIns="0" tIns="0" rIns="0" bIns="0" rtlCol="0" anchor="ctr">
            <a:normAutofit/>
          </a:bodyPr>
          <a:lstStyle/>
          <a:p>
            <a:pPr indent="0" marL="0">
              <a:buNone/>
            </a:pPr>
            <a:r>
              <a:rPr lang="en-US" sz="1320" b="1" dirty="0">
                <a:solidFill>
                  <a:srgbClr val="17233C"/>
                </a:solidFill>
                <a:latin typeface="Aptos Display" pitchFamily="34" charset="0"/>
                <a:ea typeface="Aptos Display" pitchFamily="34" charset="-122"/>
                <a:cs typeface="Aptos Display" pitchFamily="34" charset="-120"/>
              </a:rPr>
              <a:t>SCD Type 2 dimension</a:t>
            </a:r>
            <a:endParaRPr lang="en-US" sz="1320" dirty="0"/>
          </a:p>
        </p:txBody>
      </p:sp>
      <p:sp>
        <p:nvSpPr>
          <p:cNvPr id="20" name="Text 18"/>
          <p:cNvSpPr/>
          <p:nvPr/>
        </p:nvSpPr>
        <p:spPr>
          <a:xfrm>
            <a:off x="6556248" y="2560320"/>
            <a:ext cx="2221992" cy="2212848"/>
          </a:xfrm>
          <a:prstGeom prst="rect">
            <a:avLst/>
          </a:prstGeom>
          <a:noFill/>
          <a:ln/>
        </p:spPr>
        <p:txBody>
          <a:bodyPr wrap="square" lIns="254" tIns="254" rIns="254" bIns="254" rtlCol="0" anchor="t">
            <a:normAutofit/>
          </a:bodyPr>
          <a:lstStyle/>
          <a:p>
            <a:pPr indent="0" marL="0">
              <a:buNone/>
            </a:pPr>
            <a:r>
              <a:rPr lang="en-US" sz="1020" dirty="0">
                <a:solidFill>
                  <a:srgbClr val="283246"/>
                </a:solidFill>
                <a:latin typeface="Aptos" pitchFamily="34" charset="0"/>
                <a:ea typeface="Aptos" pitchFamily="34" charset="-122"/>
                <a:cs typeface="Aptos" pitchFamily="34" charset="-120"/>
              </a:rPr>
              <a:t>Insert new version</a:t>
            </a:r>
            <a:endParaRPr lang="en-US" sz="1020" dirty="0"/>
          </a:p>
          <a:p>
            <a:pPr indent="0" marL="0">
              <a:buNone/>
            </a:pPr>
            <a:r>
              <a:rPr lang="en-US" sz="1020" dirty="0">
                <a:solidFill>
                  <a:srgbClr val="283246"/>
                </a:solidFill>
                <a:latin typeface="Aptos" pitchFamily="34" charset="0"/>
                <a:ea typeface="Aptos" pitchFamily="34" charset="-122"/>
                <a:cs typeface="Aptos" pitchFamily="34" charset="-120"/>
              </a:rPr>
              <a:t>Preserve old version</a:t>
            </a:r>
            <a:endParaRPr lang="en-US" sz="1020" dirty="0"/>
          </a:p>
        </p:txBody>
      </p:sp>
      <p:sp>
        <p:nvSpPr>
          <p:cNvPr id="21" name="Shape 19"/>
          <p:cNvSpPr/>
          <p:nvPr/>
        </p:nvSpPr>
        <p:spPr>
          <a:xfrm>
            <a:off x="9235440" y="1600200"/>
            <a:ext cx="2606040" cy="3337560"/>
          </a:xfrm>
          <a:prstGeom prst="roundRect">
            <a:avLst>
              <a:gd name="adj" fmla="val 2456"/>
            </a:avLst>
          </a:prstGeom>
          <a:solidFill>
            <a:srgbClr val="FFFFFF"/>
          </a:solidFill>
          <a:ln w="12700">
            <a:solidFill>
              <a:srgbClr val="DDE2EA"/>
            </a:solidFill>
            <a:prstDash val="solid"/>
          </a:ln>
        </p:spPr>
      </p:sp>
      <p:sp>
        <p:nvSpPr>
          <p:cNvPr id="22" name="Shape 20"/>
          <p:cNvSpPr/>
          <p:nvPr/>
        </p:nvSpPr>
        <p:spPr>
          <a:xfrm>
            <a:off x="9235440" y="1600200"/>
            <a:ext cx="50292" cy="3337560"/>
          </a:xfrm>
          <a:prstGeom prst="rect">
            <a:avLst/>
          </a:prstGeom>
          <a:solidFill>
            <a:srgbClr val="F3A712"/>
          </a:solidFill>
          <a:ln w="12700">
            <a:solidFill>
              <a:srgbClr val="F3A712"/>
            </a:solidFill>
            <a:prstDash val="solid"/>
          </a:ln>
        </p:spPr>
      </p:sp>
      <p:sp>
        <p:nvSpPr>
          <p:cNvPr id="23" name="Shape 21"/>
          <p:cNvSpPr/>
          <p:nvPr/>
        </p:nvSpPr>
        <p:spPr>
          <a:xfrm>
            <a:off x="9436608" y="1783080"/>
            <a:ext cx="566928" cy="310896"/>
          </a:xfrm>
          <a:prstGeom prst="roundRect">
            <a:avLst>
              <a:gd name="adj" fmla="val 14706"/>
            </a:avLst>
          </a:prstGeom>
          <a:solidFill>
            <a:srgbClr val="FEF6E7"/>
          </a:solidFill>
          <a:ln w="12700">
            <a:solidFill>
              <a:srgbClr val="FEF6E7"/>
            </a:solidFill>
            <a:prstDash val="solid"/>
          </a:ln>
        </p:spPr>
      </p:sp>
      <p:sp>
        <p:nvSpPr>
          <p:cNvPr id="24" name="Text 22"/>
          <p:cNvSpPr/>
          <p:nvPr/>
        </p:nvSpPr>
        <p:spPr>
          <a:xfrm>
            <a:off x="9436608" y="1847088"/>
            <a:ext cx="566928" cy="128016"/>
          </a:xfrm>
          <a:prstGeom prst="rect">
            <a:avLst/>
          </a:prstGeom>
          <a:noFill/>
          <a:ln/>
        </p:spPr>
        <p:txBody>
          <a:bodyPr wrap="square" lIns="0" tIns="0" rIns="0" bIns="0" rtlCol="0" anchor="ctr"/>
          <a:lstStyle/>
          <a:p>
            <a:pPr algn="ctr" indent="0" marL="0">
              <a:buNone/>
            </a:pPr>
            <a:r>
              <a:rPr lang="en-US" sz="730" b="1" dirty="0">
                <a:solidFill>
                  <a:srgbClr val="F3A712"/>
                </a:solidFill>
              </a:rPr>
              <a:t>4</a:t>
            </a:r>
            <a:endParaRPr lang="en-US" sz="730" dirty="0"/>
          </a:p>
        </p:txBody>
      </p:sp>
      <p:sp>
        <p:nvSpPr>
          <p:cNvPr id="25" name="Text 23"/>
          <p:cNvSpPr/>
          <p:nvPr/>
        </p:nvSpPr>
        <p:spPr>
          <a:xfrm>
            <a:off x="9436608" y="2185416"/>
            <a:ext cx="2240280" cy="347472"/>
          </a:xfrm>
          <a:prstGeom prst="rect">
            <a:avLst/>
          </a:prstGeom>
          <a:noFill/>
          <a:ln/>
        </p:spPr>
        <p:txBody>
          <a:bodyPr wrap="square" lIns="0" tIns="0" rIns="0" bIns="0" rtlCol="0" anchor="ctr">
            <a:normAutofit/>
          </a:bodyPr>
          <a:lstStyle/>
          <a:p>
            <a:pPr indent="0" marL="0">
              <a:buNone/>
            </a:pPr>
            <a:r>
              <a:rPr lang="en-US" sz="1320" b="1" dirty="0">
                <a:solidFill>
                  <a:srgbClr val="17233C"/>
                </a:solidFill>
                <a:latin typeface="Aptos Display" pitchFamily="34" charset="0"/>
                <a:ea typeface="Aptos Display" pitchFamily="34" charset="-122"/>
                <a:cs typeface="Aptos Display" pitchFamily="34" charset="-120"/>
              </a:rPr>
              <a:t>Aggregate / materialization</a:t>
            </a:r>
            <a:endParaRPr lang="en-US" sz="1320" dirty="0"/>
          </a:p>
        </p:txBody>
      </p:sp>
      <p:sp>
        <p:nvSpPr>
          <p:cNvPr id="26" name="Text 24"/>
          <p:cNvSpPr/>
          <p:nvPr/>
        </p:nvSpPr>
        <p:spPr>
          <a:xfrm>
            <a:off x="9436608" y="2560320"/>
            <a:ext cx="2221992" cy="2212848"/>
          </a:xfrm>
          <a:prstGeom prst="rect">
            <a:avLst/>
          </a:prstGeom>
          <a:noFill/>
          <a:ln/>
        </p:spPr>
        <p:txBody>
          <a:bodyPr wrap="square" lIns="254" tIns="254" rIns="254" bIns="254" rtlCol="0" anchor="t">
            <a:normAutofit/>
          </a:bodyPr>
          <a:lstStyle/>
          <a:p>
            <a:pPr indent="0" marL="0">
              <a:buNone/>
            </a:pPr>
            <a:r>
              <a:rPr lang="en-US" sz="1020" dirty="0">
                <a:solidFill>
                  <a:srgbClr val="283246"/>
                </a:solidFill>
                <a:latin typeface="Aptos" pitchFamily="34" charset="0"/>
                <a:ea typeface="Aptos" pitchFamily="34" charset="-122"/>
                <a:cs typeface="Aptos" pitchFamily="34" charset="-120"/>
              </a:rPr>
              <a:t>Recompute affected groups</a:t>
            </a:r>
            <a:endParaRPr lang="en-US" sz="1020" dirty="0"/>
          </a:p>
          <a:p>
            <a:pPr indent="0" marL="0">
              <a:buNone/>
            </a:pPr>
            <a:r>
              <a:rPr lang="en-US" sz="1020" dirty="0">
                <a:solidFill>
                  <a:srgbClr val="283246"/>
                </a:solidFill>
                <a:latin typeface="Aptos" pitchFamily="34" charset="0"/>
                <a:ea typeface="Aptos" pitchFamily="34" charset="-122"/>
                <a:cs typeface="Aptos" pitchFamily="34" charset="-120"/>
              </a:rPr>
              <a:t>Serve fast queries</a:t>
            </a:r>
            <a:endParaRPr lang="en-US" sz="1020" dirty="0"/>
          </a:p>
        </p:txBody>
      </p:sp>
      <p:sp>
        <p:nvSpPr>
          <p:cNvPr id="27" name="Shape 25"/>
          <p:cNvSpPr/>
          <p:nvPr/>
        </p:nvSpPr>
        <p:spPr>
          <a:xfrm>
            <a:off x="1828800" y="5166360"/>
            <a:ext cx="8503920" cy="594360"/>
          </a:xfrm>
          <a:prstGeom prst="roundRect">
            <a:avLst>
              <a:gd name="adj" fmla="val 9231"/>
            </a:avLst>
          </a:prstGeom>
          <a:solidFill>
            <a:srgbClr val="FFF4F1"/>
          </a:solidFill>
          <a:ln w="12700">
            <a:solidFill>
              <a:srgbClr val="FFF4F1"/>
            </a:solidFill>
            <a:prstDash val="solid"/>
          </a:ln>
        </p:spPr>
      </p:sp>
      <p:sp>
        <p:nvSpPr>
          <p:cNvPr id="28" name="Text 26"/>
          <p:cNvSpPr/>
          <p:nvPr/>
        </p:nvSpPr>
        <p:spPr>
          <a:xfrm>
            <a:off x="1993392" y="5285232"/>
            <a:ext cx="8174736" cy="365760"/>
          </a:xfrm>
          <a:prstGeom prst="rect">
            <a:avLst/>
          </a:prstGeom>
          <a:noFill/>
          <a:ln/>
        </p:spPr>
        <p:txBody>
          <a:bodyPr wrap="square" lIns="0" tIns="0" rIns="0" bIns="0" rtlCol="0" anchor="ctr">
            <a:normAutofit/>
          </a:bodyPr>
          <a:lstStyle/>
          <a:p>
            <a:pPr indent="0" marL="0">
              <a:buNone/>
            </a:pPr>
            <a:r>
              <a:rPr lang="en-US" sz="1100" b="1" dirty="0">
                <a:solidFill>
                  <a:srgbClr val="FF3621"/>
                </a:solidFill>
                <a:latin typeface="Aptos" pitchFamily="34" charset="0"/>
                <a:ea typeface="Aptos" pitchFamily="34" charset="-122"/>
                <a:cs typeface="Aptos" pitchFamily="34" charset="-120"/>
              </a:rPr>
              <a:t>The target grain and change behaviour determine how the load should work.</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Where Does ETL Load Data?</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Target platform influences available transformation and serving patterns.</a:t>
            </a:r>
            <a:endParaRPr lang="en-US" sz="1100" dirty="0"/>
          </a:p>
        </p:txBody>
      </p:sp>
      <p:sp>
        <p:nvSpPr>
          <p:cNvPr id="4" name="Shape 2"/>
          <p:cNvSpPr/>
          <p:nvPr/>
        </p:nvSpPr>
        <p:spPr>
          <a:xfrm>
            <a:off x="685800" y="1463040"/>
            <a:ext cx="3337560" cy="3474720"/>
          </a:xfrm>
          <a:prstGeom prst="roundRect">
            <a:avLst>
              <a:gd name="adj" fmla="val 1918"/>
            </a:avLst>
          </a:prstGeom>
          <a:solidFill>
            <a:srgbClr val="FFFFFF"/>
          </a:solidFill>
          <a:ln w="12700">
            <a:solidFill>
              <a:srgbClr val="DDE2EA"/>
            </a:solidFill>
            <a:prstDash val="solid"/>
          </a:ln>
        </p:spPr>
      </p:sp>
      <p:sp>
        <p:nvSpPr>
          <p:cNvPr id="5" name="Shape 3"/>
          <p:cNvSpPr/>
          <p:nvPr/>
        </p:nvSpPr>
        <p:spPr>
          <a:xfrm>
            <a:off x="685800" y="1463040"/>
            <a:ext cx="50292" cy="3474720"/>
          </a:xfrm>
          <a:prstGeom prst="rect">
            <a:avLst/>
          </a:prstGeom>
          <a:solidFill>
            <a:srgbClr val="3B6FF5"/>
          </a:solidFill>
          <a:ln w="12700">
            <a:solidFill>
              <a:srgbClr val="3B6FF5"/>
            </a:solidFill>
            <a:prstDash val="solid"/>
          </a:ln>
        </p:spPr>
      </p:sp>
      <p:sp>
        <p:nvSpPr>
          <p:cNvPr id="6" name="Shape 4"/>
          <p:cNvSpPr/>
          <p:nvPr/>
        </p:nvSpPr>
        <p:spPr>
          <a:xfrm>
            <a:off x="886968" y="164592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886968" y="170992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DW</a:t>
            </a:r>
            <a:endParaRPr lang="en-US" sz="730" dirty="0"/>
          </a:p>
        </p:txBody>
      </p:sp>
      <p:sp>
        <p:nvSpPr>
          <p:cNvPr id="8" name="Text 6"/>
          <p:cNvSpPr/>
          <p:nvPr/>
        </p:nvSpPr>
        <p:spPr>
          <a:xfrm>
            <a:off x="886968" y="2048256"/>
            <a:ext cx="2971800" cy="347472"/>
          </a:xfrm>
          <a:prstGeom prst="rect">
            <a:avLst/>
          </a:prstGeom>
          <a:noFill/>
          <a:ln/>
        </p:spPr>
        <p:txBody>
          <a:bodyPr wrap="square" lIns="0" tIns="0" rIns="0" bIns="0" rtlCol="0" anchor="ctr">
            <a:normAutofit/>
          </a:bodyPr>
          <a:lstStyle/>
          <a:p>
            <a:pPr indent="0" marL="0">
              <a:buNone/>
            </a:pPr>
            <a:r>
              <a:rPr lang="en-US" sz="1600" b="1" dirty="0">
                <a:solidFill>
                  <a:srgbClr val="17233C"/>
                </a:solidFill>
                <a:latin typeface="Aptos Display" pitchFamily="34" charset="0"/>
                <a:ea typeface="Aptos Display" pitchFamily="34" charset="-122"/>
                <a:cs typeface="Aptos Display" pitchFamily="34" charset="-120"/>
              </a:rPr>
              <a:t>Data Warehouse</a:t>
            </a:r>
            <a:endParaRPr lang="en-US" sz="1600" dirty="0"/>
          </a:p>
        </p:txBody>
      </p:sp>
      <p:sp>
        <p:nvSpPr>
          <p:cNvPr id="9" name="Text 7"/>
          <p:cNvSpPr/>
          <p:nvPr/>
        </p:nvSpPr>
        <p:spPr>
          <a:xfrm>
            <a:off x="886968" y="2423160"/>
            <a:ext cx="2953512" cy="2350008"/>
          </a:xfrm>
          <a:prstGeom prst="rect">
            <a:avLst/>
          </a:prstGeom>
          <a:noFill/>
          <a:ln/>
        </p:spPr>
        <p:txBody>
          <a:bodyPr wrap="square" lIns="254" tIns="254" rIns="254" bIns="254" rtlCol="0" anchor="t">
            <a:normAutofit/>
          </a:bodyPr>
          <a:lstStyle/>
          <a:p>
            <a:pPr indent="0" marL="0">
              <a:buNone/>
            </a:pPr>
            <a:r>
              <a:rPr lang="en-US" sz="1060" dirty="0">
                <a:solidFill>
                  <a:srgbClr val="283246"/>
                </a:solidFill>
                <a:latin typeface="Aptos" pitchFamily="34" charset="0"/>
                <a:ea typeface="Aptos" pitchFamily="34" charset="-122"/>
                <a:cs typeface="Aptos" pitchFamily="34" charset="-120"/>
              </a:rPr>
              <a:t>Structured analytical tables</a:t>
            </a:r>
            <a:endParaRPr lang="en-US" sz="1060" dirty="0"/>
          </a:p>
          <a:p>
            <a:pPr indent="0" marL="0">
              <a:buNone/>
            </a:pPr>
            <a:r>
              <a:rPr lang="en-US" sz="1060" dirty="0">
                <a:solidFill>
                  <a:srgbClr val="283246"/>
                </a:solidFill>
                <a:latin typeface="Aptos" pitchFamily="34" charset="0"/>
                <a:ea typeface="Aptos" pitchFamily="34" charset="-122"/>
                <a:cs typeface="Aptos" pitchFamily="34" charset="-120"/>
              </a:rPr>
              <a:t>Strong SQL / BI support</a:t>
            </a:r>
            <a:endParaRPr lang="en-US" sz="1060" dirty="0"/>
          </a:p>
          <a:p>
            <a:pPr indent="0" marL="0">
              <a:buNone/>
            </a:pPr>
            <a:r>
              <a:rPr lang="en-US" sz="1060" dirty="0">
                <a:solidFill>
                  <a:srgbClr val="283246"/>
                </a:solidFill>
                <a:latin typeface="Aptos" pitchFamily="34" charset="0"/>
                <a:ea typeface="Aptos" pitchFamily="34" charset="-122"/>
                <a:cs typeface="Aptos" pitchFamily="34" charset="-120"/>
              </a:rPr>
              <a:t>Elastic cloud compute</a:t>
            </a:r>
            <a:endParaRPr lang="en-US" sz="1060" dirty="0"/>
          </a:p>
          <a:p>
            <a:pPr indent="0" marL="0">
              <a:buNone/>
            </a:pPr>
            <a:endParaRPr lang="en-US" sz="1060" dirty="0"/>
          </a:p>
          <a:p>
            <a:pPr indent="0" marL="0">
              <a:buNone/>
            </a:pPr>
            <a:r>
              <a:rPr lang="en-US" sz="1060" dirty="0">
                <a:solidFill>
                  <a:srgbClr val="283246"/>
                </a:solidFill>
                <a:latin typeface="Aptos" pitchFamily="34" charset="0"/>
                <a:ea typeface="Aptos" pitchFamily="34" charset="-122"/>
                <a:cs typeface="Aptos" pitchFamily="34" charset="-120"/>
              </a:rPr>
              <a:t>Best for: structured BI workloads</a:t>
            </a:r>
            <a:endParaRPr lang="en-US" sz="1060" dirty="0"/>
          </a:p>
        </p:txBody>
      </p:sp>
      <p:sp>
        <p:nvSpPr>
          <p:cNvPr id="10" name="Shape 8"/>
          <p:cNvSpPr/>
          <p:nvPr/>
        </p:nvSpPr>
        <p:spPr>
          <a:xfrm>
            <a:off x="4434840" y="1463040"/>
            <a:ext cx="3337560" cy="3474720"/>
          </a:xfrm>
          <a:prstGeom prst="roundRect">
            <a:avLst>
              <a:gd name="adj" fmla="val 1918"/>
            </a:avLst>
          </a:prstGeom>
          <a:solidFill>
            <a:srgbClr val="FFFFFF"/>
          </a:solidFill>
          <a:ln w="12700">
            <a:solidFill>
              <a:srgbClr val="DDE2EA"/>
            </a:solidFill>
            <a:prstDash val="solid"/>
          </a:ln>
        </p:spPr>
      </p:sp>
      <p:sp>
        <p:nvSpPr>
          <p:cNvPr id="11" name="Shape 9"/>
          <p:cNvSpPr/>
          <p:nvPr/>
        </p:nvSpPr>
        <p:spPr>
          <a:xfrm>
            <a:off x="4434840" y="1463040"/>
            <a:ext cx="50292" cy="3474720"/>
          </a:xfrm>
          <a:prstGeom prst="rect">
            <a:avLst/>
          </a:prstGeom>
          <a:solidFill>
            <a:srgbClr val="00A972"/>
          </a:solidFill>
          <a:ln w="12700">
            <a:solidFill>
              <a:srgbClr val="00A972"/>
            </a:solidFill>
            <a:prstDash val="solid"/>
          </a:ln>
        </p:spPr>
      </p:sp>
      <p:sp>
        <p:nvSpPr>
          <p:cNvPr id="12" name="Shape 10"/>
          <p:cNvSpPr/>
          <p:nvPr/>
        </p:nvSpPr>
        <p:spPr>
          <a:xfrm>
            <a:off x="4636008" y="1645920"/>
            <a:ext cx="566928" cy="310896"/>
          </a:xfrm>
          <a:prstGeom prst="roundRect">
            <a:avLst>
              <a:gd name="adj" fmla="val 14706"/>
            </a:avLst>
          </a:prstGeom>
          <a:solidFill>
            <a:srgbClr val="E9F8F3"/>
          </a:solidFill>
          <a:ln w="12700">
            <a:solidFill>
              <a:srgbClr val="E9F8F3"/>
            </a:solidFill>
            <a:prstDash val="solid"/>
          </a:ln>
        </p:spPr>
      </p:sp>
      <p:sp>
        <p:nvSpPr>
          <p:cNvPr id="13" name="Text 11"/>
          <p:cNvSpPr/>
          <p:nvPr/>
        </p:nvSpPr>
        <p:spPr>
          <a:xfrm>
            <a:off x="4636008" y="170992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LAKE</a:t>
            </a:r>
            <a:endParaRPr lang="en-US" sz="730" dirty="0"/>
          </a:p>
        </p:txBody>
      </p:sp>
      <p:sp>
        <p:nvSpPr>
          <p:cNvPr id="14" name="Text 12"/>
          <p:cNvSpPr/>
          <p:nvPr/>
        </p:nvSpPr>
        <p:spPr>
          <a:xfrm>
            <a:off x="4636008" y="2048256"/>
            <a:ext cx="2971800" cy="347472"/>
          </a:xfrm>
          <a:prstGeom prst="rect">
            <a:avLst/>
          </a:prstGeom>
          <a:noFill/>
          <a:ln/>
        </p:spPr>
        <p:txBody>
          <a:bodyPr wrap="square" lIns="0" tIns="0" rIns="0" bIns="0" rtlCol="0" anchor="ctr">
            <a:normAutofit/>
          </a:bodyPr>
          <a:lstStyle/>
          <a:p>
            <a:pPr indent="0" marL="0">
              <a:buNone/>
            </a:pPr>
            <a:r>
              <a:rPr lang="en-US" sz="1600" b="1" dirty="0">
                <a:solidFill>
                  <a:srgbClr val="17233C"/>
                </a:solidFill>
                <a:latin typeface="Aptos Display" pitchFamily="34" charset="0"/>
                <a:ea typeface="Aptos Display" pitchFamily="34" charset="-122"/>
                <a:cs typeface="Aptos Display" pitchFamily="34" charset="-120"/>
              </a:rPr>
              <a:t>Data Lake</a:t>
            </a:r>
            <a:endParaRPr lang="en-US" sz="1600" dirty="0"/>
          </a:p>
        </p:txBody>
      </p:sp>
      <p:sp>
        <p:nvSpPr>
          <p:cNvPr id="15" name="Text 13"/>
          <p:cNvSpPr/>
          <p:nvPr/>
        </p:nvSpPr>
        <p:spPr>
          <a:xfrm>
            <a:off x="4636008" y="2423160"/>
            <a:ext cx="2953512" cy="2350008"/>
          </a:xfrm>
          <a:prstGeom prst="rect">
            <a:avLst/>
          </a:prstGeom>
          <a:noFill/>
          <a:ln/>
        </p:spPr>
        <p:txBody>
          <a:bodyPr wrap="square" lIns="254" tIns="254" rIns="254" bIns="254" rtlCol="0" anchor="t">
            <a:normAutofit/>
          </a:bodyPr>
          <a:lstStyle/>
          <a:p>
            <a:pPr indent="0" marL="0">
              <a:buNone/>
            </a:pPr>
            <a:r>
              <a:rPr lang="en-US" sz="1060" dirty="0">
                <a:solidFill>
                  <a:srgbClr val="283246"/>
                </a:solidFill>
                <a:latin typeface="Aptos" pitchFamily="34" charset="0"/>
                <a:ea typeface="Aptos" pitchFamily="34" charset="-122"/>
                <a:cs typeface="Aptos" pitchFamily="34" charset="-120"/>
              </a:rPr>
              <a:t>Low-cost scalable object storage</a:t>
            </a:r>
            <a:endParaRPr lang="en-US" sz="1060" dirty="0"/>
          </a:p>
          <a:p>
            <a:pPr indent="0" marL="0">
              <a:buNone/>
            </a:pPr>
            <a:r>
              <a:rPr lang="en-US" sz="1060" dirty="0">
                <a:solidFill>
                  <a:srgbClr val="283246"/>
                </a:solidFill>
                <a:latin typeface="Aptos" pitchFamily="34" charset="0"/>
                <a:ea typeface="Aptos" pitchFamily="34" charset="-122"/>
                <a:cs typeface="Aptos" pitchFamily="34" charset="-120"/>
              </a:rPr>
              <a:t>Flexible formats</a:t>
            </a:r>
            <a:endParaRPr lang="en-US" sz="1060" dirty="0"/>
          </a:p>
          <a:p>
            <a:pPr indent="0" marL="0">
              <a:buNone/>
            </a:pPr>
            <a:r>
              <a:rPr lang="en-US" sz="1060" dirty="0">
                <a:solidFill>
                  <a:srgbClr val="283246"/>
                </a:solidFill>
                <a:latin typeface="Aptos" pitchFamily="34" charset="0"/>
                <a:ea typeface="Aptos" pitchFamily="34" charset="-122"/>
                <a:cs typeface="Aptos" pitchFamily="34" charset="-120"/>
              </a:rPr>
              <a:t>External compute required</a:t>
            </a:r>
            <a:endParaRPr lang="en-US" sz="1060" dirty="0"/>
          </a:p>
          <a:p>
            <a:pPr indent="0" marL="0">
              <a:buNone/>
            </a:pPr>
            <a:endParaRPr lang="en-US" sz="1060" dirty="0"/>
          </a:p>
          <a:p>
            <a:pPr indent="0" marL="0">
              <a:buNone/>
            </a:pPr>
            <a:r>
              <a:rPr lang="en-US" sz="1060" dirty="0">
                <a:solidFill>
                  <a:srgbClr val="283246"/>
                </a:solidFill>
                <a:latin typeface="Aptos" pitchFamily="34" charset="0"/>
                <a:ea typeface="Aptos" pitchFamily="34" charset="-122"/>
                <a:cs typeface="Aptos" pitchFamily="34" charset="-120"/>
              </a:rPr>
              <a:t>Best for: raw staging and diverse data</a:t>
            </a:r>
            <a:endParaRPr lang="en-US" sz="1060" dirty="0"/>
          </a:p>
        </p:txBody>
      </p:sp>
      <p:sp>
        <p:nvSpPr>
          <p:cNvPr id="16" name="Shape 14"/>
          <p:cNvSpPr/>
          <p:nvPr/>
        </p:nvSpPr>
        <p:spPr>
          <a:xfrm>
            <a:off x="8183880" y="1463040"/>
            <a:ext cx="3337560" cy="3474720"/>
          </a:xfrm>
          <a:prstGeom prst="roundRect">
            <a:avLst>
              <a:gd name="adj" fmla="val 1918"/>
            </a:avLst>
          </a:prstGeom>
          <a:solidFill>
            <a:srgbClr val="FFFFFF"/>
          </a:solidFill>
          <a:ln w="12700">
            <a:solidFill>
              <a:srgbClr val="DDE2EA"/>
            </a:solidFill>
            <a:prstDash val="solid"/>
          </a:ln>
        </p:spPr>
      </p:sp>
      <p:sp>
        <p:nvSpPr>
          <p:cNvPr id="17" name="Shape 15"/>
          <p:cNvSpPr/>
          <p:nvPr/>
        </p:nvSpPr>
        <p:spPr>
          <a:xfrm>
            <a:off x="8183880" y="1463040"/>
            <a:ext cx="50292" cy="3474720"/>
          </a:xfrm>
          <a:prstGeom prst="rect">
            <a:avLst/>
          </a:prstGeom>
          <a:solidFill>
            <a:srgbClr val="FF3621"/>
          </a:solidFill>
          <a:ln w="12700">
            <a:solidFill>
              <a:srgbClr val="FF3621"/>
            </a:solidFill>
            <a:prstDash val="solid"/>
          </a:ln>
        </p:spPr>
      </p:sp>
      <p:sp>
        <p:nvSpPr>
          <p:cNvPr id="18" name="Shape 16"/>
          <p:cNvSpPr/>
          <p:nvPr/>
        </p:nvSpPr>
        <p:spPr>
          <a:xfrm>
            <a:off x="8385048" y="1645920"/>
            <a:ext cx="566928" cy="310896"/>
          </a:xfrm>
          <a:prstGeom prst="roundRect">
            <a:avLst>
              <a:gd name="adj" fmla="val 14706"/>
            </a:avLst>
          </a:prstGeom>
          <a:solidFill>
            <a:srgbClr val="FFF0ED"/>
          </a:solidFill>
          <a:ln w="12700">
            <a:solidFill>
              <a:srgbClr val="FFF0ED"/>
            </a:solidFill>
            <a:prstDash val="solid"/>
          </a:ln>
        </p:spPr>
      </p:sp>
      <p:sp>
        <p:nvSpPr>
          <p:cNvPr id="19" name="Text 17"/>
          <p:cNvSpPr/>
          <p:nvPr/>
        </p:nvSpPr>
        <p:spPr>
          <a:xfrm>
            <a:off x="8385048" y="170992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LAKEHOUSE</a:t>
            </a:r>
            <a:endParaRPr lang="en-US" sz="730" dirty="0"/>
          </a:p>
        </p:txBody>
      </p:sp>
      <p:sp>
        <p:nvSpPr>
          <p:cNvPr id="20" name="Text 18"/>
          <p:cNvSpPr/>
          <p:nvPr/>
        </p:nvSpPr>
        <p:spPr>
          <a:xfrm>
            <a:off x="8385048" y="2048256"/>
            <a:ext cx="2971800" cy="347472"/>
          </a:xfrm>
          <a:prstGeom prst="rect">
            <a:avLst/>
          </a:prstGeom>
          <a:noFill/>
          <a:ln/>
        </p:spPr>
        <p:txBody>
          <a:bodyPr wrap="square" lIns="0" tIns="0" rIns="0" bIns="0" rtlCol="0" anchor="ctr">
            <a:normAutofit/>
          </a:bodyPr>
          <a:lstStyle/>
          <a:p>
            <a:pPr indent="0" marL="0">
              <a:buNone/>
            </a:pPr>
            <a:r>
              <a:rPr lang="en-US" sz="1600" b="1" dirty="0">
                <a:solidFill>
                  <a:srgbClr val="17233C"/>
                </a:solidFill>
                <a:latin typeface="Aptos Display" pitchFamily="34" charset="0"/>
                <a:ea typeface="Aptos Display" pitchFamily="34" charset="-122"/>
                <a:cs typeface="Aptos Display" pitchFamily="34" charset="-120"/>
              </a:rPr>
              <a:t>Lakehouse</a:t>
            </a:r>
            <a:endParaRPr lang="en-US" sz="1600" dirty="0"/>
          </a:p>
        </p:txBody>
      </p:sp>
      <p:sp>
        <p:nvSpPr>
          <p:cNvPr id="21" name="Text 19"/>
          <p:cNvSpPr/>
          <p:nvPr/>
        </p:nvSpPr>
        <p:spPr>
          <a:xfrm>
            <a:off x="8385048" y="2423160"/>
            <a:ext cx="2953512" cy="2350008"/>
          </a:xfrm>
          <a:prstGeom prst="rect">
            <a:avLst/>
          </a:prstGeom>
          <a:noFill/>
          <a:ln/>
        </p:spPr>
        <p:txBody>
          <a:bodyPr wrap="square" lIns="254" tIns="254" rIns="254" bIns="254" rtlCol="0" anchor="t">
            <a:normAutofit/>
          </a:bodyPr>
          <a:lstStyle/>
          <a:p>
            <a:pPr indent="0" marL="0">
              <a:buNone/>
            </a:pPr>
            <a:r>
              <a:rPr lang="en-US" sz="1060" dirty="0">
                <a:solidFill>
                  <a:srgbClr val="283246"/>
                </a:solidFill>
                <a:latin typeface="Aptos" pitchFamily="34" charset="0"/>
                <a:ea typeface="Aptos" pitchFamily="34" charset="-122"/>
                <a:cs typeface="Aptos" pitchFamily="34" charset="-120"/>
              </a:rPr>
              <a:t>Lake storage + table reliability</a:t>
            </a:r>
            <a:endParaRPr lang="en-US" sz="1060" dirty="0"/>
          </a:p>
          <a:p>
            <a:pPr indent="0" marL="0">
              <a:buNone/>
            </a:pPr>
            <a:r>
              <a:rPr lang="en-US" sz="1060" dirty="0">
                <a:solidFill>
                  <a:srgbClr val="283246"/>
                </a:solidFill>
                <a:latin typeface="Aptos" pitchFamily="34" charset="0"/>
                <a:ea typeface="Aptos" pitchFamily="34" charset="-122"/>
                <a:cs typeface="Aptos" pitchFamily="34" charset="-120"/>
              </a:rPr>
              <a:t>SQL + Spark + streaming</a:t>
            </a:r>
            <a:endParaRPr lang="en-US" sz="1060" dirty="0"/>
          </a:p>
          <a:p>
            <a:pPr indent="0" marL="0">
              <a:buNone/>
            </a:pPr>
            <a:r>
              <a:rPr lang="en-US" sz="1060" dirty="0">
                <a:solidFill>
                  <a:srgbClr val="283246"/>
                </a:solidFill>
                <a:latin typeface="Aptos" pitchFamily="34" charset="0"/>
                <a:ea typeface="Aptos" pitchFamily="34" charset="-122"/>
                <a:cs typeface="Aptos" pitchFamily="34" charset="-120"/>
              </a:rPr>
              <a:t>Unified governance</a:t>
            </a:r>
            <a:endParaRPr lang="en-US" sz="1060" dirty="0"/>
          </a:p>
          <a:p>
            <a:pPr indent="0" marL="0">
              <a:buNone/>
            </a:pPr>
            <a:endParaRPr lang="en-US" sz="1060" dirty="0"/>
          </a:p>
          <a:p>
            <a:pPr indent="0" marL="0">
              <a:buNone/>
            </a:pPr>
            <a:r>
              <a:rPr lang="en-US" sz="1060" dirty="0">
                <a:solidFill>
                  <a:srgbClr val="283246"/>
                </a:solidFill>
                <a:latin typeface="Aptos" pitchFamily="34" charset="0"/>
                <a:ea typeface="Aptos" pitchFamily="34" charset="-122"/>
                <a:cs typeface="Aptos" pitchFamily="34" charset="-120"/>
              </a:rPr>
              <a:t>Best for: shared BI + AI data platform</a:t>
            </a:r>
            <a:endParaRPr lang="en-US" sz="1060" dirty="0"/>
          </a:p>
        </p:txBody>
      </p:sp>
      <p:sp>
        <p:nvSpPr>
          <p:cNvPr id="22" name="Text 20"/>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1–2</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Orchestration = Managing Dependencies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A DAG expresses what must happen before what.</a:t>
            </a:r>
            <a:endParaRPr lang="en-US" sz="1100" dirty="0"/>
          </a:p>
        </p:txBody>
      </p:sp>
      <p:sp>
        <p:nvSpPr>
          <p:cNvPr id="4" name="Shape 2"/>
          <p:cNvSpPr/>
          <p:nvPr/>
        </p:nvSpPr>
        <p:spPr>
          <a:xfrm>
            <a:off x="914400" y="1965960"/>
            <a:ext cx="2057400" cy="749808"/>
          </a:xfrm>
          <a:prstGeom prst="roundRect">
            <a:avLst>
              <a:gd name="adj" fmla="val 7317"/>
            </a:avLst>
          </a:prstGeom>
          <a:solidFill>
            <a:srgbClr val="EBF1FE"/>
          </a:solidFill>
          <a:ln w="12700">
            <a:solidFill>
              <a:srgbClr val="3B6FF5"/>
            </a:solidFill>
            <a:prstDash val="solid"/>
          </a:ln>
        </p:spPr>
      </p:sp>
      <p:sp>
        <p:nvSpPr>
          <p:cNvPr id="5" name="Text 3"/>
          <p:cNvSpPr/>
          <p:nvPr/>
        </p:nvSpPr>
        <p:spPr>
          <a:xfrm>
            <a:off x="1005840" y="2185416"/>
            <a:ext cx="1874520" cy="237744"/>
          </a:xfrm>
          <a:prstGeom prst="rect">
            <a:avLst/>
          </a:prstGeom>
          <a:noFill/>
          <a:ln/>
        </p:spPr>
        <p:txBody>
          <a:bodyPr wrap="square" lIns="0" tIns="0" rIns="0" bIns="0" rtlCol="0" anchor="ctr">
            <a:normAutofit/>
          </a:bodyPr>
          <a:lstStyle/>
          <a:p>
            <a:pPr algn="ctr" indent="0" marL="0">
              <a:buNone/>
            </a:pPr>
            <a:r>
              <a:rPr lang="en-US" sz="1080" b="1" dirty="0">
                <a:solidFill>
                  <a:srgbClr val="17233C"/>
                </a:solidFill>
              </a:rPr>
              <a:t>Ingest Orders</a:t>
            </a:r>
            <a:endParaRPr lang="en-US" sz="1080" dirty="0"/>
          </a:p>
        </p:txBody>
      </p:sp>
      <p:sp>
        <p:nvSpPr>
          <p:cNvPr id="6" name="Shape 4"/>
          <p:cNvSpPr/>
          <p:nvPr/>
        </p:nvSpPr>
        <p:spPr>
          <a:xfrm>
            <a:off x="914400" y="3840480"/>
            <a:ext cx="2057400" cy="749808"/>
          </a:xfrm>
          <a:prstGeom prst="roundRect">
            <a:avLst>
              <a:gd name="adj" fmla="val 7317"/>
            </a:avLst>
          </a:prstGeom>
          <a:solidFill>
            <a:srgbClr val="EBF1FE"/>
          </a:solidFill>
          <a:ln w="12700">
            <a:solidFill>
              <a:srgbClr val="3B6FF5"/>
            </a:solidFill>
            <a:prstDash val="solid"/>
          </a:ln>
        </p:spPr>
      </p:sp>
      <p:sp>
        <p:nvSpPr>
          <p:cNvPr id="7" name="Text 5"/>
          <p:cNvSpPr/>
          <p:nvPr/>
        </p:nvSpPr>
        <p:spPr>
          <a:xfrm>
            <a:off x="1005840" y="4059936"/>
            <a:ext cx="1874520" cy="237744"/>
          </a:xfrm>
          <a:prstGeom prst="rect">
            <a:avLst/>
          </a:prstGeom>
          <a:noFill/>
          <a:ln/>
        </p:spPr>
        <p:txBody>
          <a:bodyPr wrap="square" lIns="0" tIns="0" rIns="0" bIns="0" rtlCol="0" anchor="ctr">
            <a:normAutofit/>
          </a:bodyPr>
          <a:lstStyle/>
          <a:p>
            <a:pPr algn="ctr" indent="0" marL="0">
              <a:buNone/>
            </a:pPr>
            <a:r>
              <a:rPr lang="en-US" sz="1080" b="1" dirty="0">
                <a:solidFill>
                  <a:srgbClr val="17233C"/>
                </a:solidFill>
              </a:rPr>
              <a:t>Ingest Products</a:t>
            </a:r>
            <a:endParaRPr lang="en-US" sz="1080" dirty="0"/>
          </a:p>
        </p:txBody>
      </p:sp>
      <p:sp>
        <p:nvSpPr>
          <p:cNvPr id="8" name="Shape 6"/>
          <p:cNvSpPr/>
          <p:nvPr/>
        </p:nvSpPr>
        <p:spPr>
          <a:xfrm>
            <a:off x="3931920" y="1965960"/>
            <a:ext cx="2057400" cy="749808"/>
          </a:xfrm>
          <a:prstGeom prst="roundRect">
            <a:avLst>
              <a:gd name="adj" fmla="val 7317"/>
            </a:avLst>
          </a:prstGeom>
          <a:solidFill>
            <a:srgbClr val="E6F6F1"/>
          </a:solidFill>
          <a:ln w="12700">
            <a:solidFill>
              <a:srgbClr val="00A972"/>
            </a:solidFill>
            <a:prstDash val="solid"/>
          </a:ln>
        </p:spPr>
      </p:sp>
      <p:sp>
        <p:nvSpPr>
          <p:cNvPr id="9" name="Text 7"/>
          <p:cNvSpPr/>
          <p:nvPr/>
        </p:nvSpPr>
        <p:spPr>
          <a:xfrm>
            <a:off x="4023360" y="2185416"/>
            <a:ext cx="1874520" cy="237744"/>
          </a:xfrm>
          <a:prstGeom prst="rect">
            <a:avLst/>
          </a:prstGeom>
          <a:noFill/>
          <a:ln/>
        </p:spPr>
        <p:txBody>
          <a:bodyPr wrap="square" lIns="0" tIns="0" rIns="0" bIns="0" rtlCol="0" anchor="ctr">
            <a:normAutofit/>
          </a:bodyPr>
          <a:lstStyle/>
          <a:p>
            <a:pPr algn="ctr" indent="0" marL="0">
              <a:buNone/>
            </a:pPr>
            <a:r>
              <a:rPr lang="en-US" sz="1080" b="1" dirty="0">
                <a:solidFill>
                  <a:srgbClr val="17233C"/>
                </a:solidFill>
              </a:rPr>
              <a:t>Clean Orders</a:t>
            </a:r>
            <a:endParaRPr lang="en-US" sz="1080" dirty="0"/>
          </a:p>
        </p:txBody>
      </p:sp>
      <p:sp>
        <p:nvSpPr>
          <p:cNvPr id="10" name="Shape 8"/>
          <p:cNvSpPr/>
          <p:nvPr/>
        </p:nvSpPr>
        <p:spPr>
          <a:xfrm>
            <a:off x="3931920" y="3840480"/>
            <a:ext cx="2057400" cy="749808"/>
          </a:xfrm>
          <a:prstGeom prst="roundRect">
            <a:avLst>
              <a:gd name="adj" fmla="val 7317"/>
            </a:avLst>
          </a:prstGeom>
          <a:solidFill>
            <a:srgbClr val="E6F6F1"/>
          </a:solidFill>
          <a:ln w="12700">
            <a:solidFill>
              <a:srgbClr val="00A972"/>
            </a:solidFill>
            <a:prstDash val="solid"/>
          </a:ln>
        </p:spPr>
      </p:sp>
      <p:sp>
        <p:nvSpPr>
          <p:cNvPr id="11" name="Text 9"/>
          <p:cNvSpPr/>
          <p:nvPr/>
        </p:nvSpPr>
        <p:spPr>
          <a:xfrm>
            <a:off x="4023360" y="4059936"/>
            <a:ext cx="1874520" cy="237744"/>
          </a:xfrm>
          <a:prstGeom prst="rect">
            <a:avLst/>
          </a:prstGeom>
          <a:noFill/>
          <a:ln/>
        </p:spPr>
        <p:txBody>
          <a:bodyPr wrap="square" lIns="0" tIns="0" rIns="0" bIns="0" rtlCol="0" anchor="ctr">
            <a:normAutofit/>
          </a:bodyPr>
          <a:lstStyle/>
          <a:p>
            <a:pPr algn="ctr" indent="0" marL="0">
              <a:buNone/>
            </a:pPr>
            <a:r>
              <a:rPr lang="en-US" sz="1080" b="1" dirty="0">
                <a:solidFill>
                  <a:srgbClr val="17233C"/>
                </a:solidFill>
              </a:rPr>
              <a:t>Clean Products</a:t>
            </a:r>
            <a:endParaRPr lang="en-US" sz="1080" dirty="0"/>
          </a:p>
        </p:txBody>
      </p:sp>
      <p:sp>
        <p:nvSpPr>
          <p:cNvPr id="12" name="Shape 10"/>
          <p:cNvSpPr/>
          <p:nvPr/>
        </p:nvSpPr>
        <p:spPr>
          <a:xfrm>
            <a:off x="6995160" y="2651760"/>
            <a:ext cx="2057400" cy="749808"/>
          </a:xfrm>
          <a:prstGeom prst="roundRect">
            <a:avLst>
              <a:gd name="adj" fmla="val 7317"/>
            </a:avLst>
          </a:prstGeom>
          <a:solidFill>
            <a:srgbClr val="F2EDFF"/>
          </a:solidFill>
          <a:ln w="12700">
            <a:solidFill>
              <a:srgbClr val="7C4DFF"/>
            </a:solidFill>
            <a:prstDash val="solid"/>
          </a:ln>
        </p:spPr>
      </p:sp>
      <p:sp>
        <p:nvSpPr>
          <p:cNvPr id="13" name="Text 11"/>
          <p:cNvSpPr/>
          <p:nvPr/>
        </p:nvSpPr>
        <p:spPr>
          <a:xfrm>
            <a:off x="7086600" y="2871216"/>
            <a:ext cx="1874520" cy="237744"/>
          </a:xfrm>
          <a:prstGeom prst="rect">
            <a:avLst/>
          </a:prstGeom>
          <a:noFill/>
          <a:ln/>
        </p:spPr>
        <p:txBody>
          <a:bodyPr wrap="square" lIns="0" tIns="0" rIns="0" bIns="0" rtlCol="0" anchor="ctr">
            <a:normAutofit/>
          </a:bodyPr>
          <a:lstStyle/>
          <a:p>
            <a:pPr algn="ctr" indent="0" marL="0">
              <a:buNone/>
            </a:pPr>
            <a:r>
              <a:rPr lang="en-US" sz="1080" b="1" dirty="0">
                <a:solidFill>
                  <a:srgbClr val="17233C"/>
                </a:solidFill>
              </a:rPr>
              <a:t>Build FactSales</a:t>
            </a:r>
            <a:endParaRPr lang="en-US" sz="1080" dirty="0"/>
          </a:p>
        </p:txBody>
      </p:sp>
      <p:sp>
        <p:nvSpPr>
          <p:cNvPr id="14" name="Shape 12"/>
          <p:cNvSpPr/>
          <p:nvPr/>
        </p:nvSpPr>
        <p:spPr>
          <a:xfrm>
            <a:off x="9646920" y="2651760"/>
            <a:ext cx="2057400" cy="749808"/>
          </a:xfrm>
          <a:prstGeom prst="roundRect">
            <a:avLst>
              <a:gd name="adj" fmla="val 7317"/>
            </a:avLst>
          </a:prstGeom>
          <a:solidFill>
            <a:srgbClr val="FFEBE9"/>
          </a:solidFill>
          <a:ln w="12700">
            <a:solidFill>
              <a:srgbClr val="FF3621"/>
            </a:solidFill>
            <a:prstDash val="solid"/>
          </a:ln>
        </p:spPr>
      </p:sp>
      <p:sp>
        <p:nvSpPr>
          <p:cNvPr id="15" name="Text 13"/>
          <p:cNvSpPr/>
          <p:nvPr/>
        </p:nvSpPr>
        <p:spPr>
          <a:xfrm>
            <a:off x="9738360" y="2871216"/>
            <a:ext cx="1874520" cy="237744"/>
          </a:xfrm>
          <a:prstGeom prst="rect">
            <a:avLst/>
          </a:prstGeom>
          <a:noFill/>
          <a:ln/>
        </p:spPr>
        <p:txBody>
          <a:bodyPr wrap="square" lIns="0" tIns="0" rIns="0" bIns="0" rtlCol="0" anchor="ctr">
            <a:normAutofit/>
          </a:bodyPr>
          <a:lstStyle/>
          <a:p>
            <a:pPr algn="ctr" indent="0" marL="0">
              <a:buNone/>
            </a:pPr>
            <a:r>
              <a:rPr lang="en-US" sz="1080" b="1" dirty="0">
                <a:solidFill>
                  <a:srgbClr val="17233C"/>
                </a:solidFill>
              </a:rPr>
              <a:t>Publish Gold</a:t>
            </a:r>
            <a:endParaRPr lang="en-US" sz="1080" dirty="0"/>
          </a:p>
        </p:txBody>
      </p:sp>
      <p:sp>
        <p:nvSpPr>
          <p:cNvPr id="16" name="Shape 14"/>
          <p:cNvSpPr/>
          <p:nvPr/>
        </p:nvSpPr>
        <p:spPr>
          <a:xfrm>
            <a:off x="2971800" y="2331720"/>
            <a:ext cx="868680" cy="0"/>
          </a:xfrm>
          <a:prstGeom prst="line">
            <a:avLst/>
          </a:prstGeom>
          <a:noFill/>
          <a:ln w="12700">
            <a:solidFill>
              <a:srgbClr val="687386"/>
            </a:solidFill>
            <a:prstDash val="solid"/>
            <a:headEnd type="none"/>
            <a:tailEnd type="triangle"/>
          </a:ln>
        </p:spPr>
      </p:sp>
      <p:sp>
        <p:nvSpPr>
          <p:cNvPr id="17" name="Shape 15"/>
          <p:cNvSpPr/>
          <p:nvPr/>
        </p:nvSpPr>
        <p:spPr>
          <a:xfrm>
            <a:off x="2971800" y="4206240"/>
            <a:ext cx="868680" cy="0"/>
          </a:xfrm>
          <a:prstGeom prst="line">
            <a:avLst/>
          </a:prstGeom>
          <a:noFill/>
          <a:ln w="12700">
            <a:solidFill>
              <a:srgbClr val="687386"/>
            </a:solidFill>
            <a:prstDash val="solid"/>
            <a:headEnd type="none"/>
            <a:tailEnd type="triangle"/>
          </a:ln>
        </p:spPr>
      </p:sp>
      <p:sp>
        <p:nvSpPr>
          <p:cNvPr id="18" name="Shape 16"/>
          <p:cNvSpPr/>
          <p:nvPr/>
        </p:nvSpPr>
        <p:spPr>
          <a:xfrm>
            <a:off x="5989320" y="2331720"/>
            <a:ext cx="914400" cy="612648"/>
          </a:xfrm>
          <a:prstGeom prst="line">
            <a:avLst/>
          </a:prstGeom>
          <a:noFill/>
          <a:ln w="12700">
            <a:solidFill>
              <a:srgbClr val="687386"/>
            </a:solidFill>
            <a:prstDash val="solid"/>
            <a:headEnd type="none"/>
            <a:tailEnd type="triangle"/>
          </a:ln>
        </p:spPr>
      </p:sp>
      <p:sp>
        <p:nvSpPr>
          <p:cNvPr id="19" name="Shape 17"/>
          <p:cNvSpPr/>
          <p:nvPr/>
        </p:nvSpPr>
        <p:spPr>
          <a:xfrm>
            <a:off x="5989320" y="4206240"/>
            <a:ext cx="914400" cy="-960120"/>
          </a:xfrm>
          <a:prstGeom prst="line">
            <a:avLst/>
          </a:prstGeom>
          <a:noFill/>
          <a:ln w="12700">
            <a:solidFill>
              <a:srgbClr val="687386"/>
            </a:solidFill>
            <a:prstDash val="solid"/>
            <a:headEnd type="none"/>
            <a:tailEnd type="triangle"/>
          </a:ln>
        </p:spPr>
      </p:sp>
      <p:sp>
        <p:nvSpPr>
          <p:cNvPr id="20" name="Shape 18"/>
          <p:cNvSpPr/>
          <p:nvPr/>
        </p:nvSpPr>
        <p:spPr>
          <a:xfrm>
            <a:off x="9052560" y="3035808"/>
            <a:ext cx="502920" cy="0"/>
          </a:xfrm>
          <a:prstGeom prst="line">
            <a:avLst/>
          </a:prstGeom>
          <a:noFill/>
          <a:ln w="12700">
            <a:solidFill>
              <a:srgbClr val="687386"/>
            </a:solidFill>
            <a:prstDash val="solid"/>
            <a:headEnd type="none"/>
            <a:tailEnd type="triangle"/>
          </a:ln>
        </p:spPr>
      </p:sp>
      <p:sp>
        <p:nvSpPr>
          <p:cNvPr id="21" name="Shape 19"/>
          <p:cNvSpPr/>
          <p:nvPr/>
        </p:nvSpPr>
        <p:spPr>
          <a:xfrm>
            <a:off x="1188720" y="5074920"/>
            <a:ext cx="9784080" cy="658368"/>
          </a:xfrm>
          <a:prstGeom prst="roundRect">
            <a:avLst>
              <a:gd name="adj" fmla="val 8333"/>
            </a:avLst>
          </a:prstGeom>
          <a:solidFill>
            <a:srgbClr val="EEF7FF"/>
          </a:solidFill>
          <a:ln w="12700">
            <a:solidFill>
              <a:srgbClr val="EEF7FF"/>
            </a:solidFill>
            <a:prstDash val="solid"/>
          </a:ln>
        </p:spPr>
      </p:sp>
      <p:sp>
        <p:nvSpPr>
          <p:cNvPr id="22" name="Text 20"/>
          <p:cNvSpPr/>
          <p:nvPr/>
        </p:nvSpPr>
        <p:spPr>
          <a:xfrm>
            <a:off x="1353312" y="5193792"/>
            <a:ext cx="9454896" cy="429768"/>
          </a:xfrm>
          <a:prstGeom prst="rect">
            <a:avLst/>
          </a:prstGeom>
          <a:noFill/>
          <a:ln/>
        </p:spPr>
        <p:txBody>
          <a:bodyPr wrap="square" lIns="0" tIns="0" rIns="0" bIns="0" rtlCol="0" anchor="ctr">
            <a:normAutofit/>
          </a:bodyPr>
          <a:lstStyle/>
          <a:p>
            <a:pPr indent="0" marL="0">
              <a:buNone/>
            </a:pPr>
            <a:r>
              <a:rPr lang="en-US" sz="1100" b="1" dirty="0">
                <a:solidFill>
                  <a:srgbClr val="3B6FF5"/>
                </a:solidFill>
                <a:latin typeface="Aptos" pitchFamily="34" charset="0"/>
                <a:ea typeface="Aptos" pitchFamily="34" charset="-122"/>
                <a:cs typeface="Aptos" pitchFamily="34" charset="-120"/>
              </a:rPr>
              <a:t>A Directed Acyclic Graph prevents downstream work from running before its prerequisites are ready.</a:t>
            </a:r>
            <a:endParaRPr lang="en-US" sz="1100" dirty="0"/>
          </a:p>
        </p:txBody>
      </p:sp>
      <p:sp>
        <p:nvSpPr>
          <p:cNvPr id="23" name="Text 21"/>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3</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Scheduled vs Event-Driven Orchestration</a:t>
            </a:r>
            <a:endParaRPr lang="en-US" sz="2400" dirty="0"/>
          </a:p>
        </p:txBody>
      </p:sp>
      <p:sp>
        <p:nvSpPr>
          <p:cNvPr id="3" name="Shape 1"/>
          <p:cNvSpPr/>
          <p:nvPr/>
        </p:nvSpPr>
        <p:spPr>
          <a:xfrm>
            <a:off x="685800" y="1554480"/>
            <a:ext cx="5212080" cy="3291840"/>
          </a:xfrm>
          <a:prstGeom prst="roundRect">
            <a:avLst>
              <a:gd name="adj" fmla="val 1944"/>
            </a:avLst>
          </a:prstGeom>
          <a:solidFill>
            <a:srgbClr val="FFFFFF"/>
          </a:solidFill>
          <a:ln w="12700">
            <a:solidFill>
              <a:srgbClr val="DDE2EA"/>
            </a:solidFill>
            <a:prstDash val="solid"/>
          </a:ln>
        </p:spPr>
      </p:sp>
      <p:sp>
        <p:nvSpPr>
          <p:cNvPr id="4" name="Shape 2"/>
          <p:cNvSpPr/>
          <p:nvPr/>
        </p:nvSpPr>
        <p:spPr>
          <a:xfrm>
            <a:off x="685800" y="1554480"/>
            <a:ext cx="50292" cy="3291840"/>
          </a:xfrm>
          <a:prstGeom prst="rect">
            <a:avLst/>
          </a:prstGeom>
          <a:solidFill>
            <a:srgbClr val="3B6FF5"/>
          </a:solidFill>
          <a:ln w="12700">
            <a:solidFill>
              <a:srgbClr val="3B6FF5"/>
            </a:solidFill>
            <a:prstDash val="solid"/>
          </a:ln>
        </p:spPr>
      </p:sp>
      <p:sp>
        <p:nvSpPr>
          <p:cNvPr id="5" name="Shape 3"/>
          <p:cNvSpPr/>
          <p:nvPr/>
        </p:nvSpPr>
        <p:spPr>
          <a:xfrm>
            <a:off x="886968" y="1737360"/>
            <a:ext cx="566928" cy="310896"/>
          </a:xfrm>
          <a:prstGeom prst="roundRect">
            <a:avLst>
              <a:gd name="adj" fmla="val 14706"/>
            </a:avLst>
          </a:prstGeom>
          <a:solidFill>
            <a:srgbClr val="EDF2FF"/>
          </a:solidFill>
          <a:ln w="12700">
            <a:solidFill>
              <a:srgbClr val="EDF2FF"/>
            </a:solidFill>
            <a:prstDash val="solid"/>
          </a:ln>
        </p:spPr>
      </p:sp>
      <p:sp>
        <p:nvSpPr>
          <p:cNvPr id="6" name="Text 4"/>
          <p:cNvSpPr/>
          <p:nvPr/>
        </p:nvSpPr>
        <p:spPr>
          <a:xfrm>
            <a:off x="886968" y="180136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CLOCK</a:t>
            </a:r>
            <a:endParaRPr lang="en-US" sz="730" dirty="0"/>
          </a:p>
        </p:txBody>
      </p:sp>
      <p:sp>
        <p:nvSpPr>
          <p:cNvPr id="7" name="Text 5"/>
          <p:cNvSpPr/>
          <p:nvPr/>
        </p:nvSpPr>
        <p:spPr>
          <a:xfrm>
            <a:off x="886968" y="2139696"/>
            <a:ext cx="4846320" cy="347472"/>
          </a:xfrm>
          <a:prstGeom prst="rect">
            <a:avLst/>
          </a:prstGeom>
          <a:noFill/>
          <a:ln/>
        </p:spPr>
        <p:txBody>
          <a:bodyPr wrap="square" lIns="0" tIns="0" rIns="0" bIns="0" rtlCol="0" anchor="ctr">
            <a:normAutofit/>
          </a:bodyPr>
          <a:lstStyle/>
          <a:p>
            <a:pPr indent="0" marL="0">
              <a:buNone/>
            </a:pPr>
            <a:r>
              <a:rPr lang="en-US" sz="1600" b="1" dirty="0">
                <a:solidFill>
                  <a:srgbClr val="17233C"/>
                </a:solidFill>
                <a:latin typeface="Aptos Display" pitchFamily="34" charset="0"/>
                <a:ea typeface="Aptos Display" pitchFamily="34" charset="-122"/>
                <a:cs typeface="Aptos Display" pitchFamily="34" charset="-120"/>
              </a:rPr>
              <a:t>Scheduled trigger</a:t>
            </a:r>
            <a:endParaRPr lang="en-US" sz="1600" dirty="0"/>
          </a:p>
        </p:txBody>
      </p:sp>
      <p:sp>
        <p:nvSpPr>
          <p:cNvPr id="8" name="Text 6"/>
          <p:cNvSpPr/>
          <p:nvPr/>
        </p:nvSpPr>
        <p:spPr>
          <a:xfrm>
            <a:off x="886968" y="2514600"/>
            <a:ext cx="4828032" cy="2167128"/>
          </a:xfrm>
          <a:prstGeom prst="rect">
            <a:avLst/>
          </a:prstGeom>
          <a:noFill/>
          <a:ln/>
        </p:spPr>
        <p:txBody>
          <a:bodyPr wrap="square" lIns="254" tIns="254" rIns="254" bIns="254" rtlCol="0" anchor="t">
            <a:normAutofit/>
          </a:bodyPr>
          <a:lstStyle/>
          <a:p>
            <a:pPr indent="0" marL="0">
              <a:buNone/>
            </a:pPr>
            <a:r>
              <a:rPr lang="en-US" sz="1080" dirty="0">
                <a:solidFill>
                  <a:srgbClr val="283246"/>
                </a:solidFill>
                <a:latin typeface="Aptos" pitchFamily="34" charset="0"/>
                <a:ea typeface="Aptos" pitchFamily="34" charset="-122"/>
                <a:cs typeface="Aptos" pitchFamily="34" charset="-120"/>
              </a:rPr>
              <a:t>Run at a known cadence.</a:t>
            </a:r>
            <a:endParaRPr lang="en-US" sz="1080" dirty="0"/>
          </a:p>
          <a:p>
            <a:pPr indent="0" marL="0">
              <a:buNone/>
            </a:pP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Examples:</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 every day at 02:00</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 every 15 minutes</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 first business day of month</a:t>
            </a:r>
            <a:endParaRPr lang="en-US" sz="1080" dirty="0"/>
          </a:p>
          <a:p>
            <a:pPr indent="0" marL="0">
              <a:buNone/>
            </a:pP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Best when source timing is predictable.</a:t>
            </a:r>
            <a:endParaRPr lang="en-US" sz="1080" dirty="0"/>
          </a:p>
        </p:txBody>
      </p:sp>
      <p:sp>
        <p:nvSpPr>
          <p:cNvPr id="9" name="Shape 7"/>
          <p:cNvSpPr/>
          <p:nvPr/>
        </p:nvSpPr>
        <p:spPr>
          <a:xfrm>
            <a:off x="6309360" y="1554480"/>
            <a:ext cx="5212080" cy="3291840"/>
          </a:xfrm>
          <a:prstGeom prst="roundRect">
            <a:avLst>
              <a:gd name="adj" fmla="val 1944"/>
            </a:avLst>
          </a:prstGeom>
          <a:solidFill>
            <a:srgbClr val="FFFFFF"/>
          </a:solidFill>
          <a:ln w="12700">
            <a:solidFill>
              <a:srgbClr val="DDE2EA"/>
            </a:solidFill>
            <a:prstDash val="solid"/>
          </a:ln>
        </p:spPr>
      </p:sp>
      <p:sp>
        <p:nvSpPr>
          <p:cNvPr id="10" name="Shape 8"/>
          <p:cNvSpPr/>
          <p:nvPr/>
        </p:nvSpPr>
        <p:spPr>
          <a:xfrm>
            <a:off x="6309360" y="1554480"/>
            <a:ext cx="50292" cy="3291840"/>
          </a:xfrm>
          <a:prstGeom prst="rect">
            <a:avLst/>
          </a:prstGeom>
          <a:solidFill>
            <a:srgbClr val="00A972"/>
          </a:solidFill>
          <a:ln w="12700">
            <a:solidFill>
              <a:srgbClr val="00A972"/>
            </a:solidFill>
            <a:prstDash val="solid"/>
          </a:ln>
        </p:spPr>
      </p:sp>
      <p:sp>
        <p:nvSpPr>
          <p:cNvPr id="11" name="Shape 9"/>
          <p:cNvSpPr/>
          <p:nvPr/>
        </p:nvSpPr>
        <p:spPr>
          <a:xfrm>
            <a:off x="6510528" y="1737360"/>
            <a:ext cx="566928" cy="310896"/>
          </a:xfrm>
          <a:prstGeom prst="roundRect">
            <a:avLst>
              <a:gd name="adj" fmla="val 14706"/>
            </a:avLst>
          </a:prstGeom>
          <a:solidFill>
            <a:srgbClr val="E9F8F3"/>
          </a:solidFill>
          <a:ln w="12700">
            <a:solidFill>
              <a:srgbClr val="E9F8F3"/>
            </a:solidFill>
            <a:prstDash val="solid"/>
          </a:ln>
        </p:spPr>
      </p:sp>
      <p:sp>
        <p:nvSpPr>
          <p:cNvPr id="12" name="Text 10"/>
          <p:cNvSpPr/>
          <p:nvPr/>
        </p:nvSpPr>
        <p:spPr>
          <a:xfrm>
            <a:off x="6510528" y="180136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EVENT</a:t>
            </a:r>
            <a:endParaRPr lang="en-US" sz="730" dirty="0"/>
          </a:p>
        </p:txBody>
      </p:sp>
      <p:sp>
        <p:nvSpPr>
          <p:cNvPr id="13" name="Text 11"/>
          <p:cNvSpPr/>
          <p:nvPr/>
        </p:nvSpPr>
        <p:spPr>
          <a:xfrm>
            <a:off x="6510528" y="2139696"/>
            <a:ext cx="4846320" cy="347472"/>
          </a:xfrm>
          <a:prstGeom prst="rect">
            <a:avLst/>
          </a:prstGeom>
          <a:noFill/>
          <a:ln/>
        </p:spPr>
        <p:txBody>
          <a:bodyPr wrap="square" lIns="0" tIns="0" rIns="0" bIns="0" rtlCol="0" anchor="ctr">
            <a:normAutofit/>
          </a:bodyPr>
          <a:lstStyle/>
          <a:p>
            <a:pPr indent="0" marL="0">
              <a:buNone/>
            </a:pPr>
            <a:r>
              <a:rPr lang="en-US" sz="1600" b="1" dirty="0">
                <a:solidFill>
                  <a:srgbClr val="17233C"/>
                </a:solidFill>
                <a:latin typeface="Aptos Display" pitchFamily="34" charset="0"/>
                <a:ea typeface="Aptos Display" pitchFamily="34" charset="-122"/>
                <a:cs typeface="Aptos Display" pitchFamily="34" charset="-120"/>
              </a:rPr>
              <a:t>Event-driven trigger</a:t>
            </a:r>
            <a:endParaRPr lang="en-US" sz="1600" dirty="0"/>
          </a:p>
        </p:txBody>
      </p:sp>
      <p:sp>
        <p:nvSpPr>
          <p:cNvPr id="14" name="Text 12"/>
          <p:cNvSpPr/>
          <p:nvPr/>
        </p:nvSpPr>
        <p:spPr>
          <a:xfrm>
            <a:off x="6510528" y="2514600"/>
            <a:ext cx="4828032" cy="2167128"/>
          </a:xfrm>
          <a:prstGeom prst="rect">
            <a:avLst/>
          </a:prstGeom>
          <a:noFill/>
          <a:ln/>
        </p:spPr>
        <p:txBody>
          <a:bodyPr wrap="square" lIns="254" tIns="254" rIns="254" bIns="254" rtlCol="0" anchor="t">
            <a:normAutofit/>
          </a:bodyPr>
          <a:lstStyle/>
          <a:p>
            <a:pPr indent="0" marL="0">
              <a:buNone/>
            </a:pPr>
            <a:r>
              <a:rPr lang="en-US" sz="1080" dirty="0">
                <a:solidFill>
                  <a:srgbClr val="283246"/>
                </a:solidFill>
                <a:latin typeface="Aptos" pitchFamily="34" charset="0"/>
                <a:ea typeface="Aptos" pitchFamily="34" charset="-122"/>
                <a:cs typeface="Aptos" pitchFamily="34" charset="-120"/>
              </a:rPr>
              <a:t>Run because something happened.</a:t>
            </a:r>
            <a:endParaRPr lang="en-US" sz="1080" dirty="0"/>
          </a:p>
          <a:p>
            <a:pPr indent="0" marL="0">
              <a:buNone/>
            </a:pP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Examples:</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 new file arrived</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 upstream table updated</a:t>
            </a: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 previous ingestion completed</a:t>
            </a:r>
            <a:endParaRPr lang="en-US" sz="1080" dirty="0"/>
          </a:p>
          <a:p>
            <a:pPr indent="0" marL="0">
              <a:buNone/>
            </a:pPr>
            <a:endParaRPr lang="en-US" sz="1080" dirty="0"/>
          </a:p>
          <a:p>
            <a:pPr indent="0" marL="0">
              <a:buNone/>
            </a:pPr>
            <a:r>
              <a:rPr lang="en-US" sz="1080" dirty="0">
                <a:solidFill>
                  <a:srgbClr val="283246"/>
                </a:solidFill>
                <a:latin typeface="Aptos" pitchFamily="34" charset="0"/>
                <a:ea typeface="Aptos" pitchFamily="34" charset="-122"/>
                <a:cs typeface="Aptos" pitchFamily="34" charset="-120"/>
              </a:rPr>
              <a:t>Best when freshness depends on data arrival.</a:t>
            </a:r>
            <a:endParaRPr lang="en-US" sz="1080" dirty="0"/>
          </a:p>
        </p:txBody>
      </p:sp>
      <p:sp>
        <p:nvSpPr>
          <p:cNvPr id="15" name="Shape 13"/>
          <p:cNvSpPr/>
          <p:nvPr/>
        </p:nvSpPr>
        <p:spPr>
          <a:xfrm>
            <a:off x="1143000" y="5166360"/>
            <a:ext cx="9875520" cy="621792"/>
          </a:xfrm>
          <a:prstGeom prst="roundRect">
            <a:avLst>
              <a:gd name="adj" fmla="val 8824"/>
            </a:avLst>
          </a:prstGeom>
          <a:solidFill>
            <a:srgbClr val="ECF8F3"/>
          </a:solidFill>
          <a:ln w="12700">
            <a:solidFill>
              <a:srgbClr val="ECF8F3"/>
            </a:solidFill>
            <a:prstDash val="solid"/>
          </a:ln>
        </p:spPr>
      </p:sp>
      <p:sp>
        <p:nvSpPr>
          <p:cNvPr id="16" name="Text 14"/>
          <p:cNvSpPr/>
          <p:nvPr/>
        </p:nvSpPr>
        <p:spPr>
          <a:xfrm>
            <a:off x="1307592" y="5285232"/>
            <a:ext cx="9546336" cy="393192"/>
          </a:xfrm>
          <a:prstGeom prst="rect">
            <a:avLst/>
          </a:prstGeom>
          <a:noFill/>
          <a:ln/>
        </p:spPr>
        <p:txBody>
          <a:bodyPr wrap="square" lIns="0" tIns="0" rIns="0" bIns="0" rtlCol="0" anchor="ctr">
            <a:normAutofit/>
          </a:bodyPr>
          <a:lstStyle/>
          <a:p>
            <a:pPr indent="0" marL="0">
              <a:buNone/>
            </a:pPr>
            <a:r>
              <a:rPr lang="en-US" sz="1100" b="1" dirty="0">
                <a:solidFill>
                  <a:srgbClr val="00A972"/>
                </a:solidFill>
                <a:latin typeface="Aptos" pitchFamily="34" charset="0"/>
                <a:ea typeface="Aptos" pitchFamily="34" charset="-122"/>
                <a:cs typeface="Aptos" pitchFamily="34" charset="-120"/>
              </a:rPr>
              <a:t>Event-driven orchestration reduces guesswork and avoids schedules that fire before upstream data is ready.</a:t>
            </a:r>
            <a:endParaRPr lang="en-US" sz="1100" dirty="0"/>
          </a:p>
        </p:txBody>
      </p:sp>
      <p:sp>
        <p:nvSpPr>
          <p:cNvPr id="17" name="Text 15"/>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3; Databricks Jobs docs (2026)</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Backfills and Reruns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Anything you do once should be designed so you can do it again safely.</a:t>
            </a:r>
            <a:endParaRPr lang="en-US" sz="1100" dirty="0"/>
          </a:p>
        </p:txBody>
      </p:sp>
      <p:sp>
        <p:nvSpPr>
          <p:cNvPr id="4" name="Shape 2"/>
          <p:cNvSpPr/>
          <p:nvPr/>
        </p:nvSpPr>
        <p:spPr>
          <a:xfrm>
            <a:off x="1005840" y="2971800"/>
            <a:ext cx="9875520" cy="0"/>
          </a:xfrm>
          <a:prstGeom prst="line">
            <a:avLst/>
          </a:prstGeom>
          <a:noFill/>
          <a:ln w="12700">
            <a:solidFill>
              <a:srgbClr val="BFC7D3"/>
            </a:solidFill>
            <a:prstDash val="solid"/>
          </a:ln>
        </p:spPr>
      </p:sp>
      <p:sp>
        <p:nvSpPr>
          <p:cNvPr id="5" name="Shape 3"/>
          <p:cNvSpPr/>
          <p:nvPr/>
        </p:nvSpPr>
        <p:spPr>
          <a:xfrm>
            <a:off x="914400" y="2651760"/>
            <a:ext cx="960120" cy="438912"/>
          </a:xfrm>
          <a:prstGeom prst="roundRect">
            <a:avLst>
              <a:gd name="adj" fmla="val 18750"/>
            </a:avLst>
          </a:prstGeom>
          <a:solidFill>
            <a:srgbClr val="EEF2F7"/>
          </a:solidFill>
          <a:ln w="12700">
            <a:solidFill>
              <a:srgbClr val="EEF2F7"/>
            </a:solidFill>
            <a:prstDash val="solid"/>
          </a:ln>
        </p:spPr>
      </p:sp>
      <p:sp>
        <p:nvSpPr>
          <p:cNvPr id="6" name="Text 4"/>
          <p:cNvSpPr/>
          <p:nvPr/>
        </p:nvSpPr>
        <p:spPr>
          <a:xfrm>
            <a:off x="960120" y="2706624"/>
            <a:ext cx="868680" cy="329184"/>
          </a:xfrm>
          <a:prstGeom prst="rect">
            <a:avLst/>
          </a:prstGeom>
          <a:noFill/>
          <a:ln/>
        </p:spPr>
        <p:txBody>
          <a:bodyPr wrap="square" lIns="0" tIns="0" rIns="0" bIns="0" rtlCol="0" anchor="ctr">
            <a:normAutofit/>
          </a:bodyPr>
          <a:lstStyle/>
          <a:p>
            <a:pPr algn="ctr" indent="0" marL="0">
              <a:buNone/>
            </a:pPr>
            <a:r>
              <a:rPr lang="en-US" sz="980" b="1" dirty="0">
                <a:solidFill>
                  <a:srgbClr val="17233C"/>
                </a:solidFill>
                <a:latin typeface="Aptos" pitchFamily="34" charset="0"/>
                <a:ea typeface="Aptos" pitchFamily="34" charset="-122"/>
                <a:cs typeface="Aptos" pitchFamily="34" charset="-120"/>
              </a:rPr>
              <a:t>Jan</a:t>
            </a:r>
            <a:endParaRPr lang="en-US" sz="980" dirty="0"/>
          </a:p>
        </p:txBody>
      </p:sp>
      <p:sp>
        <p:nvSpPr>
          <p:cNvPr id="7" name="Shape 5"/>
          <p:cNvSpPr/>
          <p:nvPr/>
        </p:nvSpPr>
        <p:spPr>
          <a:xfrm>
            <a:off x="2743200" y="2651760"/>
            <a:ext cx="960120" cy="438912"/>
          </a:xfrm>
          <a:prstGeom prst="roundRect">
            <a:avLst>
              <a:gd name="adj" fmla="val 18750"/>
            </a:avLst>
          </a:prstGeom>
          <a:solidFill>
            <a:srgbClr val="EEF2F7"/>
          </a:solidFill>
          <a:ln w="12700">
            <a:solidFill>
              <a:srgbClr val="EEF2F7"/>
            </a:solidFill>
            <a:prstDash val="solid"/>
          </a:ln>
        </p:spPr>
      </p:sp>
      <p:sp>
        <p:nvSpPr>
          <p:cNvPr id="8" name="Text 6"/>
          <p:cNvSpPr/>
          <p:nvPr/>
        </p:nvSpPr>
        <p:spPr>
          <a:xfrm>
            <a:off x="2788920" y="2706624"/>
            <a:ext cx="868680" cy="329184"/>
          </a:xfrm>
          <a:prstGeom prst="rect">
            <a:avLst/>
          </a:prstGeom>
          <a:noFill/>
          <a:ln/>
        </p:spPr>
        <p:txBody>
          <a:bodyPr wrap="square" lIns="0" tIns="0" rIns="0" bIns="0" rtlCol="0" anchor="ctr">
            <a:normAutofit/>
          </a:bodyPr>
          <a:lstStyle/>
          <a:p>
            <a:pPr algn="ctr" indent="0" marL="0">
              <a:buNone/>
            </a:pPr>
            <a:r>
              <a:rPr lang="en-US" sz="980" b="1" dirty="0">
                <a:solidFill>
                  <a:srgbClr val="17233C"/>
                </a:solidFill>
                <a:latin typeface="Aptos" pitchFamily="34" charset="0"/>
                <a:ea typeface="Aptos" pitchFamily="34" charset="-122"/>
                <a:cs typeface="Aptos" pitchFamily="34" charset="-120"/>
              </a:rPr>
              <a:t>Feb</a:t>
            </a:r>
            <a:endParaRPr lang="en-US" sz="980" dirty="0"/>
          </a:p>
        </p:txBody>
      </p:sp>
      <p:sp>
        <p:nvSpPr>
          <p:cNvPr id="9" name="Shape 7"/>
          <p:cNvSpPr/>
          <p:nvPr/>
        </p:nvSpPr>
        <p:spPr>
          <a:xfrm>
            <a:off x="4572000" y="2651760"/>
            <a:ext cx="960120" cy="438912"/>
          </a:xfrm>
          <a:prstGeom prst="roundRect">
            <a:avLst>
              <a:gd name="adj" fmla="val 18750"/>
            </a:avLst>
          </a:prstGeom>
          <a:solidFill>
            <a:srgbClr val="FFF0ED"/>
          </a:solidFill>
          <a:ln w="12700">
            <a:solidFill>
              <a:srgbClr val="FFF0ED"/>
            </a:solidFill>
            <a:prstDash val="solid"/>
          </a:ln>
        </p:spPr>
      </p:sp>
      <p:sp>
        <p:nvSpPr>
          <p:cNvPr id="10" name="Text 8"/>
          <p:cNvSpPr/>
          <p:nvPr/>
        </p:nvSpPr>
        <p:spPr>
          <a:xfrm>
            <a:off x="4617720" y="2706624"/>
            <a:ext cx="868680" cy="329184"/>
          </a:xfrm>
          <a:prstGeom prst="rect">
            <a:avLst/>
          </a:prstGeom>
          <a:noFill/>
          <a:ln/>
        </p:spPr>
        <p:txBody>
          <a:bodyPr wrap="square" lIns="0" tIns="0" rIns="0" bIns="0" rtlCol="0" anchor="ctr">
            <a:normAutofit/>
          </a:bodyPr>
          <a:lstStyle/>
          <a:p>
            <a:pPr algn="ctr" indent="0" marL="0">
              <a:buNone/>
            </a:pPr>
            <a:r>
              <a:rPr lang="en-US" sz="980" b="1" dirty="0">
                <a:solidFill>
                  <a:srgbClr val="FF3621"/>
                </a:solidFill>
                <a:latin typeface="Aptos" pitchFamily="34" charset="0"/>
                <a:ea typeface="Aptos" pitchFamily="34" charset="-122"/>
                <a:cs typeface="Aptos" pitchFamily="34" charset="-120"/>
              </a:rPr>
              <a:t>Mar</a:t>
            </a:r>
            <a:endParaRPr lang="en-US" sz="980" dirty="0"/>
          </a:p>
        </p:txBody>
      </p:sp>
      <p:sp>
        <p:nvSpPr>
          <p:cNvPr id="11" name="Shape 9"/>
          <p:cNvSpPr/>
          <p:nvPr/>
        </p:nvSpPr>
        <p:spPr>
          <a:xfrm>
            <a:off x="6400800" y="2651760"/>
            <a:ext cx="960120" cy="438912"/>
          </a:xfrm>
          <a:prstGeom prst="roundRect">
            <a:avLst>
              <a:gd name="adj" fmla="val 18750"/>
            </a:avLst>
          </a:prstGeom>
          <a:solidFill>
            <a:srgbClr val="EEF2F7"/>
          </a:solidFill>
          <a:ln w="12700">
            <a:solidFill>
              <a:srgbClr val="EEF2F7"/>
            </a:solidFill>
            <a:prstDash val="solid"/>
          </a:ln>
        </p:spPr>
      </p:sp>
      <p:sp>
        <p:nvSpPr>
          <p:cNvPr id="12" name="Text 10"/>
          <p:cNvSpPr/>
          <p:nvPr/>
        </p:nvSpPr>
        <p:spPr>
          <a:xfrm>
            <a:off x="6446520" y="2706624"/>
            <a:ext cx="868680" cy="329184"/>
          </a:xfrm>
          <a:prstGeom prst="rect">
            <a:avLst/>
          </a:prstGeom>
          <a:noFill/>
          <a:ln/>
        </p:spPr>
        <p:txBody>
          <a:bodyPr wrap="square" lIns="0" tIns="0" rIns="0" bIns="0" rtlCol="0" anchor="ctr">
            <a:normAutofit/>
          </a:bodyPr>
          <a:lstStyle/>
          <a:p>
            <a:pPr algn="ctr" indent="0" marL="0">
              <a:buNone/>
            </a:pPr>
            <a:r>
              <a:rPr lang="en-US" sz="980" b="1" dirty="0">
                <a:solidFill>
                  <a:srgbClr val="17233C"/>
                </a:solidFill>
                <a:latin typeface="Aptos" pitchFamily="34" charset="0"/>
                <a:ea typeface="Aptos" pitchFamily="34" charset="-122"/>
                <a:cs typeface="Aptos" pitchFamily="34" charset="-120"/>
              </a:rPr>
              <a:t>Apr</a:t>
            </a:r>
            <a:endParaRPr lang="en-US" sz="980" dirty="0"/>
          </a:p>
        </p:txBody>
      </p:sp>
      <p:sp>
        <p:nvSpPr>
          <p:cNvPr id="13" name="Shape 11"/>
          <p:cNvSpPr/>
          <p:nvPr/>
        </p:nvSpPr>
        <p:spPr>
          <a:xfrm>
            <a:off x="8229600" y="2651760"/>
            <a:ext cx="960120" cy="438912"/>
          </a:xfrm>
          <a:prstGeom prst="roundRect">
            <a:avLst>
              <a:gd name="adj" fmla="val 18750"/>
            </a:avLst>
          </a:prstGeom>
          <a:solidFill>
            <a:srgbClr val="EEF2F7"/>
          </a:solidFill>
          <a:ln w="12700">
            <a:solidFill>
              <a:srgbClr val="EEF2F7"/>
            </a:solidFill>
            <a:prstDash val="solid"/>
          </a:ln>
        </p:spPr>
      </p:sp>
      <p:sp>
        <p:nvSpPr>
          <p:cNvPr id="14" name="Text 12"/>
          <p:cNvSpPr/>
          <p:nvPr/>
        </p:nvSpPr>
        <p:spPr>
          <a:xfrm>
            <a:off x="8275320" y="2706624"/>
            <a:ext cx="868680" cy="329184"/>
          </a:xfrm>
          <a:prstGeom prst="rect">
            <a:avLst/>
          </a:prstGeom>
          <a:noFill/>
          <a:ln/>
        </p:spPr>
        <p:txBody>
          <a:bodyPr wrap="square" lIns="0" tIns="0" rIns="0" bIns="0" rtlCol="0" anchor="ctr">
            <a:normAutofit/>
          </a:bodyPr>
          <a:lstStyle/>
          <a:p>
            <a:pPr algn="ctr" indent="0" marL="0">
              <a:buNone/>
            </a:pPr>
            <a:r>
              <a:rPr lang="en-US" sz="980" b="1" dirty="0">
                <a:solidFill>
                  <a:srgbClr val="17233C"/>
                </a:solidFill>
                <a:latin typeface="Aptos" pitchFamily="34" charset="0"/>
                <a:ea typeface="Aptos" pitchFamily="34" charset="-122"/>
                <a:cs typeface="Aptos" pitchFamily="34" charset="-120"/>
              </a:rPr>
              <a:t>May</a:t>
            </a:r>
            <a:endParaRPr lang="en-US" sz="980" dirty="0"/>
          </a:p>
        </p:txBody>
      </p:sp>
      <p:sp>
        <p:nvSpPr>
          <p:cNvPr id="15" name="Shape 13"/>
          <p:cNvSpPr/>
          <p:nvPr/>
        </p:nvSpPr>
        <p:spPr>
          <a:xfrm>
            <a:off x="10058400" y="2651760"/>
            <a:ext cx="960120" cy="438912"/>
          </a:xfrm>
          <a:prstGeom prst="roundRect">
            <a:avLst>
              <a:gd name="adj" fmla="val 18750"/>
            </a:avLst>
          </a:prstGeom>
          <a:solidFill>
            <a:srgbClr val="EEF2F7"/>
          </a:solidFill>
          <a:ln w="12700">
            <a:solidFill>
              <a:srgbClr val="EEF2F7"/>
            </a:solidFill>
            <a:prstDash val="solid"/>
          </a:ln>
        </p:spPr>
      </p:sp>
      <p:sp>
        <p:nvSpPr>
          <p:cNvPr id="16" name="Text 14"/>
          <p:cNvSpPr/>
          <p:nvPr/>
        </p:nvSpPr>
        <p:spPr>
          <a:xfrm>
            <a:off x="10104120" y="2706624"/>
            <a:ext cx="868680" cy="329184"/>
          </a:xfrm>
          <a:prstGeom prst="rect">
            <a:avLst/>
          </a:prstGeom>
          <a:noFill/>
          <a:ln/>
        </p:spPr>
        <p:txBody>
          <a:bodyPr wrap="square" lIns="0" tIns="0" rIns="0" bIns="0" rtlCol="0" anchor="ctr">
            <a:normAutofit/>
          </a:bodyPr>
          <a:lstStyle/>
          <a:p>
            <a:pPr algn="ctr" indent="0" marL="0">
              <a:buNone/>
            </a:pPr>
            <a:r>
              <a:rPr lang="en-US" sz="980" b="1" dirty="0">
                <a:solidFill>
                  <a:srgbClr val="17233C"/>
                </a:solidFill>
                <a:latin typeface="Aptos" pitchFamily="34" charset="0"/>
                <a:ea typeface="Aptos" pitchFamily="34" charset="-122"/>
                <a:cs typeface="Aptos" pitchFamily="34" charset="-120"/>
              </a:rPr>
              <a:t>Jun</a:t>
            </a:r>
            <a:endParaRPr lang="en-US" sz="980" dirty="0"/>
          </a:p>
        </p:txBody>
      </p:sp>
      <p:sp>
        <p:nvSpPr>
          <p:cNvPr id="17" name="Shape 15"/>
          <p:cNvSpPr/>
          <p:nvPr/>
        </p:nvSpPr>
        <p:spPr>
          <a:xfrm>
            <a:off x="4526280" y="3840480"/>
            <a:ext cx="0" cy="-594360"/>
          </a:xfrm>
          <a:prstGeom prst="line">
            <a:avLst/>
          </a:prstGeom>
          <a:noFill/>
          <a:ln w="12700">
            <a:solidFill>
              <a:srgbClr val="FF3621"/>
            </a:solidFill>
            <a:prstDash val="solid"/>
            <a:headEnd type="none"/>
            <a:tailEnd type="triangle"/>
          </a:ln>
        </p:spPr>
      </p:sp>
      <p:sp>
        <p:nvSpPr>
          <p:cNvPr id="18" name="Text 16"/>
          <p:cNvSpPr/>
          <p:nvPr/>
        </p:nvSpPr>
        <p:spPr>
          <a:xfrm>
            <a:off x="2926080" y="3931920"/>
            <a:ext cx="3200400" cy="347472"/>
          </a:xfrm>
          <a:prstGeom prst="rect">
            <a:avLst/>
          </a:prstGeom>
          <a:noFill/>
          <a:ln/>
        </p:spPr>
        <p:txBody>
          <a:bodyPr wrap="square" lIns="0" tIns="0" rIns="0" bIns="0" rtlCol="0" anchor="ctr"/>
          <a:lstStyle/>
          <a:p>
            <a:pPr algn="ctr" indent="0" marL="0">
              <a:buNone/>
            </a:pPr>
            <a:r>
              <a:rPr lang="en-US" sz="1100" b="1" dirty="0">
                <a:solidFill>
                  <a:srgbClr val="FF3621"/>
                </a:solidFill>
                <a:latin typeface="Aptos" pitchFamily="34" charset="0"/>
                <a:ea typeface="Aptos" pitchFamily="34" charset="-122"/>
                <a:cs typeface="Aptos" pitchFamily="34" charset="-120"/>
              </a:rPr>
              <a:t>A corrected rule requires March to be rebuilt</a:t>
            </a:r>
            <a:endParaRPr lang="en-US" sz="1100" dirty="0"/>
          </a:p>
        </p:txBody>
      </p:sp>
      <p:sp>
        <p:nvSpPr>
          <p:cNvPr id="19" name="Shape 17"/>
          <p:cNvSpPr/>
          <p:nvPr/>
        </p:nvSpPr>
        <p:spPr>
          <a:xfrm>
            <a:off x="6675120" y="3657600"/>
            <a:ext cx="4343400" cy="1143000"/>
          </a:xfrm>
          <a:prstGeom prst="roundRect">
            <a:avLst>
              <a:gd name="adj" fmla="val 5600"/>
            </a:avLst>
          </a:prstGeom>
          <a:solidFill>
            <a:srgbClr val="FFFFFF"/>
          </a:solidFill>
          <a:ln w="12700">
            <a:solidFill>
              <a:srgbClr val="DDE2EA"/>
            </a:solidFill>
            <a:prstDash val="solid"/>
          </a:ln>
        </p:spPr>
      </p:sp>
      <p:sp>
        <p:nvSpPr>
          <p:cNvPr id="20" name="Shape 18"/>
          <p:cNvSpPr/>
          <p:nvPr/>
        </p:nvSpPr>
        <p:spPr>
          <a:xfrm>
            <a:off x="6675120" y="3657600"/>
            <a:ext cx="50292" cy="1143000"/>
          </a:xfrm>
          <a:prstGeom prst="rect">
            <a:avLst/>
          </a:prstGeom>
          <a:solidFill>
            <a:srgbClr val="00A972"/>
          </a:solidFill>
          <a:ln w="12700">
            <a:solidFill>
              <a:srgbClr val="00A972"/>
            </a:solidFill>
            <a:prstDash val="solid"/>
          </a:ln>
        </p:spPr>
      </p:sp>
      <p:sp>
        <p:nvSpPr>
          <p:cNvPr id="21" name="Text 19"/>
          <p:cNvSpPr/>
          <p:nvPr/>
        </p:nvSpPr>
        <p:spPr>
          <a:xfrm>
            <a:off x="6876288" y="3877056"/>
            <a:ext cx="397764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Backfill-ready design</a:t>
            </a:r>
            <a:endParaRPr lang="en-US" sz="1250" dirty="0"/>
          </a:p>
        </p:txBody>
      </p:sp>
      <p:sp>
        <p:nvSpPr>
          <p:cNvPr id="22" name="Text 20"/>
          <p:cNvSpPr/>
          <p:nvPr/>
        </p:nvSpPr>
        <p:spPr>
          <a:xfrm>
            <a:off x="6876288" y="4315968"/>
            <a:ext cx="3959352" cy="320040"/>
          </a:xfrm>
          <a:prstGeom prst="rect">
            <a:avLst/>
          </a:prstGeom>
          <a:noFill/>
          <a:ln/>
        </p:spPr>
        <p:txBody>
          <a:bodyPr wrap="square" lIns="254" tIns="254" rIns="254" bIns="254" rtlCol="0" anchor="t">
            <a:normAutofit/>
          </a:bodyPr>
          <a:lstStyle/>
          <a:p>
            <a:pPr indent="0" marL="0">
              <a:buNone/>
            </a:pPr>
            <a:r>
              <a:rPr lang="en-US" sz="920" dirty="0">
                <a:solidFill>
                  <a:srgbClr val="283246"/>
                </a:solidFill>
                <a:latin typeface="Aptos" pitchFamily="34" charset="0"/>
                <a:ea typeface="Aptos" pitchFamily="34" charset="-122"/>
                <a:cs typeface="Aptos" pitchFamily="34" charset="-120"/>
              </a:rPr>
              <a:t>Parameterise the date range + keep source history + make writes idempotent.</a:t>
            </a:r>
            <a:endParaRPr lang="en-US" sz="920" dirty="0"/>
          </a:p>
        </p:txBody>
      </p:sp>
      <p:sp>
        <p:nvSpPr>
          <p:cNvPr id="23" name="Text 21"/>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3</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Observability — Can the Pipeline Explain Its Own Health?</a:t>
            </a:r>
            <a:endParaRPr lang="en-US" sz="2400" dirty="0"/>
          </a:p>
        </p:txBody>
      </p:sp>
      <p:sp>
        <p:nvSpPr>
          <p:cNvPr id="3" name="Shape 1"/>
          <p:cNvSpPr/>
          <p:nvPr/>
        </p:nvSpPr>
        <p:spPr>
          <a:xfrm>
            <a:off x="640080" y="1554480"/>
            <a:ext cx="2578608" cy="2880360"/>
          </a:xfrm>
          <a:prstGeom prst="roundRect">
            <a:avLst>
              <a:gd name="adj" fmla="val 2482"/>
            </a:avLst>
          </a:prstGeom>
          <a:solidFill>
            <a:srgbClr val="FFFFFF"/>
          </a:solidFill>
          <a:ln w="12700">
            <a:solidFill>
              <a:srgbClr val="DDE2EA"/>
            </a:solidFill>
            <a:prstDash val="solid"/>
          </a:ln>
        </p:spPr>
      </p:sp>
      <p:sp>
        <p:nvSpPr>
          <p:cNvPr id="4" name="Shape 2"/>
          <p:cNvSpPr/>
          <p:nvPr/>
        </p:nvSpPr>
        <p:spPr>
          <a:xfrm>
            <a:off x="640080" y="1554480"/>
            <a:ext cx="50292" cy="2880360"/>
          </a:xfrm>
          <a:prstGeom prst="rect">
            <a:avLst/>
          </a:prstGeom>
          <a:solidFill>
            <a:srgbClr val="3B6FF5"/>
          </a:solidFill>
          <a:ln w="12700">
            <a:solidFill>
              <a:srgbClr val="3B6FF5"/>
            </a:solidFill>
            <a:prstDash val="solid"/>
          </a:ln>
        </p:spPr>
      </p:sp>
      <p:sp>
        <p:nvSpPr>
          <p:cNvPr id="5" name="Shape 3"/>
          <p:cNvSpPr/>
          <p:nvPr/>
        </p:nvSpPr>
        <p:spPr>
          <a:xfrm>
            <a:off x="841248" y="1737360"/>
            <a:ext cx="566928" cy="310896"/>
          </a:xfrm>
          <a:prstGeom prst="roundRect">
            <a:avLst>
              <a:gd name="adj" fmla="val 14706"/>
            </a:avLst>
          </a:prstGeom>
          <a:solidFill>
            <a:srgbClr val="EBF1FE"/>
          </a:solidFill>
          <a:ln w="12700">
            <a:solidFill>
              <a:srgbClr val="EBF1FE"/>
            </a:solidFill>
            <a:prstDash val="solid"/>
          </a:ln>
        </p:spPr>
      </p:sp>
      <p:sp>
        <p:nvSpPr>
          <p:cNvPr id="6" name="Text 4"/>
          <p:cNvSpPr/>
          <p:nvPr/>
        </p:nvSpPr>
        <p:spPr>
          <a:xfrm>
            <a:off x="841248" y="180136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1</a:t>
            </a:r>
            <a:endParaRPr lang="en-US" sz="730" dirty="0"/>
          </a:p>
        </p:txBody>
      </p:sp>
      <p:sp>
        <p:nvSpPr>
          <p:cNvPr id="7" name="Text 5"/>
          <p:cNvSpPr/>
          <p:nvPr/>
        </p:nvSpPr>
        <p:spPr>
          <a:xfrm>
            <a:off x="841248" y="2139696"/>
            <a:ext cx="2212848"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Freshness</a:t>
            </a:r>
            <a:endParaRPr lang="en-US" sz="1400" dirty="0"/>
          </a:p>
        </p:txBody>
      </p:sp>
      <p:sp>
        <p:nvSpPr>
          <p:cNvPr id="8" name="Text 6"/>
          <p:cNvSpPr/>
          <p:nvPr/>
        </p:nvSpPr>
        <p:spPr>
          <a:xfrm>
            <a:off x="841248" y="2514600"/>
            <a:ext cx="2194560" cy="1755648"/>
          </a:xfrm>
          <a:prstGeom prst="rect">
            <a:avLst/>
          </a:prstGeom>
          <a:noFill/>
          <a:ln/>
        </p:spPr>
        <p:txBody>
          <a:bodyPr wrap="square" lIns="254" tIns="254" rIns="254" bIns="254" rtlCol="0" anchor="t">
            <a:normAutofit/>
          </a:bodyPr>
          <a:lstStyle/>
          <a:p>
            <a:pPr indent="0" marL="0">
              <a:buNone/>
            </a:pPr>
            <a:r>
              <a:rPr lang="en-US" sz="1040" dirty="0">
                <a:solidFill>
                  <a:srgbClr val="283246"/>
                </a:solidFill>
                <a:latin typeface="Aptos" pitchFamily="34" charset="0"/>
                <a:ea typeface="Aptos" pitchFamily="34" charset="-122"/>
                <a:cs typeface="Aptos" pitchFamily="34" charset="-120"/>
              </a:rPr>
              <a:t>Is the data arriving on time?</a:t>
            </a:r>
            <a:endParaRPr lang="en-US" sz="1040" dirty="0"/>
          </a:p>
        </p:txBody>
      </p:sp>
      <p:sp>
        <p:nvSpPr>
          <p:cNvPr id="9" name="Shape 7"/>
          <p:cNvSpPr/>
          <p:nvPr/>
        </p:nvSpPr>
        <p:spPr>
          <a:xfrm>
            <a:off x="3502152" y="1554480"/>
            <a:ext cx="2578608" cy="2880360"/>
          </a:xfrm>
          <a:prstGeom prst="roundRect">
            <a:avLst>
              <a:gd name="adj" fmla="val 2482"/>
            </a:avLst>
          </a:prstGeom>
          <a:solidFill>
            <a:srgbClr val="FFFFFF"/>
          </a:solidFill>
          <a:ln w="12700">
            <a:solidFill>
              <a:srgbClr val="DDE2EA"/>
            </a:solidFill>
            <a:prstDash val="solid"/>
          </a:ln>
        </p:spPr>
      </p:sp>
      <p:sp>
        <p:nvSpPr>
          <p:cNvPr id="10" name="Shape 8"/>
          <p:cNvSpPr/>
          <p:nvPr/>
        </p:nvSpPr>
        <p:spPr>
          <a:xfrm>
            <a:off x="3502152" y="1554480"/>
            <a:ext cx="50292" cy="2880360"/>
          </a:xfrm>
          <a:prstGeom prst="rect">
            <a:avLst/>
          </a:prstGeom>
          <a:solidFill>
            <a:srgbClr val="00A972"/>
          </a:solidFill>
          <a:ln w="12700">
            <a:solidFill>
              <a:srgbClr val="00A972"/>
            </a:solidFill>
            <a:prstDash val="solid"/>
          </a:ln>
        </p:spPr>
      </p:sp>
      <p:sp>
        <p:nvSpPr>
          <p:cNvPr id="11" name="Shape 9"/>
          <p:cNvSpPr/>
          <p:nvPr/>
        </p:nvSpPr>
        <p:spPr>
          <a:xfrm>
            <a:off x="3703320" y="1737360"/>
            <a:ext cx="566928" cy="310896"/>
          </a:xfrm>
          <a:prstGeom prst="roundRect">
            <a:avLst>
              <a:gd name="adj" fmla="val 14706"/>
            </a:avLst>
          </a:prstGeom>
          <a:solidFill>
            <a:srgbClr val="E6F6F1"/>
          </a:solidFill>
          <a:ln w="12700">
            <a:solidFill>
              <a:srgbClr val="E6F6F1"/>
            </a:solidFill>
            <a:prstDash val="solid"/>
          </a:ln>
        </p:spPr>
      </p:sp>
      <p:sp>
        <p:nvSpPr>
          <p:cNvPr id="12" name="Text 10"/>
          <p:cNvSpPr/>
          <p:nvPr/>
        </p:nvSpPr>
        <p:spPr>
          <a:xfrm>
            <a:off x="3703320" y="180136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2</a:t>
            </a:r>
            <a:endParaRPr lang="en-US" sz="730" dirty="0"/>
          </a:p>
        </p:txBody>
      </p:sp>
      <p:sp>
        <p:nvSpPr>
          <p:cNvPr id="13" name="Text 11"/>
          <p:cNvSpPr/>
          <p:nvPr/>
        </p:nvSpPr>
        <p:spPr>
          <a:xfrm>
            <a:off x="3703320" y="2139696"/>
            <a:ext cx="2212848"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Volume</a:t>
            </a:r>
            <a:endParaRPr lang="en-US" sz="1400" dirty="0"/>
          </a:p>
        </p:txBody>
      </p:sp>
      <p:sp>
        <p:nvSpPr>
          <p:cNvPr id="14" name="Text 12"/>
          <p:cNvSpPr/>
          <p:nvPr/>
        </p:nvSpPr>
        <p:spPr>
          <a:xfrm>
            <a:off x="3703320" y="2514600"/>
            <a:ext cx="2194560" cy="1755648"/>
          </a:xfrm>
          <a:prstGeom prst="rect">
            <a:avLst/>
          </a:prstGeom>
          <a:noFill/>
          <a:ln/>
        </p:spPr>
        <p:txBody>
          <a:bodyPr wrap="square" lIns="254" tIns="254" rIns="254" bIns="254" rtlCol="0" anchor="t">
            <a:normAutofit/>
          </a:bodyPr>
          <a:lstStyle/>
          <a:p>
            <a:pPr indent="0" marL="0">
              <a:buNone/>
            </a:pPr>
            <a:r>
              <a:rPr lang="en-US" sz="1040" dirty="0">
                <a:solidFill>
                  <a:srgbClr val="283246"/>
                </a:solidFill>
                <a:latin typeface="Aptos" pitchFamily="34" charset="0"/>
                <a:ea typeface="Aptos" pitchFamily="34" charset="-122"/>
                <a:cs typeface="Aptos" pitchFamily="34" charset="-120"/>
              </a:rPr>
              <a:t>Are row counts / bytes within expected range?</a:t>
            </a:r>
            <a:endParaRPr lang="en-US" sz="1040" dirty="0"/>
          </a:p>
        </p:txBody>
      </p:sp>
      <p:sp>
        <p:nvSpPr>
          <p:cNvPr id="15" name="Shape 13"/>
          <p:cNvSpPr/>
          <p:nvPr/>
        </p:nvSpPr>
        <p:spPr>
          <a:xfrm>
            <a:off x="6364224" y="1554480"/>
            <a:ext cx="2578608" cy="2880360"/>
          </a:xfrm>
          <a:prstGeom prst="roundRect">
            <a:avLst>
              <a:gd name="adj" fmla="val 2482"/>
            </a:avLst>
          </a:prstGeom>
          <a:solidFill>
            <a:srgbClr val="FFFFFF"/>
          </a:solidFill>
          <a:ln w="12700">
            <a:solidFill>
              <a:srgbClr val="DDE2EA"/>
            </a:solidFill>
            <a:prstDash val="solid"/>
          </a:ln>
        </p:spPr>
      </p:sp>
      <p:sp>
        <p:nvSpPr>
          <p:cNvPr id="16" name="Shape 14"/>
          <p:cNvSpPr/>
          <p:nvPr/>
        </p:nvSpPr>
        <p:spPr>
          <a:xfrm>
            <a:off x="6364224" y="1554480"/>
            <a:ext cx="50292" cy="2880360"/>
          </a:xfrm>
          <a:prstGeom prst="rect">
            <a:avLst/>
          </a:prstGeom>
          <a:solidFill>
            <a:srgbClr val="7C4DFF"/>
          </a:solidFill>
          <a:ln w="12700">
            <a:solidFill>
              <a:srgbClr val="7C4DFF"/>
            </a:solidFill>
            <a:prstDash val="solid"/>
          </a:ln>
        </p:spPr>
      </p:sp>
      <p:sp>
        <p:nvSpPr>
          <p:cNvPr id="17" name="Shape 15"/>
          <p:cNvSpPr/>
          <p:nvPr/>
        </p:nvSpPr>
        <p:spPr>
          <a:xfrm>
            <a:off x="6565392" y="1737360"/>
            <a:ext cx="566928" cy="310896"/>
          </a:xfrm>
          <a:prstGeom prst="roundRect">
            <a:avLst>
              <a:gd name="adj" fmla="val 14706"/>
            </a:avLst>
          </a:prstGeom>
          <a:solidFill>
            <a:srgbClr val="F2EDFF"/>
          </a:solidFill>
          <a:ln w="12700">
            <a:solidFill>
              <a:srgbClr val="F2EDFF"/>
            </a:solidFill>
            <a:prstDash val="solid"/>
          </a:ln>
        </p:spPr>
      </p:sp>
      <p:sp>
        <p:nvSpPr>
          <p:cNvPr id="18" name="Text 16"/>
          <p:cNvSpPr/>
          <p:nvPr/>
        </p:nvSpPr>
        <p:spPr>
          <a:xfrm>
            <a:off x="6565392" y="180136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3</a:t>
            </a:r>
            <a:endParaRPr lang="en-US" sz="730" dirty="0"/>
          </a:p>
        </p:txBody>
      </p:sp>
      <p:sp>
        <p:nvSpPr>
          <p:cNvPr id="19" name="Text 17"/>
          <p:cNvSpPr/>
          <p:nvPr/>
        </p:nvSpPr>
        <p:spPr>
          <a:xfrm>
            <a:off x="6565392" y="2139696"/>
            <a:ext cx="2212848"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Quality</a:t>
            </a:r>
            <a:endParaRPr lang="en-US" sz="1400" dirty="0"/>
          </a:p>
        </p:txBody>
      </p:sp>
      <p:sp>
        <p:nvSpPr>
          <p:cNvPr id="20" name="Text 18"/>
          <p:cNvSpPr/>
          <p:nvPr/>
        </p:nvSpPr>
        <p:spPr>
          <a:xfrm>
            <a:off x="6565392" y="2514600"/>
            <a:ext cx="2194560" cy="1755648"/>
          </a:xfrm>
          <a:prstGeom prst="rect">
            <a:avLst/>
          </a:prstGeom>
          <a:noFill/>
          <a:ln/>
        </p:spPr>
        <p:txBody>
          <a:bodyPr wrap="square" lIns="254" tIns="254" rIns="254" bIns="254" rtlCol="0" anchor="t">
            <a:normAutofit/>
          </a:bodyPr>
          <a:lstStyle/>
          <a:p>
            <a:pPr indent="0" marL="0">
              <a:buNone/>
            </a:pPr>
            <a:r>
              <a:rPr lang="en-US" sz="1040" dirty="0">
                <a:solidFill>
                  <a:srgbClr val="283246"/>
                </a:solidFill>
                <a:latin typeface="Aptos" pitchFamily="34" charset="0"/>
                <a:ea typeface="Aptos" pitchFamily="34" charset="-122"/>
                <a:cs typeface="Aptos" pitchFamily="34" charset="-120"/>
              </a:rPr>
              <a:t>Are validation rules passing?</a:t>
            </a:r>
            <a:endParaRPr lang="en-US" sz="1040" dirty="0"/>
          </a:p>
        </p:txBody>
      </p:sp>
      <p:sp>
        <p:nvSpPr>
          <p:cNvPr id="21" name="Shape 19"/>
          <p:cNvSpPr/>
          <p:nvPr/>
        </p:nvSpPr>
        <p:spPr>
          <a:xfrm>
            <a:off x="9226296" y="1554480"/>
            <a:ext cx="2578608" cy="2880360"/>
          </a:xfrm>
          <a:prstGeom prst="roundRect">
            <a:avLst>
              <a:gd name="adj" fmla="val 2482"/>
            </a:avLst>
          </a:prstGeom>
          <a:solidFill>
            <a:srgbClr val="FFFFFF"/>
          </a:solidFill>
          <a:ln w="12700">
            <a:solidFill>
              <a:srgbClr val="DDE2EA"/>
            </a:solidFill>
            <a:prstDash val="solid"/>
          </a:ln>
        </p:spPr>
      </p:sp>
      <p:sp>
        <p:nvSpPr>
          <p:cNvPr id="22" name="Shape 20"/>
          <p:cNvSpPr/>
          <p:nvPr/>
        </p:nvSpPr>
        <p:spPr>
          <a:xfrm>
            <a:off x="9226296" y="1554480"/>
            <a:ext cx="50292" cy="2880360"/>
          </a:xfrm>
          <a:prstGeom prst="rect">
            <a:avLst/>
          </a:prstGeom>
          <a:solidFill>
            <a:srgbClr val="F3A712"/>
          </a:solidFill>
          <a:ln w="12700">
            <a:solidFill>
              <a:srgbClr val="F3A712"/>
            </a:solidFill>
            <a:prstDash val="solid"/>
          </a:ln>
        </p:spPr>
      </p:sp>
      <p:sp>
        <p:nvSpPr>
          <p:cNvPr id="23" name="Shape 21"/>
          <p:cNvSpPr/>
          <p:nvPr/>
        </p:nvSpPr>
        <p:spPr>
          <a:xfrm>
            <a:off x="9427464" y="1737360"/>
            <a:ext cx="566928" cy="310896"/>
          </a:xfrm>
          <a:prstGeom prst="roundRect">
            <a:avLst>
              <a:gd name="adj" fmla="val 14706"/>
            </a:avLst>
          </a:prstGeom>
          <a:solidFill>
            <a:srgbClr val="FEF6E7"/>
          </a:solidFill>
          <a:ln w="12700">
            <a:solidFill>
              <a:srgbClr val="FEF6E7"/>
            </a:solidFill>
            <a:prstDash val="solid"/>
          </a:ln>
        </p:spPr>
      </p:sp>
      <p:sp>
        <p:nvSpPr>
          <p:cNvPr id="24" name="Text 22"/>
          <p:cNvSpPr/>
          <p:nvPr/>
        </p:nvSpPr>
        <p:spPr>
          <a:xfrm>
            <a:off x="9427464" y="1801368"/>
            <a:ext cx="566928" cy="128016"/>
          </a:xfrm>
          <a:prstGeom prst="rect">
            <a:avLst/>
          </a:prstGeom>
          <a:noFill/>
          <a:ln/>
        </p:spPr>
        <p:txBody>
          <a:bodyPr wrap="square" lIns="0" tIns="0" rIns="0" bIns="0" rtlCol="0" anchor="ctr"/>
          <a:lstStyle/>
          <a:p>
            <a:pPr algn="ctr" indent="0" marL="0">
              <a:buNone/>
            </a:pPr>
            <a:r>
              <a:rPr lang="en-US" sz="730" b="1" dirty="0">
                <a:solidFill>
                  <a:srgbClr val="F3A712"/>
                </a:solidFill>
              </a:rPr>
              <a:t>4</a:t>
            </a:r>
            <a:endParaRPr lang="en-US" sz="730" dirty="0"/>
          </a:p>
        </p:txBody>
      </p:sp>
      <p:sp>
        <p:nvSpPr>
          <p:cNvPr id="25" name="Text 23"/>
          <p:cNvSpPr/>
          <p:nvPr/>
        </p:nvSpPr>
        <p:spPr>
          <a:xfrm>
            <a:off x="9427464" y="2139696"/>
            <a:ext cx="2212848"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Lineage</a:t>
            </a:r>
            <a:endParaRPr lang="en-US" sz="1400" dirty="0"/>
          </a:p>
        </p:txBody>
      </p:sp>
      <p:sp>
        <p:nvSpPr>
          <p:cNvPr id="26" name="Text 24"/>
          <p:cNvSpPr/>
          <p:nvPr/>
        </p:nvSpPr>
        <p:spPr>
          <a:xfrm>
            <a:off x="9427464" y="2514600"/>
            <a:ext cx="2194560" cy="1755648"/>
          </a:xfrm>
          <a:prstGeom prst="rect">
            <a:avLst/>
          </a:prstGeom>
          <a:noFill/>
          <a:ln/>
        </p:spPr>
        <p:txBody>
          <a:bodyPr wrap="square" lIns="254" tIns="254" rIns="254" bIns="254" rtlCol="0" anchor="t">
            <a:normAutofit/>
          </a:bodyPr>
          <a:lstStyle/>
          <a:p>
            <a:pPr indent="0" marL="0">
              <a:buNone/>
            </a:pPr>
            <a:r>
              <a:rPr lang="en-US" sz="1040" dirty="0">
                <a:solidFill>
                  <a:srgbClr val="283246"/>
                </a:solidFill>
                <a:latin typeface="Aptos" pitchFamily="34" charset="0"/>
                <a:ea typeface="Aptos" pitchFamily="34" charset="-122"/>
                <a:cs typeface="Aptos" pitchFamily="34" charset="-120"/>
              </a:rPr>
              <a:t>Which upstream source produced this result?</a:t>
            </a:r>
            <a:endParaRPr lang="en-US" sz="1040" dirty="0"/>
          </a:p>
        </p:txBody>
      </p:sp>
      <p:sp>
        <p:nvSpPr>
          <p:cNvPr id="27" name="Shape 25"/>
          <p:cNvSpPr/>
          <p:nvPr/>
        </p:nvSpPr>
        <p:spPr>
          <a:xfrm>
            <a:off x="1097280" y="4846320"/>
            <a:ext cx="9966960" cy="749808"/>
          </a:xfrm>
          <a:prstGeom prst="roundRect">
            <a:avLst>
              <a:gd name="adj" fmla="val 7317"/>
            </a:avLst>
          </a:prstGeom>
          <a:solidFill>
            <a:srgbClr val="FFF4F1"/>
          </a:solidFill>
          <a:ln w="12700">
            <a:solidFill>
              <a:srgbClr val="FFF4F1"/>
            </a:solidFill>
            <a:prstDash val="solid"/>
          </a:ln>
        </p:spPr>
      </p:sp>
      <p:sp>
        <p:nvSpPr>
          <p:cNvPr id="28" name="Text 26"/>
          <p:cNvSpPr/>
          <p:nvPr/>
        </p:nvSpPr>
        <p:spPr>
          <a:xfrm>
            <a:off x="1261872" y="4965192"/>
            <a:ext cx="9637776" cy="521208"/>
          </a:xfrm>
          <a:prstGeom prst="rect">
            <a:avLst/>
          </a:prstGeom>
          <a:noFill/>
          <a:ln/>
        </p:spPr>
        <p:txBody>
          <a:bodyPr wrap="square" lIns="0" tIns="0" rIns="0" bIns="0" rtlCol="0" anchor="ctr">
            <a:normAutofit/>
          </a:bodyPr>
          <a:lstStyle/>
          <a:p>
            <a:pPr indent="0" marL="0">
              <a:buNone/>
            </a:pPr>
            <a:r>
              <a:rPr lang="en-US" sz="1100" b="1" dirty="0">
                <a:solidFill>
                  <a:srgbClr val="FF3621"/>
                </a:solidFill>
                <a:latin typeface="Aptos" pitchFamily="34" charset="0"/>
                <a:ea typeface="Aptos" pitchFamily="34" charset="-122"/>
                <a:cs typeface="Aptos" pitchFamily="34" charset="-120"/>
              </a:rPr>
              <a:t>Monitoring asks “is the system running?” Observability helps answer “why is the data wrong?”</a:t>
            </a:r>
            <a:endParaRPr lang="en-US" sz="1100" dirty="0"/>
          </a:p>
        </p:txBody>
      </p:sp>
      <p:sp>
        <p:nvSpPr>
          <p:cNvPr id="29" name="Text 27"/>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3–4</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Error Handling: Fail, Drop, Quarantine, or Retry?</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Not every bad event deserves the same response.</a:t>
            </a:r>
            <a:endParaRPr lang="en-US" sz="1100" dirty="0"/>
          </a:p>
        </p:txBody>
      </p:sp>
      <p:sp>
        <p:nvSpPr>
          <p:cNvPr id="4" name="Shape 2"/>
          <p:cNvSpPr/>
          <p:nvPr/>
        </p:nvSpPr>
        <p:spPr>
          <a:xfrm>
            <a:off x="594360" y="1572768"/>
            <a:ext cx="2615184" cy="3154680"/>
          </a:xfrm>
          <a:prstGeom prst="roundRect">
            <a:avLst>
              <a:gd name="adj" fmla="val 2448"/>
            </a:avLst>
          </a:prstGeom>
          <a:solidFill>
            <a:srgbClr val="FFFFFF"/>
          </a:solidFill>
          <a:ln w="12700">
            <a:solidFill>
              <a:srgbClr val="DDE2EA"/>
            </a:solidFill>
            <a:prstDash val="solid"/>
          </a:ln>
        </p:spPr>
      </p:sp>
      <p:sp>
        <p:nvSpPr>
          <p:cNvPr id="5" name="Shape 3"/>
          <p:cNvSpPr/>
          <p:nvPr/>
        </p:nvSpPr>
        <p:spPr>
          <a:xfrm>
            <a:off x="594360" y="1572768"/>
            <a:ext cx="50292" cy="3154680"/>
          </a:xfrm>
          <a:prstGeom prst="rect">
            <a:avLst/>
          </a:prstGeom>
          <a:solidFill>
            <a:srgbClr val="3B6FF5"/>
          </a:solidFill>
          <a:ln w="12700">
            <a:solidFill>
              <a:srgbClr val="3B6FF5"/>
            </a:solidFill>
            <a:prstDash val="solid"/>
          </a:ln>
        </p:spPr>
      </p:sp>
      <p:sp>
        <p:nvSpPr>
          <p:cNvPr id="6" name="Shape 4"/>
          <p:cNvSpPr/>
          <p:nvPr/>
        </p:nvSpPr>
        <p:spPr>
          <a:xfrm>
            <a:off x="795528" y="1755648"/>
            <a:ext cx="566928" cy="310896"/>
          </a:xfrm>
          <a:prstGeom prst="roundRect">
            <a:avLst>
              <a:gd name="adj" fmla="val 14706"/>
            </a:avLst>
          </a:prstGeom>
          <a:solidFill>
            <a:srgbClr val="EBF1FE"/>
          </a:solidFill>
          <a:ln w="12700">
            <a:solidFill>
              <a:srgbClr val="EBF1FE"/>
            </a:solidFill>
            <a:prstDash val="solid"/>
          </a:ln>
        </p:spPr>
      </p:sp>
      <p:sp>
        <p:nvSpPr>
          <p:cNvPr id="7" name="Text 5"/>
          <p:cNvSpPr/>
          <p:nvPr/>
        </p:nvSpPr>
        <p:spPr>
          <a:xfrm>
            <a:off x="795528" y="1819656"/>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1</a:t>
            </a:r>
            <a:endParaRPr lang="en-US" sz="730" dirty="0"/>
          </a:p>
        </p:txBody>
      </p:sp>
      <p:sp>
        <p:nvSpPr>
          <p:cNvPr id="8" name="Text 6"/>
          <p:cNvSpPr/>
          <p:nvPr/>
        </p:nvSpPr>
        <p:spPr>
          <a:xfrm>
            <a:off x="795528" y="2157984"/>
            <a:ext cx="2249424"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Retry</a:t>
            </a:r>
            <a:endParaRPr lang="en-US" sz="1400" dirty="0"/>
          </a:p>
        </p:txBody>
      </p:sp>
      <p:sp>
        <p:nvSpPr>
          <p:cNvPr id="9" name="Text 7"/>
          <p:cNvSpPr/>
          <p:nvPr/>
        </p:nvSpPr>
        <p:spPr>
          <a:xfrm>
            <a:off x="795528" y="2532888"/>
            <a:ext cx="2231136" cy="202996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Transient network / service failure</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Use backoff and bounded retries</a:t>
            </a:r>
            <a:endParaRPr lang="en-US" sz="1000" dirty="0"/>
          </a:p>
        </p:txBody>
      </p:sp>
      <p:sp>
        <p:nvSpPr>
          <p:cNvPr id="10" name="Shape 8"/>
          <p:cNvSpPr/>
          <p:nvPr/>
        </p:nvSpPr>
        <p:spPr>
          <a:xfrm>
            <a:off x="3474720" y="1572768"/>
            <a:ext cx="2615184" cy="3154680"/>
          </a:xfrm>
          <a:prstGeom prst="roundRect">
            <a:avLst>
              <a:gd name="adj" fmla="val 2448"/>
            </a:avLst>
          </a:prstGeom>
          <a:solidFill>
            <a:srgbClr val="FFFFFF"/>
          </a:solidFill>
          <a:ln w="12700">
            <a:solidFill>
              <a:srgbClr val="DDE2EA"/>
            </a:solidFill>
            <a:prstDash val="solid"/>
          </a:ln>
        </p:spPr>
      </p:sp>
      <p:sp>
        <p:nvSpPr>
          <p:cNvPr id="11" name="Shape 9"/>
          <p:cNvSpPr/>
          <p:nvPr/>
        </p:nvSpPr>
        <p:spPr>
          <a:xfrm>
            <a:off x="3474720" y="1572768"/>
            <a:ext cx="50292" cy="3154680"/>
          </a:xfrm>
          <a:prstGeom prst="rect">
            <a:avLst/>
          </a:prstGeom>
          <a:solidFill>
            <a:srgbClr val="F3A712"/>
          </a:solidFill>
          <a:ln w="12700">
            <a:solidFill>
              <a:srgbClr val="F3A712"/>
            </a:solidFill>
            <a:prstDash val="solid"/>
          </a:ln>
        </p:spPr>
      </p:sp>
      <p:sp>
        <p:nvSpPr>
          <p:cNvPr id="12" name="Shape 10"/>
          <p:cNvSpPr/>
          <p:nvPr/>
        </p:nvSpPr>
        <p:spPr>
          <a:xfrm>
            <a:off x="3675888" y="1755648"/>
            <a:ext cx="566928" cy="310896"/>
          </a:xfrm>
          <a:prstGeom prst="roundRect">
            <a:avLst>
              <a:gd name="adj" fmla="val 14706"/>
            </a:avLst>
          </a:prstGeom>
          <a:solidFill>
            <a:srgbClr val="FEF6E7"/>
          </a:solidFill>
          <a:ln w="12700">
            <a:solidFill>
              <a:srgbClr val="FEF6E7"/>
            </a:solidFill>
            <a:prstDash val="solid"/>
          </a:ln>
        </p:spPr>
      </p:sp>
      <p:sp>
        <p:nvSpPr>
          <p:cNvPr id="13" name="Text 11"/>
          <p:cNvSpPr/>
          <p:nvPr/>
        </p:nvSpPr>
        <p:spPr>
          <a:xfrm>
            <a:off x="3675888" y="1819656"/>
            <a:ext cx="566928" cy="128016"/>
          </a:xfrm>
          <a:prstGeom prst="rect">
            <a:avLst/>
          </a:prstGeom>
          <a:noFill/>
          <a:ln/>
        </p:spPr>
        <p:txBody>
          <a:bodyPr wrap="square" lIns="0" tIns="0" rIns="0" bIns="0" rtlCol="0" anchor="ctr"/>
          <a:lstStyle/>
          <a:p>
            <a:pPr algn="ctr" indent="0" marL="0">
              <a:buNone/>
            </a:pPr>
            <a:r>
              <a:rPr lang="en-US" sz="730" b="1" dirty="0">
                <a:solidFill>
                  <a:srgbClr val="F3A712"/>
                </a:solidFill>
              </a:rPr>
              <a:t>2</a:t>
            </a:r>
            <a:endParaRPr lang="en-US" sz="730" dirty="0"/>
          </a:p>
        </p:txBody>
      </p:sp>
      <p:sp>
        <p:nvSpPr>
          <p:cNvPr id="14" name="Text 12"/>
          <p:cNvSpPr/>
          <p:nvPr/>
        </p:nvSpPr>
        <p:spPr>
          <a:xfrm>
            <a:off x="3675888" y="2157984"/>
            <a:ext cx="2249424"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Drop</a:t>
            </a:r>
            <a:endParaRPr lang="en-US" sz="1400" dirty="0"/>
          </a:p>
        </p:txBody>
      </p:sp>
      <p:sp>
        <p:nvSpPr>
          <p:cNvPr id="15" name="Text 13"/>
          <p:cNvSpPr/>
          <p:nvPr/>
        </p:nvSpPr>
        <p:spPr>
          <a:xfrm>
            <a:off x="3675888" y="2532888"/>
            <a:ext cx="2231136" cy="202996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Record is safely discardable</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Track the count and reason</a:t>
            </a:r>
            <a:endParaRPr lang="en-US" sz="1000" dirty="0"/>
          </a:p>
        </p:txBody>
      </p:sp>
      <p:sp>
        <p:nvSpPr>
          <p:cNvPr id="16" name="Shape 14"/>
          <p:cNvSpPr/>
          <p:nvPr/>
        </p:nvSpPr>
        <p:spPr>
          <a:xfrm>
            <a:off x="6355080" y="1572768"/>
            <a:ext cx="2615184" cy="3154680"/>
          </a:xfrm>
          <a:prstGeom prst="roundRect">
            <a:avLst>
              <a:gd name="adj" fmla="val 2448"/>
            </a:avLst>
          </a:prstGeom>
          <a:solidFill>
            <a:srgbClr val="FFFFFF"/>
          </a:solidFill>
          <a:ln w="12700">
            <a:solidFill>
              <a:srgbClr val="DDE2EA"/>
            </a:solidFill>
            <a:prstDash val="solid"/>
          </a:ln>
        </p:spPr>
      </p:sp>
      <p:sp>
        <p:nvSpPr>
          <p:cNvPr id="17" name="Shape 15"/>
          <p:cNvSpPr/>
          <p:nvPr/>
        </p:nvSpPr>
        <p:spPr>
          <a:xfrm>
            <a:off x="6355080" y="1572768"/>
            <a:ext cx="50292" cy="3154680"/>
          </a:xfrm>
          <a:prstGeom prst="rect">
            <a:avLst/>
          </a:prstGeom>
          <a:solidFill>
            <a:srgbClr val="7C4DFF"/>
          </a:solidFill>
          <a:ln w="12700">
            <a:solidFill>
              <a:srgbClr val="7C4DFF"/>
            </a:solidFill>
            <a:prstDash val="solid"/>
          </a:ln>
        </p:spPr>
      </p:sp>
      <p:sp>
        <p:nvSpPr>
          <p:cNvPr id="18" name="Shape 16"/>
          <p:cNvSpPr/>
          <p:nvPr/>
        </p:nvSpPr>
        <p:spPr>
          <a:xfrm>
            <a:off x="6556248" y="1755648"/>
            <a:ext cx="566928" cy="310896"/>
          </a:xfrm>
          <a:prstGeom prst="roundRect">
            <a:avLst>
              <a:gd name="adj" fmla="val 14706"/>
            </a:avLst>
          </a:prstGeom>
          <a:solidFill>
            <a:srgbClr val="F2EDFF"/>
          </a:solidFill>
          <a:ln w="12700">
            <a:solidFill>
              <a:srgbClr val="F2EDFF"/>
            </a:solidFill>
            <a:prstDash val="solid"/>
          </a:ln>
        </p:spPr>
      </p:sp>
      <p:sp>
        <p:nvSpPr>
          <p:cNvPr id="19" name="Text 17"/>
          <p:cNvSpPr/>
          <p:nvPr/>
        </p:nvSpPr>
        <p:spPr>
          <a:xfrm>
            <a:off x="6556248" y="1819656"/>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3</a:t>
            </a:r>
            <a:endParaRPr lang="en-US" sz="730" dirty="0"/>
          </a:p>
        </p:txBody>
      </p:sp>
      <p:sp>
        <p:nvSpPr>
          <p:cNvPr id="20" name="Text 18"/>
          <p:cNvSpPr/>
          <p:nvPr/>
        </p:nvSpPr>
        <p:spPr>
          <a:xfrm>
            <a:off x="6556248" y="2157984"/>
            <a:ext cx="2249424"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Quarantine</a:t>
            </a:r>
            <a:endParaRPr lang="en-US" sz="1400" dirty="0"/>
          </a:p>
        </p:txBody>
      </p:sp>
      <p:sp>
        <p:nvSpPr>
          <p:cNvPr id="21" name="Text 19"/>
          <p:cNvSpPr/>
          <p:nvPr/>
        </p:nvSpPr>
        <p:spPr>
          <a:xfrm>
            <a:off x="6556248" y="2532888"/>
            <a:ext cx="2231136" cy="202996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Preserve bad record for investigation / correction</a:t>
            </a:r>
            <a:endParaRPr lang="en-US" sz="1000" dirty="0"/>
          </a:p>
        </p:txBody>
      </p:sp>
      <p:sp>
        <p:nvSpPr>
          <p:cNvPr id="22" name="Shape 20"/>
          <p:cNvSpPr/>
          <p:nvPr/>
        </p:nvSpPr>
        <p:spPr>
          <a:xfrm>
            <a:off x="9235440" y="1572768"/>
            <a:ext cx="2615184" cy="3154680"/>
          </a:xfrm>
          <a:prstGeom prst="roundRect">
            <a:avLst>
              <a:gd name="adj" fmla="val 2448"/>
            </a:avLst>
          </a:prstGeom>
          <a:solidFill>
            <a:srgbClr val="FFFFFF"/>
          </a:solidFill>
          <a:ln w="12700">
            <a:solidFill>
              <a:srgbClr val="DDE2EA"/>
            </a:solidFill>
            <a:prstDash val="solid"/>
          </a:ln>
        </p:spPr>
      </p:sp>
      <p:sp>
        <p:nvSpPr>
          <p:cNvPr id="23" name="Shape 21"/>
          <p:cNvSpPr/>
          <p:nvPr/>
        </p:nvSpPr>
        <p:spPr>
          <a:xfrm>
            <a:off x="9235440" y="1572768"/>
            <a:ext cx="50292" cy="3154680"/>
          </a:xfrm>
          <a:prstGeom prst="rect">
            <a:avLst/>
          </a:prstGeom>
          <a:solidFill>
            <a:srgbClr val="FF3621"/>
          </a:solidFill>
          <a:ln w="12700">
            <a:solidFill>
              <a:srgbClr val="FF3621"/>
            </a:solidFill>
            <a:prstDash val="solid"/>
          </a:ln>
        </p:spPr>
      </p:sp>
      <p:sp>
        <p:nvSpPr>
          <p:cNvPr id="24" name="Shape 22"/>
          <p:cNvSpPr/>
          <p:nvPr/>
        </p:nvSpPr>
        <p:spPr>
          <a:xfrm>
            <a:off x="9436608" y="1755648"/>
            <a:ext cx="566928" cy="310896"/>
          </a:xfrm>
          <a:prstGeom prst="roundRect">
            <a:avLst>
              <a:gd name="adj" fmla="val 14706"/>
            </a:avLst>
          </a:prstGeom>
          <a:solidFill>
            <a:srgbClr val="FFEBE9"/>
          </a:solidFill>
          <a:ln w="12700">
            <a:solidFill>
              <a:srgbClr val="FFEBE9"/>
            </a:solidFill>
            <a:prstDash val="solid"/>
          </a:ln>
        </p:spPr>
      </p:sp>
      <p:sp>
        <p:nvSpPr>
          <p:cNvPr id="25" name="Text 23"/>
          <p:cNvSpPr/>
          <p:nvPr/>
        </p:nvSpPr>
        <p:spPr>
          <a:xfrm>
            <a:off x="9436608" y="1819656"/>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4</a:t>
            </a:r>
            <a:endParaRPr lang="en-US" sz="730" dirty="0"/>
          </a:p>
        </p:txBody>
      </p:sp>
      <p:sp>
        <p:nvSpPr>
          <p:cNvPr id="26" name="Text 24"/>
          <p:cNvSpPr/>
          <p:nvPr/>
        </p:nvSpPr>
        <p:spPr>
          <a:xfrm>
            <a:off x="9436608" y="2157984"/>
            <a:ext cx="2249424" cy="347472"/>
          </a:xfrm>
          <a:prstGeom prst="rect">
            <a:avLst/>
          </a:prstGeom>
          <a:noFill/>
          <a:ln/>
        </p:spPr>
        <p:txBody>
          <a:bodyPr wrap="square" lIns="0" tIns="0" rIns="0" bIns="0" rtlCol="0" anchor="ctr">
            <a:normAutofit/>
          </a:bodyPr>
          <a:lstStyle/>
          <a:p>
            <a:pPr indent="0" marL="0">
              <a:buNone/>
            </a:pPr>
            <a:r>
              <a:rPr lang="en-US" sz="1400" b="1" dirty="0">
                <a:solidFill>
                  <a:srgbClr val="17233C"/>
                </a:solidFill>
                <a:latin typeface="Aptos Display" pitchFamily="34" charset="0"/>
                <a:ea typeface="Aptos Display" pitchFamily="34" charset="-122"/>
                <a:cs typeface="Aptos Display" pitchFamily="34" charset="-120"/>
              </a:rPr>
              <a:t>Fail pipeline</a:t>
            </a:r>
            <a:endParaRPr lang="en-US" sz="1400" dirty="0"/>
          </a:p>
        </p:txBody>
      </p:sp>
      <p:sp>
        <p:nvSpPr>
          <p:cNvPr id="27" name="Text 25"/>
          <p:cNvSpPr/>
          <p:nvPr/>
        </p:nvSpPr>
        <p:spPr>
          <a:xfrm>
            <a:off x="9436608" y="2532888"/>
            <a:ext cx="2231136" cy="202996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Critical invariant broken</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Example: duplicate primary keys</a:t>
            </a:r>
            <a:endParaRPr lang="en-US" sz="1000" dirty="0"/>
          </a:p>
        </p:txBody>
      </p:sp>
      <p:sp>
        <p:nvSpPr>
          <p:cNvPr id="28" name="Shape 26"/>
          <p:cNvSpPr/>
          <p:nvPr/>
        </p:nvSpPr>
        <p:spPr>
          <a:xfrm>
            <a:off x="1417320" y="5047488"/>
            <a:ext cx="9326880" cy="640080"/>
          </a:xfrm>
          <a:prstGeom prst="roundRect">
            <a:avLst>
              <a:gd name="adj" fmla="val 8571"/>
            </a:avLst>
          </a:prstGeom>
          <a:solidFill>
            <a:srgbClr val="ECF8F3"/>
          </a:solidFill>
          <a:ln w="12700">
            <a:solidFill>
              <a:srgbClr val="ECF8F3"/>
            </a:solidFill>
            <a:prstDash val="solid"/>
          </a:ln>
        </p:spPr>
      </p:sp>
      <p:sp>
        <p:nvSpPr>
          <p:cNvPr id="29" name="Text 27"/>
          <p:cNvSpPr/>
          <p:nvPr/>
        </p:nvSpPr>
        <p:spPr>
          <a:xfrm>
            <a:off x="1581912" y="5166360"/>
            <a:ext cx="8997696" cy="411480"/>
          </a:xfrm>
          <a:prstGeom prst="rect">
            <a:avLst/>
          </a:prstGeom>
          <a:noFill/>
          <a:ln/>
        </p:spPr>
        <p:txBody>
          <a:bodyPr wrap="square" lIns="0" tIns="0" rIns="0" bIns="0" rtlCol="0" anchor="ctr">
            <a:normAutofit/>
          </a:bodyPr>
          <a:lstStyle/>
          <a:p>
            <a:pPr indent="0" marL="0">
              <a:buNone/>
            </a:pPr>
            <a:r>
              <a:rPr lang="en-US" sz="1100" b="1" dirty="0">
                <a:solidFill>
                  <a:srgbClr val="00A972"/>
                </a:solidFill>
                <a:latin typeface="Aptos" pitchFamily="34" charset="0"/>
                <a:ea typeface="Aptos" pitchFamily="34" charset="-122"/>
                <a:cs typeface="Aptos" pitchFamily="34" charset="-120"/>
              </a:rPr>
              <a:t>Choose the response based on data criticality and recoverability—not convenience.</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Engineering Troubleshooting Loop</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Treat failure as expected and make diagnosis systematic.</a:t>
            </a:r>
            <a:endParaRPr lang="en-US" sz="1100" dirty="0"/>
          </a:p>
        </p:txBody>
      </p:sp>
      <p:sp>
        <p:nvSpPr>
          <p:cNvPr id="4" name="Shape 2"/>
          <p:cNvSpPr/>
          <p:nvPr/>
        </p:nvSpPr>
        <p:spPr>
          <a:xfrm>
            <a:off x="530352" y="1828800"/>
            <a:ext cx="1965960" cy="2468880"/>
          </a:xfrm>
          <a:prstGeom prst="roundRect">
            <a:avLst>
              <a:gd name="adj" fmla="val 3256"/>
            </a:avLst>
          </a:prstGeom>
          <a:solidFill>
            <a:srgbClr val="FFFFFF"/>
          </a:solidFill>
          <a:ln w="12700">
            <a:solidFill>
              <a:srgbClr val="FF3621"/>
            </a:solidFill>
            <a:prstDash val="solid"/>
          </a:ln>
        </p:spPr>
      </p:sp>
      <p:sp>
        <p:nvSpPr>
          <p:cNvPr id="5" name="Shape 3"/>
          <p:cNvSpPr/>
          <p:nvPr/>
        </p:nvSpPr>
        <p:spPr>
          <a:xfrm>
            <a:off x="1207008" y="2075688"/>
            <a:ext cx="594360" cy="384048"/>
          </a:xfrm>
          <a:prstGeom prst="roundRect">
            <a:avLst>
              <a:gd name="adj" fmla="val 21429"/>
            </a:avLst>
          </a:prstGeom>
          <a:solidFill>
            <a:srgbClr val="FFEBE9"/>
          </a:solidFill>
          <a:ln w="12700">
            <a:solidFill>
              <a:srgbClr val="FFEBE9"/>
            </a:solidFill>
            <a:prstDash val="solid"/>
          </a:ln>
        </p:spPr>
      </p:sp>
      <p:sp>
        <p:nvSpPr>
          <p:cNvPr id="6" name="Text 4"/>
          <p:cNvSpPr/>
          <p:nvPr/>
        </p:nvSpPr>
        <p:spPr>
          <a:xfrm>
            <a:off x="1252728" y="2130552"/>
            <a:ext cx="502920" cy="274320"/>
          </a:xfrm>
          <a:prstGeom prst="rect">
            <a:avLst/>
          </a:prstGeom>
          <a:noFill/>
          <a:ln/>
        </p:spPr>
        <p:txBody>
          <a:bodyPr wrap="square" lIns="0" tIns="0" rIns="0" bIns="0" rtlCol="0" anchor="ctr">
            <a:normAutofit/>
          </a:bodyPr>
          <a:lstStyle/>
          <a:p>
            <a:pPr algn="ctr" indent="0" marL="0">
              <a:buNone/>
            </a:pPr>
            <a:r>
              <a:rPr lang="en-US" sz="900" b="1" dirty="0">
                <a:solidFill>
                  <a:srgbClr val="FF3621"/>
                </a:solidFill>
                <a:latin typeface="Aptos" pitchFamily="34" charset="0"/>
                <a:ea typeface="Aptos" pitchFamily="34" charset="-122"/>
                <a:cs typeface="Aptos" pitchFamily="34" charset="-120"/>
              </a:rPr>
              <a:t>1</a:t>
            </a:r>
            <a:endParaRPr lang="en-US" sz="900" dirty="0"/>
          </a:p>
        </p:txBody>
      </p:sp>
      <p:sp>
        <p:nvSpPr>
          <p:cNvPr id="7" name="Text 5"/>
          <p:cNvSpPr/>
          <p:nvPr/>
        </p:nvSpPr>
        <p:spPr>
          <a:xfrm>
            <a:off x="694944" y="2743200"/>
            <a:ext cx="1645920" cy="347472"/>
          </a:xfrm>
          <a:prstGeom prst="rect">
            <a:avLst/>
          </a:prstGeom>
          <a:noFill/>
          <a:ln/>
        </p:spPr>
        <p:txBody>
          <a:bodyPr wrap="square" lIns="0" tIns="0" rIns="0" bIns="0" rtlCol="0" anchor="ctr"/>
          <a:lstStyle/>
          <a:p>
            <a:pPr algn="ctr" indent="0" marL="0">
              <a:buNone/>
            </a:pPr>
            <a:r>
              <a:rPr lang="en-US" sz="1500" b="1" dirty="0">
                <a:solidFill>
                  <a:srgbClr val="17233C"/>
                </a:solidFill>
              </a:rPr>
              <a:t>Detect</a:t>
            </a:r>
            <a:endParaRPr lang="en-US" sz="1500" dirty="0"/>
          </a:p>
        </p:txBody>
      </p:sp>
      <p:sp>
        <p:nvSpPr>
          <p:cNvPr id="8" name="Text 6"/>
          <p:cNvSpPr/>
          <p:nvPr/>
        </p:nvSpPr>
        <p:spPr>
          <a:xfrm>
            <a:off x="694944" y="3273552"/>
            <a:ext cx="1645920" cy="548640"/>
          </a:xfrm>
          <a:prstGeom prst="rect">
            <a:avLst/>
          </a:prstGeom>
          <a:noFill/>
          <a:ln/>
        </p:spPr>
        <p:txBody>
          <a:bodyPr wrap="square" lIns="0" tIns="0" rIns="0" bIns="0" rtlCol="0" anchor="ctr">
            <a:normAutofit/>
          </a:bodyPr>
          <a:lstStyle/>
          <a:p>
            <a:pPr algn="ctr" indent="0" marL="0">
              <a:buNone/>
            </a:pPr>
            <a:r>
              <a:rPr lang="en-US" sz="950" dirty="0">
                <a:solidFill>
                  <a:srgbClr val="283246"/>
                </a:solidFill>
              </a:rPr>
              <a:t>Alert / failed quality metric</a:t>
            </a:r>
            <a:endParaRPr lang="en-US" sz="950" dirty="0"/>
          </a:p>
        </p:txBody>
      </p:sp>
      <p:sp>
        <p:nvSpPr>
          <p:cNvPr id="9" name="Shape 7"/>
          <p:cNvSpPr/>
          <p:nvPr/>
        </p:nvSpPr>
        <p:spPr>
          <a:xfrm>
            <a:off x="2514600" y="3063240"/>
            <a:ext cx="256032" cy="0"/>
          </a:xfrm>
          <a:prstGeom prst="line">
            <a:avLst/>
          </a:prstGeom>
          <a:noFill/>
          <a:ln w="12700">
            <a:solidFill>
              <a:srgbClr val="A1AAB6"/>
            </a:solidFill>
            <a:prstDash val="solid"/>
            <a:headEnd type="none"/>
            <a:tailEnd type="triangle"/>
          </a:ln>
        </p:spPr>
      </p:sp>
      <p:sp>
        <p:nvSpPr>
          <p:cNvPr id="10" name="Shape 8"/>
          <p:cNvSpPr/>
          <p:nvPr/>
        </p:nvSpPr>
        <p:spPr>
          <a:xfrm>
            <a:off x="2834640" y="1828800"/>
            <a:ext cx="1965960" cy="2468880"/>
          </a:xfrm>
          <a:prstGeom prst="roundRect">
            <a:avLst>
              <a:gd name="adj" fmla="val 3256"/>
            </a:avLst>
          </a:prstGeom>
          <a:solidFill>
            <a:srgbClr val="FFFFFF"/>
          </a:solidFill>
          <a:ln w="12700">
            <a:solidFill>
              <a:srgbClr val="3B6FF5"/>
            </a:solidFill>
            <a:prstDash val="solid"/>
          </a:ln>
        </p:spPr>
      </p:sp>
      <p:sp>
        <p:nvSpPr>
          <p:cNvPr id="11" name="Shape 9"/>
          <p:cNvSpPr/>
          <p:nvPr/>
        </p:nvSpPr>
        <p:spPr>
          <a:xfrm>
            <a:off x="3511296" y="2075688"/>
            <a:ext cx="594360" cy="384048"/>
          </a:xfrm>
          <a:prstGeom prst="roundRect">
            <a:avLst>
              <a:gd name="adj" fmla="val 21429"/>
            </a:avLst>
          </a:prstGeom>
          <a:solidFill>
            <a:srgbClr val="EBF1FE"/>
          </a:solidFill>
          <a:ln w="12700">
            <a:solidFill>
              <a:srgbClr val="EBF1FE"/>
            </a:solidFill>
            <a:prstDash val="solid"/>
          </a:ln>
        </p:spPr>
      </p:sp>
      <p:sp>
        <p:nvSpPr>
          <p:cNvPr id="12" name="Text 10"/>
          <p:cNvSpPr/>
          <p:nvPr/>
        </p:nvSpPr>
        <p:spPr>
          <a:xfrm>
            <a:off x="3557016" y="2130552"/>
            <a:ext cx="502920" cy="274320"/>
          </a:xfrm>
          <a:prstGeom prst="rect">
            <a:avLst/>
          </a:prstGeom>
          <a:noFill/>
          <a:ln/>
        </p:spPr>
        <p:txBody>
          <a:bodyPr wrap="square" lIns="0" tIns="0" rIns="0" bIns="0" rtlCol="0" anchor="ctr">
            <a:normAutofit/>
          </a:bodyPr>
          <a:lstStyle/>
          <a:p>
            <a:pPr algn="ctr" indent="0" marL="0">
              <a:buNone/>
            </a:pPr>
            <a:r>
              <a:rPr lang="en-US" sz="900" b="1" dirty="0">
                <a:solidFill>
                  <a:srgbClr val="3B6FF5"/>
                </a:solidFill>
                <a:latin typeface="Aptos" pitchFamily="34" charset="0"/>
                <a:ea typeface="Aptos" pitchFamily="34" charset="-122"/>
                <a:cs typeface="Aptos" pitchFamily="34" charset="-120"/>
              </a:rPr>
              <a:t>2</a:t>
            </a:r>
            <a:endParaRPr lang="en-US" sz="900" dirty="0"/>
          </a:p>
        </p:txBody>
      </p:sp>
      <p:sp>
        <p:nvSpPr>
          <p:cNvPr id="13" name="Text 11"/>
          <p:cNvSpPr/>
          <p:nvPr/>
        </p:nvSpPr>
        <p:spPr>
          <a:xfrm>
            <a:off x="2999232" y="2743200"/>
            <a:ext cx="1645920" cy="347472"/>
          </a:xfrm>
          <a:prstGeom prst="rect">
            <a:avLst/>
          </a:prstGeom>
          <a:noFill/>
          <a:ln/>
        </p:spPr>
        <p:txBody>
          <a:bodyPr wrap="square" lIns="0" tIns="0" rIns="0" bIns="0" rtlCol="0" anchor="ctr"/>
          <a:lstStyle/>
          <a:p>
            <a:pPr algn="ctr" indent="0" marL="0">
              <a:buNone/>
            </a:pPr>
            <a:r>
              <a:rPr lang="en-US" sz="1500" b="1" dirty="0">
                <a:solidFill>
                  <a:srgbClr val="17233C"/>
                </a:solidFill>
              </a:rPr>
              <a:t>Locate</a:t>
            </a:r>
            <a:endParaRPr lang="en-US" sz="1500" dirty="0"/>
          </a:p>
        </p:txBody>
      </p:sp>
      <p:sp>
        <p:nvSpPr>
          <p:cNvPr id="14" name="Text 12"/>
          <p:cNvSpPr/>
          <p:nvPr/>
        </p:nvSpPr>
        <p:spPr>
          <a:xfrm>
            <a:off x="2999232" y="3273552"/>
            <a:ext cx="1645920" cy="548640"/>
          </a:xfrm>
          <a:prstGeom prst="rect">
            <a:avLst/>
          </a:prstGeom>
          <a:noFill/>
          <a:ln/>
        </p:spPr>
        <p:txBody>
          <a:bodyPr wrap="square" lIns="0" tIns="0" rIns="0" bIns="0" rtlCol="0" anchor="ctr">
            <a:normAutofit/>
          </a:bodyPr>
          <a:lstStyle/>
          <a:p>
            <a:pPr algn="ctr" indent="0" marL="0">
              <a:buNone/>
            </a:pPr>
            <a:r>
              <a:rPr lang="en-US" sz="950" dirty="0">
                <a:solidFill>
                  <a:srgbClr val="283246"/>
                </a:solidFill>
              </a:rPr>
              <a:t>Which task / dataset failed?</a:t>
            </a:r>
            <a:endParaRPr lang="en-US" sz="950" dirty="0"/>
          </a:p>
        </p:txBody>
      </p:sp>
      <p:sp>
        <p:nvSpPr>
          <p:cNvPr id="15" name="Shape 13"/>
          <p:cNvSpPr/>
          <p:nvPr/>
        </p:nvSpPr>
        <p:spPr>
          <a:xfrm>
            <a:off x="4818888" y="3063240"/>
            <a:ext cx="256032" cy="0"/>
          </a:xfrm>
          <a:prstGeom prst="line">
            <a:avLst/>
          </a:prstGeom>
          <a:noFill/>
          <a:ln w="12700">
            <a:solidFill>
              <a:srgbClr val="A1AAB6"/>
            </a:solidFill>
            <a:prstDash val="solid"/>
            <a:headEnd type="none"/>
            <a:tailEnd type="triangle"/>
          </a:ln>
        </p:spPr>
      </p:sp>
      <p:sp>
        <p:nvSpPr>
          <p:cNvPr id="16" name="Shape 14"/>
          <p:cNvSpPr/>
          <p:nvPr/>
        </p:nvSpPr>
        <p:spPr>
          <a:xfrm>
            <a:off x="5138928" y="1828800"/>
            <a:ext cx="1965960" cy="2468880"/>
          </a:xfrm>
          <a:prstGeom prst="roundRect">
            <a:avLst>
              <a:gd name="adj" fmla="val 3256"/>
            </a:avLst>
          </a:prstGeom>
          <a:solidFill>
            <a:srgbClr val="FFFFFF"/>
          </a:solidFill>
          <a:ln w="12700">
            <a:solidFill>
              <a:srgbClr val="7C4DFF"/>
            </a:solidFill>
            <a:prstDash val="solid"/>
          </a:ln>
        </p:spPr>
      </p:sp>
      <p:sp>
        <p:nvSpPr>
          <p:cNvPr id="17" name="Shape 15"/>
          <p:cNvSpPr/>
          <p:nvPr/>
        </p:nvSpPr>
        <p:spPr>
          <a:xfrm>
            <a:off x="5815584" y="2075688"/>
            <a:ext cx="594360" cy="384048"/>
          </a:xfrm>
          <a:prstGeom prst="roundRect">
            <a:avLst>
              <a:gd name="adj" fmla="val 21429"/>
            </a:avLst>
          </a:prstGeom>
          <a:solidFill>
            <a:srgbClr val="F2EDFF"/>
          </a:solidFill>
          <a:ln w="12700">
            <a:solidFill>
              <a:srgbClr val="F2EDFF"/>
            </a:solidFill>
            <a:prstDash val="solid"/>
          </a:ln>
        </p:spPr>
      </p:sp>
      <p:sp>
        <p:nvSpPr>
          <p:cNvPr id="18" name="Text 16"/>
          <p:cNvSpPr/>
          <p:nvPr/>
        </p:nvSpPr>
        <p:spPr>
          <a:xfrm>
            <a:off x="5861304" y="2130552"/>
            <a:ext cx="502920" cy="274320"/>
          </a:xfrm>
          <a:prstGeom prst="rect">
            <a:avLst/>
          </a:prstGeom>
          <a:noFill/>
          <a:ln/>
        </p:spPr>
        <p:txBody>
          <a:bodyPr wrap="square" lIns="0" tIns="0" rIns="0" bIns="0" rtlCol="0" anchor="ctr">
            <a:normAutofit/>
          </a:bodyPr>
          <a:lstStyle/>
          <a:p>
            <a:pPr algn="ctr" indent="0" marL="0">
              <a:buNone/>
            </a:pPr>
            <a:r>
              <a:rPr lang="en-US" sz="900" b="1" dirty="0">
                <a:solidFill>
                  <a:srgbClr val="7C4DFF"/>
                </a:solidFill>
                <a:latin typeface="Aptos" pitchFamily="34" charset="0"/>
                <a:ea typeface="Aptos" pitchFamily="34" charset="-122"/>
                <a:cs typeface="Aptos" pitchFamily="34" charset="-120"/>
              </a:rPr>
              <a:t>3</a:t>
            </a:r>
            <a:endParaRPr lang="en-US" sz="900" dirty="0"/>
          </a:p>
        </p:txBody>
      </p:sp>
      <p:sp>
        <p:nvSpPr>
          <p:cNvPr id="19" name="Text 17"/>
          <p:cNvSpPr/>
          <p:nvPr/>
        </p:nvSpPr>
        <p:spPr>
          <a:xfrm>
            <a:off x="5303520" y="2743200"/>
            <a:ext cx="1645920" cy="347472"/>
          </a:xfrm>
          <a:prstGeom prst="rect">
            <a:avLst/>
          </a:prstGeom>
          <a:noFill/>
          <a:ln/>
        </p:spPr>
        <p:txBody>
          <a:bodyPr wrap="square" lIns="0" tIns="0" rIns="0" bIns="0" rtlCol="0" anchor="ctr"/>
          <a:lstStyle/>
          <a:p>
            <a:pPr algn="ctr" indent="0" marL="0">
              <a:buNone/>
            </a:pPr>
            <a:r>
              <a:rPr lang="en-US" sz="1500" b="1" dirty="0">
                <a:solidFill>
                  <a:srgbClr val="17233C"/>
                </a:solidFill>
              </a:rPr>
              <a:t>Explain</a:t>
            </a:r>
            <a:endParaRPr lang="en-US" sz="1500" dirty="0"/>
          </a:p>
        </p:txBody>
      </p:sp>
      <p:sp>
        <p:nvSpPr>
          <p:cNvPr id="20" name="Text 18"/>
          <p:cNvSpPr/>
          <p:nvPr/>
        </p:nvSpPr>
        <p:spPr>
          <a:xfrm>
            <a:off x="5303520" y="3273552"/>
            <a:ext cx="1645920" cy="548640"/>
          </a:xfrm>
          <a:prstGeom prst="rect">
            <a:avLst/>
          </a:prstGeom>
          <a:noFill/>
          <a:ln/>
        </p:spPr>
        <p:txBody>
          <a:bodyPr wrap="square" lIns="0" tIns="0" rIns="0" bIns="0" rtlCol="0" anchor="ctr">
            <a:normAutofit/>
          </a:bodyPr>
          <a:lstStyle/>
          <a:p>
            <a:pPr algn="ctr" indent="0" marL="0">
              <a:buNone/>
            </a:pPr>
            <a:r>
              <a:rPr lang="en-US" sz="950" dirty="0">
                <a:solidFill>
                  <a:srgbClr val="283246"/>
                </a:solidFill>
              </a:rPr>
              <a:t>Logs, lineage, source changes</a:t>
            </a:r>
            <a:endParaRPr lang="en-US" sz="950" dirty="0"/>
          </a:p>
        </p:txBody>
      </p:sp>
      <p:sp>
        <p:nvSpPr>
          <p:cNvPr id="21" name="Shape 19"/>
          <p:cNvSpPr/>
          <p:nvPr/>
        </p:nvSpPr>
        <p:spPr>
          <a:xfrm>
            <a:off x="7123176" y="3063240"/>
            <a:ext cx="256032" cy="0"/>
          </a:xfrm>
          <a:prstGeom prst="line">
            <a:avLst/>
          </a:prstGeom>
          <a:noFill/>
          <a:ln w="12700">
            <a:solidFill>
              <a:srgbClr val="A1AAB6"/>
            </a:solidFill>
            <a:prstDash val="solid"/>
            <a:headEnd type="none"/>
            <a:tailEnd type="triangle"/>
          </a:ln>
        </p:spPr>
      </p:sp>
      <p:sp>
        <p:nvSpPr>
          <p:cNvPr id="22" name="Shape 20"/>
          <p:cNvSpPr/>
          <p:nvPr/>
        </p:nvSpPr>
        <p:spPr>
          <a:xfrm>
            <a:off x="7443216" y="1828800"/>
            <a:ext cx="1965960" cy="2468880"/>
          </a:xfrm>
          <a:prstGeom prst="roundRect">
            <a:avLst>
              <a:gd name="adj" fmla="val 3256"/>
            </a:avLst>
          </a:prstGeom>
          <a:solidFill>
            <a:srgbClr val="FFFFFF"/>
          </a:solidFill>
          <a:ln w="12700">
            <a:solidFill>
              <a:srgbClr val="00A972"/>
            </a:solidFill>
            <a:prstDash val="solid"/>
          </a:ln>
        </p:spPr>
      </p:sp>
      <p:sp>
        <p:nvSpPr>
          <p:cNvPr id="23" name="Shape 21"/>
          <p:cNvSpPr/>
          <p:nvPr/>
        </p:nvSpPr>
        <p:spPr>
          <a:xfrm>
            <a:off x="8119872" y="2075688"/>
            <a:ext cx="594360" cy="384048"/>
          </a:xfrm>
          <a:prstGeom prst="roundRect">
            <a:avLst>
              <a:gd name="adj" fmla="val 21429"/>
            </a:avLst>
          </a:prstGeom>
          <a:solidFill>
            <a:srgbClr val="E6F6F1"/>
          </a:solidFill>
          <a:ln w="12700">
            <a:solidFill>
              <a:srgbClr val="E6F6F1"/>
            </a:solidFill>
            <a:prstDash val="solid"/>
          </a:ln>
        </p:spPr>
      </p:sp>
      <p:sp>
        <p:nvSpPr>
          <p:cNvPr id="24" name="Text 22"/>
          <p:cNvSpPr/>
          <p:nvPr/>
        </p:nvSpPr>
        <p:spPr>
          <a:xfrm>
            <a:off x="8165592" y="2130552"/>
            <a:ext cx="502920" cy="274320"/>
          </a:xfrm>
          <a:prstGeom prst="rect">
            <a:avLst/>
          </a:prstGeom>
          <a:noFill/>
          <a:ln/>
        </p:spPr>
        <p:txBody>
          <a:bodyPr wrap="square" lIns="0" tIns="0" rIns="0" bIns="0" rtlCol="0" anchor="ctr">
            <a:normAutofit/>
          </a:bodyPr>
          <a:lstStyle/>
          <a:p>
            <a:pPr algn="ctr" indent="0" marL="0">
              <a:buNone/>
            </a:pPr>
            <a:r>
              <a:rPr lang="en-US" sz="900" b="1" dirty="0">
                <a:solidFill>
                  <a:srgbClr val="00A972"/>
                </a:solidFill>
                <a:latin typeface="Aptos" pitchFamily="34" charset="0"/>
                <a:ea typeface="Aptos" pitchFamily="34" charset="-122"/>
                <a:cs typeface="Aptos" pitchFamily="34" charset="-120"/>
              </a:rPr>
              <a:t>4</a:t>
            </a:r>
            <a:endParaRPr lang="en-US" sz="900" dirty="0"/>
          </a:p>
        </p:txBody>
      </p:sp>
      <p:sp>
        <p:nvSpPr>
          <p:cNvPr id="25" name="Text 23"/>
          <p:cNvSpPr/>
          <p:nvPr/>
        </p:nvSpPr>
        <p:spPr>
          <a:xfrm>
            <a:off x="7607808" y="2743200"/>
            <a:ext cx="1645920" cy="347472"/>
          </a:xfrm>
          <a:prstGeom prst="rect">
            <a:avLst/>
          </a:prstGeom>
          <a:noFill/>
          <a:ln/>
        </p:spPr>
        <p:txBody>
          <a:bodyPr wrap="square" lIns="0" tIns="0" rIns="0" bIns="0" rtlCol="0" anchor="ctr"/>
          <a:lstStyle/>
          <a:p>
            <a:pPr algn="ctr" indent="0" marL="0">
              <a:buNone/>
            </a:pPr>
            <a:r>
              <a:rPr lang="en-US" sz="1500" b="1" dirty="0">
                <a:solidFill>
                  <a:srgbClr val="17233C"/>
                </a:solidFill>
              </a:rPr>
              <a:t>Fix</a:t>
            </a:r>
            <a:endParaRPr lang="en-US" sz="1500" dirty="0"/>
          </a:p>
        </p:txBody>
      </p:sp>
      <p:sp>
        <p:nvSpPr>
          <p:cNvPr id="26" name="Text 24"/>
          <p:cNvSpPr/>
          <p:nvPr/>
        </p:nvSpPr>
        <p:spPr>
          <a:xfrm>
            <a:off x="7607808" y="3273552"/>
            <a:ext cx="1645920" cy="548640"/>
          </a:xfrm>
          <a:prstGeom prst="rect">
            <a:avLst/>
          </a:prstGeom>
          <a:noFill/>
          <a:ln/>
        </p:spPr>
        <p:txBody>
          <a:bodyPr wrap="square" lIns="0" tIns="0" rIns="0" bIns="0" rtlCol="0" anchor="ctr">
            <a:normAutofit/>
          </a:bodyPr>
          <a:lstStyle/>
          <a:p>
            <a:pPr algn="ctr" indent="0" marL="0">
              <a:buNone/>
            </a:pPr>
            <a:r>
              <a:rPr lang="en-US" sz="950" dirty="0">
                <a:solidFill>
                  <a:srgbClr val="283246"/>
                </a:solidFill>
              </a:rPr>
              <a:t>Code / data / config correction</a:t>
            </a:r>
            <a:endParaRPr lang="en-US" sz="950" dirty="0"/>
          </a:p>
        </p:txBody>
      </p:sp>
      <p:sp>
        <p:nvSpPr>
          <p:cNvPr id="27" name="Shape 25"/>
          <p:cNvSpPr/>
          <p:nvPr/>
        </p:nvSpPr>
        <p:spPr>
          <a:xfrm>
            <a:off x="9427464" y="3063240"/>
            <a:ext cx="256032" cy="0"/>
          </a:xfrm>
          <a:prstGeom prst="line">
            <a:avLst/>
          </a:prstGeom>
          <a:noFill/>
          <a:ln w="12700">
            <a:solidFill>
              <a:srgbClr val="A1AAB6"/>
            </a:solidFill>
            <a:prstDash val="solid"/>
            <a:headEnd type="none"/>
            <a:tailEnd type="triangle"/>
          </a:ln>
        </p:spPr>
      </p:sp>
      <p:sp>
        <p:nvSpPr>
          <p:cNvPr id="28" name="Shape 26"/>
          <p:cNvSpPr/>
          <p:nvPr/>
        </p:nvSpPr>
        <p:spPr>
          <a:xfrm>
            <a:off x="9747504" y="1828800"/>
            <a:ext cx="1965960" cy="2468880"/>
          </a:xfrm>
          <a:prstGeom prst="roundRect">
            <a:avLst>
              <a:gd name="adj" fmla="val 3256"/>
            </a:avLst>
          </a:prstGeom>
          <a:solidFill>
            <a:srgbClr val="FFFFFF"/>
          </a:solidFill>
          <a:ln w="12700">
            <a:solidFill>
              <a:srgbClr val="F3A712"/>
            </a:solidFill>
            <a:prstDash val="solid"/>
          </a:ln>
        </p:spPr>
      </p:sp>
      <p:sp>
        <p:nvSpPr>
          <p:cNvPr id="29" name="Shape 27"/>
          <p:cNvSpPr/>
          <p:nvPr/>
        </p:nvSpPr>
        <p:spPr>
          <a:xfrm>
            <a:off x="10424160" y="2075688"/>
            <a:ext cx="594360" cy="384048"/>
          </a:xfrm>
          <a:prstGeom prst="roundRect">
            <a:avLst>
              <a:gd name="adj" fmla="val 21429"/>
            </a:avLst>
          </a:prstGeom>
          <a:solidFill>
            <a:srgbClr val="FEF6E7"/>
          </a:solidFill>
          <a:ln w="12700">
            <a:solidFill>
              <a:srgbClr val="FEF6E7"/>
            </a:solidFill>
            <a:prstDash val="solid"/>
          </a:ln>
        </p:spPr>
      </p:sp>
      <p:sp>
        <p:nvSpPr>
          <p:cNvPr id="30" name="Text 28"/>
          <p:cNvSpPr/>
          <p:nvPr/>
        </p:nvSpPr>
        <p:spPr>
          <a:xfrm>
            <a:off x="10469880" y="2130552"/>
            <a:ext cx="502920" cy="274320"/>
          </a:xfrm>
          <a:prstGeom prst="rect">
            <a:avLst/>
          </a:prstGeom>
          <a:noFill/>
          <a:ln/>
        </p:spPr>
        <p:txBody>
          <a:bodyPr wrap="square" lIns="0" tIns="0" rIns="0" bIns="0" rtlCol="0" anchor="ctr">
            <a:normAutofit/>
          </a:bodyPr>
          <a:lstStyle/>
          <a:p>
            <a:pPr algn="ctr" indent="0" marL="0">
              <a:buNone/>
            </a:pPr>
            <a:r>
              <a:rPr lang="en-US" sz="900" b="1" dirty="0">
                <a:solidFill>
                  <a:srgbClr val="F3A712"/>
                </a:solidFill>
                <a:latin typeface="Aptos" pitchFamily="34" charset="0"/>
                <a:ea typeface="Aptos" pitchFamily="34" charset="-122"/>
                <a:cs typeface="Aptos" pitchFamily="34" charset="-120"/>
              </a:rPr>
              <a:t>5</a:t>
            </a:r>
            <a:endParaRPr lang="en-US" sz="900" dirty="0"/>
          </a:p>
        </p:txBody>
      </p:sp>
      <p:sp>
        <p:nvSpPr>
          <p:cNvPr id="31" name="Text 29"/>
          <p:cNvSpPr/>
          <p:nvPr/>
        </p:nvSpPr>
        <p:spPr>
          <a:xfrm>
            <a:off x="9912096" y="2743200"/>
            <a:ext cx="1645920" cy="347472"/>
          </a:xfrm>
          <a:prstGeom prst="rect">
            <a:avLst/>
          </a:prstGeom>
          <a:noFill/>
          <a:ln/>
        </p:spPr>
        <p:txBody>
          <a:bodyPr wrap="square" lIns="0" tIns="0" rIns="0" bIns="0" rtlCol="0" anchor="ctr"/>
          <a:lstStyle/>
          <a:p>
            <a:pPr algn="ctr" indent="0" marL="0">
              <a:buNone/>
            </a:pPr>
            <a:r>
              <a:rPr lang="en-US" sz="1500" b="1" dirty="0">
                <a:solidFill>
                  <a:srgbClr val="17233C"/>
                </a:solidFill>
              </a:rPr>
              <a:t>Prevent</a:t>
            </a:r>
            <a:endParaRPr lang="en-US" sz="1500" dirty="0"/>
          </a:p>
        </p:txBody>
      </p:sp>
      <p:sp>
        <p:nvSpPr>
          <p:cNvPr id="32" name="Text 30"/>
          <p:cNvSpPr/>
          <p:nvPr/>
        </p:nvSpPr>
        <p:spPr>
          <a:xfrm>
            <a:off x="9912096" y="3273552"/>
            <a:ext cx="1645920" cy="548640"/>
          </a:xfrm>
          <a:prstGeom prst="rect">
            <a:avLst/>
          </a:prstGeom>
          <a:noFill/>
          <a:ln/>
        </p:spPr>
        <p:txBody>
          <a:bodyPr wrap="square" lIns="0" tIns="0" rIns="0" bIns="0" rtlCol="0" anchor="ctr">
            <a:normAutofit/>
          </a:bodyPr>
          <a:lstStyle/>
          <a:p>
            <a:pPr algn="ctr" indent="0" marL="0">
              <a:buNone/>
            </a:pPr>
            <a:r>
              <a:rPr lang="en-US" sz="950" dirty="0">
                <a:solidFill>
                  <a:srgbClr val="283246"/>
                </a:solidFill>
              </a:rPr>
              <a:t>Add test, contract, or guardrail</a:t>
            </a:r>
            <a:endParaRPr lang="en-US" sz="950" dirty="0"/>
          </a:p>
        </p:txBody>
      </p:sp>
      <p:sp>
        <p:nvSpPr>
          <p:cNvPr id="33" name="Shape 31"/>
          <p:cNvSpPr/>
          <p:nvPr/>
        </p:nvSpPr>
        <p:spPr>
          <a:xfrm>
            <a:off x="2011680" y="4892040"/>
            <a:ext cx="8138160" cy="685800"/>
          </a:xfrm>
          <a:prstGeom prst="roundRect">
            <a:avLst>
              <a:gd name="adj" fmla="val 8000"/>
            </a:avLst>
          </a:prstGeom>
          <a:solidFill>
            <a:srgbClr val="FFF7E6"/>
          </a:solidFill>
          <a:ln w="12700">
            <a:solidFill>
              <a:srgbClr val="FFF7E6"/>
            </a:solidFill>
            <a:prstDash val="solid"/>
          </a:ln>
        </p:spPr>
      </p:sp>
      <p:sp>
        <p:nvSpPr>
          <p:cNvPr id="34" name="Text 32"/>
          <p:cNvSpPr/>
          <p:nvPr/>
        </p:nvSpPr>
        <p:spPr>
          <a:xfrm>
            <a:off x="2176272" y="5010912"/>
            <a:ext cx="7808976" cy="457200"/>
          </a:xfrm>
          <a:prstGeom prst="rect">
            <a:avLst/>
          </a:prstGeom>
          <a:noFill/>
          <a:ln/>
        </p:spPr>
        <p:txBody>
          <a:bodyPr wrap="square" lIns="0" tIns="0" rIns="0" bIns="0" rtlCol="0" anchor="ctr">
            <a:normAutofit/>
          </a:bodyPr>
          <a:lstStyle/>
          <a:p>
            <a:pPr indent="0" marL="0">
              <a:buNone/>
            </a:pPr>
            <a:r>
              <a:rPr lang="en-US" sz="1100" b="1" dirty="0">
                <a:solidFill>
                  <a:srgbClr val="F3A712"/>
                </a:solidFill>
                <a:latin typeface="Aptos" pitchFamily="34" charset="0"/>
                <a:ea typeface="Aptos" pitchFamily="34" charset="-122"/>
                <a:cs typeface="Aptos" pitchFamily="34" charset="-120"/>
              </a:rPr>
              <a:t>The final step matters: every incident should improve the system.</a:t>
            </a:r>
            <a:endParaRPr lang="en-US" sz="1100" dirty="0"/>
          </a:p>
        </p:txBody>
      </p:sp>
      <p:sp>
        <p:nvSpPr>
          <p:cNvPr id="35" name="Text 33"/>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4</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Efficiency &amp; Scalability Need Measurable Targets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Optimisation without a metric becomes guesswork.</a:t>
            </a:r>
            <a:endParaRPr lang="en-US" sz="1100" dirty="0"/>
          </a:p>
        </p:txBody>
      </p:sp>
      <p:sp>
        <p:nvSpPr>
          <p:cNvPr id="4" name="Shape 2"/>
          <p:cNvSpPr/>
          <p:nvPr/>
        </p:nvSpPr>
        <p:spPr>
          <a:xfrm>
            <a:off x="502920" y="1600200"/>
            <a:ext cx="1993392" cy="3154680"/>
          </a:xfrm>
          <a:prstGeom prst="roundRect">
            <a:avLst>
              <a:gd name="adj" fmla="val 3211"/>
            </a:avLst>
          </a:prstGeom>
          <a:solidFill>
            <a:srgbClr val="FFFFFF"/>
          </a:solidFill>
          <a:ln w="12700">
            <a:solidFill>
              <a:srgbClr val="DDE2EA"/>
            </a:solidFill>
            <a:prstDash val="solid"/>
          </a:ln>
        </p:spPr>
      </p:sp>
      <p:sp>
        <p:nvSpPr>
          <p:cNvPr id="5" name="Shape 3"/>
          <p:cNvSpPr/>
          <p:nvPr/>
        </p:nvSpPr>
        <p:spPr>
          <a:xfrm>
            <a:off x="502920" y="1600200"/>
            <a:ext cx="50292" cy="3154680"/>
          </a:xfrm>
          <a:prstGeom prst="rect">
            <a:avLst/>
          </a:prstGeom>
          <a:solidFill>
            <a:srgbClr val="3B6FF5"/>
          </a:solidFill>
          <a:ln w="12700">
            <a:solidFill>
              <a:srgbClr val="3B6FF5"/>
            </a:solidFill>
            <a:prstDash val="solid"/>
          </a:ln>
        </p:spPr>
      </p:sp>
      <p:sp>
        <p:nvSpPr>
          <p:cNvPr id="6" name="Shape 4"/>
          <p:cNvSpPr/>
          <p:nvPr/>
        </p:nvSpPr>
        <p:spPr>
          <a:xfrm>
            <a:off x="704088" y="1783080"/>
            <a:ext cx="566928" cy="310896"/>
          </a:xfrm>
          <a:prstGeom prst="roundRect">
            <a:avLst>
              <a:gd name="adj" fmla="val 14706"/>
            </a:avLst>
          </a:prstGeom>
          <a:solidFill>
            <a:srgbClr val="EBF1FE"/>
          </a:solidFill>
          <a:ln w="12700">
            <a:solidFill>
              <a:srgbClr val="EBF1FE"/>
            </a:solidFill>
            <a:prstDash val="solid"/>
          </a:ln>
        </p:spPr>
      </p:sp>
      <p:sp>
        <p:nvSpPr>
          <p:cNvPr id="7" name="Text 5"/>
          <p:cNvSpPr/>
          <p:nvPr/>
        </p:nvSpPr>
        <p:spPr>
          <a:xfrm>
            <a:off x="704088" y="184708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1</a:t>
            </a:r>
            <a:endParaRPr lang="en-US" sz="730" dirty="0"/>
          </a:p>
        </p:txBody>
      </p:sp>
      <p:sp>
        <p:nvSpPr>
          <p:cNvPr id="8" name="Text 6"/>
          <p:cNvSpPr/>
          <p:nvPr/>
        </p:nvSpPr>
        <p:spPr>
          <a:xfrm>
            <a:off x="704088" y="2185416"/>
            <a:ext cx="1627632"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Processing time</a:t>
            </a:r>
            <a:endParaRPr lang="en-US" sz="1300" dirty="0"/>
          </a:p>
        </p:txBody>
      </p:sp>
      <p:sp>
        <p:nvSpPr>
          <p:cNvPr id="9" name="Text 7"/>
          <p:cNvSpPr/>
          <p:nvPr/>
        </p:nvSpPr>
        <p:spPr>
          <a:xfrm>
            <a:off x="704088" y="2560320"/>
            <a:ext cx="1609344" cy="2029968"/>
          </a:xfrm>
          <a:prstGeom prst="rect">
            <a:avLst/>
          </a:prstGeom>
          <a:noFill/>
          <a:ln/>
        </p:spPr>
        <p:txBody>
          <a:bodyPr wrap="square" lIns="254" tIns="254" rIns="254" bIns="254" rtlCol="0" anchor="t">
            <a:normAutofit/>
          </a:bodyPr>
          <a:lstStyle/>
          <a:p>
            <a:pPr indent="0" marL="0">
              <a:buNone/>
            </a:pPr>
            <a:r>
              <a:rPr lang="en-US" sz="940" dirty="0">
                <a:solidFill>
                  <a:srgbClr val="283246"/>
                </a:solidFill>
                <a:latin typeface="Aptos" pitchFamily="34" charset="0"/>
                <a:ea typeface="Aptos" pitchFamily="34" charset="-122"/>
                <a:cs typeface="Aptos" pitchFamily="34" charset="-120"/>
              </a:rPr>
              <a:t>Time to process a defined volume</a:t>
            </a:r>
            <a:endParaRPr lang="en-US" sz="940" dirty="0"/>
          </a:p>
        </p:txBody>
      </p:sp>
      <p:sp>
        <p:nvSpPr>
          <p:cNvPr id="10" name="Shape 8"/>
          <p:cNvSpPr/>
          <p:nvPr/>
        </p:nvSpPr>
        <p:spPr>
          <a:xfrm>
            <a:off x="2807208" y="1600200"/>
            <a:ext cx="1993392" cy="3154680"/>
          </a:xfrm>
          <a:prstGeom prst="roundRect">
            <a:avLst>
              <a:gd name="adj" fmla="val 3211"/>
            </a:avLst>
          </a:prstGeom>
          <a:solidFill>
            <a:srgbClr val="FFFFFF"/>
          </a:solidFill>
          <a:ln w="12700">
            <a:solidFill>
              <a:srgbClr val="DDE2EA"/>
            </a:solidFill>
            <a:prstDash val="solid"/>
          </a:ln>
        </p:spPr>
      </p:sp>
      <p:sp>
        <p:nvSpPr>
          <p:cNvPr id="11" name="Shape 9"/>
          <p:cNvSpPr/>
          <p:nvPr/>
        </p:nvSpPr>
        <p:spPr>
          <a:xfrm>
            <a:off x="2807208" y="1600200"/>
            <a:ext cx="50292" cy="3154680"/>
          </a:xfrm>
          <a:prstGeom prst="rect">
            <a:avLst/>
          </a:prstGeom>
          <a:solidFill>
            <a:srgbClr val="00A972"/>
          </a:solidFill>
          <a:ln w="12700">
            <a:solidFill>
              <a:srgbClr val="00A972"/>
            </a:solidFill>
            <a:prstDash val="solid"/>
          </a:ln>
        </p:spPr>
      </p:sp>
      <p:sp>
        <p:nvSpPr>
          <p:cNvPr id="12" name="Shape 10"/>
          <p:cNvSpPr/>
          <p:nvPr/>
        </p:nvSpPr>
        <p:spPr>
          <a:xfrm>
            <a:off x="3008376" y="1783080"/>
            <a:ext cx="566928" cy="310896"/>
          </a:xfrm>
          <a:prstGeom prst="roundRect">
            <a:avLst>
              <a:gd name="adj" fmla="val 14706"/>
            </a:avLst>
          </a:prstGeom>
          <a:solidFill>
            <a:srgbClr val="E6F6F1"/>
          </a:solidFill>
          <a:ln w="12700">
            <a:solidFill>
              <a:srgbClr val="E6F6F1"/>
            </a:solidFill>
            <a:prstDash val="solid"/>
          </a:ln>
        </p:spPr>
      </p:sp>
      <p:sp>
        <p:nvSpPr>
          <p:cNvPr id="13" name="Text 11"/>
          <p:cNvSpPr/>
          <p:nvPr/>
        </p:nvSpPr>
        <p:spPr>
          <a:xfrm>
            <a:off x="3008376" y="184708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2</a:t>
            </a:r>
            <a:endParaRPr lang="en-US" sz="730" dirty="0"/>
          </a:p>
        </p:txBody>
      </p:sp>
      <p:sp>
        <p:nvSpPr>
          <p:cNvPr id="14" name="Text 12"/>
          <p:cNvSpPr/>
          <p:nvPr/>
        </p:nvSpPr>
        <p:spPr>
          <a:xfrm>
            <a:off x="3008376" y="2185416"/>
            <a:ext cx="1627632"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Throughput</a:t>
            </a:r>
            <a:endParaRPr lang="en-US" sz="1300" dirty="0"/>
          </a:p>
        </p:txBody>
      </p:sp>
      <p:sp>
        <p:nvSpPr>
          <p:cNvPr id="15" name="Text 13"/>
          <p:cNvSpPr/>
          <p:nvPr/>
        </p:nvSpPr>
        <p:spPr>
          <a:xfrm>
            <a:off x="3008376" y="2560320"/>
            <a:ext cx="1609344" cy="2029968"/>
          </a:xfrm>
          <a:prstGeom prst="rect">
            <a:avLst/>
          </a:prstGeom>
          <a:noFill/>
          <a:ln/>
        </p:spPr>
        <p:txBody>
          <a:bodyPr wrap="square" lIns="254" tIns="254" rIns="254" bIns="254" rtlCol="0" anchor="t">
            <a:normAutofit/>
          </a:bodyPr>
          <a:lstStyle/>
          <a:p>
            <a:pPr indent="0" marL="0">
              <a:buNone/>
            </a:pPr>
            <a:r>
              <a:rPr lang="en-US" sz="940" dirty="0">
                <a:solidFill>
                  <a:srgbClr val="283246"/>
                </a:solidFill>
                <a:latin typeface="Aptos" pitchFamily="34" charset="0"/>
                <a:ea typeface="Aptos" pitchFamily="34" charset="-122"/>
                <a:cs typeface="Aptos" pitchFamily="34" charset="-120"/>
              </a:rPr>
              <a:t>Records / bytes processed per time unit</a:t>
            </a:r>
            <a:endParaRPr lang="en-US" sz="940" dirty="0"/>
          </a:p>
        </p:txBody>
      </p:sp>
      <p:sp>
        <p:nvSpPr>
          <p:cNvPr id="16" name="Shape 14"/>
          <p:cNvSpPr/>
          <p:nvPr/>
        </p:nvSpPr>
        <p:spPr>
          <a:xfrm>
            <a:off x="5111496" y="1600200"/>
            <a:ext cx="1993392" cy="3154680"/>
          </a:xfrm>
          <a:prstGeom prst="roundRect">
            <a:avLst>
              <a:gd name="adj" fmla="val 3211"/>
            </a:avLst>
          </a:prstGeom>
          <a:solidFill>
            <a:srgbClr val="FFFFFF"/>
          </a:solidFill>
          <a:ln w="12700">
            <a:solidFill>
              <a:srgbClr val="DDE2EA"/>
            </a:solidFill>
            <a:prstDash val="solid"/>
          </a:ln>
        </p:spPr>
      </p:sp>
      <p:sp>
        <p:nvSpPr>
          <p:cNvPr id="17" name="Shape 15"/>
          <p:cNvSpPr/>
          <p:nvPr/>
        </p:nvSpPr>
        <p:spPr>
          <a:xfrm>
            <a:off x="5111496" y="1600200"/>
            <a:ext cx="50292" cy="3154680"/>
          </a:xfrm>
          <a:prstGeom prst="rect">
            <a:avLst/>
          </a:prstGeom>
          <a:solidFill>
            <a:srgbClr val="7C4DFF"/>
          </a:solidFill>
          <a:ln w="12700">
            <a:solidFill>
              <a:srgbClr val="7C4DFF"/>
            </a:solidFill>
            <a:prstDash val="solid"/>
          </a:ln>
        </p:spPr>
      </p:sp>
      <p:sp>
        <p:nvSpPr>
          <p:cNvPr id="18" name="Shape 16"/>
          <p:cNvSpPr/>
          <p:nvPr/>
        </p:nvSpPr>
        <p:spPr>
          <a:xfrm>
            <a:off x="5312664" y="1783080"/>
            <a:ext cx="566928" cy="310896"/>
          </a:xfrm>
          <a:prstGeom prst="roundRect">
            <a:avLst>
              <a:gd name="adj" fmla="val 14706"/>
            </a:avLst>
          </a:prstGeom>
          <a:solidFill>
            <a:srgbClr val="F2EDFF"/>
          </a:solidFill>
          <a:ln w="12700">
            <a:solidFill>
              <a:srgbClr val="F2EDFF"/>
            </a:solidFill>
            <a:prstDash val="solid"/>
          </a:ln>
        </p:spPr>
      </p:sp>
      <p:sp>
        <p:nvSpPr>
          <p:cNvPr id="19" name="Text 17"/>
          <p:cNvSpPr/>
          <p:nvPr/>
        </p:nvSpPr>
        <p:spPr>
          <a:xfrm>
            <a:off x="5312664" y="1847088"/>
            <a:ext cx="566928" cy="128016"/>
          </a:xfrm>
          <a:prstGeom prst="rect">
            <a:avLst/>
          </a:prstGeom>
          <a:noFill/>
          <a:ln/>
        </p:spPr>
        <p:txBody>
          <a:bodyPr wrap="square" lIns="0" tIns="0" rIns="0" bIns="0" rtlCol="0" anchor="ctr"/>
          <a:lstStyle/>
          <a:p>
            <a:pPr algn="ctr" indent="0" marL="0">
              <a:buNone/>
            </a:pPr>
            <a:r>
              <a:rPr lang="en-US" sz="730" b="1" dirty="0">
                <a:solidFill>
                  <a:srgbClr val="7C4DFF"/>
                </a:solidFill>
              </a:rPr>
              <a:t>3</a:t>
            </a:r>
            <a:endParaRPr lang="en-US" sz="730" dirty="0"/>
          </a:p>
        </p:txBody>
      </p:sp>
      <p:sp>
        <p:nvSpPr>
          <p:cNvPr id="20" name="Text 18"/>
          <p:cNvSpPr/>
          <p:nvPr/>
        </p:nvSpPr>
        <p:spPr>
          <a:xfrm>
            <a:off x="5312664" y="2185416"/>
            <a:ext cx="1627632"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Uptime</a:t>
            </a:r>
            <a:endParaRPr lang="en-US" sz="1300" dirty="0"/>
          </a:p>
        </p:txBody>
      </p:sp>
      <p:sp>
        <p:nvSpPr>
          <p:cNvPr id="21" name="Text 19"/>
          <p:cNvSpPr/>
          <p:nvPr/>
        </p:nvSpPr>
        <p:spPr>
          <a:xfrm>
            <a:off x="5312664" y="2560320"/>
            <a:ext cx="1609344" cy="2029968"/>
          </a:xfrm>
          <a:prstGeom prst="rect">
            <a:avLst/>
          </a:prstGeom>
          <a:noFill/>
          <a:ln/>
        </p:spPr>
        <p:txBody>
          <a:bodyPr wrap="square" lIns="254" tIns="254" rIns="254" bIns="254" rtlCol="0" anchor="t">
            <a:normAutofit/>
          </a:bodyPr>
          <a:lstStyle/>
          <a:p>
            <a:pPr indent="0" marL="0">
              <a:buNone/>
            </a:pPr>
            <a:r>
              <a:rPr lang="en-US" sz="940" dirty="0">
                <a:solidFill>
                  <a:srgbClr val="283246"/>
                </a:solidFill>
                <a:latin typeface="Aptos" pitchFamily="34" charset="0"/>
                <a:ea typeface="Aptos" pitchFamily="34" charset="-122"/>
                <a:cs typeface="Aptos" pitchFamily="34" charset="-120"/>
              </a:rPr>
              <a:t>Percentage of time service is available</a:t>
            </a:r>
            <a:endParaRPr lang="en-US" sz="940" dirty="0"/>
          </a:p>
        </p:txBody>
      </p:sp>
      <p:sp>
        <p:nvSpPr>
          <p:cNvPr id="22" name="Shape 20"/>
          <p:cNvSpPr/>
          <p:nvPr/>
        </p:nvSpPr>
        <p:spPr>
          <a:xfrm>
            <a:off x="7415784" y="1600200"/>
            <a:ext cx="1993392" cy="3154680"/>
          </a:xfrm>
          <a:prstGeom prst="roundRect">
            <a:avLst>
              <a:gd name="adj" fmla="val 3211"/>
            </a:avLst>
          </a:prstGeom>
          <a:solidFill>
            <a:srgbClr val="FFFFFF"/>
          </a:solidFill>
          <a:ln w="12700">
            <a:solidFill>
              <a:srgbClr val="DDE2EA"/>
            </a:solidFill>
            <a:prstDash val="solid"/>
          </a:ln>
        </p:spPr>
      </p:sp>
      <p:sp>
        <p:nvSpPr>
          <p:cNvPr id="23" name="Shape 21"/>
          <p:cNvSpPr/>
          <p:nvPr/>
        </p:nvSpPr>
        <p:spPr>
          <a:xfrm>
            <a:off x="7415784" y="1600200"/>
            <a:ext cx="50292" cy="3154680"/>
          </a:xfrm>
          <a:prstGeom prst="rect">
            <a:avLst/>
          </a:prstGeom>
          <a:solidFill>
            <a:srgbClr val="FF3621"/>
          </a:solidFill>
          <a:ln w="12700">
            <a:solidFill>
              <a:srgbClr val="FF3621"/>
            </a:solidFill>
            <a:prstDash val="solid"/>
          </a:ln>
        </p:spPr>
      </p:sp>
      <p:sp>
        <p:nvSpPr>
          <p:cNvPr id="24" name="Shape 22"/>
          <p:cNvSpPr/>
          <p:nvPr/>
        </p:nvSpPr>
        <p:spPr>
          <a:xfrm>
            <a:off x="7616952" y="1783080"/>
            <a:ext cx="566928" cy="310896"/>
          </a:xfrm>
          <a:prstGeom prst="roundRect">
            <a:avLst>
              <a:gd name="adj" fmla="val 14706"/>
            </a:avLst>
          </a:prstGeom>
          <a:solidFill>
            <a:srgbClr val="FFEBE9"/>
          </a:solidFill>
          <a:ln w="12700">
            <a:solidFill>
              <a:srgbClr val="FFEBE9"/>
            </a:solidFill>
            <a:prstDash val="solid"/>
          </a:ln>
        </p:spPr>
      </p:sp>
      <p:sp>
        <p:nvSpPr>
          <p:cNvPr id="25" name="Text 23"/>
          <p:cNvSpPr/>
          <p:nvPr/>
        </p:nvSpPr>
        <p:spPr>
          <a:xfrm>
            <a:off x="7616952" y="184708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4</a:t>
            </a:r>
            <a:endParaRPr lang="en-US" sz="730" dirty="0"/>
          </a:p>
        </p:txBody>
      </p:sp>
      <p:sp>
        <p:nvSpPr>
          <p:cNvPr id="26" name="Text 24"/>
          <p:cNvSpPr/>
          <p:nvPr/>
        </p:nvSpPr>
        <p:spPr>
          <a:xfrm>
            <a:off x="7616952" y="2185416"/>
            <a:ext cx="1627632"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Error rate</a:t>
            </a:r>
            <a:endParaRPr lang="en-US" sz="1300" dirty="0"/>
          </a:p>
        </p:txBody>
      </p:sp>
      <p:sp>
        <p:nvSpPr>
          <p:cNvPr id="27" name="Text 25"/>
          <p:cNvSpPr/>
          <p:nvPr/>
        </p:nvSpPr>
        <p:spPr>
          <a:xfrm>
            <a:off x="7616952" y="2560320"/>
            <a:ext cx="1609344" cy="2029968"/>
          </a:xfrm>
          <a:prstGeom prst="rect">
            <a:avLst/>
          </a:prstGeom>
          <a:noFill/>
          <a:ln/>
        </p:spPr>
        <p:txBody>
          <a:bodyPr wrap="square" lIns="254" tIns="254" rIns="254" bIns="254" rtlCol="0" anchor="t">
            <a:normAutofit/>
          </a:bodyPr>
          <a:lstStyle/>
          <a:p>
            <a:pPr indent="0" marL="0">
              <a:buNone/>
            </a:pPr>
            <a:r>
              <a:rPr lang="en-US" sz="940" dirty="0">
                <a:solidFill>
                  <a:srgbClr val="283246"/>
                </a:solidFill>
                <a:latin typeface="Aptos" pitchFamily="34" charset="0"/>
                <a:ea typeface="Aptos" pitchFamily="34" charset="-122"/>
                <a:cs typeface="Aptos" pitchFamily="34" charset="-120"/>
              </a:rPr>
              <a:t>Frequency of failed records / runs</a:t>
            </a:r>
            <a:endParaRPr lang="en-US" sz="940" dirty="0"/>
          </a:p>
        </p:txBody>
      </p:sp>
      <p:sp>
        <p:nvSpPr>
          <p:cNvPr id="28" name="Shape 26"/>
          <p:cNvSpPr/>
          <p:nvPr/>
        </p:nvSpPr>
        <p:spPr>
          <a:xfrm>
            <a:off x="9720072" y="1600200"/>
            <a:ext cx="1993392" cy="3154680"/>
          </a:xfrm>
          <a:prstGeom prst="roundRect">
            <a:avLst>
              <a:gd name="adj" fmla="val 3211"/>
            </a:avLst>
          </a:prstGeom>
          <a:solidFill>
            <a:srgbClr val="FFFFFF"/>
          </a:solidFill>
          <a:ln w="12700">
            <a:solidFill>
              <a:srgbClr val="DDE2EA"/>
            </a:solidFill>
            <a:prstDash val="solid"/>
          </a:ln>
        </p:spPr>
      </p:sp>
      <p:sp>
        <p:nvSpPr>
          <p:cNvPr id="29" name="Shape 27"/>
          <p:cNvSpPr/>
          <p:nvPr/>
        </p:nvSpPr>
        <p:spPr>
          <a:xfrm>
            <a:off x="9720072" y="1600200"/>
            <a:ext cx="50292" cy="3154680"/>
          </a:xfrm>
          <a:prstGeom prst="rect">
            <a:avLst/>
          </a:prstGeom>
          <a:solidFill>
            <a:srgbClr val="F3A712"/>
          </a:solidFill>
          <a:ln w="12700">
            <a:solidFill>
              <a:srgbClr val="F3A712"/>
            </a:solidFill>
            <a:prstDash val="solid"/>
          </a:ln>
        </p:spPr>
      </p:sp>
      <p:sp>
        <p:nvSpPr>
          <p:cNvPr id="30" name="Shape 28"/>
          <p:cNvSpPr/>
          <p:nvPr/>
        </p:nvSpPr>
        <p:spPr>
          <a:xfrm>
            <a:off x="9921240" y="1783080"/>
            <a:ext cx="566928" cy="310896"/>
          </a:xfrm>
          <a:prstGeom prst="roundRect">
            <a:avLst>
              <a:gd name="adj" fmla="val 14706"/>
            </a:avLst>
          </a:prstGeom>
          <a:solidFill>
            <a:srgbClr val="FEF6E7"/>
          </a:solidFill>
          <a:ln w="12700">
            <a:solidFill>
              <a:srgbClr val="FEF6E7"/>
            </a:solidFill>
            <a:prstDash val="solid"/>
          </a:ln>
        </p:spPr>
      </p:sp>
      <p:sp>
        <p:nvSpPr>
          <p:cNvPr id="31" name="Text 29"/>
          <p:cNvSpPr/>
          <p:nvPr/>
        </p:nvSpPr>
        <p:spPr>
          <a:xfrm>
            <a:off x="9921240" y="1847088"/>
            <a:ext cx="566928" cy="128016"/>
          </a:xfrm>
          <a:prstGeom prst="rect">
            <a:avLst/>
          </a:prstGeom>
          <a:noFill/>
          <a:ln/>
        </p:spPr>
        <p:txBody>
          <a:bodyPr wrap="square" lIns="0" tIns="0" rIns="0" bIns="0" rtlCol="0" anchor="ctr"/>
          <a:lstStyle/>
          <a:p>
            <a:pPr algn="ctr" indent="0" marL="0">
              <a:buNone/>
            </a:pPr>
            <a:r>
              <a:rPr lang="en-US" sz="730" b="1" dirty="0">
                <a:solidFill>
                  <a:srgbClr val="F3A712"/>
                </a:solidFill>
              </a:rPr>
              <a:t>5</a:t>
            </a:r>
            <a:endParaRPr lang="en-US" sz="730" dirty="0"/>
          </a:p>
        </p:txBody>
      </p:sp>
      <p:sp>
        <p:nvSpPr>
          <p:cNvPr id="32" name="Text 30"/>
          <p:cNvSpPr/>
          <p:nvPr/>
        </p:nvSpPr>
        <p:spPr>
          <a:xfrm>
            <a:off x="9921240" y="2185416"/>
            <a:ext cx="1627632"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Cost</a:t>
            </a:r>
            <a:endParaRPr lang="en-US" sz="1300" dirty="0"/>
          </a:p>
        </p:txBody>
      </p:sp>
      <p:sp>
        <p:nvSpPr>
          <p:cNvPr id="33" name="Text 31"/>
          <p:cNvSpPr/>
          <p:nvPr/>
        </p:nvSpPr>
        <p:spPr>
          <a:xfrm>
            <a:off x="9921240" y="2560320"/>
            <a:ext cx="1609344" cy="2029968"/>
          </a:xfrm>
          <a:prstGeom prst="rect">
            <a:avLst/>
          </a:prstGeom>
          <a:noFill/>
          <a:ln/>
        </p:spPr>
        <p:txBody>
          <a:bodyPr wrap="square" lIns="254" tIns="254" rIns="254" bIns="254" rtlCol="0" anchor="t">
            <a:normAutofit/>
          </a:bodyPr>
          <a:lstStyle/>
          <a:p>
            <a:pPr indent="0" marL="0">
              <a:buNone/>
            </a:pPr>
            <a:r>
              <a:rPr lang="en-US" sz="940" dirty="0">
                <a:solidFill>
                  <a:srgbClr val="283246"/>
                </a:solidFill>
                <a:latin typeface="Aptos" pitchFamily="34" charset="0"/>
                <a:ea typeface="Aptos" pitchFamily="34" charset="-122"/>
                <a:cs typeface="Aptos" pitchFamily="34" charset="-120"/>
              </a:rPr>
              <a:t>Compute + storage required per outcome</a:t>
            </a:r>
            <a:endParaRPr lang="en-US" sz="940" dirty="0"/>
          </a:p>
        </p:txBody>
      </p:sp>
      <p:sp>
        <p:nvSpPr>
          <p:cNvPr id="34" name="Shape 32"/>
          <p:cNvSpPr/>
          <p:nvPr/>
        </p:nvSpPr>
        <p:spPr>
          <a:xfrm>
            <a:off x="960120" y="5074920"/>
            <a:ext cx="10149840" cy="658368"/>
          </a:xfrm>
          <a:prstGeom prst="roundRect">
            <a:avLst>
              <a:gd name="adj" fmla="val 8333"/>
            </a:avLst>
          </a:prstGeom>
          <a:solidFill>
            <a:srgbClr val="EEF7FF"/>
          </a:solidFill>
          <a:ln w="12700">
            <a:solidFill>
              <a:srgbClr val="EEF7FF"/>
            </a:solidFill>
            <a:prstDash val="solid"/>
          </a:ln>
        </p:spPr>
      </p:sp>
      <p:sp>
        <p:nvSpPr>
          <p:cNvPr id="35" name="Text 33"/>
          <p:cNvSpPr/>
          <p:nvPr/>
        </p:nvSpPr>
        <p:spPr>
          <a:xfrm>
            <a:off x="1124712" y="5193792"/>
            <a:ext cx="9820656" cy="429768"/>
          </a:xfrm>
          <a:prstGeom prst="rect">
            <a:avLst/>
          </a:prstGeom>
          <a:noFill/>
          <a:ln/>
        </p:spPr>
        <p:txBody>
          <a:bodyPr wrap="square" lIns="0" tIns="0" rIns="0" bIns="0" rtlCol="0" anchor="ctr">
            <a:normAutofit/>
          </a:bodyPr>
          <a:lstStyle/>
          <a:p>
            <a:pPr indent="0" marL="0">
              <a:buNone/>
            </a:pPr>
            <a:r>
              <a:rPr lang="en-US" sz="1100" b="1" dirty="0">
                <a:solidFill>
                  <a:srgbClr val="3B6FF5"/>
                </a:solidFill>
                <a:latin typeface="Aptos" pitchFamily="34" charset="0"/>
                <a:ea typeface="Aptos" pitchFamily="34" charset="-122"/>
                <a:cs typeface="Aptos" pitchFamily="34" charset="-120"/>
              </a:rPr>
              <a:t>Example objective: “deliver Gold sales data within 15 minutes while keeping cost below $X per day.”</a:t>
            </a:r>
            <a:endParaRPr lang="en-US" sz="1100" dirty="0"/>
          </a:p>
        </p:txBody>
      </p:sp>
      <p:sp>
        <p:nvSpPr>
          <p:cNvPr id="36" name="Text 34"/>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5</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Performance Levers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Most scalable ETL gains come from processing less data, more intelligently.</a:t>
            </a:r>
            <a:endParaRPr lang="en-US" sz="1100" dirty="0"/>
          </a:p>
        </p:txBody>
      </p:sp>
      <p:sp>
        <p:nvSpPr>
          <p:cNvPr id="4" name="Shape 2"/>
          <p:cNvSpPr/>
          <p:nvPr/>
        </p:nvSpPr>
        <p:spPr>
          <a:xfrm>
            <a:off x="594360" y="1463040"/>
            <a:ext cx="3429000" cy="1755648"/>
          </a:xfrm>
          <a:prstGeom prst="roundRect">
            <a:avLst>
              <a:gd name="adj" fmla="val 3646"/>
            </a:avLst>
          </a:prstGeom>
          <a:solidFill>
            <a:srgbClr val="FFFFFF"/>
          </a:solidFill>
          <a:ln w="12700">
            <a:solidFill>
              <a:srgbClr val="DDE2EA"/>
            </a:solidFill>
            <a:prstDash val="solid"/>
          </a:ln>
        </p:spPr>
      </p:sp>
      <p:sp>
        <p:nvSpPr>
          <p:cNvPr id="5" name="Shape 3"/>
          <p:cNvSpPr/>
          <p:nvPr/>
        </p:nvSpPr>
        <p:spPr>
          <a:xfrm>
            <a:off x="594360" y="1463040"/>
            <a:ext cx="50292" cy="1755648"/>
          </a:xfrm>
          <a:prstGeom prst="rect">
            <a:avLst/>
          </a:prstGeom>
          <a:solidFill>
            <a:srgbClr val="3B6FF5"/>
          </a:solidFill>
          <a:ln w="12700">
            <a:solidFill>
              <a:srgbClr val="3B6FF5"/>
            </a:solidFill>
            <a:prstDash val="solid"/>
          </a:ln>
        </p:spPr>
      </p:sp>
      <p:sp>
        <p:nvSpPr>
          <p:cNvPr id="6" name="Text 4"/>
          <p:cNvSpPr/>
          <p:nvPr/>
        </p:nvSpPr>
        <p:spPr>
          <a:xfrm>
            <a:off x="795528" y="1682496"/>
            <a:ext cx="306324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Incremental processing</a:t>
            </a:r>
            <a:endParaRPr lang="en-US" sz="1300" dirty="0"/>
          </a:p>
        </p:txBody>
      </p:sp>
      <p:sp>
        <p:nvSpPr>
          <p:cNvPr id="7" name="Text 5"/>
          <p:cNvSpPr/>
          <p:nvPr/>
        </p:nvSpPr>
        <p:spPr>
          <a:xfrm>
            <a:off x="795528" y="2121408"/>
            <a:ext cx="3044952" cy="932688"/>
          </a:xfrm>
          <a:prstGeom prst="rect">
            <a:avLst/>
          </a:prstGeom>
          <a:noFill/>
          <a:ln/>
        </p:spPr>
        <p:txBody>
          <a:bodyPr wrap="square" lIns="254" tIns="254" rIns="254" bIns="254" rtlCol="0" anchor="t">
            <a:normAutofit/>
          </a:bodyPr>
          <a:lstStyle/>
          <a:p>
            <a:pPr indent="0" marL="0">
              <a:buNone/>
            </a:pPr>
            <a:r>
              <a:rPr lang="en-US" sz="950" dirty="0">
                <a:solidFill>
                  <a:srgbClr val="283246"/>
                </a:solidFill>
                <a:latin typeface="Aptos" pitchFamily="34" charset="0"/>
                <a:ea typeface="Aptos" pitchFamily="34" charset="-122"/>
                <a:cs typeface="Aptos" pitchFamily="34" charset="-120"/>
              </a:rPr>
              <a:t>Avoid full reloads when only a fraction changed</a:t>
            </a:r>
            <a:endParaRPr lang="en-US" sz="950" dirty="0"/>
          </a:p>
        </p:txBody>
      </p:sp>
      <p:sp>
        <p:nvSpPr>
          <p:cNvPr id="8" name="Shape 6"/>
          <p:cNvSpPr/>
          <p:nvPr/>
        </p:nvSpPr>
        <p:spPr>
          <a:xfrm>
            <a:off x="4343400" y="1463040"/>
            <a:ext cx="3429000" cy="1755648"/>
          </a:xfrm>
          <a:prstGeom prst="roundRect">
            <a:avLst>
              <a:gd name="adj" fmla="val 3646"/>
            </a:avLst>
          </a:prstGeom>
          <a:solidFill>
            <a:srgbClr val="FFFFFF"/>
          </a:solidFill>
          <a:ln w="12700">
            <a:solidFill>
              <a:srgbClr val="DDE2EA"/>
            </a:solidFill>
            <a:prstDash val="solid"/>
          </a:ln>
        </p:spPr>
      </p:sp>
      <p:sp>
        <p:nvSpPr>
          <p:cNvPr id="9" name="Shape 7"/>
          <p:cNvSpPr/>
          <p:nvPr/>
        </p:nvSpPr>
        <p:spPr>
          <a:xfrm>
            <a:off x="4343400" y="1463040"/>
            <a:ext cx="50292" cy="1755648"/>
          </a:xfrm>
          <a:prstGeom prst="rect">
            <a:avLst/>
          </a:prstGeom>
          <a:solidFill>
            <a:srgbClr val="00A972"/>
          </a:solidFill>
          <a:ln w="12700">
            <a:solidFill>
              <a:srgbClr val="00A972"/>
            </a:solidFill>
            <a:prstDash val="solid"/>
          </a:ln>
        </p:spPr>
      </p:sp>
      <p:sp>
        <p:nvSpPr>
          <p:cNvPr id="10" name="Text 8"/>
          <p:cNvSpPr/>
          <p:nvPr/>
        </p:nvSpPr>
        <p:spPr>
          <a:xfrm>
            <a:off x="4544568" y="1682496"/>
            <a:ext cx="306324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Columnar storage</a:t>
            </a:r>
            <a:endParaRPr lang="en-US" sz="1300" dirty="0"/>
          </a:p>
        </p:txBody>
      </p:sp>
      <p:sp>
        <p:nvSpPr>
          <p:cNvPr id="11" name="Text 9"/>
          <p:cNvSpPr/>
          <p:nvPr/>
        </p:nvSpPr>
        <p:spPr>
          <a:xfrm>
            <a:off x="4544568" y="2121408"/>
            <a:ext cx="3044952" cy="932688"/>
          </a:xfrm>
          <a:prstGeom prst="rect">
            <a:avLst/>
          </a:prstGeom>
          <a:noFill/>
          <a:ln/>
        </p:spPr>
        <p:txBody>
          <a:bodyPr wrap="square" lIns="254" tIns="254" rIns="254" bIns="254" rtlCol="0" anchor="t">
            <a:normAutofit/>
          </a:bodyPr>
          <a:lstStyle/>
          <a:p>
            <a:pPr indent="0" marL="0">
              <a:buNone/>
            </a:pPr>
            <a:r>
              <a:rPr lang="en-US" sz="950" dirty="0">
                <a:solidFill>
                  <a:srgbClr val="283246"/>
                </a:solidFill>
                <a:latin typeface="Aptos" pitchFamily="34" charset="0"/>
                <a:ea typeface="Aptos" pitchFamily="34" charset="-122"/>
                <a:cs typeface="Aptos" pitchFamily="34" charset="-120"/>
              </a:rPr>
              <a:t>Read only needed columns; Parquet / Delta</a:t>
            </a:r>
            <a:endParaRPr lang="en-US" sz="950" dirty="0"/>
          </a:p>
        </p:txBody>
      </p:sp>
      <p:sp>
        <p:nvSpPr>
          <p:cNvPr id="12" name="Shape 10"/>
          <p:cNvSpPr/>
          <p:nvPr/>
        </p:nvSpPr>
        <p:spPr>
          <a:xfrm>
            <a:off x="8092440" y="1463040"/>
            <a:ext cx="3429000" cy="1755648"/>
          </a:xfrm>
          <a:prstGeom prst="roundRect">
            <a:avLst>
              <a:gd name="adj" fmla="val 3646"/>
            </a:avLst>
          </a:prstGeom>
          <a:solidFill>
            <a:srgbClr val="FFFFFF"/>
          </a:solidFill>
          <a:ln w="12700">
            <a:solidFill>
              <a:srgbClr val="DDE2EA"/>
            </a:solidFill>
            <a:prstDash val="solid"/>
          </a:ln>
        </p:spPr>
      </p:sp>
      <p:sp>
        <p:nvSpPr>
          <p:cNvPr id="13" name="Shape 11"/>
          <p:cNvSpPr/>
          <p:nvPr/>
        </p:nvSpPr>
        <p:spPr>
          <a:xfrm>
            <a:off x="8092440" y="1463040"/>
            <a:ext cx="50292" cy="1755648"/>
          </a:xfrm>
          <a:prstGeom prst="rect">
            <a:avLst/>
          </a:prstGeom>
          <a:solidFill>
            <a:srgbClr val="7C4DFF"/>
          </a:solidFill>
          <a:ln w="12700">
            <a:solidFill>
              <a:srgbClr val="7C4DFF"/>
            </a:solidFill>
            <a:prstDash val="solid"/>
          </a:ln>
        </p:spPr>
      </p:sp>
      <p:sp>
        <p:nvSpPr>
          <p:cNvPr id="14" name="Text 12"/>
          <p:cNvSpPr/>
          <p:nvPr/>
        </p:nvSpPr>
        <p:spPr>
          <a:xfrm>
            <a:off x="8293608" y="1682496"/>
            <a:ext cx="306324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Partition / clustering</a:t>
            </a:r>
            <a:endParaRPr lang="en-US" sz="1300" dirty="0"/>
          </a:p>
        </p:txBody>
      </p:sp>
      <p:sp>
        <p:nvSpPr>
          <p:cNvPr id="15" name="Text 13"/>
          <p:cNvSpPr/>
          <p:nvPr/>
        </p:nvSpPr>
        <p:spPr>
          <a:xfrm>
            <a:off x="8293608" y="2121408"/>
            <a:ext cx="3044952" cy="932688"/>
          </a:xfrm>
          <a:prstGeom prst="rect">
            <a:avLst/>
          </a:prstGeom>
          <a:noFill/>
          <a:ln/>
        </p:spPr>
        <p:txBody>
          <a:bodyPr wrap="square" lIns="254" tIns="254" rIns="254" bIns="254" rtlCol="0" anchor="t">
            <a:normAutofit/>
          </a:bodyPr>
          <a:lstStyle/>
          <a:p>
            <a:pPr indent="0" marL="0">
              <a:buNone/>
            </a:pPr>
            <a:r>
              <a:rPr lang="en-US" sz="950" dirty="0">
                <a:solidFill>
                  <a:srgbClr val="283246"/>
                </a:solidFill>
                <a:latin typeface="Aptos" pitchFamily="34" charset="0"/>
                <a:ea typeface="Aptos" pitchFamily="34" charset="-122"/>
                <a:cs typeface="Aptos" pitchFamily="34" charset="-120"/>
              </a:rPr>
              <a:t>Reduce the amount scanned for selective queries</a:t>
            </a:r>
            <a:endParaRPr lang="en-US" sz="950" dirty="0"/>
          </a:p>
        </p:txBody>
      </p:sp>
      <p:sp>
        <p:nvSpPr>
          <p:cNvPr id="16" name="Shape 14"/>
          <p:cNvSpPr/>
          <p:nvPr/>
        </p:nvSpPr>
        <p:spPr>
          <a:xfrm>
            <a:off x="594360" y="3566160"/>
            <a:ext cx="3429000" cy="1755648"/>
          </a:xfrm>
          <a:prstGeom prst="roundRect">
            <a:avLst>
              <a:gd name="adj" fmla="val 3646"/>
            </a:avLst>
          </a:prstGeom>
          <a:solidFill>
            <a:srgbClr val="FFFFFF"/>
          </a:solidFill>
          <a:ln w="12700">
            <a:solidFill>
              <a:srgbClr val="DDE2EA"/>
            </a:solidFill>
            <a:prstDash val="solid"/>
          </a:ln>
        </p:spPr>
      </p:sp>
      <p:sp>
        <p:nvSpPr>
          <p:cNvPr id="17" name="Shape 15"/>
          <p:cNvSpPr/>
          <p:nvPr/>
        </p:nvSpPr>
        <p:spPr>
          <a:xfrm>
            <a:off x="594360" y="3566160"/>
            <a:ext cx="50292" cy="1755648"/>
          </a:xfrm>
          <a:prstGeom prst="rect">
            <a:avLst/>
          </a:prstGeom>
          <a:solidFill>
            <a:srgbClr val="F3A712"/>
          </a:solidFill>
          <a:ln w="12700">
            <a:solidFill>
              <a:srgbClr val="F3A712"/>
            </a:solidFill>
            <a:prstDash val="solid"/>
          </a:ln>
        </p:spPr>
      </p:sp>
      <p:sp>
        <p:nvSpPr>
          <p:cNvPr id="18" name="Text 16"/>
          <p:cNvSpPr/>
          <p:nvPr/>
        </p:nvSpPr>
        <p:spPr>
          <a:xfrm>
            <a:off x="795528" y="3785616"/>
            <a:ext cx="306324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Parallelism</a:t>
            </a:r>
            <a:endParaRPr lang="en-US" sz="1300" dirty="0"/>
          </a:p>
        </p:txBody>
      </p:sp>
      <p:sp>
        <p:nvSpPr>
          <p:cNvPr id="19" name="Text 17"/>
          <p:cNvSpPr/>
          <p:nvPr/>
        </p:nvSpPr>
        <p:spPr>
          <a:xfrm>
            <a:off x="795528" y="4224528"/>
            <a:ext cx="3044952" cy="932688"/>
          </a:xfrm>
          <a:prstGeom prst="rect">
            <a:avLst/>
          </a:prstGeom>
          <a:noFill/>
          <a:ln/>
        </p:spPr>
        <p:txBody>
          <a:bodyPr wrap="square" lIns="254" tIns="254" rIns="254" bIns="254" rtlCol="0" anchor="t">
            <a:normAutofit/>
          </a:bodyPr>
          <a:lstStyle/>
          <a:p>
            <a:pPr indent="0" marL="0">
              <a:buNone/>
            </a:pPr>
            <a:r>
              <a:rPr lang="en-US" sz="950" dirty="0">
                <a:solidFill>
                  <a:srgbClr val="283246"/>
                </a:solidFill>
                <a:latin typeface="Aptos" pitchFamily="34" charset="0"/>
                <a:ea typeface="Aptos" pitchFamily="34" charset="-122"/>
                <a:cs typeface="Aptos" pitchFamily="34" charset="-120"/>
              </a:rPr>
              <a:t>Exploit distributed compute where work is independent</a:t>
            </a:r>
            <a:endParaRPr lang="en-US" sz="950" dirty="0"/>
          </a:p>
        </p:txBody>
      </p:sp>
      <p:sp>
        <p:nvSpPr>
          <p:cNvPr id="20" name="Shape 18"/>
          <p:cNvSpPr/>
          <p:nvPr/>
        </p:nvSpPr>
        <p:spPr>
          <a:xfrm>
            <a:off x="4343400" y="3566160"/>
            <a:ext cx="3429000" cy="1755648"/>
          </a:xfrm>
          <a:prstGeom prst="roundRect">
            <a:avLst>
              <a:gd name="adj" fmla="val 3646"/>
            </a:avLst>
          </a:prstGeom>
          <a:solidFill>
            <a:srgbClr val="FFFFFF"/>
          </a:solidFill>
          <a:ln w="12700">
            <a:solidFill>
              <a:srgbClr val="DDE2EA"/>
            </a:solidFill>
            <a:prstDash val="solid"/>
          </a:ln>
        </p:spPr>
      </p:sp>
      <p:sp>
        <p:nvSpPr>
          <p:cNvPr id="21" name="Shape 19"/>
          <p:cNvSpPr/>
          <p:nvPr/>
        </p:nvSpPr>
        <p:spPr>
          <a:xfrm>
            <a:off x="4343400" y="3566160"/>
            <a:ext cx="50292" cy="1755648"/>
          </a:xfrm>
          <a:prstGeom prst="rect">
            <a:avLst/>
          </a:prstGeom>
          <a:solidFill>
            <a:srgbClr val="FF3621"/>
          </a:solidFill>
          <a:ln w="12700">
            <a:solidFill>
              <a:srgbClr val="FF3621"/>
            </a:solidFill>
            <a:prstDash val="solid"/>
          </a:ln>
        </p:spPr>
      </p:sp>
      <p:sp>
        <p:nvSpPr>
          <p:cNvPr id="22" name="Text 20"/>
          <p:cNvSpPr/>
          <p:nvPr/>
        </p:nvSpPr>
        <p:spPr>
          <a:xfrm>
            <a:off x="4544568" y="3785616"/>
            <a:ext cx="306324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Serverless / autoscaling</a:t>
            </a:r>
            <a:endParaRPr lang="en-US" sz="1300" dirty="0"/>
          </a:p>
        </p:txBody>
      </p:sp>
      <p:sp>
        <p:nvSpPr>
          <p:cNvPr id="23" name="Text 21"/>
          <p:cNvSpPr/>
          <p:nvPr/>
        </p:nvSpPr>
        <p:spPr>
          <a:xfrm>
            <a:off x="4544568" y="4224528"/>
            <a:ext cx="3044952" cy="932688"/>
          </a:xfrm>
          <a:prstGeom prst="rect">
            <a:avLst/>
          </a:prstGeom>
          <a:noFill/>
          <a:ln/>
        </p:spPr>
        <p:txBody>
          <a:bodyPr wrap="square" lIns="254" tIns="254" rIns="254" bIns="254" rtlCol="0" anchor="t">
            <a:normAutofit/>
          </a:bodyPr>
          <a:lstStyle/>
          <a:p>
            <a:pPr indent="0" marL="0">
              <a:buNone/>
            </a:pPr>
            <a:r>
              <a:rPr lang="en-US" sz="950" dirty="0">
                <a:solidFill>
                  <a:srgbClr val="283246"/>
                </a:solidFill>
                <a:latin typeface="Aptos" pitchFamily="34" charset="0"/>
                <a:ea typeface="Aptos" pitchFamily="34" charset="-122"/>
                <a:cs typeface="Aptos" pitchFamily="34" charset="-120"/>
              </a:rPr>
              <a:t>Match compute to workload without static over-provisioning</a:t>
            </a:r>
            <a:endParaRPr lang="en-US" sz="950" dirty="0"/>
          </a:p>
        </p:txBody>
      </p:sp>
      <p:sp>
        <p:nvSpPr>
          <p:cNvPr id="24" name="Shape 22"/>
          <p:cNvSpPr/>
          <p:nvPr/>
        </p:nvSpPr>
        <p:spPr>
          <a:xfrm>
            <a:off x="8092440" y="3566160"/>
            <a:ext cx="3429000" cy="1755648"/>
          </a:xfrm>
          <a:prstGeom prst="roundRect">
            <a:avLst>
              <a:gd name="adj" fmla="val 3646"/>
            </a:avLst>
          </a:prstGeom>
          <a:solidFill>
            <a:srgbClr val="FFFFFF"/>
          </a:solidFill>
          <a:ln w="12700">
            <a:solidFill>
              <a:srgbClr val="DDE2EA"/>
            </a:solidFill>
            <a:prstDash val="solid"/>
          </a:ln>
        </p:spPr>
      </p:sp>
      <p:sp>
        <p:nvSpPr>
          <p:cNvPr id="25" name="Shape 23"/>
          <p:cNvSpPr/>
          <p:nvPr/>
        </p:nvSpPr>
        <p:spPr>
          <a:xfrm>
            <a:off x="8092440" y="3566160"/>
            <a:ext cx="50292" cy="1755648"/>
          </a:xfrm>
          <a:prstGeom prst="rect">
            <a:avLst/>
          </a:prstGeom>
          <a:solidFill>
            <a:srgbClr val="29A86B"/>
          </a:solidFill>
          <a:ln w="12700">
            <a:solidFill>
              <a:srgbClr val="29A86B"/>
            </a:solidFill>
            <a:prstDash val="solid"/>
          </a:ln>
        </p:spPr>
      </p:sp>
      <p:sp>
        <p:nvSpPr>
          <p:cNvPr id="26" name="Text 24"/>
          <p:cNvSpPr/>
          <p:nvPr/>
        </p:nvSpPr>
        <p:spPr>
          <a:xfrm>
            <a:off x="8293608" y="3785616"/>
            <a:ext cx="306324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Right-time cadence</a:t>
            </a:r>
            <a:endParaRPr lang="en-US" sz="1300" dirty="0"/>
          </a:p>
        </p:txBody>
      </p:sp>
      <p:sp>
        <p:nvSpPr>
          <p:cNvPr id="27" name="Text 25"/>
          <p:cNvSpPr/>
          <p:nvPr/>
        </p:nvSpPr>
        <p:spPr>
          <a:xfrm>
            <a:off x="8293608" y="4224528"/>
            <a:ext cx="3044952" cy="932688"/>
          </a:xfrm>
          <a:prstGeom prst="rect">
            <a:avLst/>
          </a:prstGeom>
          <a:noFill/>
          <a:ln/>
        </p:spPr>
        <p:txBody>
          <a:bodyPr wrap="square" lIns="254" tIns="254" rIns="254" bIns="254" rtlCol="0" anchor="t">
            <a:normAutofit/>
          </a:bodyPr>
          <a:lstStyle/>
          <a:p>
            <a:pPr indent="0" marL="0">
              <a:buNone/>
            </a:pPr>
            <a:r>
              <a:rPr lang="en-US" sz="950" dirty="0">
                <a:solidFill>
                  <a:srgbClr val="283246"/>
                </a:solidFill>
                <a:latin typeface="Aptos" pitchFamily="34" charset="0"/>
                <a:ea typeface="Aptos" pitchFamily="34" charset="-122"/>
                <a:cs typeface="Aptos" pitchFamily="34" charset="-120"/>
              </a:rPr>
              <a:t>Do not run more frequently than the consumer requires</a:t>
            </a:r>
            <a:endParaRPr lang="en-US" sz="950" dirty="0"/>
          </a:p>
        </p:txBody>
      </p:sp>
      <p:sp>
        <p:nvSpPr>
          <p:cNvPr id="28" name="Text 26"/>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5</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7233C"/>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FF3621"/>
          </a:solidFill>
          <a:ln w="12700">
            <a:solidFill>
              <a:srgbClr val="FF3621"/>
            </a:solidFill>
            <a:prstDash val="solid"/>
          </a:ln>
        </p:spPr>
      </p:sp>
      <p:sp>
        <p:nvSpPr>
          <p:cNvPr id="3" name="Text 1"/>
          <p:cNvSpPr/>
          <p:nvPr/>
        </p:nvSpPr>
        <p:spPr>
          <a:xfrm>
            <a:off x="640080" y="1042416"/>
            <a:ext cx="1371600" cy="274320"/>
          </a:xfrm>
          <a:prstGeom prst="rect">
            <a:avLst/>
          </a:prstGeom>
          <a:noFill/>
          <a:ln/>
        </p:spPr>
        <p:txBody>
          <a:bodyPr wrap="square" lIns="0" tIns="0" rIns="0" bIns="0" rtlCol="0" anchor="ctr"/>
          <a:lstStyle/>
          <a:p>
            <a:pPr indent="0" marL="0">
              <a:buNone/>
            </a:pPr>
            <a:r>
              <a:rPr lang="en-US" sz="900" b="1" spc="160" kern="0" dirty="0">
                <a:solidFill>
                  <a:srgbClr val="FF8A7B"/>
                </a:solidFill>
                <a:latin typeface="Aptos" pitchFamily="34" charset="0"/>
                <a:ea typeface="Aptos" pitchFamily="34" charset="-122"/>
                <a:cs typeface="Aptos" pitchFamily="34" charset="-120"/>
              </a:rPr>
              <a:t>PART 5</a:t>
            </a:r>
            <a:endParaRPr lang="en-US" sz="900" dirty="0"/>
          </a:p>
        </p:txBody>
      </p:sp>
      <p:sp>
        <p:nvSpPr>
          <p:cNvPr id="4" name="Text 2"/>
          <p:cNvSpPr/>
          <p:nvPr/>
        </p:nvSpPr>
        <p:spPr>
          <a:xfrm>
            <a:off x="640080" y="1481328"/>
            <a:ext cx="8138160" cy="9601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ETL in Databricks</a:t>
            </a:r>
            <a:endParaRPr lang="en-US" sz="3000" dirty="0"/>
          </a:p>
        </p:txBody>
      </p:sp>
      <p:sp>
        <p:nvSpPr>
          <p:cNvPr id="5" name="Text 3"/>
          <p:cNvSpPr/>
          <p:nvPr/>
        </p:nvSpPr>
        <p:spPr>
          <a:xfrm>
            <a:off x="658368" y="2542032"/>
            <a:ext cx="8686800" cy="777240"/>
          </a:xfrm>
          <a:prstGeom prst="rect">
            <a:avLst/>
          </a:prstGeom>
          <a:noFill/>
          <a:ln/>
        </p:spPr>
        <p:txBody>
          <a:bodyPr wrap="square" lIns="0" tIns="0" rIns="0" bIns="0" rtlCol="0" anchor="ctr">
            <a:normAutofit/>
          </a:bodyPr>
          <a:lstStyle/>
          <a:p>
            <a:pPr indent="0" marL="0">
              <a:buNone/>
            </a:pPr>
            <a:r>
              <a:rPr lang="en-US" sz="1400" dirty="0">
                <a:solidFill>
                  <a:srgbClr val="CFD7E6"/>
                </a:solidFill>
                <a:latin typeface="Aptos" pitchFamily="34" charset="0"/>
                <a:ea typeface="Aptos" pitchFamily="34" charset="-122"/>
                <a:cs typeface="Aptos" pitchFamily="34" charset="-120"/>
              </a:rPr>
              <a:t>Map the general ETL principles onto the current Databricks Lakeflow stack.</a:t>
            </a:r>
            <a:endParaRPr lang="en-US" sz="1400" dirty="0"/>
          </a:p>
        </p:txBody>
      </p:sp>
      <p:sp>
        <p:nvSpPr>
          <p:cNvPr id="6" name="Shape 4"/>
          <p:cNvSpPr/>
          <p:nvPr/>
        </p:nvSpPr>
        <p:spPr>
          <a:xfrm>
            <a:off x="685800" y="3995928"/>
            <a:ext cx="201168" cy="201168"/>
          </a:xfrm>
          <a:prstGeom prst="ellipse">
            <a:avLst/>
          </a:prstGeom>
          <a:solidFill>
            <a:srgbClr val="FF3621"/>
          </a:solidFill>
          <a:ln w="12700">
            <a:solidFill>
              <a:srgbClr val="FF3621"/>
            </a:solidFill>
            <a:prstDash val="solid"/>
          </a:ln>
        </p:spPr>
      </p:sp>
      <p:sp>
        <p:nvSpPr>
          <p:cNvPr id="7" name="Text 5"/>
          <p:cNvSpPr/>
          <p:nvPr/>
        </p:nvSpPr>
        <p:spPr>
          <a:xfrm>
            <a:off x="987552" y="3977640"/>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Lakeflow Connect for ingestion</a:t>
            </a:r>
            <a:endParaRPr lang="en-US" sz="1150" dirty="0"/>
          </a:p>
        </p:txBody>
      </p:sp>
      <p:sp>
        <p:nvSpPr>
          <p:cNvPr id="8" name="Shape 6"/>
          <p:cNvSpPr/>
          <p:nvPr/>
        </p:nvSpPr>
        <p:spPr>
          <a:xfrm>
            <a:off x="685800" y="4562856"/>
            <a:ext cx="201168" cy="201168"/>
          </a:xfrm>
          <a:prstGeom prst="ellipse">
            <a:avLst/>
          </a:prstGeom>
          <a:solidFill>
            <a:srgbClr val="00A972"/>
          </a:solidFill>
          <a:ln w="12700">
            <a:solidFill>
              <a:srgbClr val="00A972"/>
            </a:solidFill>
            <a:prstDash val="solid"/>
          </a:ln>
        </p:spPr>
      </p:sp>
      <p:sp>
        <p:nvSpPr>
          <p:cNvPr id="9" name="Text 7"/>
          <p:cNvSpPr/>
          <p:nvPr/>
        </p:nvSpPr>
        <p:spPr>
          <a:xfrm>
            <a:off x="987552" y="4544568"/>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Lakeflow Pipelines for declarative transformation</a:t>
            </a:r>
            <a:endParaRPr lang="en-US" sz="1150" dirty="0"/>
          </a:p>
        </p:txBody>
      </p:sp>
      <p:sp>
        <p:nvSpPr>
          <p:cNvPr id="10" name="Shape 8"/>
          <p:cNvSpPr/>
          <p:nvPr/>
        </p:nvSpPr>
        <p:spPr>
          <a:xfrm>
            <a:off x="685800" y="5129784"/>
            <a:ext cx="201168" cy="201168"/>
          </a:xfrm>
          <a:prstGeom prst="ellipse">
            <a:avLst/>
          </a:prstGeom>
          <a:solidFill>
            <a:srgbClr val="FF3621"/>
          </a:solidFill>
          <a:ln w="12700">
            <a:solidFill>
              <a:srgbClr val="FF3621"/>
            </a:solidFill>
            <a:prstDash val="solid"/>
          </a:ln>
        </p:spPr>
      </p:sp>
      <p:sp>
        <p:nvSpPr>
          <p:cNvPr id="11" name="Text 9"/>
          <p:cNvSpPr/>
          <p:nvPr/>
        </p:nvSpPr>
        <p:spPr>
          <a:xfrm>
            <a:off x="987552" y="5111496"/>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Lakeflow Jobs for orchestration</a:t>
            </a:r>
            <a:endParaRPr lang="en-US" sz="1150" dirty="0"/>
          </a:p>
        </p:txBody>
      </p:sp>
      <p:sp>
        <p:nvSpPr>
          <p:cNvPr id="12" name="Shape 10"/>
          <p:cNvSpPr/>
          <p:nvPr/>
        </p:nvSpPr>
        <p:spPr>
          <a:xfrm>
            <a:off x="685800" y="5696712"/>
            <a:ext cx="201168" cy="201168"/>
          </a:xfrm>
          <a:prstGeom prst="ellipse">
            <a:avLst/>
          </a:prstGeom>
          <a:solidFill>
            <a:srgbClr val="00A972"/>
          </a:solidFill>
          <a:ln w="12700">
            <a:solidFill>
              <a:srgbClr val="00A972"/>
            </a:solidFill>
            <a:prstDash val="solid"/>
          </a:ln>
        </p:spPr>
      </p:sp>
      <p:sp>
        <p:nvSpPr>
          <p:cNvPr id="13" name="Text 11"/>
          <p:cNvSpPr/>
          <p:nvPr/>
        </p:nvSpPr>
        <p:spPr>
          <a:xfrm>
            <a:off x="987552" y="5678424"/>
            <a:ext cx="6217920" cy="256032"/>
          </a:xfrm>
          <a:prstGeom prst="rect">
            <a:avLst/>
          </a:prstGeom>
          <a:noFill/>
          <a:ln/>
        </p:spPr>
        <p:txBody>
          <a:bodyPr wrap="square" lIns="0" tIns="0" rIns="0" bIns="0" rtlCol="0" anchor="ctr">
            <a:normAutofit/>
          </a:bodyPr>
          <a:lstStyle/>
          <a:p>
            <a:pPr indent="0" marL="0">
              <a:buNone/>
            </a:pPr>
            <a:r>
              <a:rPr lang="en-US" sz="1150" dirty="0">
                <a:solidFill>
                  <a:srgbClr val="E8EDF5"/>
                </a:solidFill>
                <a:latin typeface="Aptos" pitchFamily="34" charset="0"/>
                <a:ea typeface="Aptos" pitchFamily="34" charset="-122"/>
                <a:cs typeface="Aptos" pitchFamily="34" charset="-120"/>
              </a:rPr>
              <a:t>Streaming tables, materialized views, expectations and AUTO CDC</a:t>
            </a:r>
            <a:endParaRPr lang="en-US" sz="1150" dirty="0"/>
          </a:p>
        </p:txBody>
      </p:sp>
      <p:sp>
        <p:nvSpPr>
          <p:cNvPr id="14" name="Text 12"/>
          <p:cNvSpPr/>
          <p:nvPr/>
        </p:nvSpPr>
        <p:spPr>
          <a:xfrm>
            <a:off x="9326880" y="6172200"/>
            <a:ext cx="2194560" cy="274320"/>
          </a:xfrm>
          <a:prstGeom prst="rect">
            <a:avLst/>
          </a:prstGeom>
          <a:noFill/>
          <a:ln/>
        </p:spPr>
        <p:txBody>
          <a:bodyPr wrap="square" lIns="0" tIns="0" rIns="0" bIns="0" rtlCol="0" anchor="ctr"/>
          <a:lstStyle/>
          <a:p>
            <a:pPr algn="r" indent="0" marL="0">
              <a:buNone/>
            </a:pPr>
            <a:r>
              <a:rPr lang="en-US" sz="800" b="1" dirty="0">
                <a:solidFill>
                  <a:srgbClr val="8FA0BB"/>
                </a:solidFill>
                <a:latin typeface="Aptos" pitchFamily="34" charset="0"/>
                <a:ea typeface="Aptos" pitchFamily="34" charset="-122"/>
                <a:cs typeface="Aptos" pitchFamily="34" charset="-120"/>
              </a:rPr>
              <a:t>COMP 454 • 2026</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The Databricks Lakeflow ETL Stack</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A unified platform can reduce handoffs between ingestion, transformation and orchestration.</a:t>
            </a:r>
            <a:endParaRPr lang="en-US" sz="1100" dirty="0"/>
          </a:p>
        </p:txBody>
      </p:sp>
      <p:sp>
        <p:nvSpPr>
          <p:cNvPr id="4" name="Shape 2"/>
          <p:cNvSpPr/>
          <p:nvPr/>
        </p:nvSpPr>
        <p:spPr>
          <a:xfrm>
            <a:off x="685800" y="1645920"/>
            <a:ext cx="3246120" cy="3246120"/>
          </a:xfrm>
          <a:prstGeom prst="roundRect">
            <a:avLst>
              <a:gd name="adj" fmla="val 1972"/>
            </a:avLst>
          </a:prstGeom>
          <a:solidFill>
            <a:srgbClr val="FFFFFF"/>
          </a:solidFill>
          <a:ln w="12700">
            <a:solidFill>
              <a:srgbClr val="DDE2EA"/>
            </a:solidFill>
            <a:prstDash val="solid"/>
          </a:ln>
        </p:spPr>
      </p:sp>
      <p:sp>
        <p:nvSpPr>
          <p:cNvPr id="5" name="Shape 3"/>
          <p:cNvSpPr/>
          <p:nvPr/>
        </p:nvSpPr>
        <p:spPr>
          <a:xfrm>
            <a:off x="685800" y="1645920"/>
            <a:ext cx="50292" cy="3246120"/>
          </a:xfrm>
          <a:prstGeom prst="rect">
            <a:avLst/>
          </a:prstGeom>
          <a:solidFill>
            <a:srgbClr val="3B6FF5"/>
          </a:solidFill>
          <a:ln w="12700">
            <a:solidFill>
              <a:srgbClr val="3B6FF5"/>
            </a:solidFill>
            <a:prstDash val="solid"/>
          </a:ln>
        </p:spPr>
      </p:sp>
      <p:sp>
        <p:nvSpPr>
          <p:cNvPr id="6" name="Shape 4"/>
          <p:cNvSpPr/>
          <p:nvPr/>
        </p:nvSpPr>
        <p:spPr>
          <a:xfrm>
            <a:off x="886968" y="1828800"/>
            <a:ext cx="566928" cy="310896"/>
          </a:xfrm>
          <a:prstGeom prst="roundRect">
            <a:avLst>
              <a:gd name="adj" fmla="val 14706"/>
            </a:avLst>
          </a:prstGeom>
          <a:solidFill>
            <a:srgbClr val="EDF2FF"/>
          </a:solidFill>
          <a:ln w="12700">
            <a:solidFill>
              <a:srgbClr val="EDF2FF"/>
            </a:solidFill>
            <a:prstDash val="solid"/>
          </a:ln>
        </p:spPr>
      </p:sp>
      <p:sp>
        <p:nvSpPr>
          <p:cNvPr id="7" name="Text 5"/>
          <p:cNvSpPr/>
          <p:nvPr/>
        </p:nvSpPr>
        <p:spPr>
          <a:xfrm>
            <a:off x="886968" y="189280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INGEST</a:t>
            </a:r>
            <a:endParaRPr lang="en-US" sz="730" dirty="0"/>
          </a:p>
        </p:txBody>
      </p:sp>
      <p:sp>
        <p:nvSpPr>
          <p:cNvPr id="8" name="Text 6"/>
          <p:cNvSpPr/>
          <p:nvPr/>
        </p:nvSpPr>
        <p:spPr>
          <a:xfrm>
            <a:off x="886968" y="2231136"/>
            <a:ext cx="2880360" cy="347472"/>
          </a:xfrm>
          <a:prstGeom prst="rect">
            <a:avLst/>
          </a:prstGeom>
          <a:noFill/>
          <a:ln/>
        </p:spPr>
        <p:txBody>
          <a:bodyPr wrap="square" lIns="0" tIns="0" rIns="0" bIns="0" rtlCol="0" anchor="ctr">
            <a:normAutofit/>
          </a:bodyPr>
          <a:lstStyle/>
          <a:p>
            <a:pPr indent="0" marL="0">
              <a:buNone/>
            </a:pPr>
            <a:r>
              <a:rPr lang="en-US" sz="1700" b="1" dirty="0">
                <a:solidFill>
                  <a:srgbClr val="17233C"/>
                </a:solidFill>
                <a:latin typeface="Aptos Display" pitchFamily="34" charset="0"/>
                <a:ea typeface="Aptos Display" pitchFamily="34" charset="-122"/>
                <a:cs typeface="Aptos Display" pitchFamily="34" charset="-120"/>
              </a:rPr>
              <a:t>Lakeflow Connect</a:t>
            </a:r>
            <a:endParaRPr lang="en-US" sz="1700" dirty="0"/>
          </a:p>
        </p:txBody>
      </p:sp>
      <p:sp>
        <p:nvSpPr>
          <p:cNvPr id="9" name="Text 7"/>
          <p:cNvSpPr/>
          <p:nvPr/>
        </p:nvSpPr>
        <p:spPr>
          <a:xfrm>
            <a:off x="886968" y="2606040"/>
            <a:ext cx="2862072" cy="2121408"/>
          </a:xfrm>
          <a:prstGeom prst="rect">
            <a:avLst/>
          </a:prstGeom>
          <a:noFill/>
          <a:ln/>
        </p:spPr>
        <p:txBody>
          <a:bodyPr wrap="square" lIns="254" tIns="254" rIns="254" bIns="254" rtlCol="0" anchor="t">
            <a:normAutofit/>
          </a:bodyPr>
          <a:lstStyle/>
          <a:p>
            <a:pPr indent="0" marL="0">
              <a:buNone/>
            </a:pPr>
            <a:r>
              <a:rPr lang="en-US" sz="1070" dirty="0">
                <a:solidFill>
                  <a:srgbClr val="283246"/>
                </a:solidFill>
                <a:latin typeface="Aptos" pitchFamily="34" charset="0"/>
                <a:ea typeface="Aptos" pitchFamily="34" charset="-122"/>
                <a:cs typeface="Aptos" pitchFamily="34" charset="-120"/>
              </a:rPr>
              <a:t>Managed / standard connectors for databases, SaaS, files and event sources.</a:t>
            </a:r>
            <a:endParaRPr lang="en-US" sz="1070" dirty="0"/>
          </a:p>
          <a:p>
            <a:pPr indent="0" marL="0">
              <a:buNone/>
            </a:pPr>
            <a:endParaRPr lang="en-US" sz="1070" dirty="0"/>
          </a:p>
          <a:p>
            <a:pPr indent="0" marL="0">
              <a:buNone/>
            </a:pPr>
            <a:r>
              <a:rPr lang="en-US" sz="1070" dirty="0">
                <a:solidFill>
                  <a:srgbClr val="283246"/>
                </a:solidFill>
                <a:latin typeface="Aptos" pitchFamily="34" charset="0"/>
                <a:ea typeface="Aptos" pitchFamily="34" charset="-122"/>
                <a:cs typeface="Aptos" pitchFamily="34" charset="-120"/>
              </a:rPr>
              <a:t>Role: INGEST</a:t>
            </a:r>
            <a:endParaRPr lang="en-US" sz="1070" dirty="0"/>
          </a:p>
        </p:txBody>
      </p:sp>
      <p:sp>
        <p:nvSpPr>
          <p:cNvPr id="10" name="Shape 8"/>
          <p:cNvSpPr/>
          <p:nvPr/>
        </p:nvSpPr>
        <p:spPr>
          <a:xfrm>
            <a:off x="4480560" y="1645920"/>
            <a:ext cx="3246120" cy="3246120"/>
          </a:xfrm>
          <a:prstGeom prst="roundRect">
            <a:avLst>
              <a:gd name="adj" fmla="val 1972"/>
            </a:avLst>
          </a:prstGeom>
          <a:solidFill>
            <a:srgbClr val="FFFFFF"/>
          </a:solidFill>
          <a:ln w="12700">
            <a:solidFill>
              <a:srgbClr val="DDE2EA"/>
            </a:solidFill>
            <a:prstDash val="solid"/>
          </a:ln>
        </p:spPr>
      </p:sp>
      <p:sp>
        <p:nvSpPr>
          <p:cNvPr id="11" name="Shape 9"/>
          <p:cNvSpPr/>
          <p:nvPr/>
        </p:nvSpPr>
        <p:spPr>
          <a:xfrm>
            <a:off x="4480560" y="1645920"/>
            <a:ext cx="50292" cy="3246120"/>
          </a:xfrm>
          <a:prstGeom prst="rect">
            <a:avLst/>
          </a:prstGeom>
          <a:solidFill>
            <a:srgbClr val="00A972"/>
          </a:solidFill>
          <a:ln w="12700">
            <a:solidFill>
              <a:srgbClr val="00A972"/>
            </a:solidFill>
            <a:prstDash val="solid"/>
          </a:ln>
        </p:spPr>
      </p:sp>
      <p:sp>
        <p:nvSpPr>
          <p:cNvPr id="12" name="Shape 10"/>
          <p:cNvSpPr/>
          <p:nvPr/>
        </p:nvSpPr>
        <p:spPr>
          <a:xfrm>
            <a:off x="4681728" y="1828800"/>
            <a:ext cx="566928" cy="310896"/>
          </a:xfrm>
          <a:prstGeom prst="roundRect">
            <a:avLst>
              <a:gd name="adj" fmla="val 14706"/>
            </a:avLst>
          </a:prstGeom>
          <a:solidFill>
            <a:srgbClr val="E9F8F3"/>
          </a:solidFill>
          <a:ln w="12700">
            <a:solidFill>
              <a:srgbClr val="E9F8F3"/>
            </a:solidFill>
            <a:prstDash val="solid"/>
          </a:ln>
        </p:spPr>
      </p:sp>
      <p:sp>
        <p:nvSpPr>
          <p:cNvPr id="13" name="Text 11"/>
          <p:cNvSpPr/>
          <p:nvPr/>
        </p:nvSpPr>
        <p:spPr>
          <a:xfrm>
            <a:off x="4681728" y="189280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TRANSFORM</a:t>
            </a:r>
            <a:endParaRPr lang="en-US" sz="730" dirty="0"/>
          </a:p>
        </p:txBody>
      </p:sp>
      <p:sp>
        <p:nvSpPr>
          <p:cNvPr id="14" name="Text 12"/>
          <p:cNvSpPr/>
          <p:nvPr/>
        </p:nvSpPr>
        <p:spPr>
          <a:xfrm>
            <a:off x="4681728" y="2231136"/>
            <a:ext cx="2880360" cy="347472"/>
          </a:xfrm>
          <a:prstGeom prst="rect">
            <a:avLst/>
          </a:prstGeom>
          <a:noFill/>
          <a:ln/>
        </p:spPr>
        <p:txBody>
          <a:bodyPr wrap="square" lIns="0" tIns="0" rIns="0" bIns="0" rtlCol="0" anchor="ctr">
            <a:normAutofit/>
          </a:bodyPr>
          <a:lstStyle/>
          <a:p>
            <a:pPr indent="0" marL="0">
              <a:buNone/>
            </a:pPr>
            <a:r>
              <a:rPr lang="en-US" sz="1700" b="1" dirty="0">
                <a:solidFill>
                  <a:srgbClr val="17233C"/>
                </a:solidFill>
                <a:latin typeface="Aptos Display" pitchFamily="34" charset="0"/>
                <a:ea typeface="Aptos Display" pitchFamily="34" charset="-122"/>
                <a:cs typeface="Aptos Display" pitchFamily="34" charset="-120"/>
              </a:rPr>
              <a:t>Lakeflow Pipelines</a:t>
            </a:r>
            <a:endParaRPr lang="en-US" sz="1700" dirty="0"/>
          </a:p>
        </p:txBody>
      </p:sp>
      <p:sp>
        <p:nvSpPr>
          <p:cNvPr id="15" name="Text 13"/>
          <p:cNvSpPr/>
          <p:nvPr/>
        </p:nvSpPr>
        <p:spPr>
          <a:xfrm>
            <a:off x="4681728" y="2606040"/>
            <a:ext cx="2862072" cy="2121408"/>
          </a:xfrm>
          <a:prstGeom prst="rect">
            <a:avLst/>
          </a:prstGeom>
          <a:noFill/>
          <a:ln/>
        </p:spPr>
        <p:txBody>
          <a:bodyPr wrap="square" lIns="254" tIns="254" rIns="254" bIns="254" rtlCol="0" anchor="t">
            <a:normAutofit/>
          </a:bodyPr>
          <a:lstStyle/>
          <a:p>
            <a:pPr indent="0" marL="0">
              <a:buNone/>
            </a:pPr>
            <a:r>
              <a:rPr lang="en-US" sz="1070" dirty="0">
                <a:solidFill>
                  <a:srgbClr val="283246"/>
                </a:solidFill>
                <a:latin typeface="Aptos" pitchFamily="34" charset="0"/>
                <a:ea typeface="Aptos" pitchFamily="34" charset="-122"/>
                <a:cs typeface="Aptos" pitchFamily="34" charset="-120"/>
              </a:rPr>
              <a:t>Declarative batch + streaming datasets using SQL or Python.</a:t>
            </a:r>
            <a:endParaRPr lang="en-US" sz="1070" dirty="0"/>
          </a:p>
          <a:p>
            <a:pPr indent="0" marL="0">
              <a:buNone/>
            </a:pPr>
            <a:endParaRPr lang="en-US" sz="1070" dirty="0"/>
          </a:p>
          <a:p>
            <a:pPr indent="0" marL="0">
              <a:buNone/>
            </a:pPr>
            <a:r>
              <a:rPr lang="en-US" sz="1070" dirty="0">
                <a:solidFill>
                  <a:srgbClr val="283246"/>
                </a:solidFill>
                <a:latin typeface="Aptos" pitchFamily="34" charset="0"/>
                <a:ea typeface="Aptos" pitchFamily="34" charset="-122"/>
                <a:cs typeface="Aptos" pitchFamily="34" charset="-120"/>
              </a:rPr>
              <a:t>Role: TRANSFORM</a:t>
            </a:r>
            <a:endParaRPr lang="en-US" sz="1070" dirty="0"/>
          </a:p>
        </p:txBody>
      </p:sp>
      <p:sp>
        <p:nvSpPr>
          <p:cNvPr id="16" name="Shape 14"/>
          <p:cNvSpPr/>
          <p:nvPr/>
        </p:nvSpPr>
        <p:spPr>
          <a:xfrm>
            <a:off x="8275320" y="1645920"/>
            <a:ext cx="3246120" cy="3246120"/>
          </a:xfrm>
          <a:prstGeom prst="roundRect">
            <a:avLst>
              <a:gd name="adj" fmla="val 1972"/>
            </a:avLst>
          </a:prstGeom>
          <a:solidFill>
            <a:srgbClr val="FFFFFF"/>
          </a:solidFill>
          <a:ln w="12700">
            <a:solidFill>
              <a:srgbClr val="DDE2EA"/>
            </a:solidFill>
            <a:prstDash val="solid"/>
          </a:ln>
        </p:spPr>
      </p:sp>
      <p:sp>
        <p:nvSpPr>
          <p:cNvPr id="17" name="Shape 15"/>
          <p:cNvSpPr/>
          <p:nvPr/>
        </p:nvSpPr>
        <p:spPr>
          <a:xfrm>
            <a:off x="8275320" y="1645920"/>
            <a:ext cx="50292" cy="3246120"/>
          </a:xfrm>
          <a:prstGeom prst="rect">
            <a:avLst/>
          </a:prstGeom>
          <a:solidFill>
            <a:srgbClr val="FF3621"/>
          </a:solidFill>
          <a:ln w="12700">
            <a:solidFill>
              <a:srgbClr val="FF3621"/>
            </a:solidFill>
            <a:prstDash val="solid"/>
          </a:ln>
        </p:spPr>
      </p:sp>
      <p:sp>
        <p:nvSpPr>
          <p:cNvPr id="18" name="Shape 16"/>
          <p:cNvSpPr/>
          <p:nvPr/>
        </p:nvSpPr>
        <p:spPr>
          <a:xfrm>
            <a:off x="8476488" y="1828800"/>
            <a:ext cx="566928" cy="310896"/>
          </a:xfrm>
          <a:prstGeom prst="roundRect">
            <a:avLst>
              <a:gd name="adj" fmla="val 14706"/>
            </a:avLst>
          </a:prstGeom>
          <a:solidFill>
            <a:srgbClr val="FFF0ED"/>
          </a:solidFill>
          <a:ln w="12700">
            <a:solidFill>
              <a:srgbClr val="FFF0ED"/>
            </a:solidFill>
            <a:prstDash val="solid"/>
          </a:ln>
        </p:spPr>
      </p:sp>
      <p:sp>
        <p:nvSpPr>
          <p:cNvPr id="19" name="Text 17"/>
          <p:cNvSpPr/>
          <p:nvPr/>
        </p:nvSpPr>
        <p:spPr>
          <a:xfrm>
            <a:off x="8476488" y="189280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ORCHESTRATE</a:t>
            </a:r>
            <a:endParaRPr lang="en-US" sz="730" dirty="0"/>
          </a:p>
        </p:txBody>
      </p:sp>
      <p:sp>
        <p:nvSpPr>
          <p:cNvPr id="20" name="Text 18"/>
          <p:cNvSpPr/>
          <p:nvPr/>
        </p:nvSpPr>
        <p:spPr>
          <a:xfrm>
            <a:off x="8476488" y="2231136"/>
            <a:ext cx="2880360" cy="347472"/>
          </a:xfrm>
          <a:prstGeom prst="rect">
            <a:avLst/>
          </a:prstGeom>
          <a:noFill/>
          <a:ln/>
        </p:spPr>
        <p:txBody>
          <a:bodyPr wrap="square" lIns="0" tIns="0" rIns="0" bIns="0" rtlCol="0" anchor="ctr">
            <a:normAutofit/>
          </a:bodyPr>
          <a:lstStyle/>
          <a:p>
            <a:pPr indent="0" marL="0">
              <a:buNone/>
            </a:pPr>
            <a:r>
              <a:rPr lang="en-US" sz="1700" b="1" dirty="0">
                <a:solidFill>
                  <a:srgbClr val="17233C"/>
                </a:solidFill>
                <a:latin typeface="Aptos Display" pitchFamily="34" charset="0"/>
                <a:ea typeface="Aptos Display" pitchFamily="34" charset="-122"/>
                <a:cs typeface="Aptos Display" pitchFamily="34" charset="-120"/>
              </a:rPr>
              <a:t>Lakeflow Jobs</a:t>
            </a:r>
            <a:endParaRPr lang="en-US" sz="1700" dirty="0"/>
          </a:p>
        </p:txBody>
      </p:sp>
      <p:sp>
        <p:nvSpPr>
          <p:cNvPr id="21" name="Text 19"/>
          <p:cNvSpPr/>
          <p:nvPr/>
        </p:nvSpPr>
        <p:spPr>
          <a:xfrm>
            <a:off x="8476488" y="2606040"/>
            <a:ext cx="2862072" cy="2121408"/>
          </a:xfrm>
          <a:prstGeom prst="rect">
            <a:avLst/>
          </a:prstGeom>
          <a:noFill/>
          <a:ln/>
        </p:spPr>
        <p:txBody>
          <a:bodyPr wrap="square" lIns="254" tIns="254" rIns="254" bIns="254" rtlCol="0" anchor="t">
            <a:normAutofit/>
          </a:bodyPr>
          <a:lstStyle/>
          <a:p>
            <a:pPr indent="0" marL="0">
              <a:buNone/>
            </a:pPr>
            <a:r>
              <a:rPr lang="en-US" sz="1070" dirty="0">
                <a:solidFill>
                  <a:srgbClr val="283246"/>
                </a:solidFill>
                <a:latin typeface="Aptos" pitchFamily="34" charset="0"/>
                <a:ea typeface="Aptos" pitchFamily="34" charset="-122"/>
                <a:cs typeface="Aptos" pitchFamily="34" charset="-120"/>
              </a:rPr>
              <a:t>Schedules, event triggers, task dependencies and operational workflows.</a:t>
            </a:r>
            <a:endParaRPr lang="en-US" sz="1070" dirty="0"/>
          </a:p>
          <a:p>
            <a:pPr indent="0" marL="0">
              <a:buNone/>
            </a:pPr>
            <a:endParaRPr lang="en-US" sz="1070" dirty="0"/>
          </a:p>
          <a:p>
            <a:pPr indent="0" marL="0">
              <a:buNone/>
            </a:pPr>
            <a:r>
              <a:rPr lang="en-US" sz="1070" dirty="0">
                <a:solidFill>
                  <a:srgbClr val="283246"/>
                </a:solidFill>
                <a:latin typeface="Aptos" pitchFamily="34" charset="0"/>
                <a:ea typeface="Aptos" pitchFamily="34" charset="-122"/>
                <a:cs typeface="Aptos" pitchFamily="34" charset="-120"/>
              </a:rPr>
              <a:t>Role: ORCHESTRATE</a:t>
            </a:r>
            <a:endParaRPr lang="en-US" sz="1070" dirty="0"/>
          </a:p>
        </p:txBody>
      </p:sp>
      <p:sp>
        <p:nvSpPr>
          <p:cNvPr id="22" name="Shape 20"/>
          <p:cNvSpPr/>
          <p:nvPr/>
        </p:nvSpPr>
        <p:spPr>
          <a:xfrm>
            <a:off x="914400" y="5212080"/>
            <a:ext cx="10332720" cy="566928"/>
          </a:xfrm>
          <a:prstGeom prst="roundRect">
            <a:avLst>
              <a:gd name="adj" fmla="val 9677"/>
            </a:avLst>
          </a:prstGeom>
          <a:solidFill>
            <a:srgbClr val="F2EEFF"/>
          </a:solidFill>
          <a:ln w="12700">
            <a:solidFill>
              <a:srgbClr val="F2EEFF"/>
            </a:solidFill>
            <a:prstDash val="solid"/>
          </a:ln>
        </p:spPr>
      </p:sp>
      <p:sp>
        <p:nvSpPr>
          <p:cNvPr id="23" name="Text 21"/>
          <p:cNvSpPr/>
          <p:nvPr/>
        </p:nvSpPr>
        <p:spPr>
          <a:xfrm>
            <a:off x="1078992" y="5330952"/>
            <a:ext cx="10003536" cy="338328"/>
          </a:xfrm>
          <a:prstGeom prst="rect">
            <a:avLst/>
          </a:prstGeom>
          <a:noFill/>
          <a:ln/>
        </p:spPr>
        <p:txBody>
          <a:bodyPr wrap="square" lIns="0" tIns="0" rIns="0" bIns="0" rtlCol="0" anchor="ctr">
            <a:normAutofit/>
          </a:bodyPr>
          <a:lstStyle/>
          <a:p>
            <a:pPr indent="0" marL="0">
              <a:buNone/>
            </a:pPr>
            <a:r>
              <a:rPr lang="en-US" sz="1100" b="1" dirty="0">
                <a:solidFill>
                  <a:srgbClr val="7C4DFF"/>
                </a:solidFill>
                <a:latin typeface="Aptos" pitchFamily="34" charset="0"/>
                <a:ea typeface="Aptos" pitchFamily="34" charset="-122"/>
                <a:cs typeface="Aptos" pitchFamily="34" charset="-120"/>
              </a:rPr>
              <a:t>Shared foundation: Delta Lake + Unity Catalog + serverless / Spark compute + lineage / monitoring.</a:t>
            </a:r>
            <a:endParaRPr lang="en-US" sz="1100" dirty="0"/>
          </a:p>
        </p:txBody>
      </p:sp>
      <p:sp>
        <p:nvSpPr>
          <p:cNvPr id="24" name="Text 22"/>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Palmer (2025), Ch. 5; current Databricks docs (2026)</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Databricks ETL Architecture — End to End</a:t>
            </a:r>
            <a:endParaRPr lang="en-US" sz="2400" dirty="0"/>
          </a:p>
        </p:txBody>
      </p:sp>
      <p:sp>
        <p:nvSpPr>
          <p:cNvPr id="3" name="Shape 1"/>
          <p:cNvSpPr/>
          <p:nvPr/>
        </p:nvSpPr>
        <p:spPr>
          <a:xfrm>
            <a:off x="320040" y="2148840"/>
            <a:ext cx="1627632" cy="1051560"/>
          </a:xfrm>
          <a:prstGeom prst="roundRect">
            <a:avLst>
              <a:gd name="adj" fmla="val 5217"/>
            </a:avLst>
          </a:prstGeom>
          <a:solidFill>
            <a:srgbClr val="EBF1FE"/>
          </a:solidFill>
          <a:ln w="12700">
            <a:solidFill>
              <a:srgbClr val="3B6FF5"/>
            </a:solidFill>
            <a:prstDash val="solid"/>
          </a:ln>
        </p:spPr>
      </p:sp>
      <p:sp>
        <p:nvSpPr>
          <p:cNvPr id="4" name="Text 2"/>
          <p:cNvSpPr/>
          <p:nvPr/>
        </p:nvSpPr>
        <p:spPr>
          <a:xfrm>
            <a:off x="429768" y="2450592"/>
            <a:ext cx="1408176" cy="438912"/>
          </a:xfrm>
          <a:prstGeom prst="rect">
            <a:avLst/>
          </a:prstGeom>
          <a:noFill/>
          <a:ln/>
        </p:spPr>
        <p:txBody>
          <a:bodyPr wrap="square" lIns="0" tIns="0" rIns="0" bIns="0" rtlCol="0" anchor="ctr">
            <a:normAutofit/>
          </a:bodyPr>
          <a:lstStyle/>
          <a:p>
            <a:pPr algn="ctr" indent="0" marL="0">
              <a:buNone/>
            </a:pPr>
            <a:r>
              <a:rPr lang="en-US" sz="1020" b="1" dirty="0">
                <a:solidFill>
                  <a:srgbClr val="17233C"/>
                </a:solidFill>
                <a:latin typeface="Aptos" pitchFamily="34" charset="0"/>
                <a:ea typeface="Aptos" pitchFamily="34" charset="-122"/>
                <a:cs typeface="Aptos" pitchFamily="34" charset="-120"/>
              </a:rPr>
              <a:t>Sources</a:t>
            </a:r>
            <a:endParaRPr lang="en-US" sz="1020" dirty="0"/>
          </a:p>
        </p:txBody>
      </p:sp>
      <p:sp>
        <p:nvSpPr>
          <p:cNvPr id="5" name="Shape 3"/>
          <p:cNvSpPr/>
          <p:nvPr/>
        </p:nvSpPr>
        <p:spPr>
          <a:xfrm>
            <a:off x="1984248" y="2670048"/>
            <a:ext cx="228600" cy="0"/>
          </a:xfrm>
          <a:prstGeom prst="line">
            <a:avLst/>
          </a:prstGeom>
          <a:noFill/>
          <a:ln w="12700">
            <a:solidFill>
              <a:srgbClr val="A0A8B5"/>
            </a:solidFill>
            <a:prstDash val="solid"/>
            <a:headEnd type="none"/>
            <a:tailEnd type="triangle"/>
          </a:ln>
        </p:spPr>
      </p:sp>
      <p:sp>
        <p:nvSpPr>
          <p:cNvPr id="6" name="Shape 4"/>
          <p:cNvSpPr/>
          <p:nvPr/>
        </p:nvSpPr>
        <p:spPr>
          <a:xfrm>
            <a:off x="2267712" y="2148840"/>
            <a:ext cx="1627632" cy="1051560"/>
          </a:xfrm>
          <a:prstGeom prst="roundRect">
            <a:avLst>
              <a:gd name="adj" fmla="val 5217"/>
            </a:avLst>
          </a:prstGeom>
          <a:solidFill>
            <a:srgbClr val="EBF1FE"/>
          </a:solidFill>
          <a:ln w="12700">
            <a:solidFill>
              <a:srgbClr val="3B6FF5"/>
            </a:solidFill>
            <a:prstDash val="solid"/>
          </a:ln>
        </p:spPr>
      </p:sp>
      <p:sp>
        <p:nvSpPr>
          <p:cNvPr id="7" name="Text 5"/>
          <p:cNvSpPr/>
          <p:nvPr/>
        </p:nvSpPr>
        <p:spPr>
          <a:xfrm>
            <a:off x="2377440" y="2450592"/>
            <a:ext cx="1408176" cy="438912"/>
          </a:xfrm>
          <a:prstGeom prst="rect">
            <a:avLst/>
          </a:prstGeom>
          <a:noFill/>
          <a:ln/>
        </p:spPr>
        <p:txBody>
          <a:bodyPr wrap="square" lIns="0" tIns="0" rIns="0" bIns="0" rtlCol="0" anchor="ctr">
            <a:normAutofit/>
          </a:bodyPr>
          <a:lstStyle/>
          <a:p>
            <a:pPr algn="ctr" indent="0" marL="0">
              <a:buNone/>
            </a:pPr>
            <a:r>
              <a:rPr lang="en-US" sz="1020" b="1" dirty="0">
                <a:solidFill>
                  <a:srgbClr val="17233C"/>
                </a:solidFill>
                <a:latin typeface="Aptos" pitchFamily="34" charset="0"/>
                <a:ea typeface="Aptos" pitchFamily="34" charset="-122"/>
                <a:cs typeface="Aptos" pitchFamily="34" charset="-120"/>
              </a:rPr>
              <a:t>Lakeflow Connect / read_files</a:t>
            </a:r>
            <a:endParaRPr lang="en-US" sz="1020" dirty="0"/>
          </a:p>
        </p:txBody>
      </p:sp>
      <p:sp>
        <p:nvSpPr>
          <p:cNvPr id="8" name="Shape 6"/>
          <p:cNvSpPr/>
          <p:nvPr/>
        </p:nvSpPr>
        <p:spPr>
          <a:xfrm>
            <a:off x="3931920" y="2670048"/>
            <a:ext cx="228600" cy="0"/>
          </a:xfrm>
          <a:prstGeom prst="line">
            <a:avLst/>
          </a:prstGeom>
          <a:noFill/>
          <a:ln w="12700">
            <a:solidFill>
              <a:srgbClr val="A0A8B5"/>
            </a:solidFill>
            <a:prstDash val="solid"/>
            <a:headEnd type="none"/>
            <a:tailEnd type="triangle"/>
          </a:ln>
        </p:spPr>
      </p:sp>
      <p:sp>
        <p:nvSpPr>
          <p:cNvPr id="9" name="Shape 7"/>
          <p:cNvSpPr/>
          <p:nvPr/>
        </p:nvSpPr>
        <p:spPr>
          <a:xfrm>
            <a:off x="4215384" y="2148840"/>
            <a:ext cx="1627632" cy="1051560"/>
          </a:xfrm>
          <a:prstGeom prst="roundRect">
            <a:avLst>
              <a:gd name="adj" fmla="val 5217"/>
            </a:avLst>
          </a:prstGeom>
          <a:solidFill>
            <a:srgbClr val="FEF6E7"/>
          </a:solidFill>
          <a:ln w="12700">
            <a:solidFill>
              <a:srgbClr val="F3A712"/>
            </a:solidFill>
            <a:prstDash val="solid"/>
          </a:ln>
        </p:spPr>
      </p:sp>
      <p:sp>
        <p:nvSpPr>
          <p:cNvPr id="10" name="Text 8"/>
          <p:cNvSpPr/>
          <p:nvPr/>
        </p:nvSpPr>
        <p:spPr>
          <a:xfrm>
            <a:off x="4325112" y="2450592"/>
            <a:ext cx="1408176" cy="438912"/>
          </a:xfrm>
          <a:prstGeom prst="rect">
            <a:avLst/>
          </a:prstGeom>
          <a:noFill/>
          <a:ln/>
        </p:spPr>
        <p:txBody>
          <a:bodyPr wrap="square" lIns="0" tIns="0" rIns="0" bIns="0" rtlCol="0" anchor="ctr">
            <a:normAutofit/>
          </a:bodyPr>
          <a:lstStyle/>
          <a:p>
            <a:pPr algn="ctr" indent="0" marL="0">
              <a:buNone/>
            </a:pPr>
            <a:r>
              <a:rPr lang="en-US" sz="1020" b="1" dirty="0">
                <a:solidFill>
                  <a:srgbClr val="17233C"/>
                </a:solidFill>
                <a:latin typeface="Aptos" pitchFamily="34" charset="0"/>
                <a:ea typeface="Aptos" pitchFamily="34" charset="-122"/>
                <a:cs typeface="Aptos" pitchFamily="34" charset="-120"/>
              </a:rPr>
              <a:t>Bronze streaming tables</a:t>
            </a:r>
            <a:endParaRPr lang="en-US" sz="1020" dirty="0"/>
          </a:p>
        </p:txBody>
      </p:sp>
      <p:sp>
        <p:nvSpPr>
          <p:cNvPr id="11" name="Shape 9"/>
          <p:cNvSpPr/>
          <p:nvPr/>
        </p:nvSpPr>
        <p:spPr>
          <a:xfrm>
            <a:off x="5879592" y="2670048"/>
            <a:ext cx="228600" cy="0"/>
          </a:xfrm>
          <a:prstGeom prst="line">
            <a:avLst/>
          </a:prstGeom>
          <a:noFill/>
          <a:ln w="12700">
            <a:solidFill>
              <a:srgbClr val="A0A8B5"/>
            </a:solidFill>
            <a:prstDash val="solid"/>
            <a:headEnd type="none"/>
            <a:tailEnd type="triangle"/>
          </a:ln>
        </p:spPr>
      </p:sp>
      <p:sp>
        <p:nvSpPr>
          <p:cNvPr id="12" name="Shape 10"/>
          <p:cNvSpPr/>
          <p:nvPr/>
        </p:nvSpPr>
        <p:spPr>
          <a:xfrm>
            <a:off x="6163056" y="2148840"/>
            <a:ext cx="1627632" cy="1051560"/>
          </a:xfrm>
          <a:prstGeom prst="roundRect">
            <a:avLst>
              <a:gd name="adj" fmla="val 5217"/>
            </a:avLst>
          </a:prstGeom>
          <a:solidFill>
            <a:srgbClr val="E6F6F1"/>
          </a:solidFill>
          <a:ln w="12700">
            <a:solidFill>
              <a:srgbClr val="00A972"/>
            </a:solidFill>
            <a:prstDash val="solid"/>
          </a:ln>
        </p:spPr>
      </p:sp>
      <p:sp>
        <p:nvSpPr>
          <p:cNvPr id="13" name="Text 11"/>
          <p:cNvSpPr/>
          <p:nvPr/>
        </p:nvSpPr>
        <p:spPr>
          <a:xfrm>
            <a:off x="6272784" y="2450592"/>
            <a:ext cx="1408176" cy="438912"/>
          </a:xfrm>
          <a:prstGeom prst="rect">
            <a:avLst/>
          </a:prstGeom>
          <a:noFill/>
          <a:ln/>
        </p:spPr>
        <p:txBody>
          <a:bodyPr wrap="square" lIns="0" tIns="0" rIns="0" bIns="0" rtlCol="0" anchor="ctr">
            <a:normAutofit/>
          </a:bodyPr>
          <a:lstStyle/>
          <a:p>
            <a:pPr algn="ctr" indent="0" marL="0">
              <a:buNone/>
            </a:pPr>
            <a:r>
              <a:rPr lang="en-US" sz="1020" b="1" dirty="0">
                <a:solidFill>
                  <a:srgbClr val="17233C"/>
                </a:solidFill>
                <a:latin typeface="Aptos" pitchFamily="34" charset="0"/>
                <a:ea typeface="Aptos" pitchFamily="34" charset="-122"/>
                <a:cs typeface="Aptos" pitchFamily="34" charset="-120"/>
              </a:rPr>
              <a:t>Silver materialized views</a:t>
            </a:r>
            <a:endParaRPr lang="en-US" sz="1020" dirty="0"/>
          </a:p>
        </p:txBody>
      </p:sp>
      <p:sp>
        <p:nvSpPr>
          <p:cNvPr id="14" name="Shape 12"/>
          <p:cNvSpPr/>
          <p:nvPr/>
        </p:nvSpPr>
        <p:spPr>
          <a:xfrm>
            <a:off x="7827264" y="2670048"/>
            <a:ext cx="228600" cy="0"/>
          </a:xfrm>
          <a:prstGeom prst="line">
            <a:avLst/>
          </a:prstGeom>
          <a:noFill/>
          <a:ln w="12700">
            <a:solidFill>
              <a:srgbClr val="A0A8B5"/>
            </a:solidFill>
            <a:prstDash val="solid"/>
            <a:headEnd type="none"/>
            <a:tailEnd type="triangle"/>
          </a:ln>
        </p:spPr>
      </p:sp>
      <p:sp>
        <p:nvSpPr>
          <p:cNvPr id="15" name="Shape 13"/>
          <p:cNvSpPr/>
          <p:nvPr/>
        </p:nvSpPr>
        <p:spPr>
          <a:xfrm>
            <a:off x="8110728" y="2148840"/>
            <a:ext cx="1627632" cy="1051560"/>
          </a:xfrm>
          <a:prstGeom prst="roundRect">
            <a:avLst>
              <a:gd name="adj" fmla="val 5217"/>
            </a:avLst>
          </a:prstGeom>
          <a:solidFill>
            <a:srgbClr val="FFEBE9"/>
          </a:solidFill>
          <a:ln w="12700">
            <a:solidFill>
              <a:srgbClr val="FF3621"/>
            </a:solidFill>
            <a:prstDash val="solid"/>
          </a:ln>
        </p:spPr>
      </p:sp>
      <p:sp>
        <p:nvSpPr>
          <p:cNvPr id="16" name="Text 14"/>
          <p:cNvSpPr/>
          <p:nvPr/>
        </p:nvSpPr>
        <p:spPr>
          <a:xfrm>
            <a:off x="8220456" y="2450592"/>
            <a:ext cx="1408176" cy="438912"/>
          </a:xfrm>
          <a:prstGeom prst="rect">
            <a:avLst/>
          </a:prstGeom>
          <a:noFill/>
          <a:ln/>
        </p:spPr>
        <p:txBody>
          <a:bodyPr wrap="square" lIns="0" tIns="0" rIns="0" bIns="0" rtlCol="0" anchor="ctr">
            <a:normAutofit/>
          </a:bodyPr>
          <a:lstStyle/>
          <a:p>
            <a:pPr algn="ctr" indent="0" marL="0">
              <a:buNone/>
            </a:pPr>
            <a:r>
              <a:rPr lang="en-US" sz="1020" b="1" dirty="0">
                <a:solidFill>
                  <a:srgbClr val="17233C"/>
                </a:solidFill>
                <a:latin typeface="Aptos" pitchFamily="34" charset="0"/>
                <a:ea typeface="Aptos" pitchFamily="34" charset="-122"/>
                <a:cs typeface="Aptos" pitchFamily="34" charset="-120"/>
              </a:rPr>
              <a:t>Gold tables / views</a:t>
            </a:r>
            <a:endParaRPr lang="en-US" sz="1020" dirty="0"/>
          </a:p>
        </p:txBody>
      </p:sp>
      <p:sp>
        <p:nvSpPr>
          <p:cNvPr id="17" name="Shape 15"/>
          <p:cNvSpPr/>
          <p:nvPr/>
        </p:nvSpPr>
        <p:spPr>
          <a:xfrm>
            <a:off x="9774936" y="2670048"/>
            <a:ext cx="228600" cy="0"/>
          </a:xfrm>
          <a:prstGeom prst="line">
            <a:avLst/>
          </a:prstGeom>
          <a:noFill/>
          <a:ln w="12700">
            <a:solidFill>
              <a:srgbClr val="A0A8B5"/>
            </a:solidFill>
            <a:prstDash val="solid"/>
            <a:headEnd type="none"/>
            <a:tailEnd type="triangle"/>
          </a:ln>
        </p:spPr>
      </p:sp>
      <p:sp>
        <p:nvSpPr>
          <p:cNvPr id="18" name="Shape 16"/>
          <p:cNvSpPr/>
          <p:nvPr/>
        </p:nvSpPr>
        <p:spPr>
          <a:xfrm>
            <a:off x="10058400" y="2148840"/>
            <a:ext cx="1627632" cy="1051560"/>
          </a:xfrm>
          <a:prstGeom prst="roundRect">
            <a:avLst>
              <a:gd name="adj" fmla="val 5217"/>
            </a:avLst>
          </a:prstGeom>
          <a:solidFill>
            <a:srgbClr val="F2EDFF"/>
          </a:solidFill>
          <a:ln w="12700">
            <a:solidFill>
              <a:srgbClr val="7C4DFF"/>
            </a:solidFill>
            <a:prstDash val="solid"/>
          </a:ln>
        </p:spPr>
      </p:sp>
      <p:sp>
        <p:nvSpPr>
          <p:cNvPr id="19" name="Text 17"/>
          <p:cNvSpPr/>
          <p:nvPr/>
        </p:nvSpPr>
        <p:spPr>
          <a:xfrm>
            <a:off x="10168128" y="2450592"/>
            <a:ext cx="1408176" cy="438912"/>
          </a:xfrm>
          <a:prstGeom prst="rect">
            <a:avLst/>
          </a:prstGeom>
          <a:noFill/>
          <a:ln/>
        </p:spPr>
        <p:txBody>
          <a:bodyPr wrap="square" lIns="0" tIns="0" rIns="0" bIns="0" rtlCol="0" anchor="ctr">
            <a:normAutofit/>
          </a:bodyPr>
          <a:lstStyle/>
          <a:p>
            <a:pPr algn="ctr" indent="0" marL="0">
              <a:buNone/>
            </a:pPr>
            <a:r>
              <a:rPr lang="en-US" sz="1020" b="1" dirty="0">
                <a:solidFill>
                  <a:srgbClr val="17233C"/>
                </a:solidFill>
                <a:latin typeface="Aptos" pitchFamily="34" charset="0"/>
                <a:ea typeface="Aptos" pitchFamily="34" charset="-122"/>
                <a:cs typeface="Aptos" pitchFamily="34" charset="-120"/>
              </a:rPr>
              <a:t>BI • ML • AI</a:t>
            </a:r>
            <a:endParaRPr lang="en-US" sz="1020" dirty="0"/>
          </a:p>
        </p:txBody>
      </p:sp>
      <p:sp>
        <p:nvSpPr>
          <p:cNvPr id="20" name="Shape 18"/>
          <p:cNvSpPr/>
          <p:nvPr/>
        </p:nvSpPr>
        <p:spPr>
          <a:xfrm>
            <a:off x="914400" y="3886200"/>
            <a:ext cx="3017520" cy="1325880"/>
          </a:xfrm>
          <a:prstGeom prst="roundRect">
            <a:avLst>
              <a:gd name="adj" fmla="val 4828"/>
            </a:avLst>
          </a:prstGeom>
          <a:solidFill>
            <a:srgbClr val="FFFFFF"/>
          </a:solidFill>
          <a:ln w="12700">
            <a:solidFill>
              <a:srgbClr val="DDE2EA"/>
            </a:solidFill>
            <a:prstDash val="solid"/>
          </a:ln>
        </p:spPr>
      </p:sp>
      <p:sp>
        <p:nvSpPr>
          <p:cNvPr id="21" name="Shape 19"/>
          <p:cNvSpPr/>
          <p:nvPr/>
        </p:nvSpPr>
        <p:spPr>
          <a:xfrm>
            <a:off x="914400" y="3886200"/>
            <a:ext cx="50292" cy="1325880"/>
          </a:xfrm>
          <a:prstGeom prst="rect">
            <a:avLst/>
          </a:prstGeom>
          <a:solidFill>
            <a:srgbClr val="3B6FF5"/>
          </a:solidFill>
          <a:ln w="12700">
            <a:solidFill>
              <a:srgbClr val="3B6FF5"/>
            </a:solidFill>
            <a:prstDash val="solid"/>
          </a:ln>
        </p:spPr>
      </p:sp>
      <p:sp>
        <p:nvSpPr>
          <p:cNvPr id="22" name="Text 20"/>
          <p:cNvSpPr/>
          <p:nvPr/>
        </p:nvSpPr>
        <p:spPr>
          <a:xfrm>
            <a:off x="1115568" y="4105656"/>
            <a:ext cx="265176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Storage</a:t>
            </a:r>
            <a:endParaRPr lang="en-US" sz="1250" dirty="0"/>
          </a:p>
        </p:txBody>
      </p:sp>
      <p:sp>
        <p:nvSpPr>
          <p:cNvPr id="23" name="Text 21"/>
          <p:cNvSpPr/>
          <p:nvPr/>
        </p:nvSpPr>
        <p:spPr>
          <a:xfrm>
            <a:off x="1115568" y="4544568"/>
            <a:ext cx="2633472" cy="502920"/>
          </a:xfrm>
          <a:prstGeom prst="rect">
            <a:avLst/>
          </a:prstGeom>
          <a:noFill/>
          <a:ln/>
        </p:spPr>
        <p:txBody>
          <a:bodyPr wrap="square" lIns="254" tIns="254" rIns="254" bIns="254" rtlCol="0" anchor="t">
            <a:normAutofit/>
          </a:bodyPr>
          <a:lstStyle/>
          <a:p>
            <a:pPr indent="0" marL="0">
              <a:buNone/>
            </a:pPr>
            <a:r>
              <a:rPr lang="en-US" sz="900" dirty="0">
                <a:solidFill>
                  <a:srgbClr val="283246"/>
                </a:solidFill>
                <a:latin typeface="Aptos" pitchFamily="34" charset="0"/>
                <a:ea typeface="Aptos" pitchFamily="34" charset="-122"/>
                <a:cs typeface="Aptos" pitchFamily="34" charset="-120"/>
              </a:rPr>
              <a:t>Delta tables in lakehouse storage preserve reliable, versioned analytical state.</a:t>
            </a:r>
            <a:endParaRPr lang="en-US" sz="900" dirty="0"/>
          </a:p>
        </p:txBody>
      </p:sp>
      <p:sp>
        <p:nvSpPr>
          <p:cNvPr id="24" name="Shape 22"/>
          <p:cNvSpPr/>
          <p:nvPr/>
        </p:nvSpPr>
        <p:spPr>
          <a:xfrm>
            <a:off x="4590288" y="3886200"/>
            <a:ext cx="3017520" cy="1325880"/>
          </a:xfrm>
          <a:prstGeom prst="roundRect">
            <a:avLst>
              <a:gd name="adj" fmla="val 4828"/>
            </a:avLst>
          </a:prstGeom>
          <a:solidFill>
            <a:srgbClr val="FFFFFF"/>
          </a:solidFill>
          <a:ln w="12700">
            <a:solidFill>
              <a:srgbClr val="DDE2EA"/>
            </a:solidFill>
            <a:prstDash val="solid"/>
          </a:ln>
        </p:spPr>
      </p:sp>
      <p:sp>
        <p:nvSpPr>
          <p:cNvPr id="25" name="Shape 23"/>
          <p:cNvSpPr/>
          <p:nvPr/>
        </p:nvSpPr>
        <p:spPr>
          <a:xfrm>
            <a:off x="4590288" y="3886200"/>
            <a:ext cx="50292" cy="1325880"/>
          </a:xfrm>
          <a:prstGeom prst="rect">
            <a:avLst/>
          </a:prstGeom>
          <a:solidFill>
            <a:srgbClr val="7C4DFF"/>
          </a:solidFill>
          <a:ln w="12700">
            <a:solidFill>
              <a:srgbClr val="7C4DFF"/>
            </a:solidFill>
            <a:prstDash val="solid"/>
          </a:ln>
        </p:spPr>
      </p:sp>
      <p:sp>
        <p:nvSpPr>
          <p:cNvPr id="26" name="Text 24"/>
          <p:cNvSpPr/>
          <p:nvPr/>
        </p:nvSpPr>
        <p:spPr>
          <a:xfrm>
            <a:off x="4791456" y="4105656"/>
            <a:ext cx="265176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Governance</a:t>
            </a:r>
            <a:endParaRPr lang="en-US" sz="1250" dirty="0"/>
          </a:p>
        </p:txBody>
      </p:sp>
      <p:sp>
        <p:nvSpPr>
          <p:cNvPr id="27" name="Text 25"/>
          <p:cNvSpPr/>
          <p:nvPr/>
        </p:nvSpPr>
        <p:spPr>
          <a:xfrm>
            <a:off x="4791456" y="4544568"/>
            <a:ext cx="2633472" cy="502920"/>
          </a:xfrm>
          <a:prstGeom prst="rect">
            <a:avLst/>
          </a:prstGeom>
          <a:noFill/>
          <a:ln/>
        </p:spPr>
        <p:txBody>
          <a:bodyPr wrap="square" lIns="254" tIns="254" rIns="254" bIns="254" rtlCol="0" anchor="t">
            <a:normAutofit/>
          </a:bodyPr>
          <a:lstStyle/>
          <a:p>
            <a:pPr indent="0" marL="0">
              <a:buNone/>
            </a:pPr>
            <a:r>
              <a:rPr lang="en-US" sz="900" dirty="0">
                <a:solidFill>
                  <a:srgbClr val="283246"/>
                </a:solidFill>
                <a:latin typeface="Aptos" pitchFamily="34" charset="0"/>
                <a:ea typeface="Aptos" pitchFamily="34" charset="-122"/>
                <a:cs typeface="Aptos" pitchFamily="34" charset="-120"/>
              </a:rPr>
              <a:t>Unity Catalog controls objects, access and lineage across the data lifecycle.</a:t>
            </a:r>
            <a:endParaRPr lang="en-US" sz="900" dirty="0"/>
          </a:p>
        </p:txBody>
      </p:sp>
      <p:sp>
        <p:nvSpPr>
          <p:cNvPr id="28" name="Shape 26"/>
          <p:cNvSpPr/>
          <p:nvPr/>
        </p:nvSpPr>
        <p:spPr>
          <a:xfrm>
            <a:off x="8266176" y="3886200"/>
            <a:ext cx="3017520" cy="1325880"/>
          </a:xfrm>
          <a:prstGeom prst="roundRect">
            <a:avLst>
              <a:gd name="adj" fmla="val 4828"/>
            </a:avLst>
          </a:prstGeom>
          <a:solidFill>
            <a:srgbClr val="FFFFFF"/>
          </a:solidFill>
          <a:ln w="12700">
            <a:solidFill>
              <a:srgbClr val="DDE2EA"/>
            </a:solidFill>
            <a:prstDash val="solid"/>
          </a:ln>
        </p:spPr>
      </p:sp>
      <p:sp>
        <p:nvSpPr>
          <p:cNvPr id="29" name="Shape 27"/>
          <p:cNvSpPr/>
          <p:nvPr/>
        </p:nvSpPr>
        <p:spPr>
          <a:xfrm>
            <a:off x="8266176" y="3886200"/>
            <a:ext cx="50292" cy="1325880"/>
          </a:xfrm>
          <a:prstGeom prst="rect">
            <a:avLst/>
          </a:prstGeom>
          <a:solidFill>
            <a:srgbClr val="00A972"/>
          </a:solidFill>
          <a:ln w="12700">
            <a:solidFill>
              <a:srgbClr val="00A972"/>
            </a:solidFill>
            <a:prstDash val="solid"/>
          </a:ln>
        </p:spPr>
      </p:sp>
      <p:sp>
        <p:nvSpPr>
          <p:cNvPr id="30" name="Text 28"/>
          <p:cNvSpPr/>
          <p:nvPr/>
        </p:nvSpPr>
        <p:spPr>
          <a:xfrm>
            <a:off x="8467344" y="4105656"/>
            <a:ext cx="265176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Compute</a:t>
            </a:r>
            <a:endParaRPr lang="en-US" sz="1250" dirty="0"/>
          </a:p>
        </p:txBody>
      </p:sp>
      <p:sp>
        <p:nvSpPr>
          <p:cNvPr id="31" name="Text 29"/>
          <p:cNvSpPr/>
          <p:nvPr/>
        </p:nvSpPr>
        <p:spPr>
          <a:xfrm>
            <a:off x="8467344" y="4544568"/>
            <a:ext cx="2633472" cy="502920"/>
          </a:xfrm>
          <a:prstGeom prst="rect">
            <a:avLst/>
          </a:prstGeom>
          <a:noFill/>
          <a:ln/>
        </p:spPr>
        <p:txBody>
          <a:bodyPr wrap="square" lIns="254" tIns="254" rIns="254" bIns="254" rtlCol="0" anchor="t">
            <a:normAutofit/>
          </a:bodyPr>
          <a:lstStyle/>
          <a:p>
            <a:pPr indent="0" marL="0">
              <a:buNone/>
            </a:pPr>
            <a:r>
              <a:rPr lang="en-US" sz="900" dirty="0">
                <a:solidFill>
                  <a:srgbClr val="283246"/>
                </a:solidFill>
                <a:latin typeface="Aptos" pitchFamily="34" charset="0"/>
                <a:ea typeface="Aptos" pitchFamily="34" charset="-122"/>
                <a:cs typeface="Aptos" pitchFamily="34" charset="-120"/>
              </a:rPr>
              <a:t>Serverless / Spark execution scales transformations and SQL workloads.</a:t>
            </a:r>
            <a:endParaRPr lang="en-US" sz="9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Lakeflow Connect — Managed Ingestion</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Use connectors when the source can be represented as a repeatable managed ingestion flow.</a:t>
            </a:r>
            <a:endParaRPr lang="en-US" sz="1100" dirty="0"/>
          </a:p>
        </p:txBody>
      </p:sp>
      <p:sp>
        <p:nvSpPr>
          <p:cNvPr id="4" name="Shape 2"/>
          <p:cNvSpPr/>
          <p:nvPr/>
        </p:nvSpPr>
        <p:spPr>
          <a:xfrm>
            <a:off x="548640" y="1554480"/>
            <a:ext cx="2542032" cy="1463040"/>
          </a:xfrm>
          <a:prstGeom prst="roundRect">
            <a:avLst>
              <a:gd name="adj" fmla="val 4375"/>
            </a:avLst>
          </a:prstGeom>
          <a:solidFill>
            <a:srgbClr val="FFFFFF"/>
          </a:solidFill>
          <a:ln w="12700">
            <a:solidFill>
              <a:srgbClr val="DDE2EA"/>
            </a:solidFill>
            <a:prstDash val="solid"/>
          </a:ln>
        </p:spPr>
      </p:sp>
      <p:sp>
        <p:nvSpPr>
          <p:cNvPr id="5" name="Shape 3"/>
          <p:cNvSpPr/>
          <p:nvPr/>
        </p:nvSpPr>
        <p:spPr>
          <a:xfrm>
            <a:off x="548640" y="1554480"/>
            <a:ext cx="50292" cy="1463040"/>
          </a:xfrm>
          <a:prstGeom prst="rect">
            <a:avLst/>
          </a:prstGeom>
          <a:solidFill>
            <a:srgbClr val="3B6FF5"/>
          </a:solidFill>
          <a:ln w="12700">
            <a:solidFill>
              <a:srgbClr val="3B6FF5"/>
            </a:solidFill>
            <a:prstDash val="solid"/>
          </a:ln>
        </p:spPr>
      </p:sp>
      <p:sp>
        <p:nvSpPr>
          <p:cNvPr id="6" name="Text 4"/>
          <p:cNvSpPr/>
          <p:nvPr/>
        </p:nvSpPr>
        <p:spPr>
          <a:xfrm>
            <a:off x="749808" y="1773936"/>
            <a:ext cx="2176272"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Databases</a:t>
            </a:r>
            <a:endParaRPr lang="en-US" sz="1250" dirty="0"/>
          </a:p>
        </p:txBody>
      </p:sp>
      <p:sp>
        <p:nvSpPr>
          <p:cNvPr id="7" name="Text 5"/>
          <p:cNvSpPr/>
          <p:nvPr/>
        </p:nvSpPr>
        <p:spPr>
          <a:xfrm>
            <a:off x="749808" y="2212848"/>
            <a:ext cx="2157984" cy="640080"/>
          </a:xfrm>
          <a:prstGeom prst="rect">
            <a:avLst/>
          </a:prstGeom>
          <a:noFill/>
          <a:ln/>
        </p:spPr>
        <p:txBody>
          <a:bodyPr wrap="square" lIns="254" tIns="254" rIns="254" bIns="254" rtlCol="0" anchor="t">
            <a:normAutofit/>
          </a:bodyPr>
          <a:lstStyle/>
          <a:p>
            <a:pPr indent="0" marL="0">
              <a:buNone/>
            </a:pPr>
            <a:r>
              <a:rPr lang="en-US" sz="870" dirty="0">
                <a:solidFill>
                  <a:srgbClr val="283246"/>
                </a:solidFill>
                <a:latin typeface="Aptos" pitchFamily="34" charset="0"/>
                <a:ea typeface="Aptos" pitchFamily="34" charset="-122"/>
                <a:cs typeface="Aptos" pitchFamily="34" charset="-120"/>
              </a:rPr>
              <a:t>SQL Server, PostgreSQL, etc.</a:t>
            </a:r>
            <a:endParaRPr lang="en-US" sz="870" dirty="0"/>
          </a:p>
        </p:txBody>
      </p:sp>
      <p:sp>
        <p:nvSpPr>
          <p:cNvPr id="8" name="Shape 6"/>
          <p:cNvSpPr/>
          <p:nvPr/>
        </p:nvSpPr>
        <p:spPr>
          <a:xfrm>
            <a:off x="3364992" y="1554480"/>
            <a:ext cx="2542032" cy="1463040"/>
          </a:xfrm>
          <a:prstGeom prst="roundRect">
            <a:avLst>
              <a:gd name="adj" fmla="val 4375"/>
            </a:avLst>
          </a:prstGeom>
          <a:solidFill>
            <a:srgbClr val="FFFFFF"/>
          </a:solidFill>
          <a:ln w="12700">
            <a:solidFill>
              <a:srgbClr val="DDE2EA"/>
            </a:solidFill>
            <a:prstDash val="solid"/>
          </a:ln>
        </p:spPr>
      </p:sp>
      <p:sp>
        <p:nvSpPr>
          <p:cNvPr id="9" name="Shape 7"/>
          <p:cNvSpPr/>
          <p:nvPr/>
        </p:nvSpPr>
        <p:spPr>
          <a:xfrm>
            <a:off x="3364992" y="1554480"/>
            <a:ext cx="50292" cy="1463040"/>
          </a:xfrm>
          <a:prstGeom prst="rect">
            <a:avLst/>
          </a:prstGeom>
          <a:solidFill>
            <a:srgbClr val="00A972"/>
          </a:solidFill>
          <a:ln w="12700">
            <a:solidFill>
              <a:srgbClr val="00A972"/>
            </a:solidFill>
            <a:prstDash val="solid"/>
          </a:ln>
        </p:spPr>
      </p:sp>
      <p:sp>
        <p:nvSpPr>
          <p:cNvPr id="10" name="Text 8"/>
          <p:cNvSpPr/>
          <p:nvPr/>
        </p:nvSpPr>
        <p:spPr>
          <a:xfrm>
            <a:off x="3566160" y="1773936"/>
            <a:ext cx="2176272"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SaaS apps</a:t>
            </a:r>
            <a:endParaRPr lang="en-US" sz="1250" dirty="0"/>
          </a:p>
        </p:txBody>
      </p:sp>
      <p:sp>
        <p:nvSpPr>
          <p:cNvPr id="11" name="Text 9"/>
          <p:cNvSpPr/>
          <p:nvPr/>
        </p:nvSpPr>
        <p:spPr>
          <a:xfrm>
            <a:off x="3566160" y="2212848"/>
            <a:ext cx="2157984" cy="640080"/>
          </a:xfrm>
          <a:prstGeom prst="rect">
            <a:avLst/>
          </a:prstGeom>
          <a:noFill/>
          <a:ln/>
        </p:spPr>
        <p:txBody>
          <a:bodyPr wrap="square" lIns="254" tIns="254" rIns="254" bIns="254" rtlCol="0" anchor="t">
            <a:normAutofit/>
          </a:bodyPr>
          <a:lstStyle/>
          <a:p>
            <a:pPr indent="0" marL="0">
              <a:buNone/>
            </a:pPr>
            <a:r>
              <a:rPr lang="en-US" sz="870" dirty="0">
                <a:solidFill>
                  <a:srgbClr val="283246"/>
                </a:solidFill>
                <a:latin typeface="Aptos" pitchFamily="34" charset="0"/>
                <a:ea typeface="Aptos" pitchFamily="34" charset="-122"/>
                <a:cs typeface="Aptos" pitchFamily="34" charset="-120"/>
              </a:rPr>
              <a:t>Enterprise application sources</a:t>
            </a:r>
            <a:endParaRPr lang="en-US" sz="870" dirty="0"/>
          </a:p>
        </p:txBody>
      </p:sp>
      <p:sp>
        <p:nvSpPr>
          <p:cNvPr id="12" name="Shape 10"/>
          <p:cNvSpPr/>
          <p:nvPr/>
        </p:nvSpPr>
        <p:spPr>
          <a:xfrm>
            <a:off x="6181344" y="1554480"/>
            <a:ext cx="2542032" cy="1463040"/>
          </a:xfrm>
          <a:prstGeom prst="roundRect">
            <a:avLst>
              <a:gd name="adj" fmla="val 4375"/>
            </a:avLst>
          </a:prstGeom>
          <a:solidFill>
            <a:srgbClr val="FFFFFF"/>
          </a:solidFill>
          <a:ln w="12700">
            <a:solidFill>
              <a:srgbClr val="DDE2EA"/>
            </a:solidFill>
            <a:prstDash val="solid"/>
          </a:ln>
        </p:spPr>
      </p:sp>
      <p:sp>
        <p:nvSpPr>
          <p:cNvPr id="13" name="Shape 11"/>
          <p:cNvSpPr/>
          <p:nvPr/>
        </p:nvSpPr>
        <p:spPr>
          <a:xfrm>
            <a:off x="6181344" y="1554480"/>
            <a:ext cx="50292" cy="1463040"/>
          </a:xfrm>
          <a:prstGeom prst="rect">
            <a:avLst/>
          </a:prstGeom>
          <a:solidFill>
            <a:srgbClr val="7C4DFF"/>
          </a:solidFill>
          <a:ln w="12700">
            <a:solidFill>
              <a:srgbClr val="7C4DFF"/>
            </a:solidFill>
            <a:prstDash val="solid"/>
          </a:ln>
        </p:spPr>
      </p:sp>
      <p:sp>
        <p:nvSpPr>
          <p:cNvPr id="14" name="Text 12"/>
          <p:cNvSpPr/>
          <p:nvPr/>
        </p:nvSpPr>
        <p:spPr>
          <a:xfrm>
            <a:off x="6382512" y="1773936"/>
            <a:ext cx="2176272"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Files</a:t>
            </a:r>
            <a:endParaRPr lang="en-US" sz="1250" dirty="0"/>
          </a:p>
        </p:txBody>
      </p:sp>
      <p:sp>
        <p:nvSpPr>
          <p:cNvPr id="15" name="Text 13"/>
          <p:cNvSpPr/>
          <p:nvPr/>
        </p:nvSpPr>
        <p:spPr>
          <a:xfrm>
            <a:off x="6382512" y="2212848"/>
            <a:ext cx="2157984" cy="640080"/>
          </a:xfrm>
          <a:prstGeom prst="rect">
            <a:avLst/>
          </a:prstGeom>
          <a:noFill/>
          <a:ln/>
        </p:spPr>
        <p:txBody>
          <a:bodyPr wrap="square" lIns="254" tIns="254" rIns="254" bIns="254" rtlCol="0" anchor="t">
            <a:normAutofit/>
          </a:bodyPr>
          <a:lstStyle/>
          <a:p>
            <a:pPr indent="0" marL="0">
              <a:buNone/>
            </a:pPr>
            <a:r>
              <a:rPr lang="en-US" sz="870" dirty="0">
                <a:solidFill>
                  <a:srgbClr val="283246"/>
                </a:solidFill>
                <a:latin typeface="Aptos" pitchFamily="34" charset="0"/>
                <a:ea typeface="Aptos" pitchFamily="34" charset="-122"/>
                <a:cs typeface="Aptos" pitchFamily="34" charset="-120"/>
              </a:rPr>
              <a:t>Cloud / enterprise file storage</a:t>
            </a:r>
            <a:endParaRPr lang="en-US" sz="870" dirty="0"/>
          </a:p>
        </p:txBody>
      </p:sp>
      <p:sp>
        <p:nvSpPr>
          <p:cNvPr id="16" name="Shape 14"/>
          <p:cNvSpPr/>
          <p:nvPr/>
        </p:nvSpPr>
        <p:spPr>
          <a:xfrm>
            <a:off x="8997696" y="1554480"/>
            <a:ext cx="2542032" cy="1463040"/>
          </a:xfrm>
          <a:prstGeom prst="roundRect">
            <a:avLst>
              <a:gd name="adj" fmla="val 4375"/>
            </a:avLst>
          </a:prstGeom>
          <a:solidFill>
            <a:srgbClr val="FFFFFF"/>
          </a:solidFill>
          <a:ln w="12700">
            <a:solidFill>
              <a:srgbClr val="DDE2EA"/>
            </a:solidFill>
            <a:prstDash val="solid"/>
          </a:ln>
        </p:spPr>
      </p:sp>
      <p:sp>
        <p:nvSpPr>
          <p:cNvPr id="17" name="Shape 15"/>
          <p:cNvSpPr/>
          <p:nvPr/>
        </p:nvSpPr>
        <p:spPr>
          <a:xfrm>
            <a:off x="8997696" y="1554480"/>
            <a:ext cx="50292" cy="1463040"/>
          </a:xfrm>
          <a:prstGeom prst="rect">
            <a:avLst/>
          </a:prstGeom>
          <a:solidFill>
            <a:srgbClr val="F3A712"/>
          </a:solidFill>
          <a:ln w="12700">
            <a:solidFill>
              <a:srgbClr val="F3A712"/>
            </a:solidFill>
            <a:prstDash val="solid"/>
          </a:ln>
        </p:spPr>
      </p:sp>
      <p:sp>
        <p:nvSpPr>
          <p:cNvPr id="18" name="Text 16"/>
          <p:cNvSpPr/>
          <p:nvPr/>
        </p:nvSpPr>
        <p:spPr>
          <a:xfrm>
            <a:off x="9198864" y="1773936"/>
            <a:ext cx="2176272"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Message buses</a:t>
            </a:r>
            <a:endParaRPr lang="en-US" sz="1250" dirty="0"/>
          </a:p>
        </p:txBody>
      </p:sp>
      <p:sp>
        <p:nvSpPr>
          <p:cNvPr id="19" name="Text 17"/>
          <p:cNvSpPr/>
          <p:nvPr/>
        </p:nvSpPr>
        <p:spPr>
          <a:xfrm>
            <a:off x="9198864" y="2212848"/>
            <a:ext cx="2157984" cy="640080"/>
          </a:xfrm>
          <a:prstGeom prst="rect">
            <a:avLst/>
          </a:prstGeom>
          <a:noFill/>
          <a:ln/>
        </p:spPr>
        <p:txBody>
          <a:bodyPr wrap="square" lIns="254" tIns="254" rIns="254" bIns="254" rtlCol="0" anchor="t">
            <a:normAutofit/>
          </a:bodyPr>
          <a:lstStyle/>
          <a:p>
            <a:pPr indent="0" marL="0">
              <a:buNone/>
            </a:pPr>
            <a:r>
              <a:rPr lang="en-US" sz="870" dirty="0">
                <a:solidFill>
                  <a:srgbClr val="283246"/>
                </a:solidFill>
                <a:latin typeface="Aptos" pitchFamily="34" charset="0"/>
                <a:ea typeface="Aptos" pitchFamily="34" charset="-122"/>
                <a:cs typeface="Aptos" pitchFamily="34" charset="-120"/>
              </a:rPr>
              <a:t>Kafka and other event sources</a:t>
            </a:r>
            <a:endParaRPr lang="en-US" sz="870" dirty="0"/>
          </a:p>
        </p:txBody>
      </p:sp>
      <p:sp>
        <p:nvSpPr>
          <p:cNvPr id="20" name="Shape 18"/>
          <p:cNvSpPr/>
          <p:nvPr/>
        </p:nvSpPr>
        <p:spPr>
          <a:xfrm>
            <a:off x="1874520" y="3337560"/>
            <a:ext cx="3703320" cy="914400"/>
          </a:xfrm>
          <a:prstGeom prst="line">
            <a:avLst/>
          </a:prstGeom>
          <a:noFill/>
          <a:ln w="12700">
            <a:solidFill>
              <a:srgbClr val="687386"/>
            </a:solidFill>
            <a:prstDash val="solid"/>
            <a:headEnd type="none"/>
            <a:tailEnd type="triangle"/>
          </a:ln>
        </p:spPr>
      </p:sp>
      <p:sp>
        <p:nvSpPr>
          <p:cNvPr id="21" name="Shape 19"/>
          <p:cNvSpPr/>
          <p:nvPr/>
        </p:nvSpPr>
        <p:spPr>
          <a:xfrm>
            <a:off x="4709160" y="3337560"/>
            <a:ext cx="868680" cy="914400"/>
          </a:xfrm>
          <a:prstGeom prst="line">
            <a:avLst/>
          </a:prstGeom>
          <a:noFill/>
          <a:ln w="12700">
            <a:solidFill>
              <a:srgbClr val="687386"/>
            </a:solidFill>
            <a:prstDash val="solid"/>
            <a:headEnd type="none"/>
            <a:tailEnd type="triangle"/>
          </a:ln>
        </p:spPr>
      </p:sp>
      <p:sp>
        <p:nvSpPr>
          <p:cNvPr id="22" name="Shape 20"/>
          <p:cNvSpPr/>
          <p:nvPr/>
        </p:nvSpPr>
        <p:spPr>
          <a:xfrm>
            <a:off x="7516368" y="3337560"/>
            <a:ext cx="-932688" cy="914400"/>
          </a:xfrm>
          <a:prstGeom prst="line">
            <a:avLst/>
          </a:prstGeom>
          <a:noFill/>
          <a:ln w="12700">
            <a:solidFill>
              <a:srgbClr val="687386"/>
            </a:solidFill>
            <a:prstDash val="solid"/>
            <a:headEnd type="none"/>
            <a:tailEnd type="triangle"/>
          </a:ln>
        </p:spPr>
      </p:sp>
      <p:sp>
        <p:nvSpPr>
          <p:cNvPr id="23" name="Shape 21"/>
          <p:cNvSpPr/>
          <p:nvPr/>
        </p:nvSpPr>
        <p:spPr>
          <a:xfrm>
            <a:off x="10332720" y="3337560"/>
            <a:ext cx="-3749040" cy="914400"/>
          </a:xfrm>
          <a:prstGeom prst="line">
            <a:avLst/>
          </a:prstGeom>
          <a:noFill/>
          <a:ln w="12700">
            <a:solidFill>
              <a:srgbClr val="687386"/>
            </a:solidFill>
            <a:prstDash val="solid"/>
            <a:headEnd type="none"/>
            <a:tailEnd type="triangle"/>
          </a:ln>
        </p:spPr>
      </p:sp>
      <p:sp>
        <p:nvSpPr>
          <p:cNvPr id="24" name="Shape 22"/>
          <p:cNvSpPr/>
          <p:nvPr/>
        </p:nvSpPr>
        <p:spPr>
          <a:xfrm>
            <a:off x="4983480" y="4251960"/>
            <a:ext cx="2240280" cy="1143000"/>
          </a:xfrm>
          <a:prstGeom prst="roundRect">
            <a:avLst>
              <a:gd name="adj" fmla="val 5600"/>
            </a:avLst>
          </a:prstGeom>
          <a:solidFill>
            <a:srgbClr val="FFFFFF"/>
          </a:solidFill>
          <a:ln w="12700">
            <a:solidFill>
              <a:srgbClr val="DDE2EA"/>
            </a:solidFill>
            <a:prstDash val="solid"/>
          </a:ln>
        </p:spPr>
      </p:sp>
      <p:sp>
        <p:nvSpPr>
          <p:cNvPr id="25" name="Shape 23"/>
          <p:cNvSpPr/>
          <p:nvPr/>
        </p:nvSpPr>
        <p:spPr>
          <a:xfrm>
            <a:off x="4983480" y="4251960"/>
            <a:ext cx="50292" cy="1143000"/>
          </a:xfrm>
          <a:prstGeom prst="rect">
            <a:avLst/>
          </a:prstGeom>
          <a:solidFill>
            <a:srgbClr val="FF3621"/>
          </a:solidFill>
          <a:ln w="12700">
            <a:solidFill>
              <a:srgbClr val="FF3621"/>
            </a:solidFill>
            <a:prstDash val="solid"/>
          </a:ln>
        </p:spPr>
      </p:sp>
      <p:sp>
        <p:nvSpPr>
          <p:cNvPr id="26" name="Text 24"/>
          <p:cNvSpPr/>
          <p:nvPr/>
        </p:nvSpPr>
        <p:spPr>
          <a:xfrm>
            <a:off x="5184648" y="4471416"/>
            <a:ext cx="187452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Lakeflow Connect</a:t>
            </a:r>
            <a:endParaRPr lang="en-US" sz="1300" dirty="0"/>
          </a:p>
        </p:txBody>
      </p:sp>
      <p:sp>
        <p:nvSpPr>
          <p:cNvPr id="27" name="Text 25"/>
          <p:cNvSpPr/>
          <p:nvPr/>
        </p:nvSpPr>
        <p:spPr>
          <a:xfrm>
            <a:off x="5184648" y="4910328"/>
            <a:ext cx="1856232" cy="320040"/>
          </a:xfrm>
          <a:prstGeom prst="rect">
            <a:avLst/>
          </a:prstGeom>
          <a:noFill/>
          <a:ln/>
        </p:spPr>
        <p:txBody>
          <a:bodyPr wrap="square" lIns="254" tIns="254" rIns="254" bIns="254" rtlCol="0" anchor="t">
            <a:normAutofit/>
          </a:bodyPr>
          <a:lstStyle/>
          <a:p>
            <a:pPr indent="0" marL="0">
              <a:buNone/>
            </a:pPr>
            <a:r>
              <a:rPr lang="en-US" sz="870" dirty="0">
                <a:solidFill>
                  <a:srgbClr val="283246"/>
                </a:solidFill>
                <a:latin typeface="Aptos" pitchFamily="34" charset="0"/>
                <a:ea typeface="Aptos" pitchFamily="34" charset="-122"/>
                <a:cs typeface="Aptos" pitchFamily="34" charset="-120"/>
              </a:rPr>
              <a:t>Incremental ingestion into governed Databricks tables.</a:t>
            </a:r>
            <a:endParaRPr lang="en-US" sz="870" dirty="0"/>
          </a:p>
        </p:txBody>
      </p:sp>
      <p:sp>
        <p:nvSpPr>
          <p:cNvPr id="28" name="Shape 26"/>
          <p:cNvSpPr/>
          <p:nvPr/>
        </p:nvSpPr>
        <p:spPr>
          <a:xfrm>
            <a:off x="1051560" y="5623560"/>
            <a:ext cx="10058400" cy="438912"/>
          </a:xfrm>
          <a:prstGeom prst="roundRect">
            <a:avLst>
              <a:gd name="adj" fmla="val 12500"/>
            </a:avLst>
          </a:prstGeom>
          <a:solidFill>
            <a:srgbClr val="EEF7FF"/>
          </a:solidFill>
          <a:ln w="12700">
            <a:solidFill>
              <a:srgbClr val="EEF7FF"/>
            </a:solidFill>
            <a:prstDash val="solid"/>
          </a:ln>
        </p:spPr>
      </p:sp>
      <p:sp>
        <p:nvSpPr>
          <p:cNvPr id="29" name="Text 27"/>
          <p:cNvSpPr/>
          <p:nvPr/>
        </p:nvSpPr>
        <p:spPr>
          <a:xfrm>
            <a:off x="1216152" y="5742432"/>
            <a:ext cx="9729216" cy="210312"/>
          </a:xfrm>
          <a:prstGeom prst="rect">
            <a:avLst/>
          </a:prstGeom>
          <a:noFill/>
          <a:ln/>
        </p:spPr>
        <p:txBody>
          <a:bodyPr wrap="square" lIns="0" tIns="0" rIns="0" bIns="0" rtlCol="0" anchor="ctr">
            <a:normAutofit/>
          </a:bodyPr>
          <a:lstStyle/>
          <a:p>
            <a:pPr indent="0" marL="0">
              <a:buNone/>
            </a:pPr>
            <a:r>
              <a:rPr lang="en-US" sz="1100" b="1" dirty="0">
                <a:solidFill>
                  <a:srgbClr val="3B6FF5"/>
                </a:solidFill>
                <a:latin typeface="Aptos" pitchFamily="34" charset="0"/>
                <a:ea typeface="Aptos" pitchFamily="34" charset="-122"/>
                <a:cs typeface="Aptos" pitchFamily="34" charset="-120"/>
              </a:rPr>
              <a:t>Current docs describe incremental reads/writes and Unity Catalog governance as core Connect capabilities.</a:t>
            </a:r>
            <a:endParaRPr lang="en-US" sz="1100" dirty="0"/>
          </a:p>
        </p:txBody>
      </p:sp>
      <p:sp>
        <p:nvSpPr>
          <p:cNvPr id="30" name="Text 28"/>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Databricks docs (Sep 2026)</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Streaming Tables — Incremental Ingestion with SQL</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Streaming tables represent Delta tables with incremental / streaming processing semantics.</a:t>
            </a:r>
            <a:endParaRPr lang="en-US" sz="1100" dirty="0"/>
          </a:p>
        </p:txBody>
      </p:sp>
      <p:sp>
        <p:nvSpPr>
          <p:cNvPr id="4" name="Shape 2"/>
          <p:cNvSpPr/>
          <p:nvPr/>
        </p:nvSpPr>
        <p:spPr>
          <a:xfrm>
            <a:off x="685800" y="1600200"/>
            <a:ext cx="5486400" cy="2971800"/>
          </a:xfrm>
          <a:prstGeom prst="roundRect">
            <a:avLst>
              <a:gd name="adj" fmla="val 1846"/>
            </a:avLst>
          </a:prstGeom>
          <a:solidFill>
            <a:srgbClr val="111827"/>
          </a:solidFill>
          <a:ln w="12700">
            <a:solidFill>
              <a:srgbClr val="111827"/>
            </a:solidFill>
            <a:prstDash val="solid"/>
          </a:ln>
        </p:spPr>
      </p:sp>
      <p:sp>
        <p:nvSpPr>
          <p:cNvPr id="5" name="Text 3"/>
          <p:cNvSpPr/>
          <p:nvPr/>
        </p:nvSpPr>
        <p:spPr>
          <a:xfrm>
            <a:off x="886968" y="1783080"/>
            <a:ext cx="5084064" cy="2624328"/>
          </a:xfrm>
          <a:prstGeom prst="rect">
            <a:avLst/>
          </a:prstGeom>
          <a:noFill/>
          <a:ln/>
        </p:spPr>
        <p:txBody>
          <a:bodyPr wrap="square" lIns="0" tIns="0" rIns="0" bIns="0" rtlCol="0" anchor="ctr">
            <a:normAutofit/>
          </a:bodyPr>
          <a:lstStyle/>
          <a:p>
            <a:pPr indent="0" marL="0">
              <a:buNone/>
            </a:pPr>
            <a:r>
              <a:rPr lang="en-US" sz="1200" dirty="0">
                <a:solidFill>
                  <a:srgbClr val="F3F4F6"/>
                </a:solidFill>
                <a:latin typeface="Consolas" pitchFamily="34" charset="0"/>
                <a:ea typeface="Consolas" pitchFamily="34" charset="-122"/>
                <a:cs typeface="Consolas" pitchFamily="34" charset="-120"/>
              </a:rPr>
              <a:t>CREATE OR REFRESH STREAMING TABLE bronze_clicks</a:t>
            </a:r>
            <a:endParaRPr lang="en-US" sz="1200" dirty="0"/>
          </a:p>
          <a:p>
            <a:pPr indent="0" marL="0">
              <a:buNone/>
            </a:pPr>
            <a:r>
              <a:rPr lang="en-US" sz="1200" dirty="0">
                <a:solidFill>
                  <a:srgbClr val="F3F4F6"/>
                </a:solidFill>
                <a:latin typeface="Consolas" pitchFamily="34" charset="0"/>
                <a:ea typeface="Consolas" pitchFamily="34" charset="-122"/>
                <a:cs typeface="Consolas" pitchFamily="34" charset="-120"/>
              </a:rPr>
              <a:t>AS SELECT *</a:t>
            </a:r>
            <a:endParaRPr lang="en-US" sz="1200" dirty="0"/>
          </a:p>
          <a:p>
            <a:pPr indent="0" marL="0">
              <a:buNone/>
            </a:pPr>
            <a:r>
              <a:rPr lang="en-US" sz="1200" dirty="0">
                <a:solidFill>
                  <a:srgbClr val="F3F4F6"/>
                </a:solidFill>
                <a:latin typeface="Consolas" pitchFamily="34" charset="0"/>
                <a:ea typeface="Consolas" pitchFamily="34" charset="-122"/>
                <a:cs typeface="Consolas" pitchFamily="34" charset="-120"/>
              </a:rPr>
              <a:t>FROM STREAM read_files(</a:t>
            </a:r>
            <a:endParaRPr lang="en-US" sz="1200" dirty="0"/>
          </a:p>
          <a:p>
            <a:pPr indent="0" marL="0">
              <a:buNone/>
            </a:pPr>
            <a:r>
              <a:rPr lang="en-US" sz="1200" dirty="0">
                <a:solidFill>
                  <a:srgbClr val="F3F4F6"/>
                </a:solidFill>
                <a:latin typeface="Consolas" pitchFamily="34" charset="0"/>
                <a:ea typeface="Consolas" pitchFamily="34" charset="-122"/>
                <a:cs typeface="Consolas" pitchFamily="34" charset="-120"/>
              </a:rPr>
              <a:t>  '/Volumes/events/clicks',</a:t>
            </a:r>
            <a:endParaRPr lang="en-US" sz="1200" dirty="0"/>
          </a:p>
          <a:p>
            <a:pPr indent="0" marL="0">
              <a:buNone/>
            </a:pPr>
            <a:r>
              <a:rPr lang="en-US" sz="1200" dirty="0">
                <a:solidFill>
                  <a:srgbClr val="F3F4F6"/>
                </a:solidFill>
                <a:latin typeface="Consolas" pitchFamily="34" charset="0"/>
                <a:ea typeface="Consolas" pitchFamily="34" charset="-122"/>
                <a:cs typeface="Consolas" pitchFamily="34" charset="-120"/>
              </a:rPr>
              <a:t>  format =&gt; 'json'</a:t>
            </a:r>
            <a:endParaRPr lang="en-US" sz="1200" dirty="0"/>
          </a:p>
          <a:p>
            <a:pPr indent="0" marL="0">
              <a:buNone/>
            </a:pPr>
            <a:r>
              <a:rPr lang="en-US" sz="1200" dirty="0">
                <a:solidFill>
                  <a:srgbClr val="F3F4F6"/>
                </a:solidFill>
                <a:latin typeface="Consolas" pitchFamily="34" charset="0"/>
                <a:ea typeface="Consolas" pitchFamily="34" charset="-122"/>
                <a:cs typeface="Consolas" pitchFamily="34" charset="-120"/>
              </a:rPr>
              <a:t>);</a:t>
            </a:r>
            <a:endParaRPr lang="en-US" sz="1200" dirty="0"/>
          </a:p>
        </p:txBody>
      </p:sp>
      <p:sp>
        <p:nvSpPr>
          <p:cNvPr id="6" name="Shape 4"/>
          <p:cNvSpPr/>
          <p:nvPr/>
        </p:nvSpPr>
        <p:spPr>
          <a:xfrm>
            <a:off x="6583680" y="1508760"/>
            <a:ext cx="4709160" cy="914400"/>
          </a:xfrm>
          <a:prstGeom prst="roundRect">
            <a:avLst>
              <a:gd name="adj" fmla="val 7000"/>
            </a:avLst>
          </a:prstGeom>
          <a:solidFill>
            <a:srgbClr val="FFFFFF"/>
          </a:solidFill>
          <a:ln w="12700">
            <a:solidFill>
              <a:srgbClr val="DDE2EA"/>
            </a:solidFill>
            <a:prstDash val="solid"/>
          </a:ln>
        </p:spPr>
      </p:sp>
      <p:sp>
        <p:nvSpPr>
          <p:cNvPr id="7" name="Shape 5"/>
          <p:cNvSpPr/>
          <p:nvPr/>
        </p:nvSpPr>
        <p:spPr>
          <a:xfrm>
            <a:off x="6583680" y="1508760"/>
            <a:ext cx="50292" cy="914400"/>
          </a:xfrm>
          <a:prstGeom prst="rect">
            <a:avLst/>
          </a:prstGeom>
          <a:solidFill>
            <a:srgbClr val="3B6FF5"/>
          </a:solidFill>
          <a:ln w="12700">
            <a:solidFill>
              <a:srgbClr val="3B6FF5"/>
            </a:solidFill>
            <a:prstDash val="solid"/>
          </a:ln>
        </p:spPr>
      </p:sp>
      <p:sp>
        <p:nvSpPr>
          <p:cNvPr id="8" name="Text 6"/>
          <p:cNvSpPr/>
          <p:nvPr/>
        </p:nvSpPr>
        <p:spPr>
          <a:xfrm>
            <a:off x="6784848" y="1728216"/>
            <a:ext cx="434340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Checkpointed progress</a:t>
            </a:r>
            <a:endParaRPr lang="en-US" sz="1250" dirty="0"/>
          </a:p>
        </p:txBody>
      </p:sp>
      <p:sp>
        <p:nvSpPr>
          <p:cNvPr id="9" name="Text 7"/>
          <p:cNvSpPr/>
          <p:nvPr/>
        </p:nvSpPr>
        <p:spPr>
          <a:xfrm>
            <a:off x="6784848" y="2167128"/>
            <a:ext cx="4325112" cy="9144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The pipeline tracks what has already been processed.</a:t>
            </a:r>
            <a:endParaRPr lang="en-US" sz="880" dirty="0"/>
          </a:p>
        </p:txBody>
      </p:sp>
      <p:sp>
        <p:nvSpPr>
          <p:cNvPr id="10" name="Shape 8"/>
          <p:cNvSpPr/>
          <p:nvPr/>
        </p:nvSpPr>
        <p:spPr>
          <a:xfrm>
            <a:off x="6583680" y="2633472"/>
            <a:ext cx="4709160" cy="914400"/>
          </a:xfrm>
          <a:prstGeom prst="roundRect">
            <a:avLst>
              <a:gd name="adj" fmla="val 7000"/>
            </a:avLst>
          </a:prstGeom>
          <a:solidFill>
            <a:srgbClr val="FFFFFF"/>
          </a:solidFill>
          <a:ln w="12700">
            <a:solidFill>
              <a:srgbClr val="DDE2EA"/>
            </a:solidFill>
            <a:prstDash val="solid"/>
          </a:ln>
        </p:spPr>
      </p:sp>
      <p:sp>
        <p:nvSpPr>
          <p:cNvPr id="11" name="Shape 9"/>
          <p:cNvSpPr/>
          <p:nvPr/>
        </p:nvSpPr>
        <p:spPr>
          <a:xfrm>
            <a:off x="6583680" y="2633472"/>
            <a:ext cx="50292" cy="914400"/>
          </a:xfrm>
          <a:prstGeom prst="rect">
            <a:avLst/>
          </a:prstGeom>
          <a:solidFill>
            <a:srgbClr val="00A972"/>
          </a:solidFill>
          <a:ln w="12700">
            <a:solidFill>
              <a:srgbClr val="00A972"/>
            </a:solidFill>
            <a:prstDash val="solid"/>
          </a:ln>
        </p:spPr>
      </p:sp>
      <p:sp>
        <p:nvSpPr>
          <p:cNvPr id="12" name="Text 10"/>
          <p:cNvSpPr/>
          <p:nvPr/>
        </p:nvSpPr>
        <p:spPr>
          <a:xfrm>
            <a:off x="6784848" y="2852928"/>
            <a:ext cx="434340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Incremental processing</a:t>
            </a:r>
            <a:endParaRPr lang="en-US" sz="1250" dirty="0"/>
          </a:p>
        </p:txBody>
      </p:sp>
      <p:sp>
        <p:nvSpPr>
          <p:cNvPr id="13" name="Text 11"/>
          <p:cNvSpPr/>
          <p:nvPr/>
        </p:nvSpPr>
        <p:spPr>
          <a:xfrm>
            <a:off x="6784848" y="3291840"/>
            <a:ext cx="4325112" cy="9144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New input is processed without a full reload.</a:t>
            </a:r>
            <a:endParaRPr lang="en-US" sz="880" dirty="0"/>
          </a:p>
        </p:txBody>
      </p:sp>
      <p:sp>
        <p:nvSpPr>
          <p:cNvPr id="14" name="Shape 12"/>
          <p:cNvSpPr/>
          <p:nvPr/>
        </p:nvSpPr>
        <p:spPr>
          <a:xfrm>
            <a:off x="6583680" y="3758184"/>
            <a:ext cx="4709160" cy="914400"/>
          </a:xfrm>
          <a:prstGeom prst="roundRect">
            <a:avLst>
              <a:gd name="adj" fmla="val 7000"/>
            </a:avLst>
          </a:prstGeom>
          <a:solidFill>
            <a:srgbClr val="FFFFFF"/>
          </a:solidFill>
          <a:ln w="12700">
            <a:solidFill>
              <a:srgbClr val="DDE2EA"/>
            </a:solidFill>
            <a:prstDash val="solid"/>
          </a:ln>
        </p:spPr>
      </p:sp>
      <p:sp>
        <p:nvSpPr>
          <p:cNvPr id="15" name="Shape 13"/>
          <p:cNvSpPr/>
          <p:nvPr/>
        </p:nvSpPr>
        <p:spPr>
          <a:xfrm>
            <a:off x="6583680" y="3758184"/>
            <a:ext cx="50292" cy="914400"/>
          </a:xfrm>
          <a:prstGeom prst="rect">
            <a:avLst/>
          </a:prstGeom>
          <a:solidFill>
            <a:srgbClr val="7C4DFF"/>
          </a:solidFill>
          <a:ln w="12700">
            <a:solidFill>
              <a:srgbClr val="7C4DFF"/>
            </a:solidFill>
            <a:prstDash val="solid"/>
          </a:ln>
        </p:spPr>
      </p:sp>
      <p:sp>
        <p:nvSpPr>
          <p:cNvPr id="16" name="Text 14"/>
          <p:cNvSpPr/>
          <p:nvPr/>
        </p:nvSpPr>
        <p:spPr>
          <a:xfrm>
            <a:off x="6784848" y="3977640"/>
            <a:ext cx="434340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Batch + streaming model</a:t>
            </a:r>
            <a:endParaRPr lang="en-US" sz="1250" dirty="0"/>
          </a:p>
        </p:txBody>
      </p:sp>
      <p:sp>
        <p:nvSpPr>
          <p:cNvPr id="17" name="Text 15"/>
          <p:cNvSpPr/>
          <p:nvPr/>
        </p:nvSpPr>
        <p:spPr>
          <a:xfrm>
            <a:off x="6784848" y="4416552"/>
            <a:ext cx="4325112" cy="9144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Same declarative pipeline model can support incremental sources.</a:t>
            </a:r>
            <a:endParaRPr lang="en-US" sz="880" dirty="0"/>
          </a:p>
        </p:txBody>
      </p:sp>
      <p:sp>
        <p:nvSpPr>
          <p:cNvPr id="18" name="Shape 16"/>
          <p:cNvSpPr/>
          <p:nvPr/>
        </p:nvSpPr>
        <p:spPr>
          <a:xfrm>
            <a:off x="6583680" y="4882896"/>
            <a:ext cx="4709160" cy="749808"/>
          </a:xfrm>
          <a:prstGeom prst="roundRect">
            <a:avLst>
              <a:gd name="adj" fmla="val 8537"/>
            </a:avLst>
          </a:prstGeom>
          <a:solidFill>
            <a:srgbClr val="FFFFFF"/>
          </a:solidFill>
          <a:ln w="12700">
            <a:solidFill>
              <a:srgbClr val="DDE2EA"/>
            </a:solidFill>
            <a:prstDash val="solid"/>
          </a:ln>
        </p:spPr>
      </p:sp>
      <p:sp>
        <p:nvSpPr>
          <p:cNvPr id="19" name="Shape 17"/>
          <p:cNvSpPr/>
          <p:nvPr/>
        </p:nvSpPr>
        <p:spPr>
          <a:xfrm>
            <a:off x="6583680" y="4882896"/>
            <a:ext cx="50292" cy="749808"/>
          </a:xfrm>
          <a:prstGeom prst="rect">
            <a:avLst/>
          </a:prstGeom>
          <a:solidFill>
            <a:srgbClr val="F3A712"/>
          </a:solidFill>
          <a:ln w="12700">
            <a:solidFill>
              <a:srgbClr val="F3A712"/>
            </a:solidFill>
            <a:prstDash val="solid"/>
          </a:ln>
        </p:spPr>
      </p:sp>
      <p:sp>
        <p:nvSpPr>
          <p:cNvPr id="20" name="Text 18"/>
          <p:cNvSpPr/>
          <p:nvPr/>
        </p:nvSpPr>
        <p:spPr>
          <a:xfrm>
            <a:off x="6784848" y="5102352"/>
            <a:ext cx="4343400" cy="347472"/>
          </a:xfrm>
          <a:prstGeom prst="rect">
            <a:avLst/>
          </a:prstGeom>
          <a:noFill/>
          <a:ln/>
        </p:spPr>
        <p:txBody>
          <a:bodyPr wrap="square" lIns="0" tIns="0" rIns="0" bIns="0" rtlCol="0" anchor="ctr">
            <a:normAutofit/>
          </a:bodyPr>
          <a:lstStyle/>
          <a:p>
            <a:pPr indent="0" marL="0">
              <a:buNone/>
            </a:pPr>
            <a:r>
              <a:rPr lang="en-US" sz="1150" b="1" dirty="0">
                <a:solidFill>
                  <a:srgbClr val="17233C"/>
                </a:solidFill>
                <a:latin typeface="Aptos Display" pitchFamily="34" charset="0"/>
                <a:ea typeface="Aptos Display" pitchFamily="34" charset="-122"/>
                <a:cs typeface="Aptos Display" pitchFamily="34" charset="-120"/>
              </a:rPr>
              <a:t>Good fit</a:t>
            </a:r>
            <a:endParaRPr lang="en-US" sz="1150" dirty="0"/>
          </a:p>
        </p:txBody>
      </p:sp>
      <p:sp>
        <p:nvSpPr>
          <p:cNvPr id="21" name="Text 19"/>
          <p:cNvSpPr/>
          <p:nvPr/>
        </p:nvSpPr>
        <p:spPr>
          <a:xfrm>
            <a:off x="6784848" y="5541264"/>
            <a:ext cx="4325112" cy="-73152"/>
          </a:xfrm>
          <a:prstGeom prst="rect">
            <a:avLst/>
          </a:prstGeom>
          <a:noFill/>
          <a:ln/>
        </p:spPr>
        <p:txBody>
          <a:bodyPr wrap="square" lIns="254" tIns="254" rIns="254" bIns="254" rtlCol="0" anchor="t">
            <a:normAutofit/>
          </a:bodyPr>
          <a:lstStyle/>
          <a:p>
            <a:pPr indent="0" marL="0">
              <a:buNone/>
            </a:pPr>
            <a:r>
              <a:rPr lang="en-US" sz="820" dirty="0">
                <a:solidFill>
                  <a:srgbClr val="283246"/>
                </a:solidFill>
                <a:latin typeface="Aptos" pitchFamily="34" charset="0"/>
                <a:ea typeface="Aptos" pitchFamily="34" charset="-122"/>
                <a:cs typeface="Aptos" pitchFamily="34" charset="-120"/>
              </a:rPr>
              <a:t>Bronze ingestion from append-oriented files / events</a:t>
            </a:r>
            <a:endParaRPr lang="en-US" sz="820" dirty="0"/>
          </a:p>
        </p:txBody>
      </p:sp>
      <p:sp>
        <p:nvSpPr>
          <p:cNvPr id="22" name="Text 20"/>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Databricks ETL SQL Guide (2025); current docs (2026)</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Materialized Views — Precompute and Maintain Results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Materialized views store query results and can refresh incrementally when supported.</a:t>
            </a:r>
            <a:endParaRPr lang="en-US" sz="1100" dirty="0"/>
          </a:p>
        </p:txBody>
      </p:sp>
      <p:sp>
        <p:nvSpPr>
          <p:cNvPr id="4" name="Shape 2"/>
          <p:cNvSpPr/>
          <p:nvPr/>
        </p:nvSpPr>
        <p:spPr>
          <a:xfrm>
            <a:off x="658368" y="1572768"/>
            <a:ext cx="5532120" cy="3154680"/>
          </a:xfrm>
          <a:prstGeom prst="roundRect">
            <a:avLst>
              <a:gd name="adj" fmla="val 1739"/>
            </a:avLst>
          </a:prstGeom>
          <a:solidFill>
            <a:srgbClr val="111827"/>
          </a:solidFill>
          <a:ln w="12700">
            <a:solidFill>
              <a:srgbClr val="111827"/>
            </a:solidFill>
            <a:prstDash val="solid"/>
          </a:ln>
        </p:spPr>
      </p:sp>
      <p:sp>
        <p:nvSpPr>
          <p:cNvPr id="5" name="Text 3"/>
          <p:cNvSpPr/>
          <p:nvPr/>
        </p:nvSpPr>
        <p:spPr>
          <a:xfrm>
            <a:off x="859536" y="1755648"/>
            <a:ext cx="5129784" cy="2807208"/>
          </a:xfrm>
          <a:prstGeom prst="rect">
            <a:avLst/>
          </a:prstGeom>
          <a:noFill/>
          <a:ln/>
        </p:spPr>
        <p:txBody>
          <a:bodyPr wrap="square" lIns="0" tIns="0" rIns="0" bIns="0" rtlCol="0" anchor="ctr">
            <a:normAutofit/>
          </a:bodyPr>
          <a:lstStyle/>
          <a:p>
            <a:pPr indent="0" marL="0">
              <a:buNone/>
            </a:pPr>
            <a:r>
              <a:rPr lang="en-US" sz="1160" dirty="0">
                <a:solidFill>
                  <a:srgbClr val="F3F4F6"/>
                </a:solidFill>
                <a:latin typeface="Consolas" pitchFamily="34" charset="0"/>
                <a:ea typeface="Consolas" pitchFamily="34" charset="-122"/>
                <a:cs typeface="Consolas" pitchFamily="34" charset="-120"/>
              </a:rPr>
              <a:t>CREATE OR REFRESH MATERIALIZED VIEW gold_daily_sales AS</a:t>
            </a:r>
            <a:endParaRPr lang="en-US" sz="1160" dirty="0"/>
          </a:p>
          <a:p>
            <a:pPr indent="0" marL="0">
              <a:buNone/>
            </a:pPr>
            <a:r>
              <a:rPr lang="en-US" sz="1160" dirty="0">
                <a:solidFill>
                  <a:srgbClr val="F3F4F6"/>
                </a:solidFill>
                <a:latin typeface="Consolas" pitchFamily="34" charset="0"/>
                <a:ea typeface="Consolas" pitchFamily="34" charset="-122"/>
                <a:cs typeface="Consolas" pitchFamily="34" charset="-120"/>
              </a:rPr>
              <a:t>SELECT</a:t>
            </a:r>
            <a:endParaRPr lang="en-US" sz="1160" dirty="0"/>
          </a:p>
          <a:p>
            <a:pPr indent="0" marL="0">
              <a:buNone/>
            </a:pPr>
            <a:r>
              <a:rPr lang="en-US" sz="1160" dirty="0">
                <a:solidFill>
                  <a:srgbClr val="F3F4F6"/>
                </a:solidFill>
                <a:latin typeface="Consolas" pitchFamily="34" charset="0"/>
                <a:ea typeface="Consolas" pitchFamily="34" charset="-122"/>
                <a:cs typeface="Consolas" pitchFamily="34" charset="-120"/>
              </a:rPr>
              <a:t>  OrderDate,</a:t>
            </a:r>
            <a:endParaRPr lang="en-US" sz="1160" dirty="0"/>
          </a:p>
          <a:p>
            <a:pPr indent="0" marL="0">
              <a:buNone/>
            </a:pPr>
            <a:r>
              <a:rPr lang="en-US" sz="1160" dirty="0">
                <a:solidFill>
                  <a:srgbClr val="F3F4F6"/>
                </a:solidFill>
                <a:latin typeface="Consolas" pitchFamily="34" charset="0"/>
                <a:ea typeface="Consolas" pitchFamily="34" charset="-122"/>
                <a:cs typeface="Consolas" pitchFamily="34" charset="-120"/>
              </a:rPr>
              <a:t>  SUM(Quantity * UnitPrice) AS Revenue</a:t>
            </a:r>
            <a:endParaRPr lang="en-US" sz="1160" dirty="0"/>
          </a:p>
          <a:p>
            <a:pPr indent="0" marL="0">
              <a:buNone/>
            </a:pPr>
            <a:r>
              <a:rPr lang="en-US" sz="1160" dirty="0">
                <a:solidFill>
                  <a:srgbClr val="F3F4F6"/>
                </a:solidFill>
                <a:latin typeface="Consolas" pitchFamily="34" charset="0"/>
                <a:ea typeface="Consolas" pitchFamily="34" charset="-122"/>
                <a:cs typeface="Consolas" pitchFamily="34" charset="-120"/>
              </a:rPr>
              <a:t>FROM silver_orders</a:t>
            </a:r>
            <a:endParaRPr lang="en-US" sz="1160" dirty="0"/>
          </a:p>
          <a:p>
            <a:pPr indent="0" marL="0">
              <a:buNone/>
            </a:pPr>
            <a:r>
              <a:rPr lang="en-US" sz="1160" dirty="0">
                <a:solidFill>
                  <a:srgbClr val="F3F4F6"/>
                </a:solidFill>
                <a:latin typeface="Consolas" pitchFamily="34" charset="0"/>
                <a:ea typeface="Consolas" pitchFamily="34" charset="-122"/>
                <a:cs typeface="Consolas" pitchFamily="34" charset="-120"/>
              </a:rPr>
              <a:t>GROUP BY OrderDate;</a:t>
            </a:r>
            <a:endParaRPr lang="en-US" sz="1160" dirty="0"/>
          </a:p>
        </p:txBody>
      </p:sp>
      <p:sp>
        <p:nvSpPr>
          <p:cNvPr id="6" name="Shape 4"/>
          <p:cNvSpPr/>
          <p:nvPr/>
        </p:nvSpPr>
        <p:spPr>
          <a:xfrm>
            <a:off x="6537960" y="1508760"/>
            <a:ext cx="4754880" cy="960120"/>
          </a:xfrm>
          <a:prstGeom prst="roundRect">
            <a:avLst>
              <a:gd name="adj" fmla="val 6667"/>
            </a:avLst>
          </a:prstGeom>
          <a:solidFill>
            <a:srgbClr val="FFFFFF"/>
          </a:solidFill>
          <a:ln w="12700">
            <a:solidFill>
              <a:srgbClr val="DDE2EA"/>
            </a:solidFill>
            <a:prstDash val="solid"/>
          </a:ln>
        </p:spPr>
      </p:sp>
      <p:sp>
        <p:nvSpPr>
          <p:cNvPr id="7" name="Shape 5"/>
          <p:cNvSpPr/>
          <p:nvPr/>
        </p:nvSpPr>
        <p:spPr>
          <a:xfrm>
            <a:off x="6537960" y="1508760"/>
            <a:ext cx="50292" cy="960120"/>
          </a:xfrm>
          <a:prstGeom prst="rect">
            <a:avLst/>
          </a:prstGeom>
          <a:solidFill>
            <a:srgbClr val="3B6FF5"/>
          </a:solidFill>
          <a:ln w="12700">
            <a:solidFill>
              <a:srgbClr val="3B6FF5"/>
            </a:solidFill>
            <a:prstDash val="solid"/>
          </a:ln>
        </p:spPr>
      </p:sp>
      <p:sp>
        <p:nvSpPr>
          <p:cNvPr id="8" name="Text 6"/>
          <p:cNvSpPr/>
          <p:nvPr/>
        </p:nvSpPr>
        <p:spPr>
          <a:xfrm>
            <a:off x="6739128" y="1728216"/>
            <a:ext cx="438912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Fast consumption</a:t>
            </a:r>
            <a:endParaRPr lang="en-US" sz="1250" dirty="0"/>
          </a:p>
        </p:txBody>
      </p:sp>
      <p:sp>
        <p:nvSpPr>
          <p:cNvPr id="9" name="Text 7"/>
          <p:cNvSpPr/>
          <p:nvPr/>
        </p:nvSpPr>
        <p:spPr>
          <a:xfrm>
            <a:off x="6739128" y="2167128"/>
            <a:ext cx="4370832" cy="13716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Dashboards query precomputed results instead of recomputing the full logic.</a:t>
            </a:r>
            <a:endParaRPr lang="en-US" sz="880" dirty="0"/>
          </a:p>
        </p:txBody>
      </p:sp>
      <p:sp>
        <p:nvSpPr>
          <p:cNvPr id="10" name="Shape 8"/>
          <p:cNvSpPr/>
          <p:nvPr/>
        </p:nvSpPr>
        <p:spPr>
          <a:xfrm>
            <a:off x="6537960" y="2697480"/>
            <a:ext cx="4754880" cy="960120"/>
          </a:xfrm>
          <a:prstGeom prst="roundRect">
            <a:avLst>
              <a:gd name="adj" fmla="val 6667"/>
            </a:avLst>
          </a:prstGeom>
          <a:solidFill>
            <a:srgbClr val="FFFFFF"/>
          </a:solidFill>
          <a:ln w="12700">
            <a:solidFill>
              <a:srgbClr val="DDE2EA"/>
            </a:solidFill>
            <a:prstDash val="solid"/>
          </a:ln>
        </p:spPr>
      </p:sp>
      <p:sp>
        <p:nvSpPr>
          <p:cNvPr id="11" name="Shape 9"/>
          <p:cNvSpPr/>
          <p:nvPr/>
        </p:nvSpPr>
        <p:spPr>
          <a:xfrm>
            <a:off x="6537960" y="2697480"/>
            <a:ext cx="50292" cy="960120"/>
          </a:xfrm>
          <a:prstGeom prst="rect">
            <a:avLst/>
          </a:prstGeom>
          <a:solidFill>
            <a:srgbClr val="00A972"/>
          </a:solidFill>
          <a:ln w="12700">
            <a:solidFill>
              <a:srgbClr val="00A972"/>
            </a:solidFill>
            <a:prstDash val="solid"/>
          </a:ln>
        </p:spPr>
      </p:sp>
      <p:sp>
        <p:nvSpPr>
          <p:cNvPr id="12" name="Text 10"/>
          <p:cNvSpPr/>
          <p:nvPr/>
        </p:nvSpPr>
        <p:spPr>
          <a:xfrm>
            <a:off x="6739128" y="2916936"/>
            <a:ext cx="438912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Incremental refresh</a:t>
            </a:r>
            <a:endParaRPr lang="en-US" sz="1250" dirty="0"/>
          </a:p>
        </p:txBody>
      </p:sp>
      <p:sp>
        <p:nvSpPr>
          <p:cNvPr id="13" name="Text 11"/>
          <p:cNvSpPr/>
          <p:nvPr/>
        </p:nvSpPr>
        <p:spPr>
          <a:xfrm>
            <a:off x="6739128" y="3355848"/>
            <a:ext cx="4370832" cy="13716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Databricks can recompute only affected results when the query is eligible.</a:t>
            </a:r>
            <a:endParaRPr lang="en-US" sz="880" dirty="0"/>
          </a:p>
        </p:txBody>
      </p:sp>
      <p:sp>
        <p:nvSpPr>
          <p:cNvPr id="14" name="Shape 12"/>
          <p:cNvSpPr/>
          <p:nvPr/>
        </p:nvSpPr>
        <p:spPr>
          <a:xfrm>
            <a:off x="6537960" y="3886200"/>
            <a:ext cx="4754880" cy="960120"/>
          </a:xfrm>
          <a:prstGeom prst="roundRect">
            <a:avLst>
              <a:gd name="adj" fmla="val 6667"/>
            </a:avLst>
          </a:prstGeom>
          <a:solidFill>
            <a:srgbClr val="FFFFFF"/>
          </a:solidFill>
          <a:ln w="12700">
            <a:solidFill>
              <a:srgbClr val="DDE2EA"/>
            </a:solidFill>
            <a:prstDash val="solid"/>
          </a:ln>
        </p:spPr>
      </p:sp>
      <p:sp>
        <p:nvSpPr>
          <p:cNvPr id="15" name="Shape 13"/>
          <p:cNvSpPr/>
          <p:nvPr/>
        </p:nvSpPr>
        <p:spPr>
          <a:xfrm>
            <a:off x="6537960" y="3886200"/>
            <a:ext cx="50292" cy="960120"/>
          </a:xfrm>
          <a:prstGeom prst="rect">
            <a:avLst/>
          </a:prstGeom>
          <a:solidFill>
            <a:srgbClr val="7C4DFF"/>
          </a:solidFill>
          <a:ln w="12700">
            <a:solidFill>
              <a:srgbClr val="7C4DFF"/>
            </a:solidFill>
            <a:prstDash val="solid"/>
          </a:ln>
        </p:spPr>
      </p:sp>
      <p:sp>
        <p:nvSpPr>
          <p:cNvPr id="16" name="Text 14"/>
          <p:cNvSpPr/>
          <p:nvPr/>
        </p:nvSpPr>
        <p:spPr>
          <a:xfrm>
            <a:off x="6739128" y="4105656"/>
            <a:ext cx="438912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Declarative definition</a:t>
            </a:r>
            <a:endParaRPr lang="en-US" sz="1250" dirty="0"/>
          </a:p>
        </p:txBody>
      </p:sp>
      <p:sp>
        <p:nvSpPr>
          <p:cNvPr id="17" name="Text 15"/>
          <p:cNvSpPr/>
          <p:nvPr/>
        </p:nvSpPr>
        <p:spPr>
          <a:xfrm>
            <a:off x="6739128" y="4544568"/>
            <a:ext cx="4370832" cy="137160"/>
          </a:xfrm>
          <a:prstGeom prst="rect">
            <a:avLst/>
          </a:prstGeom>
          <a:noFill/>
          <a:ln/>
        </p:spPr>
        <p:txBody>
          <a:bodyPr wrap="square" lIns="254" tIns="254" rIns="254" bIns="254" rtlCol="0" anchor="t">
            <a:normAutofit/>
          </a:bodyPr>
          <a:lstStyle/>
          <a:p>
            <a:pPr indent="0" marL="0">
              <a:buNone/>
            </a:pPr>
            <a:r>
              <a:rPr lang="en-US" sz="880" dirty="0">
                <a:solidFill>
                  <a:srgbClr val="283246"/>
                </a:solidFill>
                <a:latin typeface="Aptos" pitchFamily="34" charset="0"/>
                <a:ea typeface="Aptos" pitchFamily="34" charset="-122"/>
                <a:cs typeface="Aptos" pitchFamily="34" charset="-120"/>
              </a:rPr>
              <a:t>You define the desired result; the platform chooses refresh mechanics.</a:t>
            </a:r>
            <a:endParaRPr lang="en-US" sz="880" dirty="0"/>
          </a:p>
        </p:txBody>
      </p:sp>
      <p:sp>
        <p:nvSpPr>
          <p:cNvPr id="18" name="Shape 16"/>
          <p:cNvSpPr/>
          <p:nvPr/>
        </p:nvSpPr>
        <p:spPr>
          <a:xfrm>
            <a:off x="6537960" y="5074920"/>
            <a:ext cx="4754880" cy="566928"/>
          </a:xfrm>
          <a:prstGeom prst="roundRect">
            <a:avLst>
              <a:gd name="adj" fmla="val 9677"/>
            </a:avLst>
          </a:prstGeom>
          <a:solidFill>
            <a:srgbClr val="FFF7E6"/>
          </a:solidFill>
          <a:ln w="12700">
            <a:solidFill>
              <a:srgbClr val="FFF7E6"/>
            </a:solidFill>
            <a:prstDash val="solid"/>
          </a:ln>
        </p:spPr>
      </p:sp>
      <p:sp>
        <p:nvSpPr>
          <p:cNvPr id="19" name="Text 17"/>
          <p:cNvSpPr/>
          <p:nvPr/>
        </p:nvSpPr>
        <p:spPr>
          <a:xfrm>
            <a:off x="6702552" y="5193792"/>
            <a:ext cx="4425696" cy="338328"/>
          </a:xfrm>
          <a:prstGeom prst="rect">
            <a:avLst/>
          </a:prstGeom>
          <a:noFill/>
          <a:ln/>
        </p:spPr>
        <p:txBody>
          <a:bodyPr wrap="square" lIns="0" tIns="0" rIns="0" bIns="0" rtlCol="0" anchor="ctr">
            <a:normAutofit/>
          </a:bodyPr>
          <a:lstStyle/>
          <a:p>
            <a:pPr indent="0" marL="0">
              <a:buNone/>
            </a:pPr>
            <a:r>
              <a:rPr lang="en-US" sz="1100" b="1" dirty="0">
                <a:solidFill>
                  <a:srgbClr val="F3A712"/>
                </a:solidFill>
                <a:latin typeface="Aptos" pitchFamily="34" charset="0"/>
                <a:ea typeface="Aptos" pitchFamily="34" charset="-122"/>
                <a:cs typeface="Aptos" pitchFamily="34" charset="-120"/>
              </a:rPr>
              <a:t>Materialized views are a natural fit for Silver/Gold transformations and frequently queried aggregates.</a:t>
            </a:r>
            <a:endParaRPr lang="en-US" sz="1100" dirty="0"/>
          </a:p>
        </p:txBody>
      </p:sp>
      <p:sp>
        <p:nvSpPr>
          <p:cNvPr id="20" name="Text 18"/>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Databricks ETL SQL Guide (2025); current docs (2026)</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Declarative vs Imperative ETL in Databricks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Describe the desired dataset when possible; control every step only when necessary.</a:t>
            </a:r>
            <a:endParaRPr lang="en-US" sz="1100" dirty="0"/>
          </a:p>
        </p:txBody>
      </p:sp>
      <p:sp>
        <p:nvSpPr>
          <p:cNvPr id="4" name="Shape 2"/>
          <p:cNvSpPr/>
          <p:nvPr/>
        </p:nvSpPr>
        <p:spPr>
          <a:xfrm>
            <a:off x="640080" y="1508760"/>
            <a:ext cx="5257800" cy="3520440"/>
          </a:xfrm>
          <a:prstGeom prst="roundRect">
            <a:avLst>
              <a:gd name="adj" fmla="val 1818"/>
            </a:avLst>
          </a:prstGeom>
          <a:solidFill>
            <a:srgbClr val="FFFFFF"/>
          </a:solidFill>
          <a:ln w="12700">
            <a:solidFill>
              <a:srgbClr val="DDE2EA"/>
            </a:solidFill>
            <a:prstDash val="solid"/>
          </a:ln>
        </p:spPr>
      </p:sp>
      <p:sp>
        <p:nvSpPr>
          <p:cNvPr id="5" name="Shape 3"/>
          <p:cNvSpPr/>
          <p:nvPr/>
        </p:nvSpPr>
        <p:spPr>
          <a:xfrm>
            <a:off x="640080" y="1508760"/>
            <a:ext cx="50292" cy="3520440"/>
          </a:xfrm>
          <a:prstGeom prst="rect">
            <a:avLst/>
          </a:prstGeom>
          <a:solidFill>
            <a:srgbClr val="687386"/>
          </a:solidFill>
          <a:ln w="12700">
            <a:solidFill>
              <a:srgbClr val="687386"/>
            </a:solidFill>
            <a:prstDash val="solid"/>
          </a:ln>
        </p:spPr>
      </p:sp>
      <p:sp>
        <p:nvSpPr>
          <p:cNvPr id="6" name="Shape 4"/>
          <p:cNvSpPr/>
          <p:nvPr/>
        </p:nvSpPr>
        <p:spPr>
          <a:xfrm>
            <a:off x="841248" y="1691640"/>
            <a:ext cx="566928" cy="310896"/>
          </a:xfrm>
          <a:prstGeom prst="roundRect">
            <a:avLst>
              <a:gd name="adj" fmla="val 14706"/>
            </a:avLst>
          </a:prstGeom>
          <a:solidFill>
            <a:srgbClr val="F2F4F7"/>
          </a:solidFill>
          <a:ln w="12700">
            <a:solidFill>
              <a:srgbClr val="F2F4F7"/>
            </a:solidFill>
            <a:prstDash val="solid"/>
          </a:ln>
        </p:spPr>
      </p:sp>
      <p:sp>
        <p:nvSpPr>
          <p:cNvPr id="7" name="Text 5"/>
          <p:cNvSpPr/>
          <p:nvPr/>
        </p:nvSpPr>
        <p:spPr>
          <a:xfrm>
            <a:off x="841248" y="1755648"/>
            <a:ext cx="566928" cy="128016"/>
          </a:xfrm>
          <a:prstGeom prst="rect">
            <a:avLst/>
          </a:prstGeom>
          <a:noFill/>
          <a:ln/>
        </p:spPr>
        <p:txBody>
          <a:bodyPr wrap="square" lIns="0" tIns="0" rIns="0" bIns="0" rtlCol="0" anchor="ctr"/>
          <a:lstStyle/>
          <a:p>
            <a:pPr algn="ctr" indent="0" marL="0">
              <a:buNone/>
            </a:pPr>
            <a:r>
              <a:rPr lang="en-US" sz="730" b="1" dirty="0">
                <a:solidFill>
                  <a:srgbClr val="687386"/>
                </a:solidFill>
              </a:rPr>
              <a:t>HOW</a:t>
            </a:r>
            <a:endParaRPr lang="en-US" sz="730" dirty="0"/>
          </a:p>
        </p:txBody>
      </p:sp>
      <p:sp>
        <p:nvSpPr>
          <p:cNvPr id="8" name="Text 6"/>
          <p:cNvSpPr/>
          <p:nvPr/>
        </p:nvSpPr>
        <p:spPr>
          <a:xfrm>
            <a:off x="841248" y="2093976"/>
            <a:ext cx="4892040" cy="347472"/>
          </a:xfrm>
          <a:prstGeom prst="rect">
            <a:avLst/>
          </a:prstGeom>
          <a:noFill/>
          <a:ln/>
        </p:spPr>
        <p:txBody>
          <a:bodyPr wrap="square" lIns="0" tIns="0" rIns="0" bIns="0" rtlCol="0" anchor="ctr">
            <a:normAutofit/>
          </a:bodyPr>
          <a:lstStyle/>
          <a:p>
            <a:pPr indent="0" marL="0">
              <a:buNone/>
            </a:pPr>
            <a:r>
              <a:rPr lang="en-US" sz="1700" b="1" dirty="0">
                <a:solidFill>
                  <a:srgbClr val="17233C"/>
                </a:solidFill>
                <a:latin typeface="Aptos Display" pitchFamily="34" charset="0"/>
                <a:ea typeface="Aptos Display" pitchFamily="34" charset="-122"/>
                <a:cs typeface="Aptos Display" pitchFamily="34" charset="-120"/>
              </a:rPr>
              <a:t>Imperative approach</a:t>
            </a:r>
            <a:endParaRPr lang="en-US" sz="1700" dirty="0"/>
          </a:p>
        </p:txBody>
      </p:sp>
      <p:sp>
        <p:nvSpPr>
          <p:cNvPr id="9" name="Text 7"/>
          <p:cNvSpPr/>
          <p:nvPr/>
        </p:nvSpPr>
        <p:spPr>
          <a:xfrm>
            <a:off x="841248" y="2468880"/>
            <a:ext cx="4873752" cy="239572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You specify execution mechanics:</a:t>
            </a:r>
            <a:endParaRPr lang="en-US" sz="1100" dirty="0"/>
          </a:p>
          <a:p>
            <a:pPr indent="0" marL="0">
              <a:buNone/>
            </a:pP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1. detect new files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2. manage checkpoint / watermark</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3. load staging table</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4. retry failures</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5. update target</a:t>
            </a: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6. schedule the workflow</a:t>
            </a:r>
            <a:endParaRPr lang="en-US" sz="1100" dirty="0"/>
          </a:p>
        </p:txBody>
      </p:sp>
      <p:sp>
        <p:nvSpPr>
          <p:cNvPr id="10" name="Shape 8"/>
          <p:cNvSpPr/>
          <p:nvPr/>
        </p:nvSpPr>
        <p:spPr>
          <a:xfrm>
            <a:off x="6309360" y="1508760"/>
            <a:ext cx="5257800" cy="3520440"/>
          </a:xfrm>
          <a:prstGeom prst="roundRect">
            <a:avLst>
              <a:gd name="adj" fmla="val 1818"/>
            </a:avLst>
          </a:prstGeom>
          <a:solidFill>
            <a:srgbClr val="FFFFFF"/>
          </a:solidFill>
          <a:ln w="12700">
            <a:solidFill>
              <a:srgbClr val="DDE2EA"/>
            </a:solidFill>
            <a:prstDash val="solid"/>
          </a:ln>
        </p:spPr>
      </p:sp>
      <p:sp>
        <p:nvSpPr>
          <p:cNvPr id="11" name="Shape 9"/>
          <p:cNvSpPr/>
          <p:nvPr/>
        </p:nvSpPr>
        <p:spPr>
          <a:xfrm>
            <a:off x="6309360" y="1508760"/>
            <a:ext cx="50292" cy="3520440"/>
          </a:xfrm>
          <a:prstGeom prst="rect">
            <a:avLst/>
          </a:prstGeom>
          <a:solidFill>
            <a:srgbClr val="FF3621"/>
          </a:solidFill>
          <a:ln w="12700">
            <a:solidFill>
              <a:srgbClr val="FF3621"/>
            </a:solidFill>
            <a:prstDash val="solid"/>
          </a:ln>
        </p:spPr>
      </p:sp>
      <p:sp>
        <p:nvSpPr>
          <p:cNvPr id="12" name="Shape 10"/>
          <p:cNvSpPr/>
          <p:nvPr/>
        </p:nvSpPr>
        <p:spPr>
          <a:xfrm>
            <a:off x="6510528" y="1691640"/>
            <a:ext cx="566928" cy="310896"/>
          </a:xfrm>
          <a:prstGeom prst="roundRect">
            <a:avLst>
              <a:gd name="adj" fmla="val 14706"/>
            </a:avLst>
          </a:prstGeom>
          <a:solidFill>
            <a:srgbClr val="FFF0ED"/>
          </a:solidFill>
          <a:ln w="12700">
            <a:solidFill>
              <a:srgbClr val="FFF0ED"/>
            </a:solidFill>
            <a:prstDash val="solid"/>
          </a:ln>
        </p:spPr>
      </p:sp>
      <p:sp>
        <p:nvSpPr>
          <p:cNvPr id="13" name="Text 11"/>
          <p:cNvSpPr/>
          <p:nvPr/>
        </p:nvSpPr>
        <p:spPr>
          <a:xfrm>
            <a:off x="6510528" y="175564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WHAT</a:t>
            </a:r>
            <a:endParaRPr lang="en-US" sz="730" dirty="0"/>
          </a:p>
        </p:txBody>
      </p:sp>
      <p:sp>
        <p:nvSpPr>
          <p:cNvPr id="14" name="Text 12"/>
          <p:cNvSpPr/>
          <p:nvPr/>
        </p:nvSpPr>
        <p:spPr>
          <a:xfrm>
            <a:off x="6510528" y="2093976"/>
            <a:ext cx="4892040" cy="347472"/>
          </a:xfrm>
          <a:prstGeom prst="rect">
            <a:avLst/>
          </a:prstGeom>
          <a:noFill/>
          <a:ln/>
        </p:spPr>
        <p:txBody>
          <a:bodyPr wrap="square" lIns="0" tIns="0" rIns="0" bIns="0" rtlCol="0" anchor="ctr">
            <a:normAutofit/>
          </a:bodyPr>
          <a:lstStyle/>
          <a:p>
            <a:pPr indent="0" marL="0">
              <a:buNone/>
            </a:pPr>
            <a:r>
              <a:rPr lang="en-US" sz="1700" b="1" dirty="0">
                <a:solidFill>
                  <a:srgbClr val="17233C"/>
                </a:solidFill>
                <a:latin typeface="Aptos Display" pitchFamily="34" charset="0"/>
                <a:ea typeface="Aptos Display" pitchFamily="34" charset="-122"/>
                <a:cs typeface="Aptos Display" pitchFamily="34" charset="-120"/>
              </a:rPr>
              <a:t>Declarative approach</a:t>
            </a:r>
            <a:endParaRPr lang="en-US" sz="1700" dirty="0"/>
          </a:p>
        </p:txBody>
      </p:sp>
      <p:sp>
        <p:nvSpPr>
          <p:cNvPr id="15" name="Text 13"/>
          <p:cNvSpPr/>
          <p:nvPr/>
        </p:nvSpPr>
        <p:spPr>
          <a:xfrm>
            <a:off x="6510528" y="2468880"/>
            <a:ext cx="4873752" cy="2395728"/>
          </a:xfrm>
          <a:prstGeom prst="rect">
            <a:avLst/>
          </a:prstGeom>
          <a:noFill/>
          <a:ln/>
        </p:spPr>
        <p:txBody>
          <a:bodyPr wrap="square" lIns="254" tIns="254" rIns="254" bIns="254" rtlCol="0" anchor="t">
            <a:normAutofit/>
          </a:bodyPr>
          <a:lstStyle/>
          <a:p>
            <a:pPr indent="0" marL="0">
              <a:buNone/>
            </a:pPr>
            <a:r>
              <a:rPr lang="en-US" sz="1100" dirty="0">
                <a:solidFill>
                  <a:srgbClr val="283246"/>
                </a:solidFill>
                <a:latin typeface="Aptos" pitchFamily="34" charset="0"/>
                <a:ea typeface="Aptos" pitchFamily="34" charset="-122"/>
                <a:cs typeface="Aptos" pitchFamily="34" charset="-120"/>
              </a:rPr>
              <a:t>You specify the desired data object:</a:t>
            </a:r>
            <a:endParaRPr lang="en-US" sz="1100" dirty="0"/>
          </a:p>
          <a:p>
            <a:pPr indent="0" marL="0">
              <a:buNone/>
            </a:pP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CREATE OR REFRESH STREAMING TABLE ...</a:t>
            </a:r>
            <a:endParaRPr lang="en-US" sz="1100" dirty="0"/>
          </a:p>
          <a:p>
            <a:pPr indent="0" marL="0">
              <a:buNone/>
            </a:pPr>
            <a:endParaRPr lang="en-US" sz="1100" dirty="0"/>
          </a:p>
          <a:p>
            <a:pPr indent="0" marL="0">
              <a:buNone/>
            </a:pPr>
            <a:r>
              <a:rPr lang="en-US" sz="1100" dirty="0">
                <a:solidFill>
                  <a:srgbClr val="283246"/>
                </a:solidFill>
                <a:latin typeface="Aptos" pitchFamily="34" charset="0"/>
                <a:ea typeface="Aptos" pitchFamily="34" charset="-122"/>
                <a:cs typeface="Aptos" pitchFamily="34" charset="-120"/>
              </a:rPr>
              <a:t>The platform handles dependency planning, state, retries, incremental execution and operational metadata.</a:t>
            </a:r>
            <a:endParaRPr lang="en-US" sz="1100" dirty="0"/>
          </a:p>
        </p:txBody>
      </p:sp>
      <p:sp>
        <p:nvSpPr>
          <p:cNvPr id="16" name="Shape 14"/>
          <p:cNvSpPr/>
          <p:nvPr/>
        </p:nvSpPr>
        <p:spPr>
          <a:xfrm>
            <a:off x="1325880" y="5257800"/>
            <a:ext cx="9509760" cy="566928"/>
          </a:xfrm>
          <a:prstGeom prst="roundRect">
            <a:avLst>
              <a:gd name="adj" fmla="val 9677"/>
            </a:avLst>
          </a:prstGeom>
          <a:solidFill>
            <a:srgbClr val="EEF7FF"/>
          </a:solidFill>
          <a:ln w="12700">
            <a:solidFill>
              <a:srgbClr val="EEF7FF"/>
            </a:solidFill>
            <a:prstDash val="solid"/>
          </a:ln>
        </p:spPr>
      </p:sp>
      <p:sp>
        <p:nvSpPr>
          <p:cNvPr id="17" name="Text 15"/>
          <p:cNvSpPr/>
          <p:nvPr/>
        </p:nvSpPr>
        <p:spPr>
          <a:xfrm>
            <a:off x="1490472" y="5376672"/>
            <a:ext cx="9180576" cy="338328"/>
          </a:xfrm>
          <a:prstGeom prst="rect">
            <a:avLst/>
          </a:prstGeom>
          <a:noFill/>
          <a:ln/>
        </p:spPr>
        <p:txBody>
          <a:bodyPr wrap="square" lIns="0" tIns="0" rIns="0" bIns="0" rtlCol="0" anchor="ctr">
            <a:normAutofit/>
          </a:bodyPr>
          <a:lstStyle/>
          <a:p>
            <a:pPr indent="0" marL="0">
              <a:buNone/>
            </a:pPr>
            <a:r>
              <a:rPr lang="en-US" sz="1100" b="1" dirty="0">
                <a:solidFill>
                  <a:srgbClr val="3B6FF5"/>
                </a:solidFill>
                <a:latin typeface="Aptos" pitchFamily="34" charset="0"/>
                <a:ea typeface="Aptos" pitchFamily="34" charset="-122"/>
                <a:cs typeface="Aptos" pitchFamily="34" charset="-120"/>
              </a:rPr>
              <a:t>Declarative does not mean “no code.” It means less code about execution mechanics.</a:t>
            </a:r>
            <a:endParaRPr lang="en-US" sz="1100" dirty="0"/>
          </a:p>
        </p:txBody>
      </p:sp>
      <p:sp>
        <p:nvSpPr>
          <p:cNvPr id="18" name="Text 16"/>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Databricks ETL SQL Guide (2025)</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Lakeflow Pipelines Build the DAG from Dataset Definitions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Definition order is not execution order—the platform resolves dependencies from references.</a:t>
            </a:r>
            <a:endParaRPr lang="en-US" sz="1100" dirty="0"/>
          </a:p>
        </p:txBody>
      </p:sp>
      <p:sp>
        <p:nvSpPr>
          <p:cNvPr id="4" name="Shape 2"/>
          <p:cNvSpPr/>
          <p:nvPr/>
        </p:nvSpPr>
        <p:spPr>
          <a:xfrm>
            <a:off x="594360" y="1417320"/>
            <a:ext cx="5120640" cy="4206240"/>
          </a:xfrm>
          <a:prstGeom prst="roundRect">
            <a:avLst>
              <a:gd name="adj" fmla="val 1304"/>
            </a:avLst>
          </a:prstGeom>
          <a:solidFill>
            <a:srgbClr val="111827"/>
          </a:solidFill>
          <a:ln w="12700">
            <a:solidFill>
              <a:srgbClr val="111827"/>
            </a:solidFill>
            <a:prstDash val="solid"/>
          </a:ln>
        </p:spPr>
      </p:sp>
      <p:sp>
        <p:nvSpPr>
          <p:cNvPr id="5" name="Text 3"/>
          <p:cNvSpPr/>
          <p:nvPr/>
        </p:nvSpPr>
        <p:spPr>
          <a:xfrm>
            <a:off x="795528" y="1600200"/>
            <a:ext cx="4718304" cy="3858768"/>
          </a:xfrm>
          <a:prstGeom prst="rect">
            <a:avLst/>
          </a:prstGeom>
          <a:noFill/>
          <a:ln/>
        </p:spPr>
        <p:txBody>
          <a:bodyPr wrap="square" lIns="0" tIns="0" rIns="0" bIns="0" rtlCol="0" anchor="ctr">
            <a:normAutofit/>
          </a:bodyPr>
          <a:lstStyle/>
          <a:p>
            <a:pPr indent="0" marL="0">
              <a:buNone/>
            </a:pPr>
            <a:r>
              <a:rPr lang="en-US" sz="1030" dirty="0">
                <a:solidFill>
                  <a:srgbClr val="F3F4F6"/>
                </a:solidFill>
                <a:latin typeface="Consolas" pitchFamily="34" charset="0"/>
                <a:ea typeface="Consolas" pitchFamily="34" charset="-122"/>
                <a:cs typeface="Consolas" pitchFamily="34" charset="-120"/>
              </a:rPr>
              <a:t>CREATE OR REFRESH STREAMING TABLE bronze_orders AS ...;</a:t>
            </a:r>
            <a:endParaRPr lang="en-US" sz="1030" dirty="0"/>
          </a:p>
          <a:p>
            <a:pPr indent="0" marL="0">
              <a:buNone/>
            </a:pPr>
            <a:endParaRPr lang="en-US" sz="1030" dirty="0"/>
          </a:p>
          <a:p>
            <a:pPr indent="0" marL="0">
              <a:buNone/>
            </a:pPr>
            <a:r>
              <a:rPr lang="en-US" sz="1030" dirty="0">
                <a:solidFill>
                  <a:srgbClr val="F3F4F6"/>
                </a:solidFill>
                <a:latin typeface="Consolas" pitchFamily="34" charset="0"/>
                <a:ea typeface="Consolas" pitchFamily="34" charset="-122"/>
                <a:cs typeface="Consolas" pitchFamily="34" charset="-120"/>
              </a:rPr>
              <a:t>CREATE OR REFRESH MATERIALIZED VIEW silver_orders AS</a:t>
            </a:r>
            <a:endParaRPr lang="en-US" sz="1030" dirty="0"/>
          </a:p>
          <a:p>
            <a:pPr indent="0" marL="0">
              <a:buNone/>
            </a:pPr>
            <a:r>
              <a:rPr lang="en-US" sz="1030" dirty="0">
                <a:solidFill>
                  <a:srgbClr val="F3F4F6"/>
                </a:solidFill>
                <a:latin typeface="Consolas" pitchFamily="34" charset="0"/>
                <a:ea typeface="Consolas" pitchFamily="34" charset="-122"/>
                <a:cs typeface="Consolas" pitchFamily="34" charset="-120"/>
              </a:rPr>
              <a:t>SELECT ... FROM bronze_orders;</a:t>
            </a:r>
            <a:endParaRPr lang="en-US" sz="1030" dirty="0"/>
          </a:p>
          <a:p>
            <a:pPr indent="0" marL="0">
              <a:buNone/>
            </a:pPr>
            <a:endParaRPr lang="en-US" sz="1030" dirty="0"/>
          </a:p>
          <a:p>
            <a:pPr indent="0" marL="0">
              <a:buNone/>
            </a:pPr>
            <a:r>
              <a:rPr lang="en-US" sz="1030" dirty="0">
                <a:solidFill>
                  <a:srgbClr val="F3F4F6"/>
                </a:solidFill>
                <a:latin typeface="Consolas" pitchFamily="34" charset="0"/>
                <a:ea typeface="Consolas" pitchFamily="34" charset="-122"/>
                <a:cs typeface="Consolas" pitchFamily="34" charset="-120"/>
              </a:rPr>
              <a:t>CREATE OR REFRESH MATERIALIZED VIEW gold_sales AS</a:t>
            </a:r>
            <a:endParaRPr lang="en-US" sz="1030" dirty="0"/>
          </a:p>
          <a:p>
            <a:pPr indent="0" marL="0">
              <a:buNone/>
            </a:pPr>
            <a:r>
              <a:rPr lang="en-US" sz="1030" dirty="0">
                <a:solidFill>
                  <a:srgbClr val="F3F4F6"/>
                </a:solidFill>
                <a:latin typeface="Consolas" pitchFamily="34" charset="0"/>
                <a:ea typeface="Consolas" pitchFamily="34" charset="-122"/>
                <a:cs typeface="Consolas" pitchFamily="34" charset="-120"/>
              </a:rPr>
              <a:t>SELECT ... FROM silver_orders;</a:t>
            </a:r>
            <a:endParaRPr lang="en-US" sz="1030" dirty="0"/>
          </a:p>
        </p:txBody>
      </p:sp>
      <p:sp>
        <p:nvSpPr>
          <p:cNvPr id="6" name="Shape 4"/>
          <p:cNvSpPr/>
          <p:nvPr/>
        </p:nvSpPr>
        <p:spPr>
          <a:xfrm>
            <a:off x="6537960" y="1691640"/>
            <a:ext cx="2971800" cy="749808"/>
          </a:xfrm>
          <a:prstGeom prst="roundRect">
            <a:avLst>
              <a:gd name="adj" fmla="val 7317"/>
            </a:avLst>
          </a:prstGeom>
          <a:solidFill>
            <a:srgbClr val="FEF6E7"/>
          </a:solidFill>
          <a:ln w="12700">
            <a:solidFill>
              <a:srgbClr val="F3A712"/>
            </a:solidFill>
            <a:prstDash val="solid"/>
          </a:ln>
        </p:spPr>
      </p:sp>
      <p:sp>
        <p:nvSpPr>
          <p:cNvPr id="7" name="Text 5"/>
          <p:cNvSpPr/>
          <p:nvPr/>
        </p:nvSpPr>
        <p:spPr>
          <a:xfrm>
            <a:off x="6647688" y="1911096"/>
            <a:ext cx="2743200" cy="228600"/>
          </a:xfrm>
          <a:prstGeom prst="rect">
            <a:avLst/>
          </a:prstGeom>
          <a:noFill/>
          <a:ln/>
        </p:spPr>
        <p:txBody>
          <a:bodyPr wrap="square" lIns="0" tIns="0" rIns="0" bIns="0" rtlCol="0" anchor="ctr"/>
          <a:lstStyle/>
          <a:p>
            <a:pPr algn="ctr" indent="0" marL="0">
              <a:buNone/>
            </a:pPr>
            <a:r>
              <a:rPr lang="en-US" sz="1100" b="1" dirty="0">
                <a:solidFill>
                  <a:srgbClr val="17233C"/>
                </a:solidFill>
                <a:latin typeface="Consolas" pitchFamily="34" charset="0"/>
                <a:ea typeface="Consolas" pitchFamily="34" charset="-122"/>
                <a:cs typeface="Consolas" pitchFamily="34" charset="-120"/>
              </a:rPr>
              <a:t>bronze_orders</a:t>
            </a:r>
            <a:endParaRPr lang="en-US" sz="1100" dirty="0"/>
          </a:p>
        </p:txBody>
      </p:sp>
      <p:sp>
        <p:nvSpPr>
          <p:cNvPr id="8" name="Shape 6"/>
          <p:cNvSpPr/>
          <p:nvPr/>
        </p:nvSpPr>
        <p:spPr>
          <a:xfrm>
            <a:off x="6537960" y="3063240"/>
            <a:ext cx="2971800" cy="749808"/>
          </a:xfrm>
          <a:prstGeom prst="roundRect">
            <a:avLst>
              <a:gd name="adj" fmla="val 7317"/>
            </a:avLst>
          </a:prstGeom>
          <a:solidFill>
            <a:srgbClr val="E6F6F1"/>
          </a:solidFill>
          <a:ln w="12700">
            <a:solidFill>
              <a:srgbClr val="00A972"/>
            </a:solidFill>
            <a:prstDash val="solid"/>
          </a:ln>
        </p:spPr>
      </p:sp>
      <p:sp>
        <p:nvSpPr>
          <p:cNvPr id="9" name="Text 7"/>
          <p:cNvSpPr/>
          <p:nvPr/>
        </p:nvSpPr>
        <p:spPr>
          <a:xfrm>
            <a:off x="6647688" y="3282696"/>
            <a:ext cx="2743200" cy="228600"/>
          </a:xfrm>
          <a:prstGeom prst="rect">
            <a:avLst/>
          </a:prstGeom>
          <a:noFill/>
          <a:ln/>
        </p:spPr>
        <p:txBody>
          <a:bodyPr wrap="square" lIns="0" tIns="0" rIns="0" bIns="0" rtlCol="0" anchor="ctr"/>
          <a:lstStyle/>
          <a:p>
            <a:pPr algn="ctr" indent="0" marL="0">
              <a:buNone/>
            </a:pPr>
            <a:r>
              <a:rPr lang="en-US" sz="1100" b="1" dirty="0">
                <a:solidFill>
                  <a:srgbClr val="17233C"/>
                </a:solidFill>
                <a:latin typeface="Consolas" pitchFamily="34" charset="0"/>
                <a:ea typeface="Consolas" pitchFamily="34" charset="-122"/>
                <a:cs typeface="Consolas" pitchFamily="34" charset="-120"/>
              </a:rPr>
              <a:t>silver_orders</a:t>
            </a:r>
            <a:endParaRPr lang="en-US" sz="1100" dirty="0"/>
          </a:p>
        </p:txBody>
      </p:sp>
      <p:sp>
        <p:nvSpPr>
          <p:cNvPr id="10" name="Shape 8"/>
          <p:cNvSpPr/>
          <p:nvPr/>
        </p:nvSpPr>
        <p:spPr>
          <a:xfrm>
            <a:off x="6537960" y="4434840"/>
            <a:ext cx="2971800" cy="749808"/>
          </a:xfrm>
          <a:prstGeom prst="roundRect">
            <a:avLst>
              <a:gd name="adj" fmla="val 7317"/>
            </a:avLst>
          </a:prstGeom>
          <a:solidFill>
            <a:srgbClr val="FFEBE9"/>
          </a:solidFill>
          <a:ln w="12700">
            <a:solidFill>
              <a:srgbClr val="FF3621"/>
            </a:solidFill>
            <a:prstDash val="solid"/>
          </a:ln>
        </p:spPr>
      </p:sp>
      <p:sp>
        <p:nvSpPr>
          <p:cNvPr id="11" name="Text 9"/>
          <p:cNvSpPr/>
          <p:nvPr/>
        </p:nvSpPr>
        <p:spPr>
          <a:xfrm>
            <a:off x="6647688" y="4654296"/>
            <a:ext cx="2743200" cy="228600"/>
          </a:xfrm>
          <a:prstGeom prst="rect">
            <a:avLst/>
          </a:prstGeom>
          <a:noFill/>
          <a:ln/>
        </p:spPr>
        <p:txBody>
          <a:bodyPr wrap="square" lIns="0" tIns="0" rIns="0" bIns="0" rtlCol="0" anchor="ctr"/>
          <a:lstStyle/>
          <a:p>
            <a:pPr algn="ctr" indent="0" marL="0">
              <a:buNone/>
            </a:pPr>
            <a:r>
              <a:rPr lang="en-US" sz="1100" b="1" dirty="0">
                <a:solidFill>
                  <a:srgbClr val="17233C"/>
                </a:solidFill>
                <a:latin typeface="Consolas" pitchFamily="34" charset="0"/>
                <a:ea typeface="Consolas" pitchFamily="34" charset="-122"/>
                <a:cs typeface="Consolas" pitchFamily="34" charset="-120"/>
              </a:rPr>
              <a:t>gold_sales</a:t>
            </a:r>
            <a:endParaRPr lang="en-US" sz="1100" dirty="0"/>
          </a:p>
        </p:txBody>
      </p:sp>
      <p:sp>
        <p:nvSpPr>
          <p:cNvPr id="12" name="Shape 10"/>
          <p:cNvSpPr/>
          <p:nvPr/>
        </p:nvSpPr>
        <p:spPr>
          <a:xfrm>
            <a:off x="8028432" y="2468880"/>
            <a:ext cx="0" cy="502920"/>
          </a:xfrm>
          <a:prstGeom prst="line">
            <a:avLst/>
          </a:prstGeom>
          <a:noFill/>
          <a:ln w="12700">
            <a:solidFill>
              <a:srgbClr val="687386"/>
            </a:solidFill>
            <a:prstDash val="solid"/>
            <a:headEnd type="none"/>
            <a:tailEnd type="triangle"/>
          </a:ln>
        </p:spPr>
      </p:sp>
      <p:sp>
        <p:nvSpPr>
          <p:cNvPr id="13" name="Shape 11"/>
          <p:cNvSpPr/>
          <p:nvPr/>
        </p:nvSpPr>
        <p:spPr>
          <a:xfrm>
            <a:off x="8028432" y="3840480"/>
            <a:ext cx="0" cy="502920"/>
          </a:xfrm>
          <a:prstGeom prst="line">
            <a:avLst/>
          </a:prstGeom>
          <a:noFill/>
          <a:ln w="12700">
            <a:solidFill>
              <a:srgbClr val="687386"/>
            </a:solidFill>
            <a:prstDash val="solid"/>
            <a:headEnd type="none"/>
            <a:tailEnd type="triangle"/>
          </a:ln>
        </p:spPr>
      </p:sp>
      <p:sp>
        <p:nvSpPr>
          <p:cNvPr id="14" name="Shape 12"/>
          <p:cNvSpPr/>
          <p:nvPr/>
        </p:nvSpPr>
        <p:spPr>
          <a:xfrm>
            <a:off x="9829800" y="2331720"/>
            <a:ext cx="1508760" cy="2377440"/>
          </a:xfrm>
          <a:prstGeom prst="roundRect">
            <a:avLst>
              <a:gd name="adj" fmla="val 4242"/>
            </a:avLst>
          </a:prstGeom>
          <a:solidFill>
            <a:srgbClr val="FFFFFF"/>
          </a:solidFill>
          <a:ln w="12700">
            <a:solidFill>
              <a:srgbClr val="DDE2EA"/>
            </a:solidFill>
            <a:prstDash val="solid"/>
          </a:ln>
        </p:spPr>
      </p:sp>
      <p:sp>
        <p:nvSpPr>
          <p:cNvPr id="15" name="Shape 13"/>
          <p:cNvSpPr/>
          <p:nvPr/>
        </p:nvSpPr>
        <p:spPr>
          <a:xfrm>
            <a:off x="9829800" y="2331720"/>
            <a:ext cx="50292" cy="2377440"/>
          </a:xfrm>
          <a:prstGeom prst="rect">
            <a:avLst/>
          </a:prstGeom>
          <a:solidFill>
            <a:srgbClr val="7C4DFF"/>
          </a:solidFill>
          <a:ln w="12700">
            <a:solidFill>
              <a:srgbClr val="7C4DFF"/>
            </a:solidFill>
            <a:prstDash val="solid"/>
          </a:ln>
        </p:spPr>
      </p:sp>
      <p:sp>
        <p:nvSpPr>
          <p:cNvPr id="16" name="Text 14"/>
          <p:cNvSpPr/>
          <p:nvPr/>
        </p:nvSpPr>
        <p:spPr>
          <a:xfrm>
            <a:off x="10030968" y="2551176"/>
            <a:ext cx="1143000" cy="347472"/>
          </a:xfrm>
          <a:prstGeom prst="rect">
            <a:avLst/>
          </a:prstGeom>
          <a:noFill/>
          <a:ln/>
        </p:spPr>
        <p:txBody>
          <a:bodyPr wrap="square" lIns="0" tIns="0" rIns="0" bIns="0" rtlCol="0" anchor="ctr">
            <a:normAutofit/>
          </a:bodyPr>
          <a:lstStyle/>
          <a:p>
            <a:pPr indent="0" marL="0">
              <a:buNone/>
            </a:pPr>
            <a:r>
              <a:rPr lang="en-US" sz="1200" b="1" dirty="0">
                <a:solidFill>
                  <a:srgbClr val="17233C"/>
                </a:solidFill>
                <a:latin typeface="Aptos Display" pitchFamily="34" charset="0"/>
                <a:ea typeface="Aptos Display" pitchFamily="34" charset="-122"/>
                <a:cs typeface="Aptos Display" pitchFamily="34" charset="-120"/>
              </a:rPr>
              <a:t>Platform</a:t>
            </a:r>
            <a:endParaRPr lang="en-US" sz="1200" dirty="0"/>
          </a:p>
        </p:txBody>
      </p:sp>
      <p:sp>
        <p:nvSpPr>
          <p:cNvPr id="17" name="Text 15"/>
          <p:cNvSpPr/>
          <p:nvPr/>
        </p:nvSpPr>
        <p:spPr>
          <a:xfrm>
            <a:off x="10030968" y="2990088"/>
            <a:ext cx="1124712" cy="1554480"/>
          </a:xfrm>
          <a:prstGeom prst="rect">
            <a:avLst/>
          </a:prstGeom>
          <a:noFill/>
          <a:ln/>
        </p:spPr>
        <p:txBody>
          <a:bodyPr wrap="square" lIns="254" tIns="254" rIns="254" bIns="254" rtlCol="0" anchor="t">
            <a:normAutofit/>
          </a:bodyPr>
          <a:lstStyle/>
          <a:p>
            <a:pPr indent="0" marL="0">
              <a:buNone/>
            </a:pPr>
            <a:r>
              <a:rPr lang="en-US" sz="850" dirty="0">
                <a:solidFill>
                  <a:srgbClr val="283246"/>
                </a:solidFill>
                <a:latin typeface="Aptos" pitchFamily="34" charset="0"/>
                <a:ea typeface="Aptos" pitchFamily="34" charset="-122"/>
                <a:cs typeface="Aptos" pitchFamily="34" charset="-120"/>
              </a:rPr>
              <a:t>Build DAG</a:t>
            </a:r>
            <a:endParaRPr lang="en-US" sz="850" dirty="0"/>
          </a:p>
          <a:p>
            <a:pPr indent="0" marL="0">
              <a:buNone/>
            </a:pPr>
            <a:r>
              <a:rPr lang="en-US" sz="850" dirty="0">
                <a:solidFill>
                  <a:srgbClr val="283246"/>
                </a:solidFill>
                <a:latin typeface="Aptos" pitchFamily="34" charset="0"/>
                <a:ea typeface="Aptos" pitchFamily="34" charset="-122"/>
                <a:cs typeface="Aptos" pitchFamily="34" charset="-120"/>
              </a:rPr>
              <a:t>Track state</a:t>
            </a:r>
            <a:endParaRPr lang="en-US" sz="850" dirty="0"/>
          </a:p>
          <a:p>
            <a:pPr indent="0" marL="0">
              <a:buNone/>
            </a:pPr>
            <a:r>
              <a:rPr lang="en-US" sz="850" dirty="0">
                <a:solidFill>
                  <a:srgbClr val="283246"/>
                </a:solidFill>
                <a:latin typeface="Aptos" pitchFamily="34" charset="0"/>
                <a:ea typeface="Aptos" pitchFamily="34" charset="-122"/>
                <a:cs typeface="Aptos" pitchFamily="34" charset="-120"/>
              </a:rPr>
              <a:t>Retry</a:t>
            </a:r>
            <a:endParaRPr lang="en-US" sz="850" dirty="0"/>
          </a:p>
          <a:p>
            <a:pPr indent="0" marL="0">
              <a:buNone/>
            </a:pPr>
            <a:r>
              <a:rPr lang="en-US" sz="850" dirty="0">
                <a:solidFill>
                  <a:srgbClr val="283246"/>
                </a:solidFill>
                <a:latin typeface="Aptos" pitchFamily="34" charset="0"/>
                <a:ea typeface="Aptos" pitchFamily="34" charset="-122"/>
                <a:cs typeface="Aptos" pitchFamily="34" charset="-120"/>
              </a:rPr>
              <a:t>Scale</a:t>
            </a:r>
            <a:endParaRPr lang="en-US" sz="850" dirty="0"/>
          </a:p>
          <a:p>
            <a:pPr indent="0" marL="0">
              <a:buNone/>
            </a:pPr>
            <a:r>
              <a:rPr lang="en-US" sz="850" dirty="0">
                <a:solidFill>
                  <a:srgbClr val="283246"/>
                </a:solidFill>
                <a:latin typeface="Aptos" pitchFamily="34" charset="0"/>
                <a:ea typeface="Aptos" pitchFamily="34" charset="-122"/>
                <a:cs typeface="Aptos" pitchFamily="34" charset="-120"/>
              </a:rPr>
              <a:t>Log events</a:t>
            </a:r>
            <a:endParaRPr lang="en-US" sz="850" dirty="0"/>
          </a:p>
        </p:txBody>
      </p:sp>
      <p:sp>
        <p:nvSpPr>
          <p:cNvPr id="18" name="Text 16"/>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Current Databricks docs (Sep 2026)</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Expectations — Data Quality Inside the Pipeline</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Validate records continuously and decide what should happen when a rule fails.</a:t>
            </a:r>
            <a:endParaRPr lang="en-US" sz="1100" dirty="0"/>
          </a:p>
        </p:txBody>
      </p:sp>
      <p:sp>
        <p:nvSpPr>
          <p:cNvPr id="4" name="Shape 2"/>
          <p:cNvSpPr/>
          <p:nvPr/>
        </p:nvSpPr>
        <p:spPr>
          <a:xfrm>
            <a:off x="594360" y="1417320"/>
            <a:ext cx="6400800" cy="4160520"/>
          </a:xfrm>
          <a:prstGeom prst="roundRect">
            <a:avLst>
              <a:gd name="adj" fmla="val 1319"/>
            </a:avLst>
          </a:prstGeom>
          <a:solidFill>
            <a:srgbClr val="111827"/>
          </a:solidFill>
          <a:ln w="12700">
            <a:solidFill>
              <a:srgbClr val="111827"/>
            </a:solidFill>
            <a:prstDash val="solid"/>
          </a:ln>
        </p:spPr>
      </p:sp>
      <p:sp>
        <p:nvSpPr>
          <p:cNvPr id="5" name="Text 3"/>
          <p:cNvSpPr/>
          <p:nvPr/>
        </p:nvSpPr>
        <p:spPr>
          <a:xfrm>
            <a:off x="795528" y="1600200"/>
            <a:ext cx="5998464" cy="3813048"/>
          </a:xfrm>
          <a:prstGeom prst="rect">
            <a:avLst/>
          </a:prstGeom>
          <a:noFill/>
          <a:ln/>
        </p:spPr>
        <p:txBody>
          <a:bodyPr wrap="square" lIns="0" tIns="0" rIns="0" bIns="0" rtlCol="0" anchor="ctr">
            <a:normAutofit/>
          </a:bodyPr>
          <a:lstStyle/>
          <a:p>
            <a:pPr indent="0" marL="0">
              <a:buNone/>
            </a:pPr>
            <a:r>
              <a:rPr lang="en-US" sz="990" dirty="0">
                <a:solidFill>
                  <a:srgbClr val="F3F4F6"/>
                </a:solidFill>
                <a:latin typeface="Consolas" pitchFamily="34" charset="0"/>
                <a:ea typeface="Consolas" pitchFamily="34" charset="-122"/>
                <a:cs typeface="Consolas" pitchFamily="34" charset="-120"/>
              </a:rPr>
              <a:t>CREATE OR REFRESH MATERIALIZED VIEW silver_orders</a:t>
            </a:r>
            <a:endParaRPr lang="en-US" sz="990" dirty="0"/>
          </a:p>
          <a:p>
            <a:pPr indent="0" marL="0">
              <a:buNone/>
            </a:pPr>
            <a:r>
              <a:rPr lang="en-US" sz="990" dirty="0">
                <a:solidFill>
                  <a:srgbClr val="F3F4F6"/>
                </a:solidFill>
                <a:latin typeface="Consolas" pitchFamily="34" charset="0"/>
                <a:ea typeface="Consolas" pitchFamily="34" charset="-122"/>
                <a:cs typeface="Consolas" pitchFamily="34" charset="-120"/>
              </a:rPr>
              <a:t>(</a:t>
            </a:r>
            <a:endParaRPr lang="en-US" sz="990" dirty="0"/>
          </a:p>
          <a:p>
            <a:pPr indent="0" marL="0">
              <a:buNone/>
            </a:pPr>
            <a:r>
              <a:rPr lang="en-US" sz="990" dirty="0">
                <a:solidFill>
                  <a:srgbClr val="F3F4F6"/>
                </a:solidFill>
                <a:latin typeface="Consolas" pitchFamily="34" charset="0"/>
                <a:ea typeface="Consolas" pitchFamily="34" charset="-122"/>
                <a:cs typeface="Consolas" pitchFamily="34" charset="-120"/>
              </a:rPr>
              <a:t>  CONSTRAINT valid_id EXPECT (OrderID IS NOT NULL) ON VIOLATION FAIL UPDATE,</a:t>
            </a:r>
            <a:endParaRPr lang="en-US" sz="990" dirty="0"/>
          </a:p>
          <a:p>
            <a:pPr indent="0" marL="0">
              <a:buNone/>
            </a:pPr>
            <a:r>
              <a:rPr lang="en-US" sz="990" dirty="0">
                <a:solidFill>
                  <a:srgbClr val="F3F4F6"/>
                </a:solidFill>
                <a:latin typeface="Consolas" pitchFamily="34" charset="0"/>
                <a:ea typeface="Consolas" pitchFamily="34" charset="-122"/>
                <a:cs typeface="Consolas" pitchFamily="34" charset="-120"/>
              </a:rPr>
              <a:t>  CONSTRAINT valid_qty EXPECT (Quantity &gt; 0) ON VIOLATION DROP ROW</a:t>
            </a:r>
            <a:endParaRPr lang="en-US" sz="990" dirty="0"/>
          </a:p>
          <a:p>
            <a:pPr indent="0" marL="0">
              <a:buNone/>
            </a:pPr>
            <a:r>
              <a:rPr lang="en-US" sz="990" dirty="0">
                <a:solidFill>
                  <a:srgbClr val="F3F4F6"/>
                </a:solidFill>
                <a:latin typeface="Consolas" pitchFamily="34" charset="0"/>
                <a:ea typeface="Consolas" pitchFamily="34" charset="-122"/>
                <a:cs typeface="Consolas" pitchFamily="34" charset="-120"/>
              </a:rPr>
              <a:t>)</a:t>
            </a:r>
            <a:endParaRPr lang="en-US" sz="990" dirty="0"/>
          </a:p>
          <a:p>
            <a:pPr indent="0" marL="0">
              <a:buNone/>
            </a:pPr>
            <a:r>
              <a:rPr lang="en-US" sz="990" dirty="0">
                <a:solidFill>
                  <a:srgbClr val="F3F4F6"/>
                </a:solidFill>
                <a:latin typeface="Consolas" pitchFamily="34" charset="0"/>
                <a:ea typeface="Consolas" pitchFamily="34" charset="-122"/>
                <a:cs typeface="Consolas" pitchFamily="34" charset="-120"/>
              </a:rPr>
              <a:t>AS SELECT * FROM bronze_orders;</a:t>
            </a:r>
            <a:endParaRPr lang="en-US" sz="990" dirty="0"/>
          </a:p>
        </p:txBody>
      </p:sp>
      <p:sp>
        <p:nvSpPr>
          <p:cNvPr id="6" name="Shape 4"/>
          <p:cNvSpPr/>
          <p:nvPr/>
        </p:nvSpPr>
        <p:spPr>
          <a:xfrm>
            <a:off x="7360920" y="1508760"/>
            <a:ext cx="3931920" cy="987552"/>
          </a:xfrm>
          <a:prstGeom prst="roundRect">
            <a:avLst>
              <a:gd name="adj" fmla="val 6481"/>
            </a:avLst>
          </a:prstGeom>
          <a:solidFill>
            <a:srgbClr val="FFFFFF"/>
          </a:solidFill>
          <a:ln w="12700">
            <a:solidFill>
              <a:srgbClr val="DDE2EA"/>
            </a:solidFill>
            <a:prstDash val="solid"/>
          </a:ln>
        </p:spPr>
      </p:sp>
      <p:sp>
        <p:nvSpPr>
          <p:cNvPr id="7" name="Shape 5"/>
          <p:cNvSpPr/>
          <p:nvPr/>
        </p:nvSpPr>
        <p:spPr>
          <a:xfrm>
            <a:off x="7360920" y="1508760"/>
            <a:ext cx="50292" cy="987552"/>
          </a:xfrm>
          <a:prstGeom prst="rect">
            <a:avLst/>
          </a:prstGeom>
          <a:solidFill>
            <a:srgbClr val="3B6FF5"/>
          </a:solidFill>
          <a:ln w="12700">
            <a:solidFill>
              <a:srgbClr val="3B6FF5"/>
            </a:solidFill>
            <a:prstDash val="solid"/>
          </a:ln>
        </p:spPr>
      </p:sp>
      <p:sp>
        <p:nvSpPr>
          <p:cNvPr id="8" name="Text 6"/>
          <p:cNvSpPr/>
          <p:nvPr/>
        </p:nvSpPr>
        <p:spPr>
          <a:xfrm>
            <a:off x="7562088" y="1728216"/>
            <a:ext cx="356616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WARN / track</a:t>
            </a:r>
            <a:endParaRPr lang="en-US" sz="1250" dirty="0"/>
          </a:p>
        </p:txBody>
      </p:sp>
      <p:sp>
        <p:nvSpPr>
          <p:cNvPr id="9" name="Text 7"/>
          <p:cNvSpPr/>
          <p:nvPr/>
        </p:nvSpPr>
        <p:spPr>
          <a:xfrm>
            <a:off x="7562088" y="2167128"/>
            <a:ext cx="3547872" cy="164592"/>
          </a:xfrm>
          <a:prstGeom prst="rect">
            <a:avLst/>
          </a:prstGeom>
          <a:noFill/>
          <a:ln/>
        </p:spPr>
        <p:txBody>
          <a:bodyPr wrap="square" lIns="254" tIns="254" rIns="254" bIns="254" rtlCol="0" anchor="t">
            <a:normAutofit/>
          </a:bodyPr>
          <a:lstStyle/>
          <a:p>
            <a:pPr indent="0" marL="0">
              <a:buNone/>
            </a:pPr>
            <a:r>
              <a:rPr lang="en-US" sz="870" dirty="0">
                <a:solidFill>
                  <a:srgbClr val="283246"/>
                </a:solidFill>
                <a:latin typeface="Aptos" pitchFamily="34" charset="0"/>
                <a:ea typeface="Aptos" pitchFamily="34" charset="-122"/>
                <a:cs typeface="Aptos" pitchFamily="34" charset="-120"/>
              </a:rPr>
              <a:t>Keep the row but expose the quality signal.</a:t>
            </a:r>
            <a:endParaRPr lang="en-US" sz="870" dirty="0"/>
          </a:p>
        </p:txBody>
      </p:sp>
      <p:sp>
        <p:nvSpPr>
          <p:cNvPr id="10" name="Shape 8"/>
          <p:cNvSpPr/>
          <p:nvPr/>
        </p:nvSpPr>
        <p:spPr>
          <a:xfrm>
            <a:off x="7360920" y="2724912"/>
            <a:ext cx="3931920" cy="987552"/>
          </a:xfrm>
          <a:prstGeom prst="roundRect">
            <a:avLst>
              <a:gd name="adj" fmla="val 6481"/>
            </a:avLst>
          </a:prstGeom>
          <a:solidFill>
            <a:srgbClr val="FFFFFF"/>
          </a:solidFill>
          <a:ln w="12700">
            <a:solidFill>
              <a:srgbClr val="DDE2EA"/>
            </a:solidFill>
            <a:prstDash val="solid"/>
          </a:ln>
        </p:spPr>
      </p:sp>
      <p:sp>
        <p:nvSpPr>
          <p:cNvPr id="11" name="Shape 9"/>
          <p:cNvSpPr/>
          <p:nvPr/>
        </p:nvSpPr>
        <p:spPr>
          <a:xfrm>
            <a:off x="7360920" y="2724912"/>
            <a:ext cx="50292" cy="987552"/>
          </a:xfrm>
          <a:prstGeom prst="rect">
            <a:avLst/>
          </a:prstGeom>
          <a:solidFill>
            <a:srgbClr val="F3A712"/>
          </a:solidFill>
          <a:ln w="12700">
            <a:solidFill>
              <a:srgbClr val="F3A712"/>
            </a:solidFill>
            <a:prstDash val="solid"/>
          </a:ln>
        </p:spPr>
      </p:sp>
      <p:sp>
        <p:nvSpPr>
          <p:cNvPr id="12" name="Text 10"/>
          <p:cNvSpPr/>
          <p:nvPr/>
        </p:nvSpPr>
        <p:spPr>
          <a:xfrm>
            <a:off x="7562088" y="2944368"/>
            <a:ext cx="356616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DROP ROW</a:t>
            </a:r>
            <a:endParaRPr lang="en-US" sz="1250" dirty="0"/>
          </a:p>
        </p:txBody>
      </p:sp>
      <p:sp>
        <p:nvSpPr>
          <p:cNvPr id="13" name="Text 11"/>
          <p:cNvSpPr/>
          <p:nvPr/>
        </p:nvSpPr>
        <p:spPr>
          <a:xfrm>
            <a:off x="7562088" y="3383280"/>
            <a:ext cx="3547872" cy="164592"/>
          </a:xfrm>
          <a:prstGeom prst="rect">
            <a:avLst/>
          </a:prstGeom>
          <a:noFill/>
          <a:ln/>
        </p:spPr>
        <p:txBody>
          <a:bodyPr wrap="square" lIns="254" tIns="254" rIns="254" bIns="254" rtlCol="0" anchor="t">
            <a:normAutofit/>
          </a:bodyPr>
          <a:lstStyle/>
          <a:p>
            <a:pPr indent="0" marL="0">
              <a:buNone/>
            </a:pPr>
            <a:r>
              <a:rPr lang="en-US" sz="870" dirty="0">
                <a:solidFill>
                  <a:srgbClr val="283246"/>
                </a:solidFill>
                <a:latin typeface="Aptos" pitchFamily="34" charset="0"/>
                <a:ea typeface="Aptos" pitchFamily="34" charset="-122"/>
                <a:cs typeface="Aptos" pitchFamily="34" charset="-120"/>
              </a:rPr>
              <a:t>Reject invalid records when loss is acceptable and monitored.</a:t>
            </a:r>
            <a:endParaRPr lang="en-US" sz="870" dirty="0"/>
          </a:p>
        </p:txBody>
      </p:sp>
      <p:sp>
        <p:nvSpPr>
          <p:cNvPr id="14" name="Shape 12"/>
          <p:cNvSpPr/>
          <p:nvPr/>
        </p:nvSpPr>
        <p:spPr>
          <a:xfrm>
            <a:off x="7360920" y="3941064"/>
            <a:ext cx="3931920" cy="987552"/>
          </a:xfrm>
          <a:prstGeom prst="roundRect">
            <a:avLst>
              <a:gd name="adj" fmla="val 6481"/>
            </a:avLst>
          </a:prstGeom>
          <a:solidFill>
            <a:srgbClr val="FFFFFF"/>
          </a:solidFill>
          <a:ln w="12700">
            <a:solidFill>
              <a:srgbClr val="DDE2EA"/>
            </a:solidFill>
            <a:prstDash val="solid"/>
          </a:ln>
        </p:spPr>
      </p:sp>
      <p:sp>
        <p:nvSpPr>
          <p:cNvPr id="15" name="Shape 13"/>
          <p:cNvSpPr/>
          <p:nvPr/>
        </p:nvSpPr>
        <p:spPr>
          <a:xfrm>
            <a:off x="7360920" y="3941064"/>
            <a:ext cx="50292" cy="987552"/>
          </a:xfrm>
          <a:prstGeom prst="rect">
            <a:avLst/>
          </a:prstGeom>
          <a:solidFill>
            <a:srgbClr val="FF3621"/>
          </a:solidFill>
          <a:ln w="12700">
            <a:solidFill>
              <a:srgbClr val="FF3621"/>
            </a:solidFill>
            <a:prstDash val="solid"/>
          </a:ln>
        </p:spPr>
      </p:sp>
      <p:sp>
        <p:nvSpPr>
          <p:cNvPr id="16" name="Text 14"/>
          <p:cNvSpPr/>
          <p:nvPr/>
        </p:nvSpPr>
        <p:spPr>
          <a:xfrm>
            <a:off x="7562088" y="4160520"/>
            <a:ext cx="3566160" cy="347472"/>
          </a:xfrm>
          <a:prstGeom prst="rect">
            <a:avLst/>
          </a:prstGeom>
          <a:noFill/>
          <a:ln/>
        </p:spPr>
        <p:txBody>
          <a:bodyPr wrap="square" lIns="0" tIns="0" rIns="0" bIns="0" rtlCol="0" anchor="ctr">
            <a:normAutofit/>
          </a:bodyPr>
          <a:lstStyle/>
          <a:p>
            <a:pPr indent="0" marL="0">
              <a:buNone/>
            </a:pPr>
            <a:r>
              <a:rPr lang="en-US" sz="1250" b="1" dirty="0">
                <a:solidFill>
                  <a:srgbClr val="17233C"/>
                </a:solidFill>
                <a:latin typeface="Aptos Display" pitchFamily="34" charset="0"/>
                <a:ea typeface="Aptos Display" pitchFamily="34" charset="-122"/>
                <a:cs typeface="Aptos Display" pitchFamily="34" charset="-120"/>
              </a:rPr>
              <a:t>FAIL UPDATE</a:t>
            </a:r>
            <a:endParaRPr lang="en-US" sz="1250" dirty="0"/>
          </a:p>
        </p:txBody>
      </p:sp>
      <p:sp>
        <p:nvSpPr>
          <p:cNvPr id="17" name="Text 15"/>
          <p:cNvSpPr/>
          <p:nvPr/>
        </p:nvSpPr>
        <p:spPr>
          <a:xfrm>
            <a:off x="7562088" y="4599432"/>
            <a:ext cx="3547872" cy="164592"/>
          </a:xfrm>
          <a:prstGeom prst="rect">
            <a:avLst/>
          </a:prstGeom>
          <a:noFill/>
          <a:ln/>
        </p:spPr>
        <p:txBody>
          <a:bodyPr wrap="square" lIns="254" tIns="254" rIns="254" bIns="254" rtlCol="0" anchor="t">
            <a:normAutofit/>
          </a:bodyPr>
          <a:lstStyle/>
          <a:p>
            <a:pPr indent="0" marL="0">
              <a:buNone/>
            </a:pPr>
            <a:r>
              <a:rPr lang="en-US" sz="870" dirty="0">
                <a:solidFill>
                  <a:srgbClr val="283246"/>
                </a:solidFill>
                <a:latin typeface="Aptos" pitchFamily="34" charset="0"/>
                <a:ea typeface="Aptos" pitchFamily="34" charset="-122"/>
                <a:cs typeface="Aptos" pitchFamily="34" charset="-120"/>
              </a:rPr>
              <a:t>Stop the flow for critical integrity violations.</a:t>
            </a:r>
            <a:endParaRPr lang="en-US" sz="870" dirty="0"/>
          </a:p>
        </p:txBody>
      </p:sp>
      <p:sp>
        <p:nvSpPr>
          <p:cNvPr id="18" name="Shape 16"/>
          <p:cNvSpPr/>
          <p:nvPr/>
        </p:nvSpPr>
        <p:spPr>
          <a:xfrm>
            <a:off x="7360920" y="5166360"/>
            <a:ext cx="3931920" cy="493776"/>
          </a:xfrm>
          <a:prstGeom prst="roundRect">
            <a:avLst>
              <a:gd name="adj" fmla="val 11111"/>
            </a:avLst>
          </a:prstGeom>
          <a:solidFill>
            <a:srgbClr val="ECF8F3"/>
          </a:solidFill>
          <a:ln w="12700">
            <a:solidFill>
              <a:srgbClr val="ECF8F3"/>
            </a:solidFill>
            <a:prstDash val="solid"/>
          </a:ln>
        </p:spPr>
      </p:sp>
      <p:sp>
        <p:nvSpPr>
          <p:cNvPr id="19" name="Text 17"/>
          <p:cNvSpPr/>
          <p:nvPr/>
        </p:nvSpPr>
        <p:spPr>
          <a:xfrm>
            <a:off x="7525512" y="5285232"/>
            <a:ext cx="3602736" cy="265176"/>
          </a:xfrm>
          <a:prstGeom prst="rect">
            <a:avLst/>
          </a:prstGeom>
          <a:noFill/>
          <a:ln/>
        </p:spPr>
        <p:txBody>
          <a:bodyPr wrap="square" lIns="0" tIns="0" rIns="0" bIns="0" rtlCol="0" anchor="ctr">
            <a:normAutofit/>
          </a:bodyPr>
          <a:lstStyle/>
          <a:p>
            <a:pPr indent="0" marL="0">
              <a:buNone/>
            </a:pPr>
            <a:r>
              <a:rPr lang="en-US" sz="1100" b="1" dirty="0">
                <a:solidFill>
                  <a:srgbClr val="00A972"/>
                </a:solidFill>
                <a:latin typeface="Aptos" pitchFamily="34" charset="0"/>
                <a:ea typeface="Aptos" pitchFamily="34" charset="-122"/>
                <a:cs typeface="Aptos" pitchFamily="34" charset="-120"/>
              </a:rPr>
              <a:t>Production rule: pair expectations with an explicit quarantine / remediation strategy where needed.</a:t>
            </a:r>
            <a:endParaRPr lang="en-US" sz="1100" dirty="0"/>
          </a:p>
        </p:txBody>
      </p:sp>
      <p:sp>
        <p:nvSpPr>
          <p:cNvPr id="20" name="Text 18"/>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Databricks docs (Sep 2026)</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AUTO CDC and Slowly Changing Dimensions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Declarative CDC removes much of the procedural logic around ordering, updates, deletes and history.</a:t>
            </a:r>
            <a:endParaRPr lang="en-US" sz="1100" dirty="0"/>
          </a:p>
        </p:txBody>
      </p:sp>
      <p:sp>
        <p:nvSpPr>
          <p:cNvPr id="4" name="Shape 2"/>
          <p:cNvSpPr/>
          <p:nvPr/>
        </p:nvSpPr>
        <p:spPr>
          <a:xfrm>
            <a:off x="594360" y="1417320"/>
            <a:ext cx="5989320" cy="4160520"/>
          </a:xfrm>
          <a:prstGeom prst="roundRect">
            <a:avLst>
              <a:gd name="adj" fmla="val 1319"/>
            </a:avLst>
          </a:prstGeom>
          <a:solidFill>
            <a:srgbClr val="111827"/>
          </a:solidFill>
          <a:ln w="12700">
            <a:solidFill>
              <a:srgbClr val="111827"/>
            </a:solidFill>
            <a:prstDash val="solid"/>
          </a:ln>
        </p:spPr>
      </p:sp>
      <p:sp>
        <p:nvSpPr>
          <p:cNvPr id="5" name="Text 3"/>
          <p:cNvSpPr/>
          <p:nvPr/>
        </p:nvSpPr>
        <p:spPr>
          <a:xfrm>
            <a:off x="795528" y="1600200"/>
            <a:ext cx="5586984" cy="3813048"/>
          </a:xfrm>
          <a:prstGeom prst="rect">
            <a:avLst/>
          </a:prstGeom>
          <a:noFill/>
          <a:ln/>
        </p:spPr>
        <p:txBody>
          <a:bodyPr wrap="square" lIns="0" tIns="0" rIns="0" bIns="0" rtlCol="0" anchor="ctr">
            <a:normAutofit/>
          </a:bodyPr>
          <a:lstStyle/>
          <a:p>
            <a:pPr indent="0" marL="0">
              <a:buNone/>
            </a:pPr>
            <a:r>
              <a:rPr lang="en-US" sz="1030" dirty="0">
                <a:solidFill>
                  <a:srgbClr val="F3F4F6"/>
                </a:solidFill>
                <a:latin typeface="Consolas" pitchFamily="34" charset="0"/>
                <a:ea typeface="Consolas" pitchFamily="34" charset="-122"/>
                <a:cs typeface="Consolas" pitchFamily="34" charset="-120"/>
              </a:rPr>
              <a:t>CREATE OR REFRESH STREAMING TABLE dim_customer;</a:t>
            </a:r>
            <a:endParaRPr lang="en-US" sz="1030" dirty="0"/>
          </a:p>
          <a:p>
            <a:pPr indent="0" marL="0">
              <a:buNone/>
            </a:pPr>
            <a:endParaRPr lang="en-US" sz="1030" dirty="0"/>
          </a:p>
          <a:p>
            <a:pPr indent="0" marL="0">
              <a:buNone/>
            </a:pPr>
            <a:r>
              <a:rPr lang="en-US" sz="1030" dirty="0">
                <a:solidFill>
                  <a:srgbClr val="F3F4F6"/>
                </a:solidFill>
                <a:latin typeface="Consolas" pitchFamily="34" charset="0"/>
                <a:ea typeface="Consolas" pitchFamily="34" charset="-122"/>
                <a:cs typeface="Consolas" pitchFamily="34" charset="-120"/>
              </a:rPr>
              <a:t>CREATE FLOW customer_cdc AS</a:t>
            </a:r>
            <a:endParaRPr lang="en-US" sz="1030" dirty="0"/>
          </a:p>
          <a:p>
            <a:pPr indent="0" marL="0">
              <a:buNone/>
            </a:pPr>
            <a:r>
              <a:rPr lang="en-US" sz="1030" dirty="0">
                <a:solidFill>
                  <a:srgbClr val="F3F4F6"/>
                </a:solidFill>
                <a:latin typeface="Consolas" pitchFamily="34" charset="0"/>
                <a:ea typeface="Consolas" pitchFamily="34" charset="-122"/>
                <a:cs typeface="Consolas" pitchFamily="34" charset="-120"/>
              </a:rPr>
              <a:t>AUTO CDC INTO dim_customer</a:t>
            </a:r>
            <a:endParaRPr lang="en-US" sz="1030" dirty="0"/>
          </a:p>
          <a:p>
            <a:pPr indent="0" marL="0">
              <a:buNone/>
            </a:pPr>
            <a:r>
              <a:rPr lang="en-US" sz="1030" dirty="0">
                <a:solidFill>
                  <a:srgbClr val="F3F4F6"/>
                </a:solidFill>
                <a:latin typeface="Consolas" pitchFamily="34" charset="0"/>
                <a:ea typeface="Consolas" pitchFamily="34" charset="-122"/>
                <a:cs typeface="Consolas" pitchFamily="34" charset="-120"/>
              </a:rPr>
              <a:t>FROM stream(customer_changes)</a:t>
            </a:r>
            <a:endParaRPr lang="en-US" sz="1030" dirty="0"/>
          </a:p>
          <a:p>
            <a:pPr indent="0" marL="0">
              <a:buNone/>
            </a:pPr>
            <a:r>
              <a:rPr lang="en-US" sz="1030" dirty="0">
                <a:solidFill>
                  <a:srgbClr val="F3F4F6"/>
                </a:solidFill>
                <a:latin typeface="Consolas" pitchFamily="34" charset="0"/>
                <a:ea typeface="Consolas" pitchFamily="34" charset="-122"/>
                <a:cs typeface="Consolas" pitchFamily="34" charset="-120"/>
              </a:rPr>
              <a:t>KEYS (CustomerID)</a:t>
            </a:r>
            <a:endParaRPr lang="en-US" sz="1030" dirty="0"/>
          </a:p>
          <a:p>
            <a:pPr indent="0" marL="0">
              <a:buNone/>
            </a:pPr>
            <a:r>
              <a:rPr lang="en-US" sz="1030" dirty="0">
                <a:solidFill>
                  <a:srgbClr val="F3F4F6"/>
                </a:solidFill>
                <a:latin typeface="Consolas" pitchFamily="34" charset="0"/>
                <a:ea typeface="Consolas" pitchFamily="34" charset="-122"/>
                <a:cs typeface="Consolas" pitchFamily="34" charset="-120"/>
              </a:rPr>
              <a:t>SEQUENCE BY sequence_num</a:t>
            </a:r>
            <a:endParaRPr lang="en-US" sz="1030" dirty="0"/>
          </a:p>
          <a:p>
            <a:pPr indent="0" marL="0">
              <a:buNone/>
            </a:pPr>
            <a:r>
              <a:rPr lang="en-US" sz="1030" dirty="0">
                <a:solidFill>
                  <a:srgbClr val="F3F4F6"/>
                </a:solidFill>
                <a:latin typeface="Consolas" pitchFamily="34" charset="0"/>
                <a:ea typeface="Consolas" pitchFamily="34" charset="-122"/>
                <a:cs typeface="Consolas" pitchFamily="34" charset="-120"/>
              </a:rPr>
              <a:t>STORED AS SCD TYPE 2;</a:t>
            </a:r>
            <a:endParaRPr lang="en-US" sz="1030" dirty="0"/>
          </a:p>
        </p:txBody>
      </p:sp>
      <p:sp>
        <p:nvSpPr>
          <p:cNvPr id="6" name="Shape 4"/>
          <p:cNvSpPr/>
          <p:nvPr/>
        </p:nvSpPr>
        <p:spPr>
          <a:xfrm>
            <a:off x="6903720" y="1417320"/>
            <a:ext cx="4389120" cy="1051560"/>
          </a:xfrm>
          <a:prstGeom prst="roundRect">
            <a:avLst>
              <a:gd name="adj" fmla="val 6087"/>
            </a:avLst>
          </a:prstGeom>
          <a:solidFill>
            <a:srgbClr val="FFFFFF"/>
          </a:solidFill>
          <a:ln w="12700">
            <a:solidFill>
              <a:srgbClr val="DDE2EA"/>
            </a:solidFill>
            <a:prstDash val="solid"/>
          </a:ln>
        </p:spPr>
      </p:sp>
      <p:sp>
        <p:nvSpPr>
          <p:cNvPr id="7" name="Shape 5"/>
          <p:cNvSpPr/>
          <p:nvPr/>
        </p:nvSpPr>
        <p:spPr>
          <a:xfrm>
            <a:off x="6903720" y="1417320"/>
            <a:ext cx="50292" cy="1051560"/>
          </a:xfrm>
          <a:prstGeom prst="rect">
            <a:avLst/>
          </a:prstGeom>
          <a:solidFill>
            <a:srgbClr val="3B6FF5"/>
          </a:solidFill>
          <a:ln w="12700">
            <a:solidFill>
              <a:srgbClr val="3B6FF5"/>
            </a:solidFill>
            <a:prstDash val="solid"/>
          </a:ln>
        </p:spPr>
      </p:sp>
      <p:sp>
        <p:nvSpPr>
          <p:cNvPr id="8" name="Text 6"/>
          <p:cNvSpPr/>
          <p:nvPr/>
        </p:nvSpPr>
        <p:spPr>
          <a:xfrm>
            <a:off x="7104888" y="1636776"/>
            <a:ext cx="402336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SCD Type 1</a:t>
            </a:r>
            <a:endParaRPr lang="en-US" sz="1300" dirty="0"/>
          </a:p>
        </p:txBody>
      </p:sp>
      <p:sp>
        <p:nvSpPr>
          <p:cNvPr id="9" name="Text 7"/>
          <p:cNvSpPr/>
          <p:nvPr/>
        </p:nvSpPr>
        <p:spPr>
          <a:xfrm>
            <a:off x="7104888" y="2075688"/>
            <a:ext cx="4005072" cy="228600"/>
          </a:xfrm>
          <a:prstGeom prst="rect">
            <a:avLst/>
          </a:prstGeom>
          <a:noFill/>
          <a:ln/>
        </p:spPr>
        <p:txBody>
          <a:bodyPr wrap="square" lIns="254" tIns="254" rIns="254" bIns="254" rtlCol="0" anchor="t">
            <a:normAutofit/>
          </a:bodyPr>
          <a:lstStyle/>
          <a:p>
            <a:pPr indent="0" marL="0">
              <a:buNone/>
            </a:pPr>
            <a:r>
              <a:rPr lang="en-US" sz="900" dirty="0">
                <a:solidFill>
                  <a:srgbClr val="283246"/>
                </a:solidFill>
                <a:latin typeface="Aptos" pitchFamily="34" charset="0"/>
                <a:ea typeface="Aptos" pitchFamily="34" charset="-122"/>
                <a:cs typeface="Aptos" pitchFamily="34" charset="-120"/>
              </a:rPr>
              <a:t>Keep only the latest state. New values overwrite old values.</a:t>
            </a:r>
            <a:endParaRPr lang="en-US" sz="900" dirty="0"/>
          </a:p>
        </p:txBody>
      </p:sp>
      <p:sp>
        <p:nvSpPr>
          <p:cNvPr id="10" name="Shape 8"/>
          <p:cNvSpPr/>
          <p:nvPr/>
        </p:nvSpPr>
        <p:spPr>
          <a:xfrm>
            <a:off x="6903720" y="2697480"/>
            <a:ext cx="4389120" cy="1051560"/>
          </a:xfrm>
          <a:prstGeom prst="roundRect">
            <a:avLst>
              <a:gd name="adj" fmla="val 6087"/>
            </a:avLst>
          </a:prstGeom>
          <a:solidFill>
            <a:srgbClr val="FFFFFF"/>
          </a:solidFill>
          <a:ln w="12700">
            <a:solidFill>
              <a:srgbClr val="DDE2EA"/>
            </a:solidFill>
            <a:prstDash val="solid"/>
          </a:ln>
        </p:spPr>
      </p:sp>
      <p:sp>
        <p:nvSpPr>
          <p:cNvPr id="11" name="Shape 9"/>
          <p:cNvSpPr/>
          <p:nvPr/>
        </p:nvSpPr>
        <p:spPr>
          <a:xfrm>
            <a:off x="6903720" y="2697480"/>
            <a:ext cx="50292" cy="1051560"/>
          </a:xfrm>
          <a:prstGeom prst="rect">
            <a:avLst/>
          </a:prstGeom>
          <a:solidFill>
            <a:srgbClr val="7C4DFF"/>
          </a:solidFill>
          <a:ln w="12700">
            <a:solidFill>
              <a:srgbClr val="7C4DFF"/>
            </a:solidFill>
            <a:prstDash val="solid"/>
          </a:ln>
        </p:spPr>
      </p:sp>
      <p:sp>
        <p:nvSpPr>
          <p:cNvPr id="12" name="Text 10"/>
          <p:cNvSpPr/>
          <p:nvPr/>
        </p:nvSpPr>
        <p:spPr>
          <a:xfrm>
            <a:off x="7104888" y="2916936"/>
            <a:ext cx="402336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SCD Type 2</a:t>
            </a:r>
            <a:endParaRPr lang="en-US" sz="1300" dirty="0"/>
          </a:p>
        </p:txBody>
      </p:sp>
      <p:sp>
        <p:nvSpPr>
          <p:cNvPr id="13" name="Text 11"/>
          <p:cNvSpPr/>
          <p:nvPr/>
        </p:nvSpPr>
        <p:spPr>
          <a:xfrm>
            <a:off x="7104888" y="3355848"/>
            <a:ext cx="4005072" cy="228600"/>
          </a:xfrm>
          <a:prstGeom prst="rect">
            <a:avLst/>
          </a:prstGeom>
          <a:noFill/>
          <a:ln/>
        </p:spPr>
        <p:txBody>
          <a:bodyPr wrap="square" lIns="254" tIns="254" rIns="254" bIns="254" rtlCol="0" anchor="t">
            <a:normAutofit/>
          </a:bodyPr>
          <a:lstStyle/>
          <a:p>
            <a:pPr indent="0" marL="0">
              <a:buNone/>
            </a:pPr>
            <a:r>
              <a:rPr lang="en-US" sz="900" dirty="0">
                <a:solidFill>
                  <a:srgbClr val="283246"/>
                </a:solidFill>
                <a:latin typeface="Aptos" pitchFamily="34" charset="0"/>
                <a:ea typeface="Aptos" pitchFamily="34" charset="-122"/>
                <a:cs typeface="Aptos" pitchFamily="34" charset="-120"/>
              </a:rPr>
              <a:t>Keep historical versions so analysts can query the entity “as it was.”</a:t>
            </a:r>
            <a:endParaRPr lang="en-US" sz="900" dirty="0"/>
          </a:p>
        </p:txBody>
      </p:sp>
      <p:sp>
        <p:nvSpPr>
          <p:cNvPr id="14" name="Shape 12"/>
          <p:cNvSpPr/>
          <p:nvPr/>
        </p:nvSpPr>
        <p:spPr>
          <a:xfrm>
            <a:off x="6903720" y="3977640"/>
            <a:ext cx="4389120" cy="1051560"/>
          </a:xfrm>
          <a:prstGeom prst="roundRect">
            <a:avLst>
              <a:gd name="adj" fmla="val 6087"/>
            </a:avLst>
          </a:prstGeom>
          <a:solidFill>
            <a:srgbClr val="FFFFFF"/>
          </a:solidFill>
          <a:ln w="12700">
            <a:solidFill>
              <a:srgbClr val="DDE2EA"/>
            </a:solidFill>
            <a:prstDash val="solid"/>
          </a:ln>
        </p:spPr>
      </p:sp>
      <p:sp>
        <p:nvSpPr>
          <p:cNvPr id="15" name="Shape 13"/>
          <p:cNvSpPr/>
          <p:nvPr/>
        </p:nvSpPr>
        <p:spPr>
          <a:xfrm>
            <a:off x="6903720" y="3977640"/>
            <a:ext cx="50292" cy="1051560"/>
          </a:xfrm>
          <a:prstGeom prst="rect">
            <a:avLst/>
          </a:prstGeom>
          <a:solidFill>
            <a:srgbClr val="FF3621"/>
          </a:solidFill>
          <a:ln w="12700">
            <a:solidFill>
              <a:srgbClr val="FF3621"/>
            </a:solidFill>
            <a:prstDash val="solid"/>
          </a:ln>
        </p:spPr>
      </p:sp>
      <p:sp>
        <p:nvSpPr>
          <p:cNvPr id="16" name="Text 14"/>
          <p:cNvSpPr/>
          <p:nvPr/>
        </p:nvSpPr>
        <p:spPr>
          <a:xfrm>
            <a:off x="7104888" y="4197096"/>
            <a:ext cx="4023360" cy="347472"/>
          </a:xfrm>
          <a:prstGeom prst="rect">
            <a:avLst/>
          </a:prstGeom>
          <a:noFill/>
          <a:ln/>
        </p:spPr>
        <p:txBody>
          <a:bodyPr wrap="square" lIns="0" tIns="0" rIns="0" bIns="0" rtlCol="0" anchor="ctr">
            <a:normAutofit/>
          </a:bodyPr>
          <a:lstStyle/>
          <a:p>
            <a:pPr indent="0" marL="0">
              <a:buNone/>
            </a:pPr>
            <a:r>
              <a:rPr lang="en-US" sz="1300" b="1" dirty="0">
                <a:solidFill>
                  <a:srgbClr val="17233C"/>
                </a:solidFill>
                <a:latin typeface="Aptos Display" pitchFamily="34" charset="0"/>
                <a:ea typeface="Aptos Display" pitchFamily="34" charset="-122"/>
                <a:cs typeface="Aptos Display" pitchFamily="34" charset="-120"/>
              </a:rPr>
              <a:t>AUTO CDC handles</a:t>
            </a:r>
            <a:endParaRPr lang="en-US" sz="1300" dirty="0"/>
          </a:p>
        </p:txBody>
      </p:sp>
      <p:sp>
        <p:nvSpPr>
          <p:cNvPr id="17" name="Text 15"/>
          <p:cNvSpPr/>
          <p:nvPr/>
        </p:nvSpPr>
        <p:spPr>
          <a:xfrm>
            <a:off x="7104888" y="4636008"/>
            <a:ext cx="4005072" cy="228600"/>
          </a:xfrm>
          <a:prstGeom prst="rect">
            <a:avLst/>
          </a:prstGeom>
          <a:noFill/>
          <a:ln/>
        </p:spPr>
        <p:txBody>
          <a:bodyPr wrap="square" lIns="254" tIns="254" rIns="254" bIns="254" rtlCol="0" anchor="t">
            <a:normAutofit/>
          </a:bodyPr>
          <a:lstStyle/>
          <a:p>
            <a:pPr indent="0" marL="0">
              <a:buNone/>
            </a:pPr>
            <a:r>
              <a:rPr lang="en-US" sz="900" dirty="0">
                <a:solidFill>
                  <a:srgbClr val="283246"/>
                </a:solidFill>
                <a:latin typeface="Aptos" pitchFamily="34" charset="0"/>
                <a:ea typeface="Aptos" pitchFamily="34" charset="-122"/>
                <a:cs typeface="Aptos" pitchFamily="34" charset="-120"/>
              </a:rPr>
              <a:t>Ordering, deduplication, out-of-order events and schema evolution patterns.</a:t>
            </a:r>
            <a:endParaRPr lang="en-US" sz="900" dirty="0"/>
          </a:p>
        </p:txBody>
      </p:sp>
      <p:sp>
        <p:nvSpPr>
          <p:cNvPr id="18" name="Shape 16"/>
          <p:cNvSpPr/>
          <p:nvPr/>
        </p:nvSpPr>
        <p:spPr>
          <a:xfrm>
            <a:off x="6903720" y="5257800"/>
            <a:ext cx="4389120" cy="475488"/>
          </a:xfrm>
          <a:prstGeom prst="roundRect">
            <a:avLst>
              <a:gd name="adj" fmla="val 11538"/>
            </a:avLst>
          </a:prstGeom>
          <a:solidFill>
            <a:srgbClr val="FFF7E6"/>
          </a:solidFill>
          <a:ln w="12700">
            <a:solidFill>
              <a:srgbClr val="FFF7E6"/>
            </a:solidFill>
            <a:prstDash val="solid"/>
          </a:ln>
        </p:spPr>
      </p:sp>
      <p:sp>
        <p:nvSpPr>
          <p:cNvPr id="19" name="Text 17"/>
          <p:cNvSpPr/>
          <p:nvPr/>
        </p:nvSpPr>
        <p:spPr>
          <a:xfrm>
            <a:off x="7068312" y="5376672"/>
            <a:ext cx="4059936" cy="246888"/>
          </a:xfrm>
          <a:prstGeom prst="rect">
            <a:avLst/>
          </a:prstGeom>
          <a:noFill/>
          <a:ln/>
        </p:spPr>
        <p:txBody>
          <a:bodyPr wrap="square" lIns="0" tIns="0" rIns="0" bIns="0" rtlCol="0" anchor="ctr">
            <a:normAutofit/>
          </a:bodyPr>
          <a:lstStyle/>
          <a:p>
            <a:pPr indent="0" marL="0">
              <a:buNone/>
            </a:pPr>
            <a:r>
              <a:rPr lang="en-US" sz="1100" b="1" dirty="0">
                <a:solidFill>
                  <a:srgbClr val="F3A712"/>
                </a:solidFill>
                <a:latin typeface="Aptos" pitchFamily="34" charset="0"/>
                <a:ea typeface="Aptos" pitchFamily="34" charset="-122"/>
                <a:cs typeface="Aptos" pitchFamily="34" charset="-120"/>
              </a:rPr>
              <a:t>The 2025 guide notes APPLY CHANGES is being superseded by AUTO CDC for new workloads.</a:t>
            </a:r>
            <a:endParaRPr lang="en-US" sz="1100" dirty="0"/>
          </a:p>
        </p:txBody>
      </p:sp>
      <p:sp>
        <p:nvSpPr>
          <p:cNvPr id="20" name="Text 18"/>
          <p:cNvSpPr/>
          <p:nvPr/>
        </p:nvSpPr>
        <p:spPr>
          <a:xfrm>
            <a:off x="7315200" y="6565392"/>
            <a:ext cx="3749040" cy="164592"/>
          </a:xfrm>
          <a:prstGeom prst="rect">
            <a:avLst/>
          </a:prstGeom>
          <a:noFill/>
          <a:ln/>
        </p:spPr>
        <p:txBody>
          <a:bodyPr wrap="square" lIns="0" tIns="0" rIns="0" bIns="0" rtlCol="0" anchor="ctr">
            <a:normAutofit/>
          </a:bodyPr>
          <a:lstStyle/>
          <a:p>
            <a:pPr algn="r" indent="0" marL="0">
              <a:buNone/>
            </a:pPr>
            <a:r>
              <a:rPr lang="en-US" sz="650" dirty="0">
                <a:solidFill>
                  <a:srgbClr val="A2A9B5"/>
                </a:solidFill>
                <a:latin typeface="Aptos" pitchFamily="34" charset="0"/>
                <a:ea typeface="Aptos" pitchFamily="34" charset="-122"/>
                <a:cs typeface="Aptos" pitchFamily="34" charset="-120"/>
              </a:rPr>
              <a:t>Databricks ETL SQL Guide (2025); current docs (2026)</a:t>
            </a:r>
            <a:endParaRPr lang="en-US" sz="65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SmartRetail — End-to-End ETL in Databricks</a:t>
            </a:r>
            <a:endParaRPr lang="en-US" sz="2400" dirty="0"/>
          </a:p>
        </p:txBody>
      </p:sp>
      <p:sp>
        <p:nvSpPr>
          <p:cNvPr id="3" name="Text 1"/>
          <p:cNvSpPr/>
          <p:nvPr/>
        </p:nvSpPr>
        <p:spPr>
          <a:xfrm>
            <a:off x="530352" y="987552"/>
            <a:ext cx="10881360" cy="310896"/>
          </a:xfrm>
          <a:prstGeom prst="rect">
            <a:avLst/>
          </a:prstGeom>
          <a:noFill/>
          <a:ln/>
        </p:spPr>
        <p:txBody>
          <a:bodyPr wrap="square" lIns="0" tIns="0" rIns="0" bIns="0" rtlCol="0" anchor="ctr">
            <a:normAutofit/>
          </a:bodyPr>
          <a:lstStyle/>
          <a:p>
            <a:pPr indent="0" marL="0">
              <a:buNone/>
            </a:pPr>
            <a:r>
              <a:rPr lang="en-US" sz="1100" dirty="0">
                <a:solidFill>
                  <a:srgbClr val="687386"/>
                </a:solidFill>
                <a:latin typeface="Aptos" pitchFamily="34" charset="0"/>
                <a:ea typeface="Aptos" pitchFamily="34" charset="-122"/>
                <a:cs typeface="Aptos" pitchFamily="34" charset="-120"/>
              </a:rPr>
              <a:t>One case study connecting the entire lecture.</a:t>
            </a:r>
            <a:endParaRPr lang="en-US" sz="1100" dirty="0"/>
          </a:p>
        </p:txBody>
      </p:sp>
      <p:sp>
        <p:nvSpPr>
          <p:cNvPr id="4" name="Shape 2"/>
          <p:cNvSpPr/>
          <p:nvPr/>
        </p:nvSpPr>
        <p:spPr>
          <a:xfrm>
            <a:off x="502920" y="1417320"/>
            <a:ext cx="2011680" cy="960120"/>
          </a:xfrm>
          <a:prstGeom prst="roundRect">
            <a:avLst>
              <a:gd name="adj" fmla="val 5714"/>
            </a:avLst>
          </a:prstGeom>
          <a:solidFill>
            <a:srgbClr val="EBF1FE"/>
          </a:solidFill>
          <a:ln w="12700">
            <a:solidFill>
              <a:srgbClr val="3B6FF5"/>
            </a:solidFill>
            <a:prstDash val="solid"/>
          </a:ln>
        </p:spPr>
      </p:sp>
      <p:sp>
        <p:nvSpPr>
          <p:cNvPr id="5" name="Text 3"/>
          <p:cNvSpPr/>
          <p:nvPr/>
        </p:nvSpPr>
        <p:spPr>
          <a:xfrm>
            <a:off x="594360" y="1664208"/>
            <a:ext cx="1828800" cy="201168"/>
          </a:xfrm>
          <a:prstGeom prst="rect">
            <a:avLst/>
          </a:prstGeom>
          <a:noFill/>
          <a:ln/>
        </p:spPr>
        <p:txBody>
          <a:bodyPr wrap="square" lIns="0" tIns="0" rIns="0" bIns="0" rtlCol="0" anchor="ctr"/>
          <a:lstStyle/>
          <a:p>
            <a:pPr algn="ctr" indent="0" marL="0">
              <a:buNone/>
            </a:pPr>
            <a:r>
              <a:rPr lang="en-US" sz="1020" b="1" dirty="0">
                <a:solidFill>
                  <a:srgbClr val="17233C"/>
                </a:solidFill>
                <a:latin typeface="Consolas" pitchFamily="34" charset="0"/>
                <a:ea typeface="Consolas" pitchFamily="34" charset="-122"/>
                <a:cs typeface="Consolas" pitchFamily="34" charset="-120"/>
              </a:rPr>
              <a:t>CSV / API / DB</a:t>
            </a:r>
            <a:endParaRPr lang="en-US" sz="1020" dirty="0"/>
          </a:p>
        </p:txBody>
      </p:sp>
      <p:sp>
        <p:nvSpPr>
          <p:cNvPr id="6" name="Text 4"/>
          <p:cNvSpPr/>
          <p:nvPr/>
        </p:nvSpPr>
        <p:spPr>
          <a:xfrm>
            <a:off x="594360" y="1965960"/>
            <a:ext cx="1828800" cy="182880"/>
          </a:xfrm>
          <a:prstGeom prst="rect">
            <a:avLst/>
          </a:prstGeom>
          <a:noFill/>
          <a:ln/>
        </p:spPr>
        <p:txBody>
          <a:bodyPr wrap="square" lIns="0" tIns="0" rIns="0" bIns="0" rtlCol="0" anchor="ctr"/>
          <a:lstStyle/>
          <a:p>
            <a:pPr algn="ctr" indent="0" marL="0">
              <a:buNone/>
            </a:pPr>
            <a:r>
              <a:rPr lang="en-US" sz="830" dirty="0">
                <a:solidFill>
                  <a:srgbClr val="687386"/>
                </a:solidFill>
                <a:latin typeface="Aptos" pitchFamily="34" charset="0"/>
                <a:ea typeface="Aptos" pitchFamily="34" charset="-122"/>
                <a:cs typeface="Aptos" pitchFamily="34" charset="-120"/>
              </a:rPr>
              <a:t>Sources</a:t>
            </a:r>
            <a:endParaRPr lang="en-US" sz="830" dirty="0"/>
          </a:p>
        </p:txBody>
      </p:sp>
      <p:sp>
        <p:nvSpPr>
          <p:cNvPr id="7" name="Shape 5"/>
          <p:cNvSpPr/>
          <p:nvPr/>
        </p:nvSpPr>
        <p:spPr>
          <a:xfrm>
            <a:off x="2532888" y="1901952"/>
            <a:ext cx="228600" cy="0"/>
          </a:xfrm>
          <a:prstGeom prst="line">
            <a:avLst/>
          </a:prstGeom>
          <a:noFill/>
          <a:ln w="12700">
            <a:solidFill>
              <a:srgbClr val="A0A8B5"/>
            </a:solidFill>
            <a:prstDash val="solid"/>
            <a:headEnd type="none"/>
            <a:tailEnd type="triangle"/>
          </a:ln>
        </p:spPr>
      </p:sp>
      <p:sp>
        <p:nvSpPr>
          <p:cNvPr id="8" name="Shape 6"/>
          <p:cNvSpPr/>
          <p:nvPr/>
        </p:nvSpPr>
        <p:spPr>
          <a:xfrm>
            <a:off x="2834640" y="1417320"/>
            <a:ext cx="2011680" cy="960120"/>
          </a:xfrm>
          <a:prstGeom prst="roundRect">
            <a:avLst>
              <a:gd name="adj" fmla="val 5714"/>
            </a:avLst>
          </a:prstGeom>
          <a:solidFill>
            <a:srgbClr val="FEF6E7"/>
          </a:solidFill>
          <a:ln w="12700">
            <a:solidFill>
              <a:srgbClr val="F3A712"/>
            </a:solidFill>
            <a:prstDash val="solid"/>
          </a:ln>
        </p:spPr>
      </p:sp>
      <p:sp>
        <p:nvSpPr>
          <p:cNvPr id="9" name="Text 7"/>
          <p:cNvSpPr/>
          <p:nvPr/>
        </p:nvSpPr>
        <p:spPr>
          <a:xfrm>
            <a:off x="2926080" y="1664208"/>
            <a:ext cx="1828800" cy="201168"/>
          </a:xfrm>
          <a:prstGeom prst="rect">
            <a:avLst/>
          </a:prstGeom>
          <a:noFill/>
          <a:ln/>
        </p:spPr>
        <p:txBody>
          <a:bodyPr wrap="square" lIns="0" tIns="0" rIns="0" bIns="0" rtlCol="0" anchor="ctr"/>
          <a:lstStyle/>
          <a:p>
            <a:pPr algn="ctr" indent="0" marL="0">
              <a:buNone/>
            </a:pPr>
            <a:r>
              <a:rPr lang="en-US" sz="1020" b="1" dirty="0">
                <a:solidFill>
                  <a:srgbClr val="17233C"/>
                </a:solidFill>
                <a:latin typeface="Consolas" pitchFamily="34" charset="0"/>
                <a:ea typeface="Consolas" pitchFamily="34" charset="-122"/>
                <a:cs typeface="Consolas" pitchFamily="34" charset="-120"/>
              </a:rPr>
              <a:t>bronze_*</a:t>
            </a:r>
            <a:endParaRPr lang="en-US" sz="1020" dirty="0"/>
          </a:p>
        </p:txBody>
      </p:sp>
      <p:sp>
        <p:nvSpPr>
          <p:cNvPr id="10" name="Text 8"/>
          <p:cNvSpPr/>
          <p:nvPr/>
        </p:nvSpPr>
        <p:spPr>
          <a:xfrm>
            <a:off x="2926080" y="1965960"/>
            <a:ext cx="1828800" cy="182880"/>
          </a:xfrm>
          <a:prstGeom prst="rect">
            <a:avLst/>
          </a:prstGeom>
          <a:noFill/>
          <a:ln/>
        </p:spPr>
        <p:txBody>
          <a:bodyPr wrap="square" lIns="0" tIns="0" rIns="0" bIns="0" rtlCol="0" anchor="ctr"/>
          <a:lstStyle/>
          <a:p>
            <a:pPr algn="ctr" indent="0" marL="0">
              <a:buNone/>
            </a:pPr>
            <a:r>
              <a:rPr lang="en-US" sz="830" dirty="0">
                <a:solidFill>
                  <a:srgbClr val="687386"/>
                </a:solidFill>
                <a:latin typeface="Aptos" pitchFamily="34" charset="0"/>
                <a:ea typeface="Aptos" pitchFamily="34" charset="-122"/>
                <a:cs typeface="Aptos" pitchFamily="34" charset="-120"/>
              </a:rPr>
              <a:t>Streaming tables</a:t>
            </a:r>
            <a:endParaRPr lang="en-US" sz="830" dirty="0"/>
          </a:p>
        </p:txBody>
      </p:sp>
      <p:sp>
        <p:nvSpPr>
          <p:cNvPr id="11" name="Shape 9"/>
          <p:cNvSpPr/>
          <p:nvPr/>
        </p:nvSpPr>
        <p:spPr>
          <a:xfrm>
            <a:off x="4864608" y="1901952"/>
            <a:ext cx="228600" cy="0"/>
          </a:xfrm>
          <a:prstGeom prst="line">
            <a:avLst/>
          </a:prstGeom>
          <a:noFill/>
          <a:ln w="12700">
            <a:solidFill>
              <a:srgbClr val="A0A8B5"/>
            </a:solidFill>
            <a:prstDash val="solid"/>
            <a:headEnd type="none"/>
            <a:tailEnd type="triangle"/>
          </a:ln>
        </p:spPr>
      </p:sp>
      <p:sp>
        <p:nvSpPr>
          <p:cNvPr id="12" name="Shape 10"/>
          <p:cNvSpPr/>
          <p:nvPr/>
        </p:nvSpPr>
        <p:spPr>
          <a:xfrm>
            <a:off x="5166360" y="1417320"/>
            <a:ext cx="2011680" cy="960120"/>
          </a:xfrm>
          <a:prstGeom prst="roundRect">
            <a:avLst>
              <a:gd name="adj" fmla="val 5714"/>
            </a:avLst>
          </a:prstGeom>
          <a:solidFill>
            <a:srgbClr val="E6F6F1"/>
          </a:solidFill>
          <a:ln w="12700">
            <a:solidFill>
              <a:srgbClr val="00A972"/>
            </a:solidFill>
            <a:prstDash val="solid"/>
          </a:ln>
        </p:spPr>
      </p:sp>
      <p:sp>
        <p:nvSpPr>
          <p:cNvPr id="13" name="Text 11"/>
          <p:cNvSpPr/>
          <p:nvPr/>
        </p:nvSpPr>
        <p:spPr>
          <a:xfrm>
            <a:off x="5257800" y="1664208"/>
            <a:ext cx="1828800" cy="201168"/>
          </a:xfrm>
          <a:prstGeom prst="rect">
            <a:avLst/>
          </a:prstGeom>
          <a:noFill/>
          <a:ln/>
        </p:spPr>
        <p:txBody>
          <a:bodyPr wrap="square" lIns="0" tIns="0" rIns="0" bIns="0" rtlCol="0" anchor="ctr"/>
          <a:lstStyle/>
          <a:p>
            <a:pPr algn="ctr" indent="0" marL="0">
              <a:buNone/>
            </a:pPr>
            <a:r>
              <a:rPr lang="en-US" sz="1020" b="1" dirty="0">
                <a:solidFill>
                  <a:srgbClr val="17233C"/>
                </a:solidFill>
                <a:latin typeface="Consolas" pitchFamily="34" charset="0"/>
                <a:ea typeface="Consolas" pitchFamily="34" charset="-122"/>
                <a:cs typeface="Consolas" pitchFamily="34" charset="-120"/>
              </a:rPr>
              <a:t>silver_*</a:t>
            </a:r>
            <a:endParaRPr lang="en-US" sz="1020" dirty="0"/>
          </a:p>
        </p:txBody>
      </p:sp>
      <p:sp>
        <p:nvSpPr>
          <p:cNvPr id="14" name="Text 12"/>
          <p:cNvSpPr/>
          <p:nvPr/>
        </p:nvSpPr>
        <p:spPr>
          <a:xfrm>
            <a:off x="5257800" y="1965960"/>
            <a:ext cx="1828800" cy="182880"/>
          </a:xfrm>
          <a:prstGeom prst="rect">
            <a:avLst/>
          </a:prstGeom>
          <a:noFill/>
          <a:ln/>
        </p:spPr>
        <p:txBody>
          <a:bodyPr wrap="square" lIns="0" tIns="0" rIns="0" bIns="0" rtlCol="0" anchor="ctr"/>
          <a:lstStyle/>
          <a:p>
            <a:pPr algn="ctr" indent="0" marL="0">
              <a:buNone/>
            </a:pPr>
            <a:r>
              <a:rPr lang="en-US" sz="830" dirty="0">
                <a:solidFill>
                  <a:srgbClr val="687386"/>
                </a:solidFill>
                <a:latin typeface="Aptos" pitchFamily="34" charset="0"/>
                <a:ea typeface="Aptos" pitchFamily="34" charset="-122"/>
                <a:cs typeface="Aptos" pitchFamily="34" charset="-120"/>
              </a:rPr>
              <a:t>Validated MVs</a:t>
            </a:r>
            <a:endParaRPr lang="en-US" sz="830" dirty="0"/>
          </a:p>
        </p:txBody>
      </p:sp>
      <p:sp>
        <p:nvSpPr>
          <p:cNvPr id="15" name="Shape 13"/>
          <p:cNvSpPr/>
          <p:nvPr/>
        </p:nvSpPr>
        <p:spPr>
          <a:xfrm>
            <a:off x="7196328" y="1901952"/>
            <a:ext cx="228600" cy="0"/>
          </a:xfrm>
          <a:prstGeom prst="line">
            <a:avLst/>
          </a:prstGeom>
          <a:noFill/>
          <a:ln w="12700">
            <a:solidFill>
              <a:srgbClr val="A0A8B5"/>
            </a:solidFill>
            <a:prstDash val="solid"/>
            <a:headEnd type="none"/>
            <a:tailEnd type="triangle"/>
          </a:ln>
        </p:spPr>
      </p:sp>
      <p:sp>
        <p:nvSpPr>
          <p:cNvPr id="16" name="Shape 14"/>
          <p:cNvSpPr/>
          <p:nvPr/>
        </p:nvSpPr>
        <p:spPr>
          <a:xfrm>
            <a:off x="7498080" y="1417320"/>
            <a:ext cx="2011680" cy="960120"/>
          </a:xfrm>
          <a:prstGeom prst="roundRect">
            <a:avLst>
              <a:gd name="adj" fmla="val 5714"/>
            </a:avLst>
          </a:prstGeom>
          <a:solidFill>
            <a:srgbClr val="FFEBE9"/>
          </a:solidFill>
          <a:ln w="12700">
            <a:solidFill>
              <a:srgbClr val="FF3621"/>
            </a:solidFill>
            <a:prstDash val="solid"/>
          </a:ln>
        </p:spPr>
      </p:sp>
      <p:sp>
        <p:nvSpPr>
          <p:cNvPr id="17" name="Text 15"/>
          <p:cNvSpPr/>
          <p:nvPr/>
        </p:nvSpPr>
        <p:spPr>
          <a:xfrm>
            <a:off x="7589520" y="1664208"/>
            <a:ext cx="1828800" cy="201168"/>
          </a:xfrm>
          <a:prstGeom prst="rect">
            <a:avLst/>
          </a:prstGeom>
          <a:noFill/>
          <a:ln/>
        </p:spPr>
        <p:txBody>
          <a:bodyPr wrap="square" lIns="0" tIns="0" rIns="0" bIns="0" rtlCol="0" anchor="ctr"/>
          <a:lstStyle/>
          <a:p>
            <a:pPr algn="ctr" indent="0" marL="0">
              <a:buNone/>
            </a:pPr>
            <a:r>
              <a:rPr lang="en-US" sz="1020" b="1" dirty="0">
                <a:solidFill>
                  <a:srgbClr val="17233C"/>
                </a:solidFill>
                <a:latin typeface="Consolas" pitchFamily="34" charset="0"/>
                <a:ea typeface="Consolas" pitchFamily="34" charset="-122"/>
                <a:cs typeface="Consolas" pitchFamily="34" charset="-120"/>
              </a:rPr>
              <a:t>Fact + Dim</a:t>
            </a:r>
            <a:endParaRPr lang="en-US" sz="1020" dirty="0"/>
          </a:p>
        </p:txBody>
      </p:sp>
      <p:sp>
        <p:nvSpPr>
          <p:cNvPr id="18" name="Text 16"/>
          <p:cNvSpPr/>
          <p:nvPr/>
        </p:nvSpPr>
        <p:spPr>
          <a:xfrm>
            <a:off x="7589520" y="1965960"/>
            <a:ext cx="1828800" cy="182880"/>
          </a:xfrm>
          <a:prstGeom prst="rect">
            <a:avLst/>
          </a:prstGeom>
          <a:noFill/>
          <a:ln/>
        </p:spPr>
        <p:txBody>
          <a:bodyPr wrap="square" lIns="0" tIns="0" rIns="0" bIns="0" rtlCol="0" anchor="ctr"/>
          <a:lstStyle/>
          <a:p>
            <a:pPr algn="ctr" indent="0" marL="0">
              <a:buNone/>
            </a:pPr>
            <a:r>
              <a:rPr lang="en-US" sz="830" dirty="0">
                <a:solidFill>
                  <a:srgbClr val="687386"/>
                </a:solidFill>
                <a:latin typeface="Aptos" pitchFamily="34" charset="0"/>
                <a:ea typeface="Aptos" pitchFamily="34" charset="-122"/>
                <a:cs typeface="Aptos" pitchFamily="34" charset="-120"/>
              </a:rPr>
              <a:t>Gold DW</a:t>
            </a:r>
            <a:endParaRPr lang="en-US" sz="830" dirty="0"/>
          </a:p>
        </p:txBody>
      </p:sp>
      <p:sp>
        <p:nvSpPr>
          <p:cNvPr id="19" name="Shape 17"/>
          <p:cNvSpPr/>
          <p:nvPr/>
        </p:nvSpPr>
        <p:spPr>
          <a:xfrm>
            <a:off x="9528048" y="1901952"/>
            <a:ext cx="228600" cy="0"/>
          </a:xfrm>
          <a:prstGeom prst="line">
            <a:avLst/>
          </a:prstGeom>
          <a:noFill/>
          <a:ln w="12700">
            <a:solidFill>
              <a:srgbClr val="A0A8B5"/>
            </a:solidFill>
            <a:prstDash val="solid"/>
            <a:headEnd type="none"/>
            <a:tailEnd type="triangle"/>
          </a:ln>
        </p:spPr>
      </p:sp>
      <p:sp>
        <p:nvSpPr>
          <p:cNvPr id="20" name="Shape 18"/>
          <p:cNvSpPr/>
          <p:nvPr/>
        </p:nvSpPr>
        <p:spPr>
          <a:xfrm>
            <a:off x="9829800" y="1417320"/>
            <a:ext cx="2011680" cy="960120"/>
          </a:xfrm>
          <a:prstGeom prst="roundRect">
            <a:avLst>
              <a:gd name="adj" fmla="val 5714"/>
            </a:avLst>
          </a:prstGeom>
          <a:solidFill>
            <a:srgbClr val="F2EDFF"/>
          </a:solidFill>
          <a:ln w="12700">
            <a:solidFill>
              <a:srgbClr val="7C4DFF"/>
            </a:solidFill>
            <a:prstDash val="solid"/>
          </a:ln>
        </p:spPr>
      </p:sp>
      <p:sp>
        <p:nvSpPr>
          <p:cNvPr id="21" name="Text 19"/>
          <p:cNvSpPr/>
          <p:nvPr/>
        </p:nvSpPr>
        <p:spPr>
          <a:xfrm>
            <a:off x="9921240" y="1664208"/>
            <a:ext cx="1828800" cy="201168"/>
          </a:xfrm>
          <a:prstGeom prst="rect">
            <a:avLst/>
          </a:prstGeom>
          <a:noFill/>
          <a:ln/>
        </p:spPr>
        <p:txBody>
          <a:bodyPr wrap="square" lIns="0" tIns="0" rIns="0" bIns="0" rtlCol="0" anchor="ctr"/>
          <a:lstStyle/>
          <a:p>
            <a:pPr algn="ctr" indent="0" marL="0">
              <a:buNone/>
            </a:pPr>
            <a:r>
              <a:rPr lang="en-US" sz="1020" b="1" dirty="0">
                <a:solidFill>
                  <a:srgbClr val="17233C"/>
                </a:solidFill>
                <a:latin typeface="Consolas" pitchFamily="34" charset="0"/>
                <a:ea typeface="Consolas" pitchFamily="34" charset="-122"/>
                <a:cs typeface="Consolas" pitchFamily="34" charset="-120"/>
              </a:rPr>
              <a:t>BI + Mining</a:t>
            </a:r>
            <a:endParaRPr lang="en-US" sz="1020" dirty="0"/>
          </a:p>
        </p:txBody>
      </p:sp>
      <p:sp>
        <p:nvSpPr>
          <p:cNvPr id="22" name="Text 20"/>
          <p:cNvSpPr/>
          <p:nvPr/>
        </p:nvSpPr>
        <p:spPr>
          <a:xfrm>
            <a:off x="9921240" y="1965960"/>
            <a:ext cx="1828800" cy="182880"/>
          </a:xfrm>
          <a:prstGeom prst="rect">
            <a:avLst/>
          </a:prstGeom>
          <a:noFill/>
          <a:ln/>
        </p:spPr>
        <p:txBody>
          <a:bodyPr wrap="square" lIns="0" tIns="0" rIns="0" bIns="0" rtlCol="0" anchor="ctr"/>
          <a:lstStyle/>
          <a:p>
            <a:pPr algn="ctr" indent="0" marL="0">
              <a:buNone/>
            </a:pPr>
            <a:r>
              <a:rPr lang="en-US" sz="830" dirty="0">
                <a:solidFill>
                  <a:srgbClr val="687386"/>
                </a:solidFill>
                <a:latin typeface="Aptos" pitchFamily="34" charset="0"/>
                <a:ea typeface="Aptos" pitchFamily="34" charset="-122"/>
                <a:cs typeface="Aptos" pitchFamily="34" charset="-120"/>
              </a:rPr>
              <a:t>Consumers</a:t>
            </a:r>
            <a:endParaRPr lang="en-US" sz="830" dirty="0"/>
          </a:p>
        </p:txBody>
      </p:sp>
      <p:sp>
        <p:nvSpPr>
          <p:cNvPr id="23" name="Shape 21"/>
          <p:cNvSpPr/>
          <p:nvPr/>
        </p:nvSpPr>
        <p:spPr>
          <a:xfrm>
            <a:off x="594360" y="2788920"/>
            <a:ext cx="5303520" cy="2697480"/>
          </a:xfrm>
          <a:prstGeom prst="roundRect">
            <a:avLst>
              <a:gd name="adj" fmla="val 2034"/>
            </a:avLst>
          </a:prstGeom>
          <a:solidFill>
            <a:srgbClr val="111827"/>
          </a:solidFill>
          <a:ln w="12700">
            <a:solidFill>
              <a:srgbClr val="111827"/>
            </a:solidFill>
            <a:prstDash val="solid"/>
          </a:ln>
        </p:spPr>
      </p:sp>
      <p:sp>
        <p:nvSpPr>
          <p:cNvPr id="24" name="Text 22"/>
          <p:cNvSpPr/>
          <p:nvPr/>
        </p:nvSpPr>
        <p:spPr>
          <a:xfrm>
            <a:off x="795528" y="2971800"/>
            <a:ext cx="4901184" cy="2350008"/>
          </a:xfrm>
          <a:prstGeom prst="rect">
            <a:avLst/>
          </a:prstGeom>
          <a:noFill/>
          <a:ln/>
        </p:spPr>
        <p:txBody>
          <a:bodyPr wrap="square" lIns="0" tIns="0" rIns="0" bIns="0" rtlCol="0" anchor="ctr">
            <a:normAutofit/>
          </a:bodyPr>
          <a:lstStyle/>
          <a:p>
            <a:pPr indent="0" marL="0">
              <a:buNone/>
            </a:pPr>
            <a:r>
              <a:rPr lang="en-US" sz="890" dirty="0">
                <a:solidFill>
                  <a:srgbClr val="F3F4F6"/>
                </a:solidFill>
                <a:latin typeface="Consolas" pitchFamily="34" charset="0"/>
                <a:ea typeface="Consolas" pitchFamily="34" charset="-122"/>
                <a:cs typeface="Consolas" pitchFamily="34" charset="-120"/>
              </a:rPr>
              <a:t>-- Bronze</a:t>
            </a:r>
            <a:endParaRPr lang="en-US" sz="890" dirty="0"/>
          </a:p>
          <a:p>
            <a:pPr indent="0" marL="0">
              <a:buNone/>
            </a:pPr>
            <a:r>
              <a:rPr lang="en-US" sz="890" dirty="0">
                <a:solidFill>
                  <a:srgbClr val="F3F4F6"/>
                </a:solidFill>
                <a:latin typeface="Consolas" pitchFamily="34" charset="0"/>
                <a:ea typeface="Consolas" pitchFamily="34" charset="-122"/>
                <a:cs typeface="Consolas" pitchFamily="34" charset="-120"/>
              </a:rPr>
              <a:t>CREATE OR REFRESH STREAMING TABLE bronze_sales AS</a:t>
            </a:r>
            <a:endParaRPr lang="en-US" sz="890" dirty="0"/>
          </a:p>
          <a:p>
            <a:pPr indent="0" marL="0">
              <a:buNone/>
            </a:pPr>
            <a:r>
              <a:rPr lang="en-US" sz="890" dirty="0">
                <a:solidFill>
                  <a:srgbClr val="F3F4F6"/>
                </a:solidFill>
                <a:latin typeface="Consolas" pitchFamily="34" charset="0"/>
                <a:ea typeface="Consolas" pitchFamily="34" charset="-122"/>
                <a:cs typeface="Consolas" pitchFamily="34" charset="-120"/>
              </a:rPr>
              <a:t>SELECT * FROM STREAM read_files('/Volumes/.../sales', format=&gt;'csv');</a:t>
            </a:r>
            <a:endParaRPr lang="en-US" sz="890" dirty="0"/>
          </a:p>
          <a:p>
            <a:pPr indent="0" marL="0">
              <a:buNone/>
            </a:pPr>
            <a:endParaRPr lang="en-US" sz="890" dirty="0"/>
          </a:p>
          <a:p>
            <a:pPr indent="0" marL="0">
              <a:buNone/>
            </a:pPr>
            <a:r>
              <a:rPr lang="en-US" sz="890" dirty="0">
                <a:solidFill>
                  <a:srgbClr val="F3F4F6"/>
                </a:solidFill>
                <a:latin typeface="Consolas" pitchFamily="34" charset="0"/>
                <a:ea typeface="Consolas" pitchFamily="34" charset="-122"/>
                <a:cs typeface="Consolas" pitchFamily="34" charset="-120"/>
              </a:rPr>
              <a:t>-- Silver</a:t>
            </a:r>
            <a:endParaRPr lang="en-US" sz="890" dirty="0"/>
          </a:p>
          <a:p>
            <a:pPr indent="0" marL="0">
              <a:buNone/>
            </a:pPr>
            <a:r>
              <a:rPr lang="en-US" sz="890" dirty="0">
                <a:solidFill>
                  <a:srgbClr val="F3F4F6"/>
                </a:solidFill>
                <a:latin typeface="Consolas" pitchFamily="34" charset="0"/>
                <a:ea typeface="Consolas" pitchFamily="34" charset="-122"/>
                <a:cs typeface="Consolas" pitchFamily="34" charset="-120"/>
              </a:rPr>
              <a:t>CREATE OR REFRESH MATERIALIZED VIEW silver_sales AS</a:t>
            </a:r>
            <a:endParaRPr lang="en-US" sz="890" dirty="0"/>
          </a:p>
          <a:p>
            <a:pPr indent="0" marL="0">
              <a:buNone/>
            </a:pPr>
            <a:r>
              <a:rPr lang="en-US" sz="890" dirty="0">
                <a:solidFill>
                  <a:srgbClr val="F3F4F6"/>
                </a:solidFill>
                <a:latin typeface="Consolas" pitchFamily="34" charset="0"/>
                <a:ea typeface="Consolas" pitchFamily="34" charset="-122"/>
                <a:cs typeface="Consolas" pitchFamily="34" charset="-120"/>
              </a:rPr>
              <a:t>SELECT CAST(...) ... FROM bronze_sales WHERE Quantity &gt; 0;</a:t>
            </a:r>
            <a:endParaRPr lang="en-US" sz="890" dirty="0"/>
          </a:p>
        </p:txBody>
      </p:sp>
      <p:sp>
        <p:nvSpPr>
          <p:cNvPr id="25" name="Shape 23"/>
          <p:cNvSpPr/>
          <p:nvPr/>
        </p:nvSpPr>
        <p:spPr>
          <a:xfrm>
            <a:off x="6263640" y="2788920"/>
            <a:ext cx="5303520" cy="2697480"/>
          </a:xfrm>
          <a:prstGeom prst="roundRect">
            <a:avLst>
              <a:gd name="adj" fmla="val 2034"/>
            </a:avLst>
          </a:prstGeom>
          <a:solidFill>
            <a:srgbClr val="111827"/>
          </a:solidFill>
          <a:ln w="12700">
            <a:solidFill>
              <a:srgbClr val="111827"/>
            </a:solidFill>
            <a:prstDash val="solid"/>
          </a:ln>
        </p:spPr>
      </p:sp>
      <p:sp>
        <p:nvSpPr>
          <p:cNvPr id="26" name="Text 24"/>
          <p:cNvSpPr/>
          <p:nvPr/>
        </p:nvSpPr>
        <p:spPr>
          <a:xfrm>
            <a:off x="6464808" y="2971800"/>
            <a:ext cx="4901184" cy="2350008"/>
          </a:xfrm>
          <a:prstGeom prst="rect">
            <a:avLst/>
          </a:prstGeom>
          <a:noFill/>
          <a:ln/>
        </p:spPr>
        <p:txBody>
          <a:bodyPr wrap="square" lIns="0" tIns="0" rIns="0" bIns="0" rtlCol="0" anchor="ctr">
            <a:normAutofit/>
          </a:bodyPr>
          <a:lstStyle/>
          <a:p>
            <a:pPr indent="0" marL="0">
              <a:buNone/>
            </a:pPr>
            <a:r>
              <a:rPr lang="en-US" sz="860" dirty="0">
                <a:solidFill>
                  <a:srgbClr val="F3F4F6"/>
                </a:solidFill>
                <a:latin typeface="Consolas" pitchFamily="34" charset="0"/>
                <a:ea typeface="Consolas" pitchFamily="34" charset="-122"/>
                <a:cs typeface="Consolas" pitchFamily="34" charset="-120"/>
              </a:rPr>
              <a:t>-- Gold</a:t>
            </a:r>
            <a:endParaRPr lang="en-US" sz="860" dirty="0"/>
          </a:p>
          <a:p>
            <a:pPr indent="0" marL="0">
              <a:buNone/>
            </a:pPr>
            <a:r>
              <a:rPr lang="en-US" sz="860" dirty="0">
                <a:solidFill>
                  <a:srgbClr val="F3F4F6"/>
                </a:solidFill>
                <a:latin typeface="Consolas" pitchFamily="34" charset="0"/>
                <a:ea typeface="Consolas" pitchFamily="34" charset="-122"/>
                <a:cs typeface="Consolas" pitchFamily="34" charset="-120"/>
              </a:rPr>
              <a:t>CREATE OR REFRESH MATERIALIZED VIEW FactSales AS</a:t>
            </a:r>
            <a:endParaRPr lang="en-US" sz="860" dirty="0"/>
          </a:p>
          <a:p>
            <a:pPr indent="0" marL="0">
              <a:buNone/>
            </a:pPr>
            <a:r>
              <a:rPr lang="en-US" sz="860" dirty="0">
                <a:solidFill>
                  <a:srgbClr val="F3F4F6"/>
                </a:solidFill>
                <a:latin typeface="Consolas" pitchFamily="34" charset="0"/>
                <a:ea typeface="Consolas" pitchFamily="34" charset="-122"/>
                <a:cs typeface="Consolas" pitchFamily="34" charset="-120"/>
              </a:rPr>
              <a:t>SELECT c.CustomerKey, p.ProductKey, d.DateKey,</a:t>
            </a:r>
            <a:endParaRPr lang="en-US" sz="860" dirty="0"/>
          </a:p>
          <a:p>
            <a:pPr indent="0" marL="0">
              <a:buNone/>
            </a:pPr>
            <a:r>
              <a:rPr lang="en-US" sz="860" dirty="0">
                <a:solidFill>
                  <a:srgbClr val="F3F4F6"/>
                </a:solidFill>
                <a:latin typeface="Consolas" pitchFamily="34" charset="0"/>
                <a:ea typeface="Consolas" pitchFamily="34" charset="-122"/>
                <a:cs typeface="Consolas" pitchFamily="34" charset="-120"/>
              </a:rPr>
              <a:t>       s.Quantity * s.UnitPrice AS SalesAmount</a:t>
            </a:r>
            <a:endParaRPr lang="en-US" sz="860" dirty="0"/>
          </a:p>
          <a:p>
            <a:pPr indent="0" marL="0">
              <a:buNone/>
            </a:pPr>
            <a:r>
              <a:rPr lang="en-US" sz="860" dirty="0">
                <a:solidFill>
                  <a:srgbClr val="F3F4F6"/>
                </a:solidFill>
                <a:latin typeface="Consolas" pitchFamily="34" charset="0"/>
                <a:ea typeface="Consolas" pitchFamily="34" charset="-122"/>
                <a:cs typeface="Consolas" pitchFamily="34" charset="-120"/>
              </a:rPr>
              <a:t>FROM silver_sales s</a:t>
            </a:r>
            <a:endParaRPr lang="en-US" sz="860" dirty="0"/>
          </a:p>
          <a:p>
            <a:pPr indent="0" marL="0">
              <a:buNone/>
            </a:pPr>
            <a:r>
              <a:rPr lang="en-US" sz="860" dirty="0">
                <a:solidFill>
                  <a:srgbClr val="F3F4F6"/>
                </a:solidFill>
                <a:latin typeface="Consolas" pitchFamily="34" charset="0"/>
                <a:ea typeface="Consolas" pitchFamily="34" charset="-122"/>
                <a:cs typeface="Consolas" pitchFamily="34" charset="-120"/>
              </a:rPr>
              <a:t>JOIN DimCustomer c ON ...</a:t>
            </a:r>
            <a:endParaRPr lang="en-US" sz="860" dirty="0"/>
          </a:p>
          <a:p>
            <a:pPr indent="0" marL="0">
              <a:buNone/>
            </a:pPr>
            <a:r>
              <a:rPr lang="en-US" sz="860" dirty="0">
                <a:solidFill>
                  <a:srgbClr val="F3F4F6"/>
                </a:solidFill>
                <a:latin typeface="Consolas" pitchFamily="34" charset="0"/>
                <a:ea typeface="Consolas" pitchFamily="34" charset="-122"/>
                <a:cs typeface="Consolas" pitchFamily="34" charset="-120"/>
              </a:rPr>
              <a:t>JOIN DimProduct p  ON ...</a:t>
            </a:r>
            <a:endParaRPr lang="en-US" sz="860" dirty="0"/>
          </a:p>
          <a:p>
            <a:pPr indent="0" marL="0">
              <a:buNone/>
            </a:pPr>
            <a:r>
              <a:rPr lang="en-US" sz="860" dirty="0">
                <a:solidFill>
                  <a:srgbClr val="F3F4F6"/>
                </a:solidFill>
                <a:latin typeface="Consolas" pitchFamily="34" charset="0"/>
                <a:ea typeface="Consolas" pitchFamily="34" charset="-122"/>
                <a:cs typeface="Consolas" pitchFamily="34" charset="-120"/>
              </a:rPr>
              <a:t>JOIN DimDate d     ON ...;</a:t>
            </a:r>
            <a:endParaRPr lang="en-US" sz="860" dirty="0"/>
          </a:p>
        </p:txBody>
      </p:sp>
      <p:sp>
        <p:nvSpPr>
          <p:cNvPr id="27" name="Shape 25"/>
          <p:cNvSpPr/>
          <p:nvPr/>
        </p:nvSpPr>
        <p:spPr>
          <a:xfrm>
            <a:off x="822960" y="5715000"/>
            <a:ext cx="10561320" cy="420624"/>
          </a:xfrm>
          <a:prstGeom prst="roundRect">
            <a:avLst>
              <a:gd name="adj" fmla="val 13043"/>
            </a:avLst>
          </a:prstGeom>
          <a:solidFill>
            <a:srgbClr val="F2EEFF"/>
          </a:solidFill>
          <a:ln w="12700">
            <a:solidFill>
              <a:srgbClr val="F2EEFF"/>
            </a:solidFill>
            <a:prstDash val="solid"/>
          </a:ln>
        </p:spPr>
      </p:sp>
      <p:sp>
        <p:nvSpPr>
          <p:cNvPr id="28" name="Text 26"/>
          <p:cNvSpPr/>
          <p:nvPr/>
        </p:nvSpPr>
        <p:spPr>
          <a:xfrm>
            <a:off x="987552" y="5833872"/>
            <a:ext cx="10232136" cy="192024"/>
          </a:xfrm>
          <a:prstGeom prst="rect">
            <a:avLst/>
          </a:prstGeom>
          <a:noFill/>
          <a:ln/>
        </p:spPr>
        <p:txBody>
          <a:bodyPr wrap="square" lIns="0" tIns="0" rIns="0" bIns="0" rtlCol="0" anchor="ctr">
            <a:normAutofit/>
          </a:bodyPr>
          <a:lstStyle/>
          <a:p>
            <a:pPr indent="0" marL="0">
              <a:buNone/>
            </a:pPr>
            <a:r>
              <a:rPr lang="en-US" sz="1100" b="1" dirty="0">
                <a:solidFill>
                  <a:srgbClr val="7C4DFF"/>
                </a:solidFill>
                <a:latin typeface="Aptos" pitchFamily="34" charset="0"/>
                <a:ea typeface="Aptos" pitchFamily="34" charset="-122"/>
                <a:cs typeface="Aptos" pitchFamily="34" charset="-120"/>
              </a:rPr>
              <a:t>Pipeline design questions: freshness? source quality? incremental keys? failure policy? grain? consumer SLA?</a:t>
            </a:r>
            <a:endParaRPr lang="en-US" sz="11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475488"/>
            <a:ext cx="11064240" cy="530352"/>
          </a:xfrm>
          <a:prstGeom prst="rect">
            <a:avLst/>
          </a:prstGeom>
          <a:noFill/>
          <a:ln/>
        </p:spPr>
        <p:txBody>
          <a:bodyPr wrap="square" lIns="0" tIns="0" rIns="0" bIns="0" rtlCol="0" anchor="ctr">
            <a:normAutofit/>
          </a:bodyP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Key Takeaways, Reading &amp; Discussion</a:t>
            </a:r>
            <a:endParaRPr lang="en-US" sz="2400" dirty="0"/>
          </a:p>
        </p:txBody>
      </p:sp>
      <p:sp>
        <p:nvSpPr>
          <p:cNvPr id="3" name="Shape 1"/>
          <p:cNvSpPr/>
          <p:nvPr/>
        </p:nvSpPr>
        <p:spPr>
          <a:xfrm>
            <a:off x="594360" y="1371600"/>
            <a:ext cx="3703320" cy="4160520"/>
          </a:xfrm>
          <a:prstGeom prst="roundRect">
            <a:avLst>
              <a:gd name="adj" fmla="val 1728"/>
            </a:avLst>
          </a:prstGeom>
          <a:solidFill>
            <a:srgbClr val="FFFFFF"/>
          </a:solidFill>
          <a:ln w="12700">
            <a:solidFill>
              <a:srgbClr val="DDE2EA"/>
            </a:solidFill>
            <a:prstDash val="solid"/>
          </a:ln>
        </p:spPr>
      </p:sp>
      <p:sp>
        <p:nvSpPr>
          <p:cNvPr id="4" name="Shape 2"/>
          <p:cNvSpPr/>
          <p:nvPr/>
        </p:nvSpPr>
        <p:spPr>
          <a:xfrm>
            <a:off x="594360" y="1371600"/>
            <a:ext cx="50292" cy="4160520"/>
          </a:xfrm>
          <a:prstGeom prst="rect">
            <a:avLst/>
          </a:prstGeom>
          <a:solidFill>
            <a:srgbClr val="FF3621"/>
          </a:solidFill>
          <a:ln w="12700">
            <a:solidFill>
              <a:srgbClr val="FF3621"/>
            </a:solidFill>
            <a:prstDash val="solid"/>
          </a:ln>
        </p:spPr>
      </p:sp>
      <p:sp>
        <p:nvSpPr>
          <p:cNvPr id="5" name="Shape 3"/>
          <p:cNvSpPr/>
          <p:nvPr/>
        </p:nvSpPr>
        <p:spPr>
          <a:xfrm>
            <a:off x="795528" y="1554480"/>
            <a:ext cx="566928" cy="310896"/>
          </a:xfrm>
          <a:prstGeom prst="roundRect">
            <a:avLst>
              <a:gd name="adj" fmla="val 14706"/>
            </a:avLst>
          </a:prstGeom>
          <a:solidFill>
            <a:srgbClr val="FFF0ED"/>
          </a:solidFill>
          <a:ln w="12700">
            <a:solidFill>
              <a:srgbClr val="FFF0ED"/>
            </a:solidFill>
            <a:prstDash val="solid"/>
          </a:ln>
        </p:spPr>
      </p:sp>
      <p:sp>
        <p:nvSpPr>
          <p:cNvPr id="6" name="Text 4"/>
          <p:cNvSpPr/>
          <p:nvPr/>
        </p:nvSpPr>
        <p:spPr>
          <a:xfrm>
            <a:off x="795528" y="1618488"/>
            <a:ext cx="566928" cy="128016"/>
          </a:xfrm>
          <a:prstGeom prst="rect">
            <a:avLst/>
          </a:prstGeom>
          <a:noFill/>
          <a:ln/>
        </p:spPr>
        <p:txBody>
          <a:bodyPr wrap="square" lIns="0" tIns="0" rIns="0" bIns="0" rtlCol="0" anchor="ctr"/>
          <a:lstStyle/>
          <a:p>
            <a:pPr algn="ctr" indent="0" marL="0">
              <a:buNone/>
            </a:pPr>
            <a:r>
              <a:rPr lang="en-US" sz="730" b="1" dirty="0">
                <a:solidFill>
                  <a:srgbClr val="FF3621"/>
                </a:solidFill>
              </a:rPr>
              <a:t>TAKEAWAYS</a:t>
            </a:r>
            <a:endParaRPr lang="en-US" sz="730" dirty="0"/>
          </a:p>
        </p:txBody>
      </p:sp>
      <p:sp>
        <p:nvSpPr>
          <p:cNvPr id="7" name="Text 5"/>
          <p:cNvSpPr/>
          <p:nvPr/>
        </p:nvSpPr>
        <p:spPr>
          <a:xfrm>
            <a:off x="795528" y="1956816"/>
            <a:ext cx="333756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Five ideas to remember</a:t>
            </a:r>
            <a:endParaRPr lang="en-US" sz="1500" dirty="0"/>
          </a:p>
        </p:txBody>
      </p:sp>
      <p:sp>
        <p:nvSpPr>
          <p:cNvPr id="8" name="Text 6"/>
          <p:cNvSpPr/>
          <p:nvPr/>
        </p:nvSpPr>
        <p:spPr>
          <a:xfrm>
            <a:off x="795528" y="2331720"/>
            <a:ext cx="3319272" cy="3035808"/>
          </a:xfrm>
          <a:prstGeom prst="rect">
            <a:avLst/>
          </a:prstGeom>
          <a:noFill/>
          <a:ln/>
        </p:spPr>
        <p:txBody>
          <a:bodyPr wrap="square" lIns="254" tIns="254" rIns="254" bIns="254" rtlCol="0" anchor="t">
            <a:normAutofit/>
          </a:bodyPr>
          <a:lstStyle/>
          <a:p>
            <a:pPr indent="0" marL="0">
              <a:buNone/>
            </a:pPr>
            <a:r>
              <a:rPr lang="en-US" sz="1050" dirty="0">
                <a:solidFill>
                  <a:srgbClr val="283246"/>
                </a:solidFill>
                <a:latin typeface="Aptos" pitchFamily="34" charset="0"/>
                <a:ea typeface="Aptos" pitchFamily="34" charset="-122"/>
                <a:cs typeface="Aptos" pitchFamily="34" charset="-120"/>
              </a:rPr>
              <a:t>1. ETL is a repeatable system, not a one-off script.</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2. Source properties drive architecture.</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3. Staging + idempotency make recovery possible.</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4. Incremental processing is the main scalability pattern.</a:t>
            </a:r>
            <a:endParaRPr lang="en-US" sz="1050" dirty="0"/>
          </a:p>
          <a:p>
            <a:pPr indent="0" marL="0">
              <a:buNone/>
            </a:pPr>
            <a:endParaRPr lang="en-US" sz="1050" dirty="0"/>
          </a:p>
          <a:p>
            <a:pPr indent="0" marL="0">
              <a:buNone/>
            </a:pPr>
            <a:r>
              <a:rPr lang="en-US" sz="1050" dirty="0">
                <a:solidFill>
                  <a:srgbClr val="283246"/>
                </a:solidFill>
                <a:latin typeface="Aptos" pitchFamily="34" charset="0"/>
                <a:ea typeface="Aptos" pitchFamily="34" charset="-122"/>
                <a:cs typeface="Aptos" pitchFamily="34" charset="-120"/>
              </a:rPr>
              <a:t>5. Databricks Lakeflow makes many ETL concerns declarative.</a:t>
            </a:r>
            <a:endParaRPr lang="en-US" sz="1050" dirty="0"/>
          </a:p>
        </p:txBody>
      </p:sp>
      <p:sp>
        <p:nvSpPr>
          <p:cNvPr id="9" name="Shape 7"/>
          <p:cNvSpPr/>
          <p:nvPr/>
        </p:nvSpPr>
        <p:spPr>
          <a:xfrm>
            <a:off x="4526280" y="1371600"/>
            <a:ext cx="3703320" cy="4160520"/>
          </a:xfrm>
          <a:prstGeom prst="roundRect">
            <a:avLst>
              <a:gd name="adj" fmla="val 1728"/>
            </a:avLst>
          </a:prstGeom>
          <a:solidFill>
            <a:srgbClr val="FFFFFF"/>
          </a:solidFill>
          <a:ln w="12700">
            <a:solidFill>
              <a:srgbClr val="DDE2EA"/>
            </a:solidFill>
            <a:prstDash val="solid"/>
          </a:ln>
        </p:spPr>
      </p:sp>
      <p:sp>
        <p:nvSpPr>
          <p:cNvPr id="10" name="Shape 8"/>
          <p:cNvSpPr/>
          <p:nvPr/>
        </p:nvSpPr>
        <p:spPr>
          <a:xfrm>
            <a:off x="4526280" y="1371600"/>
            <a:ext cx="50292" cy="4160520"/>
          </a:xfrm>
          <a:prstGeom prst="rect">
            <a:avLst/>
          </a:prstGeom>
          <a:solidFill>
            <a:srgbClr val="3B6FF5"/>
          </a:solidFill>
          <a:ln w="12700">
            <a:solidFill>
              <a:srgbClr val="3B6FF5"/>
            </a:solidFill>
            <a:prstDash val="solid"/>
          </a:ln>
        </p:spPr>
      </p:sp>
      <p:sp>
        <p:nvSpPr>
          <p:cNvPr id="11" name="Shape 9"/>
          <p:cNvSpPr/>
          <p:nvPr/>
        </p:nvSpPr>
        <p:spPr>
          <a:xfrm>
            <a:off x="4727448" y="1554480"/>
            <a:ext cx="566928" cy="310896"/>
          </a:xfrm>
          <a:prstGeom prst="roundRect">
            <a:avLst>
              <a:gd name="adj" fmla="val 14706"/>
            </a:avLst>
          </a:prstGeom>
          <a:solidFill>
            <a:srgbClr val="EDF2FF"/>
          </a:solidFill>
          <a:ln w="12700">
            <a:solidFill>
              <a:srgbClr val="EDF2FF"/>
            </a:solidFill>
            <a:prstDash val="solid"/>
          </a:ln>
        </p:spPr>
      </p:sp>
      <p:sp>
        <p:nvSpPr>
          <p:cNvPr id="12" name="Text 10"/>
          <p:cNvSpPr/>
          <p:nvPr/>
        </p:nvSpPr>
        <p:spPr>
          <a:xfrm>
            <a:off x="4727448" y="1618488"/>
            <a:ext cx="566928" cy="128016"/>
          </a:xfrm>
          <a:prstGeom prst="rect">
            <a:avLst/>
          </a:prstGeom>
          <a:noFill/>
          <a:ln/>
        </p:spPr>
        <p:txBody>
          <a:bodyPr wrap="square" lIns="0" tIns="0" rIns="0" bIns="0" rtlCol="0" anchor="ctr"/>
          <a:lstStyle/>
          <a:p>
            <a:pPr algn="ctr" indent="0" marL="0">
              <a:buNone/>
            </a:pPr>
            <a:r>
              <a:rPr lang="en-US" sz="730" b="1" dirty="0">
                <a:solidFill>
                  <a:srgbClr val="3B6FF5"/>
                </a:solidFill>
              </a:rPr>
              <a:t>READ</a:t>
            </a:r>
            <a:endParaRPr lang="en-US" sz="730" dirty="0"/>
          </a:p>
        </p:txBody>
      </p:sp>
      <p:sp>
        <p:nvSpPr>
          <p:cNvPr id="13" name="Text 11"/>
          <p:cNvSpPr/>
          <p:nvPr/>
        </p:nvSpPr>
        <p:spPr>
          <a:xfrm>
            <a:off x="4727448" y="1956816"/>
            <a:ext cx="333756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Primary reading</a:t>
            </a:r>
            <a:endParaRPr lang="en-US" sz="1500" dirty="0"/>
          </a:p>
        </p:txBody>
      </p:sp>
      <p:sp>
        <p:nvSpPr>
          <p:cNvPr id="14" name="Text 12"/>
          <p:cNvSpPr/>
          <p:nvPr/>
        </p:nvSpPr>
        <p:spPr>
          <a:xfrm>
            <a:off x="4727448" y="2331720"/>
            <a:ext cx="3319272" cy="3035808"/>
          </a:xfrm>
          <a:prstGeom prst="rect">
            <a:avLst/>
          </a:prstGeom>
          <a:noFill/>
          <a:ln/>
        </p:spPr>
        <p:txBody>
          <a:bodyPr wrap="square" lIns="254" tIns="254" rIns="254" bIns="254" rtlCol="0" anchor="t">
            <a:normAutofit/>
          </a:bodyPr>
          <a:lstStyle/>
          <a:p>
            <a:pPr indent="0" marL="0">
              <a:buNone/>
            </a:pPr>
            <a:r>
              <a:rPr lang="en-US" sz="990" dirty="0">
                <a:solidFill>
                  <a:srgbClr val="283246"/>
                </a:solidFill>
                <a:latin typeface="Aptos" pitchFamily="34" charset="0"/>
                <a:ea typeface="Aptos" pitchFamily="34" charset="-122"/>
                <a:cs typeface="Aptos" pitchFamily="34" charset="-120"/>
              </a:rPr>
              <a:t>Matt Palmer (2025)</a:t>
            </a:r>
            <a:endParaRPr lang="en-US" sz="990" dirty="0"/>
          </a:p>
          <a:p>
            <a:pPr indent="0" marL="0">
              <a:buNone/>
            </a:pPr>
            <a:r>
              <a:rPr lang="en-US" sz="990" dirty="0">
                <a:solidFill>
                  <a:srgbClr val="283246"/>
                </a:solidFill>
                <a:latin typeface="Aptos" pitchFamily="34" charset="0"/>
                <a:ea typeface="Aptos" pitchFamily="34" charset="-122"/>
                <a:cs typeface="Aptos" pitchFamily="34" charset="-120"/>
              </a:rPr>
              <a:t>Understanding ETL: Data Pipelines for Modern Data Architectures, Updated Edition.</a:t>
            </a:r>
            <a:endParaRPr lang="en-US" sz="990" dirty="0"/>
          </a:p>
          <a:p>
            <a:pPr indent="0" marL="0">
              <a:buNone/>
            </a:pPr>
            <a:endParaRPr lang="en-US" sz="990" dirty="0"/>
          </a:p>
          <a:p>
            <a:pPr indent="0" marL="0">
              <a:buNone/>
            </a:pPr>
            <a:r>
              <a:rPr lang="en-US" sz="990" dirty="0">
                <a:solidFill>
                  <a:srgbClr val="283246"/>
                </a:solidFill>
                <a:latin typeface="Aptos" pitchFamily="34" charset="0"/>
                <a:ea typeface="Aptos" pitchFamily="34" charset="-122"/>
                <a:cs typeface="Aptos" pitchFamily="34" charset="-120"/>
              </a:rPr>
              <a:t>Databricks (2025)</a:t>
            </a:r>
            <a:endParaRPr lang="en-US" sz="990" dirty="0"/>
          </a:p>
          <a:p>
            <a:pPr indent="0" marL="0">
              <a:buNone/>
            </a:pPr>
            <a:r>
              <a:rPr lang="en-US" sz="990" dirty="0">
                <a:solidFill>
                  <a:srgbClr val="283246"/>
                </a:solidFill>
                <a:latin typeface="Aptos" pitchFamily="34" charset="0"/>
                <a:ea typeface="Aptos" pitchFamily="34" charset="-122"/>
                <a:cs typeface="Aptos" pitchFamily="34" charset="-120"/>
              </a:rPr>
              <a:t>A Guide to Building ETL Pipelines With SQL.</a:t>
            </a:r>
            <a:endParaRPr lang="en-US" sz="990" dirty="0"/>
          </a:p>
          <a:p>
            <a:pPr indent="0" marL="0">
              <a:buNone/>
            </a:pPr>
            <a:endParaRPr lang="en-US" sz="990" dirty="0"/>
          </a:p>
          <a:p>
            <a:pPr indent="0" marL="0">
              <a:buNone/>
            </a:pPr>
            <a:r>
              <a:rPr lang="en-US" sz="990" dirty="0">
                <a:solidFill>
                  <a:srgbClr val="283246"/>
                </a:solidFill>
                <a:latin typeface="Aptos" pitchFamily="34" charset="0"/>
                <a:ea typeface="Aptos" pitchFamily="34" charset="-122"/>
                <a:cs typeface="Aptos" pitchFamily="34" charset="-120"/>
              </a:rPr>
              <a:t>Current Databricks docs: Lakeflow Connect, Pipelines, Jobs, expectations, AUTO CDC.</a:t>
            </a:r>
            <a:endParaRPr lang="en-US" sz="990" dirty="0"/>
          </a:p>
        </p:txBody>
      </p:sp>
      <p:sp>
        <p:nvSpPr>
          <p:cNvPr id="15" name="Shape 13"/>
          <p:cNvSpPr/>
          <p:nvPr/>
        </p:nvSpPr>
        <p:spPr>
          <a:xfrm>
            <a:off x="8458200" y="1371600"/>
            <a:ext cx="3108960" cy="4160520"/>
          </a:xfrm>
          <a:prstGeom prst="roundRect">
            <a:avLst>
              <a:gd name="adj" fmla="val 2059"/>
            </a:avLst>
          </a:prstGeom>
          <a:solidFill>
            <a:srgbClr val="FFFFFF"/>
          </a:solidFill>
          <a:ln w="12700">
            <a:solidFill>
              <a:srgbClr val="DDE2EA"/>
            </a:solidFill>
            <a:prstDash val="solid"/>
          </a:ln>
        </p:spPr>
      </p:sp>
      <p:sp>
        <p:nvSpPr>
          <p:cNvPr id="16" name="Shape 14"/>
          <p:cNvSpPr/>
          <p:nvPr/>
        </p:nvSpPr>
        <p:spPr>
          <a:xfrm>
            <a:off x="8458200" y="1371600"/>
            <a:ext cx="50292" cy="4160520"/>
          </a:xfrm>
          <a:prstGeom prst="rect">
            <a:avLst/>
          </a:prstGeom>
          <a:solidFill>
            <a:srgbClr val="00A972"/>
          </a:solidFill>
          <a:ln w="12700">
            <a:solidFill>
              <a:srgbClr val="00A972"/>
            </a:solidFill>
            <a:prstDash val="solid"/>
          </a:ln>
        </p:spPr>
      </p:sp>
      <p:sp>
        <p:nvSpPr>
          <p:cNvPr id="17" name="Shape 15"/>
          <p:cNvSpPr/>
          <p:nvPr/>
        </p:nvSpPr>
        <p:spPr>
          <a:xfrm>
            <a:off x="8659368" y="1554480"/>
            <a:ext cx="566928" cy="310896"/>
          </a:xfrm>
          <a:prstGeom prst="roundRect">
            <a:avLst>
              <a:gd name="adj" fmla="val 14706"/>
            </a:avLst>
          </a:prstGeom>
          <a:solidFill>
            <a:srgbClr val="E9F8F3"/>
          </a:solidFill>
          <a:ln w="12700">
            <a:solidFill>
              <a:srgbClr val="E9F8F3"/>
            </a:solidFill>
            <a:prstDash val="solid"/>
          </a:ln>
        </p:spPr>
      </p:sp>
      <p:sp>
        <p:nvSpPr>
          <p:cNvPr id="18" name="Text 16"/>
          <p:cNvSpPr/>
          <p:nvPr/>
        </p:nvSpPr>
        <p:spPr>
          <a:xfrm>
            <a:off x="8659368" y="1618488"/>
            <a:ext cx="566928" cy="128016"/>
          </a:xfrm>
          <a:prstGeom prst="rect">
            <a:avLst/>
          </a:prstGeom>
          <a:noFill/>
          <a:ln/>
        </p:spPr>
        <p:txBody>
          <a:bodyPr wrap="square" lIns="0" tIns="0" rIns="0" bIns="0" rtlCol="0" anchor="ctr"/>
          <a:lstStyle/>
          <a:p>
            <a:pPr algn="ctr" indent="0" marL="0">
              <a:buNone/>
            </a:pPr>
            <a:r>
              <a:rPr lang="en-US" sz="730" b="1" dirty="0">
                <a:solidFill>
                  <a:srgbClr val="00A972"/>
                </a:solidFill>
              </a:rPr>
              <a:t>QUESTIONS</a:t>
            </a:r>
            <a:endParaRPr lang="en-US" sz="730" dirty="0"/>
          </a:p>
        </p:txBody>
      </p:sp>
      <p:sp>
        <p:nvSpPr>
          <p:cNvPr id="19" name="Text 17"/>
          <p:cNvSpPr/>
          <p:nvPr/>
        </p:nvSpPr>
        <p:spPr>
          <a:xfrm>
            <a:off x="8659368" y="1956816"/>
            <a:ext cx="2743200" cy="347472"/>
          </a:xfrm>
          <a:prstGeom prst="rect">
            <a:avLst/>
          </a:prstGeom>
          <a:noFill/>
          <a:ln/>
        </p:spPr>
        <p:txBody>
          <a:bodyPr wrap="square" lIns="0" tIns="0" rIns="0" bIns="0" rtlCol="0" anchor="ctr">
            <a:normAutofit/>
          </a:bodyPr>
          <a:lstStyle/>
          <a:p>
            <a:pPr indent="0" marL="0">
              <a:buNone/>
            </a:pPr>
            <a:r>
              <a:rPr lang="en-US" sz="1500" b="1" dirty="0">
                <a:solidFill>
                  <a:srgbClr val="17233C"/>
                </a:solidFill>
                <a:latin typeface="Aptos Display" pitchFamily="34" charset="0"/>
                <a:ea typeface="Aptos Display" pitchFamily="34" charset="-122"/>
                <a:cs typeface="Aptos Display" pitchFamily="34" charset="-120"/>
              </a:rPr>
              <a:t>Discussion</a:t>
            </a:r>
            <a:endParaRPr lang="en-US" sz="1500" dirty="0"/>
          </a:p>
        </p:txBody>
      </p:sp>
      <p:sp>
        <p:nvSpPr>
          <p:cNvPr id="20" name="Text 18"/>
          <p:cNvSpPr/>
          <p:nvPr/>
        </p:nvSpPr>
        <p:spPr>
          <a:xfrm>
            <a:off x="8659368" y="2331720"/>
            <a:ext cx="2724912" cy="3035808"/>
          </a:xfrm>
          <a:prstGeom prst="rect">
            <a:avLst/>
          </a:prstGeom>
          <a:noFill/>
          <a:ln/>
        </p:spPr>
        <p:txBody>
          <a:bodyPr wrap="square" lIns="254" tIns="254" rIns="254" bIns="254" rtlCol="0" anchor="t">
            <a:normAutofit/>
          </a:bodyPr>
          <a:lstStyle/>
          <a:p>
            <a:pPr indent="0" marL="0">
              <a:buNone/>
            </a:pPr>
            <a:r>
              <a:rPr lang="en-US" sz="1000" dirty="0">
                <a:solidFill>
                  <a:srgbClr val="283246"/>
                </a:solidFill>
                <a:latin typeface="Aptos" pitchFamily="34" charset="0"/>
                <a:ea typeface="Aptos" pitchFamily="34" charset="-122"/>
                <a:cs typeface="Aptos" pitchFamily="34" charset="-120"/>
              </a:rPr>
              <a:t>For SmartRetail:</a:t>
            </a:r>
            <a:endParaRPr lang="en-US" sz="1000" dirty="0"/>
          </a:p>
          <a:p>
            <a:pPr indent="0" marL="0">
              <a:buNone/>
            </a:pP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 Which sources should stream?</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 Which quality rule should fail the pipeline?</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 Which tables should be SCD Type 2?</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 What freshness SLA is actually needed?</a:t>
            </a:r>
            <a:endParaRPr lang="en-US" sz="1000" dirty="0"/>
          </a:p>
          <a:p>
            <a:pPr indent="0" marL="0">
              <a:buNone/>
            </a:pPr>
            <a:r>
              <a:rPr lang="en-US" sz="1000" dirty="0">
                <a:solidFill>
                  <a:srgbClr val="283246"/>
                </a:solidFill>
                <a:latin typeface="Aptos" pitchFamily="34" charset="0"/>
                <a:ea typeface="Aptos" pitchFamily="34" charset="-122"/>
                <a:cs typeface="Aptos" pitchFamily="34" charset="-120"/>
              </a:rPr>
              <a:t>• Which steps should be declarative vs PySpark?</a:t>
            </a:r>
            <a:endParaRPr lang="en-US" sz="1000" dirty="0"/>
          </a:p>
        </p:txBody>
      </p:sp>
      <p:sp>
        <p:nvSpPr>
          <p:cNvPr id="21" name="Text 19"/>
          <p:cNvSpPr/>
          <p:nvPr/>
        </p:nvSpPr>
        <p:spPr>
          <a:xfrm>
            <a:off x="1417320" y="5779008"/>
            <a:ext cx="9326880" cy="402336"/>
          </a:xfrm>
          <a:prstGeom prst="rect">
            <a:avLst/>
          </a:prstGeom>
          <a:noFill/>
          <a:ln/>
        </p:spPr>
        <p:txBody>
          <a:bodyPr wrap="square" lIns="0" tIns="0" rIns="0" bIns="0" rtlCol="0" anchor="ctr"/>
          <a:lstStyle/>
          <a:p>
            <a:pPr algn="ctr" indent="0" marL="0">
              <a:buNone/>
            </a:pPr>
            <a:r>
              <a:rPr lang="en-US" sz="1600" b="1" dirty="0">
                <a:solidFill>
                  <a:srgbClr val="17233C"/>
                </a:solidFill>
                <a:latin typeface="Aptos Display" pitchFamily="34" charset="0"/>
                <a:ea typeface="Aptos Display" pitchFamily="34" charset="-122"/>
                <a:cs typeface="Aptos Display" pitchFamily="34" charset="-120"/>
              </a:rPr>
              <a:t>Next: build the ingestion → Bronze → Silver → Gold pipeline in the lab.</a:t>
            </a:r>
            <a:endParaRPr lang="en-US" sz="1600" dirty="0"/>
          </a:p>
        </p:txBody>
      </p:sp>
      <p:sp>
        <p:nvSpPr>
          <p:cNvPr id="25" name="Slide Number Placeholder 0"/>
          <p:cNvSpPr>
            <a:spLocks noGrp="1"/>
          </p:cNvSpPr>
          <p:nvPr>
            <p:ph type="sldNum" sz="quarter" idx="4294967295"/>
          </p:nvPr>
        </p:nvSpPr>
        <p:spPr>
          <a:xfrm>
            <a:off x="11247120" y="6547104"/>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8B94A4"/>
                </a:solidFill>
                <a:latin typeface="Aptos"/>
                <a:ea typeface="Aptos"/>
                <a:cs typeface="Aptos"/>
              </a:defRPr>
            </a:lvl1pPr>
          </a:lstStyle>
          <a:p>
            <a:pPr algn="r"/>
            <a:fld id="{F7021451-1387-4CA6-816F-3879F97B5CBC}" type="slidenum">
              <a:rPr b="0"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COMP 454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ETL: From Raw Data to Reliable Pipelines in Databricks</dc:title>
  <dc:subject>COMP 454 ETL Lecture</dc:subject>
  <dc:creator>OpenAI</dc:creator>
  <cp:lastModifiedBy>OpenAI</cp:lastModifiedBy>
  <cp:revision>1</cp:revision>
  <dcterms:created xsi:type="dcterms:W3CDTF">2026-09-18T06:08:08Z</dcterms:created>
  <dcterms:modified xsi:type="dcterms:W3CDTF">2026-09-18T06:08:08Z</dcterms:modified>
</cp:coreProperties>
</file>