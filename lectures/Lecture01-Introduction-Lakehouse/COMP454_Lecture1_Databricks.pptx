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COMP 454-3. This course is designed to bridge the gap between data engineering and machine learning. Rather than treating databases and analytics as isolated topics, we will use Databricks to trace the complete lifecycle of data. You will learn how to take raw operational data, structure it into a reliable data warehouse, and ultimately use that structured data to power predictive data mining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session, you should understand the conceptual map of the course. You don't need to write perfect PySpark code today, but you do need to understand why we structure data the way we do before feeding it into machine learning algorithms. We are establishing the mental model that you will apply in every lab moving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data warehousing and data mining were taught as completely separate disciplines. In modern industry, they are tightly coupled. Data Warehousing is responsible for preparing integrated, trustworthy, and historically accurate analytical data. Data Mining then relies on that exact prepared data to discover patterns, build descriptive segments, and train predictive models. Throughout this semester, you will not be starting from scratch with disconnected toy datasets each week; instead, each lab will extend this single, continuous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 common beginner mistake to try running machine learning directly on an operational database. Doing so slows down the live application and yields poor analytical results because operational data is constantly changing and lacks historical context. We build analytical systems specifically to organize data in a way that makes reporting and mining efficient, stable, and historically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moving away from having a separate data lake for data scientists and a data warehouse for business analysts. The Lakehouse paradigm combines the cheap, flexible storage of a data lake with the reliability, structure, and performance of a data warehouse. This is the exact architecture Databricks provides, allowing us to do engineering, SQL reporting, and machine learning all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data warehouses were excellent for structured, retrospective reporting, but struggled with diverse data types and the scale required for modern AI. Built on open formats like Delta Lake, the Databricks Data Intelligence Platform acts as a single source of truth. By unifying batch processing, BI, and ML, organizations can lower operational overhead and accelerate the time it takes to turn raw data into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this course relied on SQL Server and SSIS. While those are powerful tools, the industry is rapidly migrating to cloud-native, distributed platforms. Moving to Databricks introduces you to modern practices like decoupling compute from storage—meaning you only pay for processing power when you are actively running queries, while your data rests in cheap cloud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have the best of both worlds in this course. You can use the Databricks web UI for quick data exploration and SQL queries, but for your heavy development work, you will use VS Code locally. Databricks Connect bridges this gap, allowing you to write Python on your laptop while executing the heavy data processing on remote serverless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labs, you will set up your own Databricks Free Edition workspace. Because it is serverless, the infrastructure is managed entirely by Databricks, allowing you to focus entirely on data engineering and machine learning code. Just be mindful of your usage quotas when running large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Databricks uses a three-tier namespace through Unity Catalog. Whenever you reference a table in your code, you should understand where it lives within this hierarchy. This prevents naming collisions and allows administrators to apply security permissions at the catalog, schema, or individual table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we are working in a Big Data environment, the core principles of relational data remain essential. We still care deeply about data types, primary keys, and structured columns. The platform has changed, but the necessity for clean, well-defined data structures has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data lakes built on raw CSV or Parquet files can be fragile. If a job fails halfway through, you can be left with inconsistent data. Delta Lake adds transactional reliability and schema controls to cloud storage. It helps keep our warehouse consistent and trustworthy, even if a pipeline fails during an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Spark can be written in Scala or SQL, we will primarily use PySpark. The DataFrame API is intuitive if you are familiar with Python. PySpark allows us to write concise transformations that Databricks can execute using distributed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we are using Python and Spark, SQL remains central. Databricks SQL provides a first-class warehouse experience. For querying, joining, and aggregating Gold-layer dimensional models, standard SQL is often the clearest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dimensional model, business metrics are stored in a central fact table while descriptive context is stored in dimension tables. Almost every analytical query therefore uses JOINs to reconnect facts with their descriptive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modern cloud computing, it is often efficient to load raw data directly into the lakehouse and transform it there. Once raw data is safely stored in Bronze, Databricks can use distributed compute to refine it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Medallion architecture logically organizes data by its level of quality and readiness. We do not overwrite the raw source. Instead, we refine it through Bronze, Silver, and Gold so analytical results can be traced back through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discover a bug in your transformation logic, having a pristine Bronze layer allows you to rebuild Silver and Gold without returning to operational teams for historical extracts. It is the safety net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Silver layer provides a trusted enterprise view of the data. It remains relatively granular, which also makes it useful for data-science feature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time data reaches Gold, most engineering work is complete. The layer is designed for performance and ease of use so analysts can answer business questions with straightforward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confuse the infrastructure pattern (Medallion) with the data modelling technique (Dimensional). We use dimensional modelling inside the Gold layer to make refined data easy to query and semantically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Establishing the grain of a fact table is one of the most important design decisions in data warehousing. If you mix grains—for example daily summaries and line-item transactions in one fact table—metrics can double-count and downstream models may learn misleading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abstract theory, you will build the SmartRetail data platform. Every lab builds on the previous one: ingest raw CSVs, refine them, construct a Gold star schema, and extract datasets for mining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warehouse is not just for dashboards. Clean, historical, integrated Gold data is also a strong source for training machine-learning models. In the latter part of the course we will derive specialised feature datasets from the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classic marketing analytics workflow. We take transactional history from the warehouse, aggregate it to summarize each customer's behaviour, and let an unsupervised clustering algorithm group similar customers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building classification models, the warehouse makes time-based separation easier. Features must be calculated strictly from historical information, while the future window is used only to generate the target label. This prevents target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our fact table is built at the transactional line-item grain, it is well suited for Market Basket Analysis. We group products by order and let Apriori or FP-Growth discover frequent itemsets and association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MLflow supports experiment tracking, evaluation, model registries, and deployment. We introduce it after the data foundation is reliable because tracking experiments does not compensate for poor or inconsistent input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is about environment setup. Ensure your local VS Code environment can communicate with your Databricks workspace before Lab 1. Later labs assume this foundation 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small script validates the full setup. It connects from the local machine to Databricks serverless compute, creates a Spark DataFrame, and runs a filter. Once this works, the development architecture is operational.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data processing does not happen on your laptop. Databricks Connect acts as the bridge: your local code is authenticated and submitted to Databricks serverless Spark for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engineering tools evolve rapidly. We standardise the lab environment on Python 3.12 and Databricks Connect 17.3 LTS for consistency. Follow the lab installation guide precisely to reduce compatibility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these points. If you understand how data flows from a raw CSV file all the way into a customer segmentation model, you have the mental model needed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53935"/>
          </a:solidFill>
          <a:ln w="12700">
            <a:solidFill>
              <a:srgbClr val="E53935"/>
            </a:solidFill>
            <a:prstDash val="solid"/>
          </a:ln>
        </p:spPr>
      </p:sp>
      <p:sp>
        <p:nvSpPr>
          <p:cNvPr id="3" name="Text 1"/>
          <p:cNvSpPr/>
          <p:nvPr/>
        </p:nvSpPr>
        <p:spPr>
          <a:xfrm>
            <a:off x="502920" y="6473952"/>
            <a:ext cx="2743200" cy="164592"/>
          </a:xfrm>
          <a:prstGeom prst="rect">
            <a:avLst/>
          </a:prstGeom>
          <a:noFill/>
          <a:ln/>
        </p:spPr>
        <p:txBody>
          <a:bodyPr wrap="square" lIns="0" tIns="0" rIns="0" bIns="0" rtlCol="0" anchor="ctr"/>
          <a:lstStyle/>
          <a:p>
            <a:pPr indent="0" marL="0">
              <a:buNone/>
            </a:pPr>
            <a:r>
              <a:rPr lang="en-US" sz="850" dirty="0">
                <a:solidFill>
                  <a:srgbClr val="667085"/>
                </a:solidFill>
                <a:latin typeface="Aptos" pitchFamily="34" charset="0"/>
                <a:ea typeface="Aptos" pitchFamily="34" charset="-122"/>
                <a:cs typeface="Aptos" pitchFamily="34" charset="-120"/>
              </a:rPr>
              <a:t>COMP 454-3  •  2026</a:t>
            </a:r>
            <a:endParaRPr lang="en-US" sz="850" dirty="0"/>
          </a:p>
        </p:txBody>
      </p:sp>
      <p:sp>
        <p:nvSpPr>
          <p:cNvPr id="4" name="Text 2"/>
          <p:cNvSpPr/>
          <p:nvPr/>
        </p:nvSpPr>
        <p:spPr>
          <a:xfrm>
            <a:off x="8321040" y="6473952"/>
            <a:ext cx="3337560" cy="164592"/>
          </a:xfrm>
          <a:prstGeom prst="rect">
            <a:avLst/>
          </a:prstGeom>
          <a:noFill/>
          <a:ln/>
        </p:spPr>
        <p:txBody>
          <a:bodyPr wrap="square" lIns="0" tIns="0" rIns="0" bIns="0" rtlCol="0" anchor="ctr"/>
          <a:lstStyle/>
          <a:p>
            <a:pPr algn="r" indent="0" marL="0">
              <a:buNone/>
            </a:pPr>
            <a:r>
              <a:rPr lang="en-US" sz="850" dirty="0">
                <a:solidFill>
                  <a:srgbClr val="98A2B3"/>
                </a:solidFill>
                <a:latin typeface="Aptos" pitchFamily="34" charset="0"/>
                <a:ea typeface="Aptos" pitchFamily="34" charset="-122"/>
                <a:cs typeface="Aptos" pitchFamily="34" charset="-120"/>
              </a:rPr>
              <a:t>DATA WAREHOUSES &amp; DATA MINING</a:t>
            </a:r>
            <a:endParaRPr lang="en-US" sz="85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53935"/>
          </a:solidFill>
          <a:ln w="12700">
            <a:solidFill>
              <a:srgbClr val="E53935"/>
            </a:solidFill>
            <a:prstDash val="solid"/>
          </a:ln>
        </p:spPr>
      </p:sp>
      <p:sp>
        <p:nvSpPr>
          <p:cNvPr id="3" name="Text 1"/>
          <p:cNvSpPr/>
          <p:nvPr/>
        </p:nvSpPr>
        <p:spPr>
          <a:xfrm>
            <a:off x="685800" y="841248"/>
            <a:ext cx="6675120" cy="1417320"/>
          </a:xfrm>
          <a:prstGeom prst="rect">
            <a:avLst/>
          </a:prstGeom>
          <a:noFill/>
          <a:ln/>
        </p:spPr>
        <p:txBody>
          <a:bodyPr wrap="square" lIns="0" tIns="0" rIns="0" bIns="0" rtlCol="0" anchor="ctr"/>
          <a:lstStyle/>
          <a:p>
            <a:pPr indent="0" marL="0">
              <a:buNone/>
            </a:pPr>
            <a:r>
              <a:rPr lang="en-US" sz="3400" b="1" dirty="0">
                <a:solidFill>
                  <a:srgbClr val="FFFFFF"/>
                </a:solidFill>
              </a:rPr>
              <a:t>DATA WAREHOUSES</a:t>
            </a:r>
            <a:endParaRPr lang="en-US" sz="3400" dirty="0"/>
          </a:p>
          <a:p>
            <a:pPr indent="0" marL="0">
              <a:buNone/>
            </a:pPr>
            <a:r>
              <a:rPr lang="en-US" sz="3400" b="1" dirty="0">
                <a:solidFill>
                  <a:srgbClr val="FFFFFF"/>
                </a:solidFill>
              </a:rPr>
              <a:t>AND DATA MINING</a:t>
            </a:r>
            <a:endParaRPr lang="en-US" sz="3400" dirty="0"/>
          </a:p>
        </p:txBody>
      </p:sp>
      <p:sp>
        <p:nvSpPr>
          <p:cNvPr id="4" name="Text 2"/>
          <p:cNvSpPr/>
          <p:nvPr/>
        </p:nvSpPr>
        <p:spPr>
          <a:xfrm>
            <a:off x="713232" y="2523744"/>
            <a:ext cx="7223760" cy="502920"/>
          </a:xfrm>
          <a:prstGeom prst="rect">
            <a:avLst/>
          </a:prstGeom>
          <a:noFill/>
          <a:ln/>
        </p:spPr>
        <p:txBody>
          <a:bodyPr wrap="square" lIns="0" tIns="0" rIns="0" bIns="0" rtlCol="0" anchor="ctr"/>
          <a:lstStyle/>
          <a:p>
            <a:pPr indent="0" marL="0">
              <a:buNone/>
            </a:pPr>
            <a:r>
              <a:rPr lang="en-US" sz="2200" dirty="0">
                <a:solidFill>
                  <a:srgbClr val="DCE4F2"/>
                </a:solidFill>
              </a:rPr>
              <a:t>Lecture 1 — From Data to Knowledge with Databricks</a:t>
            </a:r>
            <a:endParaRPr lang="en-US" sz="2200" dirty="0"/>
          </a:p>
        </p:txBody>
      </p:sp>
      <p:sp>
        <p:nvSpPr>
          <p:cNvPr id="5" name="Text 3"/>
          <p:cNvSpPr/>
          <p:nvPr/>
        </p:nvSpPr>
        <p:spPr>
          <a:xfrm>
            <a:off x="713232" y="3218688"/>
            <a:ext cx="2926080" cy="256032"/>
          </a:xfrm>
          <a:prstGeom prst="rect">
            <a:avLst/>
          </a:prstGeom>
          <a:noFill/>
          <a:ln/>
        </p:spPr>
        <p:txBody>
          <a:bodyPr wrap="square" lIns="0" tIns="0" rIns="0" bIns="0" rtlCol="0" anchor="ctr"/>
          <a:lstStyle/>
          <a:p>
            <a:pPr indent="0" marL="0">
              <a:buNone/>
            </a:pPr>
            <a:r>
              <a:rPr lang="en-US" sz="1300" b="1" dirty="0">
                <a:solidFill>
                  <a:srgbClr val="9FB0C9"/>
                </a:solidFill>
              </a:rPr>
              <a:t>COMP 454-3  •  2026</a:t>
            </a:r>
            <a:endParaRPr lang="en-US" sz="1300" dirty="0"/>
          </a:p>
        </p:txBody>
      </p:sp>
      <p:sp>
        <p:nvSpPr>
          <p:cNvPr id="6" name="Shape 4"/>
          <p:cNvSpPr/>
          <p:nvPr/>
        </p:nvSpPr>
        <p:spPr>
          <a:xfrm>
            <a:off x="7818120" y="1828800"/>
            <a:ext cx="749808" cy="749808"/>
          </a:xfrm>
          <a:prstGeom prst="roundRect">
            <a:avLst>
              <a:gd name="adj" fmla="val 7317"/>
            </a:avLst>
          </a:prstGeom>
          <a:solidFill>
            <a:srgbClr val="7C2D12"/>
          </a:solidFill>
          <a:ln w="12700">
            <a:solidFill>
              <a:srgbClr val="7C2D12"/>
            </a:solidFill>
            <a:prstDash val="solid"/>
          </a:ln>
        </p:spPr>
      </p:sp>
      <p:sp>
        <p:nvSpPr>
          <p:cNvPr id="7" name="Text 5"/>
          <p:cNvSpPr/>
          <p:nvPr/>
        </p:nvSpPr>
        <p:spPr>
          <a:xfrm>
            <a:off x="7863840" y="1874520"/>
            <a:ext cx="658368" cy="658368"/>
          </a:xfrm>
          <a:prstGeom prst="rect">
            <a:avLst/>
          </a:prstGeom>
          <a:noFill/>
          <a:ln/>
        </p:spPr>
        <p:txBody>
          <a:bodyPr wrap="square" lIns="254" tIns="254" rIns="254" bIns="254" rtlCol="0" anchor="ctr">
            <a:normAutofit/>
          </a:bodyPr>
          <a:lstStyle/>
          <a:p>
            <a:pPr algn="ctr" indent="0" marL="0">
              <a:buNone/>
            </a:pPr>
            <a:r>
              <a:rPr lang="en-US" sz="1300" b="1" dirty="0">
                <a:solidFill>
                  <a:srgbClr val="FFFFFF"/>
                </a:solidFill>
              </a:rPr>
              <a:t>RAW</a:t>
            </a:r>
            <a:endParaRPr lang="en-US" sz="1300" dirty="0"/>
          </a:p>
        </p:txBody>
      </p:sp>
      <p:sp>
        <p:nvSpPr>
          <p:cNvPr id="8" name="Shape 6"/>
          <p:cNvSpPr/>
          <p:nvPr/>
        </p:nvSpPr>
        <p:spPr>
          <a:xfrm>
            <a:off x="8732520" y="1828800"/>
            <a:ext cx="749808" cy="749808"/>
          </a:xfrm>
          <a:prstGeom prst="roundRect">
            <a:avLst>
              <a:gd name="adj" fmla="val 7317"/>
            </a:avLst>
          </a:prstGeom>
          <a:solidFill>
            <a:srgbClr val="475569"/>
          </a:solidFill>
          <a:ln w="12700">
            <a:solidFill>
              <a:srgbClr val="475569"/>
            </a:solidFill>
            <a:prstDash val="solid"/>
          </a:ln>
        </p:spPr>
      </p:sp>
      <p:sp>
        <p:nvSpPr>
          <p:cNvPr id="9" name="Text 7"/>
          <p:cNvSpPr/>
          <p:nvPr/>
        </p:nvSpPr>
        <p:spPr>
          <a:xfrm>
            <a:off x="8778240" y="1874520"/>
            <a:ext cx="658368" cy="658368"/>
          </a:xfrm>
          <a:prstGeom prst="rect">
            <a:avLst/>
          </a:prstGeom>
          <a:noFill/>
          <a:ln/>
        </p:spPr>
        <p:txBody>
          <a:bodyPr wrap="square" lIns="254" tIns="254" rIns="254" bIns="254" rtlCol="0" anchor="ctr">
            <a:normAutofit/>
          </a:bodyPr>
          <a:lstStyle/>
          <a:p>
            <a:pPr algn="ctr" indent="0" marL="0">
              <a:buNone/>
            </a:pPr>
            <a:r>
              <a:rPr lang="en-US" sz="1300" b="1" dirty="0">
                <a:solidFill>
                  <a:srgbClr val="FFFFFF"/>
                </a:solidFill>
              </a:rPr>
              <a:t>CLEAN</a:t>
            </a:r>
            <a:endParaRPr lang="en-US" sz="1300" dirty="0"/>
          </a:p>
        </p:txBody>
      </p:sp>
      <p:sp>
        <p:nvSpPr>
          <p:cNvPr id="10" name="Shape 8"/>
          <p:cNvSpPr/>
          <p:nvPr/>
        </p:nvSpPr>
        <p:spPr>
          <a:xfrm>
            <a:off x="9646920" y="1828800"/>
            <a:ext cx="749808" cy="749808"/>
          </a:xfrm>
          <a:prstGeom prst="roundRect">
            <a:avLst>
              <a:gd name="adj" fmla="val 7317"/>
            </a:avLst>
          </a:prstGeom>
          <a:solidFill>
            <a:srgbClr val="B7791F"/>
          </a:solidFill>
          <a:ln w="12700">
            <a:solidFill>
              <a:srgbClr val="B7791F"/>
            </a:solidFill>
            <a:prstDash val="solid"/>
          </a:ln>
        </p:spPr>
      </p:sp>
      <p:sp>
        <p:nvSpPr>
          <p:cNvPr id="11" name="Text 9"/>
          <p:cNvSpPr/>
          <p:nvPr/>
        </p:nvSpPr>
        <p:spPr>
          <a:xfrm>
            <a:off x="9692640" y="1874520"/>
            <a:ext cx="658368" cy="658368"/>
          </a:xfrm>
          <a:prstGeom prst="rect">
            <a:avLst/>
          </a:prstGeom>
          <a:noFill/>
          <a:ln/>
        </p:spPr>
        <p:txBody>
          <a:bodyPr wrap="square" lIns="254" tIns="254" rIns="254" bIns="254" rtlCol="0" anchor="ctr">
            <a:normAutofit/>
          </a:bodyPr>
          <a:lstStyle/>
          <a:p>
            <a:pPr algn="ctr" indent="0" marL="0">
              <a:buNone/>
            </a:pPr>
            <a:r>
              <a:rPr lang="en-US" sz="1300" b="1" dirty="0">
                <a:solidFill>
                  <a:srgbClr val="FFFFFF"/>
                </a:solidFill>
              </a:rPr>
              <a:t>GOLD</a:t>
            </a:r>
            <a:endParaRPr lang="en-US" sz="1300" dirty="0"/>
          </a:p>
        </p:txBody>
      </p:sp>
      <p:sp>
        <p:nvSpPr>
          <p:cNvPr id="12" name="Shape 10"/>
          <p:cNvSpPr/>
          <p:nvPr/>
        </p:nvSpPr>
        <p:spPr>
          <a:xfrm>
            <a:off x="10561320" y="1828800"/>
            <a:ext cx="749808" cy="749808"/>
          </a:xfrm>
          <a:prstGeom prst="roundRect">
            <a:avLst>
              <a:gd name="adj" fmla="val 7317"/>
            </a:avLst>
          </a:prstGeom>
          <a:solidFill>
            <a:srgbClr val="2563EB"/>
          </a:solidFill>
          <a:ln w="12700">
            <a:solidFill>
              <a:srgbClr val="2563EB"/>
            </a:solidFill>
            <a:prstDash val="solid"/>
          </a:ln>
        </p:spPr>
      </p:sp>
      <p:sp>
        <p:nvSpPr>
          <p:cNvPr id="13" name="Text 11"/>
          <p:cNvSpPr/>
          <p:nvPr/>
        </p:nvSpPr>
        <p:spPr>
          <a:xfrm>
            <a:off x="10607040" y="1874520"/>
            <a:ext cx="658368" cy="658368"/>
          </a:xfrm>
          <a:prstGeom prst="rect">
            <a:avLst/>
          </a:prstGeom>
          <a:noFill/>
          <a:ln/>
        </p:spPr>
        <p:txBody>
          <a:bodyPr wrap="square" lIns="254" tIns="254" rIns="254" bIns="254" rtlCol="0" anchor="ctr">
            <a:normAutofit/>
          </a:bodyPr>
          <a:lstStyle/>
          <a:p>
            <a:pPr algn="ctr" indent="0" marL="0">
              <a:buNone/>
            </a:pPr>
            <a:r>
              <a:rPr lang="en-US" sz="1300" b="1" dirty="0">
                <a:solidFill>
                  <a:srgbClr val="FFFFFF"/>
                </a:solidFill>
              </a:rPr>
              <a:t>ML</a:t>
            </a:r>
            <a:endParaRPr lang="en-US" sz="1300" dirty="0"/>
          </a:p>
        </p:txBody>
      </p:sp>
      <p:sp>
        <p:nvSpPr>
          <p:cNvPr id="14" name="Shape 12"/>
          <p:cNvSpPr/>
          <p:nvPr/>
        </p:nvSpPr>
        <p:spPr>
          <a:xfrm>
            <a:off x="8567928" y="2203704"/>
            <a:ext cx="155448" cy="0"/>
          </a:xfrm>
          <a:prstGeom prst="line">
            <a:avLst/>
          </a:prstGeom>
          <a:noFill/>
          <a:ln w="21590">
            <a:solidFill>
              <a:srgbClr val="93A4BD"/>
            </a:solidFill>
            <a:prstDash val="solid"/>
            <a:headEnd type="none"/>
            <a:tailEnd type="triangle"/>
          </a:ln>
        </p:spPr>
      </p:sp>
      <p:sp>
        <p:nvSpPr>
          <p:cNvPr id="15" name="Shape 13"/>
          <p:cNvSpPr/>
          <p:nvPr/>
        </p:nvSpPr>
        <p:spPr>
          <a:xfrm>
            <a:off x="9482328" y="2203704"/>
            <a:ext cx="155448" cy="0"/>
          </a:xfrm>
          <a:prstGeom prst="line">
            <a:avLst/>
          </a:prstGeom>
          <a:noFill/>
          <a:ln w="21590">
            <a:solidFill>
              <a:srgbClr val="93A4BD"/>
            </a:solidFill>
            <a:prstDash val="solid"/>
            <a:headEnd type="none"/>
            <a:tailEnd type="triangle"/>
          </a:ln>
        </p:spPr>
      </p:sp>
      <p:sp>
        <p:nvSpPr>
          <p:cNvPr id="16" name="Shape 14"/>
          <p:cNvSpPr/>
          <p:nvPr/>
        </p:nvSpPr>
        <p:spPr>
          <a:xfrm>
            <a:off x="10396728" y="2203704"/>
            <a:ext cx="155448" cy="0"/>
          </a:xfrm>
          <a:prstGeom prst="line">
            <a:avLst/>
          </a:prstGeom>
          <a:noFill/>
          <a:ln w="21590">
            <a:solidFill>
              <a:srgbClr val="93A4BD"/>
            </a:solidFill>
            <a:prstDash val="solid"/>
            <a:headEnd type="none"/>
            <a:tailEnd type="triangle"/>
          </a:ln>
        </p:spPr>
      </p:sp>
      <p:sp>
        <p:nvSpPr>
          <p:cNvPr id="17" name="Shape 15"/>
          <p:cNvSpPr/>
          <p:nvPr/>
        </p:nvSpPr>
        <p:spPr>
          <a:xfrm>
            <a:off x="7818120" y="2944368"/>
            <a:ext cx="3520440" cy="1481328"/>
          </a:xfrm>
          <a:prstGeom prst="arc">
            <a:avLst/>
          </a:prstGeom>
          <a:noFill/>
          <a:ln w="25400">
            <a:solidFill>
              <a:srgbClr val="45637F"/>
            </a:solidFill>
            <a:prstDash val="solid"/>
          </a:ln>
        </p:spPr>
      </p:sp>
      <p:sp>
        <p:nvSpPr>
          <p:cNvPr id="18" name="Text 16"/>
          <p:cNvSpPr/>
          <p:nvPr/>
        </p:nvSpPr>
        <p:spPr>
          <a:xfrm>
            <a:off x="7863840" y="4178808"/>
            <a:ext cx="3429000" cy="274320"/>
          </a:xfrm>
          <a:prstGeom prst="rect">
            <a:avLst/>
          </a:prstGeom>
          <a:noFill/>
          <a:ln/>
        </p:spPr>
        <p:txBody>
          <a:bodyPr wrap="square" lIns="0" tIns="0" rIns="0" bIns="0" rtlCol="0" anchor="ctr"/>
          <a:lstStyle/>
          <a:p>
            <a:pPr algn="ctr" indent="0" marL="0">
              <a:buNone/>
            </a:pPr>
            <a:r>
              <a:rPr lang="en-US" sz="1300" i="1" dirty="0">
                <a:solidFill>
                  <a:srgbClr val="9FB0C9"/>
                </a:solidFill>
              </a:rPr>
              <a:t>one continuous analytical pipeline</a:t>
            </a:r>
            <a:endParaRPr lang="en-US" sz="1300" dirty="0"/>
          </a:p>
        </p:txBody>
      </p:sp>
      <p:sp>
        <p:nvSpPr>
          <p:cNvPr id="19" name="Text 17"/>
          <p:cNvSpPr/>
          <p:nvPr/>
        </p:nvSpPr>
        <p:spPr>
          <a:xfrm>
            <a:off x="731520" y="5074920"/>
            <a:ext cx="10607040" cy="548640"/>
          </a:xfrm>
          <a:prstGeom prst="rect">
            <a:avLst/>
          </a:prstGeom>
          <a:noFill/>
          <a:ln/>
        </p:spPr>
        <p:txBody>
          <a:bodyPr wrap="square" lIns="0" tIns="0" rIns="0" bIns="0" rtlCol="0" anchor="ctr"/>
          <a:lstStyle/>
          <a:p>
            <a:pPr indent="0" marL="0">
              <a:buNone/>
            </a:pPr>
            <a:r>
              <a:rPr lang="en-US" sz="1900" dirty="0">
                <a:solidFill>
                  <a:srgbClr val="FFFFFF"/>
                </a:solidFill>
              </a:rPr>
              <a:t>From operational records to trustworthy data, analytical models, and knowledge.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LECTURE MAP</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Learning Objectives</a:t>
            </a:r>
            <a:endParaRPr lang="en-US" sz="2800" dirty="0"/>
          </a:p>
        </p:txBody>
      </p:sp>
      <p:sp>
        <p:nvSpPr>
          <p:cNvPr id="4" name="Shape 2"/>
          <p:cNvSpPr/>
          <p:nvPr/>
        </p:nvSpPr>
        <p:spPr>
          <a:xfrm>
            <a:off x="594360" y="1353312"/>
            <a:ext cx="3127248" cy="1572768"/>
          </a:xfrm>
          <a:prstGeom prst="roundRect">
            <a:avLst>
              <a:gd name="adj" fmla="val 4651"/>
            </a:avLst>
          </a:prstGeom>
          <a:solidFill>
            <a:srgbClr val="FFFFFF"/>
          </a:solidFill>
          <a:ln w="12700">
            <a:solidFill>
              <a:srgbClr val="D9E0E8"/>
            </a:solidFill>
            <a:prstDash val="solid"/>
          </a:ln>
        </p:spPr>
      </p:sp>
      <p:sp>
        <p:nvSpPr>
          <p:cNvPr id="5" name="Shape 3"/>
          <p:cNvSpPr/>
          <p:nvPr/>
        </p:nvSpPr>
        <p:spPr>
          <a:xfrm>
            <a:off x="594360" y="1353312"/>
            <a:ext cx="64008" cy="1572768"/>
          </a:xfrm>
          <a:prstGeom prst="rect">
            <a:avLst/>
          </a:prstGeom>
          <a:solidFill>
            <a:srgbClr val="2E5BFF"/>
          </a:solidFill>
          <a:ln w="12700">
            <a:solidFill>
              <a:srgbClr val="2E5BFF"/>
            </a:solidFill>
            <a:prstDash val="solid"/>
          </a:ln>
        </p:spPr>
      </p:sp>
      <p:sp>
        <p:nvSpPr>
          <p:cNvPr id="6" name="Text 4"/>
          <p:cNvSpPr/>
          <p:nvPr/>
        </p:nvSpPr>
        <p:spPr>
          <a:xfrm>
            <a:off x="822960" y="1517904"/>
            <a:ext cx="2715768" cy="256032"/>
          </a:xfrm>
          <a:prstGeom prst="rect">
            <a:avLst/>
          </a:prstGeom>
          <a:noFill/>
          <a:ln/>
        </p:spPr>
        <p:txBody>
          <a:bodyPr wrap="square" lIns="0" tIns="0" rIns="0" bIns="0" rtlCol="0" anchor="ctr"/>
          <a:lstStyle/>
          <a:p>
            <a:pPr indent="0" marL="0">
              <a:buNone/>
            </a:pPr>
            <a:r>
              <a:rPr lang="en-US" sz="1650" b="1" dirty="0">
                <a:solidFill>
                  <a:srgbClr val="15233C"/>
                </a:solidFill>
              </a:rPr>
              <a:t>Unified Pipeline</a:t>
            </a:r>
            <a:endParaRPr lang="en-US" sz="1650" dirty="0"/>
          </a:p>
        </p:txBody>
      </p:sp>
      <p:sp>
        <p:nvSpPr>
          <p:cNvPr id="7" name="Text 5"/>
          <p:cNvSpPr/>
          <p:nvPr/>
        </p:nvSpPr>
        <p:spPr>
          <a:xfrm>
            <a:off x="822960" y="1920240"/>
            <a:ext cx="2715768" cy="859536"/>
          </a:xfrm>
          <a:prstGeom prst="rect">
            <a:avLst/>
          </a:prstGeom>
          <a:noFill/>
          <a:ln/>
        </p:spPr>
        <p:txBody>
          <a:bodyPr wrap="square" lIns="254" tIns="254" rIns="254" bIns="254" rtlCol="0" anchor="t">
            <a:normAutofit/>
          </a:bodyPr>
          <a:lstStyle/>
          <a:p>
            <a:pPr indent="0" marL="0">
              <a:buNone/>
            </a:pPr>
            <a:r>
              <a:rPr lang="en-US" sz="1240" dirty="0">
                <a:solidFill>
                  <a:srgbClr val="1F2937"/>
                </a:solidFill>
              </a:rPr>
              <a:t>Explain how DW and DM form one continuous analytical workflow.</a:t>
            </a:r>
            <a:endParaRPr lang="en-US" sz="1240" dirty="0"/>
          </a:p>
        </p:txBody>
      </p:sp>
      <p:sp>
        <p:nvSpPr>
          <p:cNvPr id="8" name="Shape 6"/>
          <p:cNvSpPr/>
          <p:nvPr/>
        </p:nvSpPr>
        <p:spPr>
          <a:xfrm>
            <a:off x="4087368" y="1353312"/>
            <a:ext cx="3127248" cy="1572768"/>
          </a:xfrm>
          <a:prstGeom prst="roundRect">
            <a:avLst>
              <a:gd name="adj" fmla="val 4651"/>
            </a:avLst>
          </a:prstGeom>
          <a:solidFill>
            <a:srgbClr val="FFFFFF"/>
          </a:solidFill>
          <a:ln w="12700">
            <a:solidFill>
              <a:srgbClr val="D9E0E8"/>
            </a:solidFill>
            <a:prstDash val="solid"/>
          </a:ln>
        </p:spPr>
      </p:sp>
      <p:sp>
        <p:nvSpPr>
          <p:cNvPr id="9" name="Shape 7"/>
          <p:cNvSpPr/>
          <p:nvPr/>
        </p:nvSpPr>
        <p:spPr>
          <a:xfrm>
            <a:off x="4087368" y="1353312"/>
            <a:ext cx="64008" cy="1572768"/>
          </a:xfrm>
          <a:prstGeom prst="rect">
            <a:avLst/>
          </a:prstGeom>
          <a:solidFill>
            <a:srgbClr val="E53935"/>
          </a:solidFill>
          <a:ln w="12700">
            <a:solidFill>
              <a:srgbClr val="E53935"/>
            </a:solidFill>
            <a:prstDash val="solid"/>
          </a:ln>
        </p:spPr>
      </p:sp>
      <p:sp>
        <p:nvSpPr>
          <p:cNvPr id="10" name="Text 8"/>
          <p:cNvSpPr/>
          <p:nvPr/>
        </p:nvSpPr>
        <p:spPr>
          <a:xfrm>
            <a:off x="4315968" y="1517904"/>
            <a:ext cx="2715768" cy="256032"/>
          </a:xfrm>
          <a:prstGeom prst="rect">
            <a:avLst/>
          </a:prstGeom>
          <a:noFill/>
          <a:ln/>
        </p:spPr>
        <p:txBody>
          <a:bodyPr wrap="square" lIns="0" tIns="0" rIns="0" bIns="0" rtlCol="0" anchor="ctr"/>
          <a:lstStyle/>
          <a:p>
            <a:pPr indent="0" marL="0">
              <a:buNone/>
            </a:pPr>
            <a:r>
              <a:rPr lang="en-US" sz="1650" b="1" dirty="0">
                <a:solidFill>
                  <a:srgbClr val="15233C"/>
                </a:solidFill>
              </a:rPr>
              <a:t>Architectural Distinctions</a:t>
            </a:r>
            <a:endParaRPr lang="en-US" sz="1650" dirty="0"/>
          </a:p>
        </p:txBody>
      </p:sp>
      <p:sp>
        <p:nvSpPr>
          <p:cNvPr id="11" name="Text 9"/>
          <p:cNvSpPr/>
          <p:nvPr/>
        </p:nvSpPr>
        <p:spPr>
          <a:xfrm>
            <a:off x="4315968" y="1920240"/>
            <a:ext cx="2715768" cy="859536"/>
          </a:xfrm>
          <a:prstGeom prst="rect">
            <a:avLst/>
          </a:prstGeom>
          <a:noFill/>
          <a:ln/>
        </p:spPr>
        <p:txBody>
          <a:bodyPr wrap="square" lIns="254" tIns="254" rIns="254" bIns="254" rtlCol="0" anchor="t">
            <a:normAutofit/>
          </a:bodyPr>
          <a:lstStyle/>
          <a:p>
            <a:pPr indent="0" marL="0">
              <a:buNone/>
            </a:pPr>
            <a:r>
              <a:rPr lang="en-US" sz="1240" dirty="0">
                <a:solidFill>
                  <a:srgbClr val="1F2937"/>
                </a:solidFill>
              </a:rPr>
              <a:t>Distinguish operational DBs, warehouses, lakes, and lakehouses.</a:t>
            </a:r>
            <a:endParaRPr lang="en-US" sz="1240" dirty="0"/>
          </a:p>
        </p:txBody>
      </p:sp>
      <p:sp>
        <p:nvSpPr>
          <p:cNvPr id="12" name="Shape 10"/>
          <p:cNvSpPr/>
          <p:nvPr/>
        </p:nvSpPr>
        <p:spPr>
          <a:xfrm>
            <a:off x="7580376" y="1353312"/>
            <a:ext cx="3127248" cy="1572768"/>
          </a:xfrm>
          <a:prstGeom prst="roundRect">
            <a:avLst>
              <a:gd name="adj" fmla="val 4651"/>
            </a:avLst>
          </a:prstGeom>
          <a:solidFill>
            <a:srgbClr val="FFFFFF"/>
          </a:solidFill>
          <a:ln w="12700">
            <a:solidFill>
              <a:srgbClr val="D9E0E8"/>
            </a:solidFill>
            <a:prstDash val="solid"/>
          </a:ln>
        </p:spPr>
      </p:sp>
      <p:sp>
        <p:nvSpPr>
          <p:cNvPr id="13" name="Shape 11"/>
          <p:cNvSpPr/>
          <p:nvPr/>
        </p:nvSpPr>
        <p:spPr>
          <a:xfrm>
            <a:off x="7580376" y="1353312"/>
            <a:ext cx="64008" cy="1572768"/>
          </a:xfrm>
          <a:prstGeom prst="rect">
            <a:avLst/>
          </a:prstGeom>
          <a:solidFill>
            <a:srgbClr val="0F766E"/>
          </a:solidFill>
          <a:ln w="12700">
            <a:solidFill>
              <a:srgbClr val="0F766E"/>
            </a:solidFill>
            <a:prstDash val="solid"/>
          </a:ln>
        </p:spPr>
      </p:sp>
      <p:sp>
        <p:nvSpPr>
          <p:cNvPr id="14" name="Text 12"/>
          <p:cNvSpPr/>
          <p:nvPr/>
        </p:nvSpPr>
        <p:spPr>
          <a:xfrm>
            <a:off x="7808976" y="1517904"/>
            <a:ext cx="2715768" cy="256032"/>
          </a:xfrm>
          <a:prstGeom prst="rect">
            <a:avLst/>
          </a:prstGeom>
          <a:noFill/>
          <a:ln/>
        </p:spPr>
        <p:txBody>
          <a:bodyPr wrap="square" lIns="0" tIns="0" rIns="0" bIns="0" rtlCol="0" anchor="ctr"/>
          <a:lstStyle/>
          <a:p>
            <a:pPr indent="0" marL="0">
              <a:buNone/>
            </a:pPr>
            <a:r>
              <a:rPr lang="en-US" sz="1650" b="1" dirty="0">
                <a:solidFill>
                  <a:srgbClr val="15233C"/>
                </a:solidFill>
              </a:rPr>
              <a:t>Platform Navigation</a:t>
            </a:r>
            <a:endParaRPr lang="en-US" sz="1650" dirty="0"/>
          </a:p>
        </p:txBody>
      </p:sp>
      <p:sp>
        <p:nvSpPr>
          <p:cNvPr id="15" name="Text 13"/>
          <p:cNvSpPr/>
          <p:nvPr/>
        </p:nvSpPr>
        <p:spPr>
          <a:xfrm>
            <a:off x="7808976" y="1920240"/>
            <a:ext cx="2715768" cy="859536"/>
          </a:xfrm>
          <a:prstGeom prst="rect">
            <a:avLst/>
          </a:prstGeom>
          <a:noFill/>
          <a:ln/>
        </p:spPr>
        <p:txBody>
          <a:bodyPr wrap="square" lIns="254" tIns="254" rIns="254" bIns="254" rtlCol="0" anchor="t">
            <a:normAutofit/>
          </a:bodyPr>
          <a:lstStyle/>
          <a:p>
            <a:pPr indent="0" marL="0">
              <a:buNone/>
            </a:pPr>
            <a:r>
              <a:rPr lang="en-US" sz="1240" dirty="0">
                <a:solidFill>
                  <a:srgbClr val="1F2937"/>
                </a:solidFill>
              </a:rPr>
              <a:t>Identify workspace, notebooks, SQL, PySpark, Delta Lake, Unity Catalog, and serverless compute.</a:t>
            </a:r>
            <a:endParaRPr lang="en-US" sz="1240" dirty="0"/>
          </a:p>
        </p:txBody>
      </p:sp>
      <p:sp>
        <p:nvSpPr>
          <p:cNvPr id="16" name="Shape 14"/>
          <p:cNvSpPr/>
          <p:nvPr/>
        </p:nvSpPr>
        <p:spPr>
          <a:xfrm>
            <a:off x="594360" y="3419856"/>
            <a:ext cx="3127248" cy="1572768"/>
          </a:xfrm>
          <a:prstGeom prst="roundRect">
            <a:avLst>
              <a:gd name="adj" fmla="val 4651"/>
            </a:avLst>
          </a:prstGeom>
          <a:solidFill>
            <a:srgbClr val="FFFFFF"/>
          </a:solidFill>
          <a:ln w="12700">
            <a:solidFill>
              <a:srgbClr val="D9E0E8"/>
            </a:solidFill>
            <a:prstDash val="solid"/>
          </a:ln>
        </p:spPr>
      </p:sp>
      <p:sp>
        <p:nvSpPr>
          <p:cNvPr id="17" name="Shape 15"/>
          <p:cNvSpPr/>
          <p:nvPr/>
        </p:nvSpPr>
        <p:spPr>
          <a:xfrm>
            <a:off x="594360" y="3419856"/>
            <a:ext cx="64008" cy="1572768"/>
          </a:xfrm>
          <a:prstGeom prst="rect">
            <a:avLst/>
          </a:prstGeom>
          <a:solidFill>
            <a:srgbClr val="F59E0B"/>
          </a:solidFill>
          <a:ln w="12700">
            <a:solidFill>
              <a:srgbClr val="F59E0B"/>
            </a:solidFill>
            <a:prstDash val="solid"/>
          </a:ln>
        </p:spPr>
      </p:sp>
      <p:sp>
        <p:nvSpPr>
          <p:cNvPr id="18" name="Text 16"/>
          <p:cNvSpPr/>
          <p:nvPr/>
        </p:nvSpPr>
        <p:spPr>
          <a:xfrm>
            <a:off x="822960" y="3584448"/>
            <a:ext cx="2715768" cy="256032"/>
          </a:xfrm>
          <a:prstGeom prst="rect">
            <a:avLst/>
          </a:prstGeom>
          <a:noFill/>
          <a:ln/>
        </p:spPr>
        <p:txBody>
          <a:bodyPr wrap="square" lIns="0" tIns="0" rIns="0" bIns="0" rtlCol="0" anchor="ctr"/>
          <a:lstStyle/>
          <a:p>
            <a:pPr indent="0" marL="0">
              <a:buNone/>
            </a:pPr>
            <a:r>
              <a:rPr lang="en-US" sz="1650" b="1" dirty="0">
                <a:solidFill>
                  <a:srgbClr val="15233C"/>
                </a:solidFill>
              </a:rPr>
              <a:t>Data Refinement</a:t>
            </a:r>
            <a:endParaRPr lang="en-US" sz="1650" dirty="0"/>
          </a:p>
        </p:txBody>
      </p:sp>
      <p:sp>
        <p:nvSpPr>
          <p:cNvPr id="19" name="Text 17"/>
          <p:cNvSpPr/>
          <p:nvPr/>
        </p:nvSpPr>
        <p:spPr>
          <a:xfrm>
            <a:off x="822960" y="3986784"/>
            <a:ext cx="2715768" cy="859536"/>
          </a:xfrm>
          <a:prstGeom prst="rect">
            <a:avLst/>
          </a:prstGeom>
          <a:noFill/>
          <a:ln/>
        </p:spPr>
        <p:txBody>
          <a:bodyPr wrap="square" lIns="254" tIns="254" rIns="254" bIns="254" rtlCol="0" anchor="t">
            <a:normAutofit/>
          </a:bodyPr>
          <a:lstStyle/>
          <a:p>
            <a:pPr indent="0" marL="0">
              <a:buNone/>
            </a:pPr>
            <a:r>
              <a:rPr lang="en-US" sz="1240" dirty="0">
                <a:solidFill>
                  <a:srgbClr val="1F2937"/>
                </a:solidFill>
              </a:rPr>
              <a:t>Recognise Bronze → Silver → Gold and where dimensional modelling fits.</a:t>
            </a:r>
            <a:endParaRPr lang="en-US" sz="1240" dirty="0"/>
          </a:p>
        </p:txBody>
      </p:sp>
      <p:sp>
        <p:nvSpPr>
          <p:cNvPr id="20" name="Shape 18"/>
          <p:cNvSpPr/>
          <p:nvPr/>
        </p:nvSpPr>
        <p:spPr>
          <a:xfrm>
            <a:off x="4087368" y="3419856"/>
            <a:ext cx="3127248" cy="1572768"/>
          </a:xfrm>
          <a:prstGeom prst="roundRect">
            <a:avLst>
              <a:gd name="adj" fmla="val 4651"/>
            </a:avLst>
          </a:prstGeom>
          <a:solidFill>
            <a:srgbClr val="FFFFFF"/>
          </a:solidFill>
          <a:ln w="12700">
            <a:solidFill>
              <a:srgbClr val="D9E0E8"/>
            </a:solidFill>
            <a:prstDash val="solid"/>
          </a:ln>
        </p:spPr>
      </p:sp>
      <p:sp>
        <p:nvSpPr>
          <p:cNvPr id="21" name="Shape 19"/>
          <p:cNvSpPr/>
          <p:nvPr/>
        </p:nvSpPr>
        <p:spPr>
          <a:xfrm>
            <a:off x="4087368" y="3419856"/>
            <a:ext cx="64008" cy="1572768"/>
          </a:xfrm>
          <a:prstGeom prst="rect">
            <a:avLst/>
          </a:prstGeom>
          <a:solidFill>
            <a:srgbClr val="7C3AED"/>
          </a:solidFill>
          <a:ln w="12700">
            <a:solidFill>
              <a:srgbClr val="7C3AED"/>
            </a:solidFill>
            <a:prstDash val="solid"/>
          </a:ln>
        </p:spPr>
      </p:sp>
      <p:sp>
        <p:nvSpPr>
          <p:cNvPr id="22" name="Text 20"/>
          <p:cNvSpPr/>
          <p:nvPr/>
        </p:nvSpPr>
        <p:spPr>
          <a:xfrm>
            <a:off x="4315968" y="3584448"/>
            <a:ext cx="2715768" cy="256032"/>
          </a:xfrm>
          <a:prstGeom prst="rect">
            <a:avLst/>
          </a:prstGeom>
          <a:noFill/>
          <a:ln/>
        </p:spPr>
        <p:txBody>
          <a:bodyPr wrap="square" lIns="0" tIns="0" rIns="0" bIns="0" rtlCol="0" anchor="ctr"/>
          <a:lstStyle/>
          <a:p>
            <a:pPr indent="0" marL="0">
              <a:buNone/>
            </a:pPr>
            <a:r>
              <a:rPr lang="en-US" sz="1650" b="1" dirty="0">
                <a:solidFill>
                  <a:srgbClr val="15233C"/>
                </a:solidFill>
              </a:rPr>
              <a:t>SQL Foundations</a:t>
            </a:r>
            <a:endParaRPr lang="en-US" sz="1650" dirty="0"/>
          </a:p>
        </p:txBody>
      </p:sp>
      <p:sp>
        <p:nvSpPr>
          <p:cNvPr id="23" name="Text 21"/>
          <p:cNvSpPr/>
          <p:nvPr/>
        </p:nvSpPr>
        <p:spPr>
          <a:xfrm>
            <a:off x="4315968" y="3986784"/>
            <a:ext cx="2715768" cy="859536"/>
          </a:xfrm>
          <a:prstGeom prst="rect">
            <a:avLst/>
          </a:prstGeom>
          <a:noFill/>
          <a:ln/>
        </p:spPr>
        <p:txBody>
          <a:bodyPr wrap="square" lIns="254" tIns="254" rIns="254" bIns="254" rtlCol="0" anchor="t">
            <a:normAutofit/>
          </a:bodyPr>
          <a:lstStyle/>
          <a:p>
            <a:pPr indent="0" marL="0">
              <a:buNone/>
            </a:pPr>
            <a:r>
              <a:rPr lang="en-US" sz="1240" dirty="0">
                <a:solidFill>
                  <a:srgbClr val="1F2937"/>
                </a:solidFill>
              </a:rPr>
              <a:t>Use the SQL concepts needed to build and query fact and dimension tables.</a:t>
            </a:r>
            <a:endParaRPr lang="en-US" sz="1240" dirty="0"/>
          </a:p>
        </p:txBody>
      </p:sp>
      <p:sp>
        <p:nvSpPr>
          <p:cNvPr id="24" name="Shape 22"/>
          <p:cNvSpPr/>
          <p:nvPr/>
        </p:nvSpPr>
        <p:spPr>
          <a:xfrm>
            <a:off x="7580376" y="3419856"/>
            <a:ext cx="3127248" cy="1572768"/>
          </a:xfrm>
          <a:prstGeom prst="roundRect">
            <a:avLst>
              <a:gd name="adj" fmla="val 4651"/>
            </a:avLst>
          </a:prstGeom>
          <a:solidFill>
            <a:srgbClr val="FFFFFF"/>
          </a:solidFill>
          <a:ln w="12700">
            <a:solidFill>
              <a:srgbClr val="D9E0E8"/>
            </a:solidFill>
            <a:prstDash val="solid"/>
          </a:ln>
        </p:spPr>
      </p:sp>
      <p:sp>
        <p:nvSpPr>
          <p:cNvPr id="25" name="Shape 23"/>
          <p:cNvSpPr/>
          <p:nvPr/>
        </p:nvSpPr>
        <p:spPr>
          <a:xfrm>
            <a:off x="7580376" y="3419856"/>
            <a:ext cx="64008" cy="1572768"/>
          </a:xfrm>
          <a:prstGeom prst="rect">
            <a:avLst/>
          </a:prstGeom>
          <a:solidFill>
            <a:srgbClr val="16A34A"/>
          </a:solidFill>
          <a:ln w="12700">
            <a:solidFill>
              <a:srgbClr val="16A34A"/>
            </a:solidFill>
            <a:prstDash val="solid"/>
          </a:ln>
        </p:spPr>
      </p:sp>
      <p:sp>
        <p:nvSpPr>
          <p:cNvPr id="26" name="Text 24"/>
          <p:cNvSpPr/>
          <p:nvPr/>
        </p:nvSpPr>
        <p:spPr>
          <a:xfrm>
            <a:off x="7808976" y="3584448"/>
            <a:ext cx="2715768" cy="256032"/>
          </a:xfrm>
          <a:prstGeom prst="rect">
            <a:avLst/>
          </a:prstGeom>
          <a:noFill/>
          <a:ln/>
        </p:spPr>
        <p:txBody>
          <a:bodyPr wrap="square" lIns="0" tIns="0" rIns="0" bIns="0" rtlCol="0" anchor="ctr"/>
          <a:lstStyle/>
          <a:p>
            <a:pPr indent="0" marL="0">
              <a:buNone/>
            </a:pPr>
            <a:r>
              <a:rPr lang="en-US" sz="1650" b="1" dirty="0">
                <a:solidFill>
                  <a:srgbClr val="15233C"/>
                </a:solidFill>
              </a:rPr>
              <a:t>Advanced Analytics</a:t>
            </a:r>
            <a:endParaRPr lang="en-US" sz="1650" dirty="0"/>
          </a:p>
        </p:txBody>
      </p:sp>
      <p:sp>
        <p:nvSpPr>
          <p:cNvPr id="27" name="Text 25"/>
          <p:cNvSpPr/>
          <p:nvPr/>
        </p:nvSpPr>
        <p:spPr>
          <a:xfrm>
            <a:off x="7808976" y="3986784"/>
            <a:ext cx="2715768" cy="859536"/>
          </a:xfrm>
          <a:prstGeom prst="rect">
            <a:avLst/>
          </a:prstGeom>
          <a:noFill/>
          <a:ln/>
        </p:spPr>
        <p:txBody>
          <a:bodyPr wrap="square" lIns="254" tIns="254" rIns="254" bIns="254" rtlCol="0" anchor="t">
            <a:normAutofit/>
          </a:bodyPr>
          <a:lstStyle/>
          <a:p>
            <a:pPr indent="0" marL="0">
              <a:buNone/>
            </a:pPr>
            <a:r>
              <a:rPr lang="en-US" sz="1240" dirty="0">
                <a:solidFill>
                  <a:srgbClr val="1F2937"/>
                </a:solidFill>
              </a:rPr>
              <a:t>Connect polished warehouse data to clustering, classification, and association rules.</a:t>
            </a:r>
            <a:endParaRPr lang="en-US" sz="124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COURSE ARCHITECTURE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The Course is One Pipeline — Not Two Separate Subjects</a:t>
            </a:r>
            <a:endParaRPr lang="en-US" sz="2800" dirty="0"/>
          </a:p>
        </p:txBody>
      </p:sp>
      <p:sp>
        <p:nvSpPr>
          <p:cNvPr id="4" name="Shape 2"/>
          <p:cNvSpPr/>
          <p:nvPr/>
        </p:nvSpPr>
        <p:spPr>
          <a:xfrm>
            <a:off x="566928" y="2148840"/>
            <a:ext cx="1572768" cy="777240"/>
          </a:xfrm>
          <a:prstGeom prst="roundRect">
            <a:avLst>
              <a:gd name="adj" fmla="val 7059"/>
            </a:avLst>
          </a:prstGeom>
          <a:solidFill>
            <a:srgbClr val="E8EEF8"/>
          </a:solidFill>
          <a:ln w="12700">
            <a:solidFill>
              <a:srgbClr val="E8EEF8"/>
            </a:solidFill>
            <a:prstDash val="solid"/>
          </a:ln>
        </p:spPr>
      </p:sp>
      <p:sp>
        <p:nvSpPr>
          <p:cNvPr id="5" name="Text 3"/>
          <p:cNvSpPr/>
          <p:nvPr/>
        </p:nvSpPr>
        <p:spPr>
          <a:xfrm>
            <a:off x="612648" y="2194560"/>
            <a:ext cx="1481328" cy="685800"/>
          </a:xfrm>
          <a:prstGeom prst="rect">
            <a:avLst/>
          </a:prstGeom>
          <a:noFill/>
          <a:ln/>
        </p:spPr>
        <p:txBody>
          <a:bodyPr wrap="square" lIns="254" tIns="254" rIns="254" bIns="254" rtlCol="0" anchor="ctr">
            <a:normAutofit/>
          </a:bodyPr>
          <a:lstStyle/>
          <a:p>
            <a:pPr algn="ctr" indent="0" marL="0">
              <a:buNone/>
            </a:pPr>
            <a:r>
              <a:rPr lang="en-US" sz="1500" b="1" dirty="0">
                <a:solidFill>
                  <a:srgbClr val="15233C"/>
                </a:solidFill>
              </a:rPr>
              <a:t>Sources</a:t>
            </a:r>
            <a:endParaRPr lang="en-US" sz="1500" dirty="0"/>
          </a:p>
        </p:txBody>
      </p:sp>
      <p:sp>
        <p:nvSpPr>
          <p:cNvPr id="6" name="Shape 4"/>
          <p:cNvSpPr/>
          <p:nvPr/>
        </p:nvSpPr>
        <p:spPr>
          <a:xfrm>
            <a:off x="2139696" y="2542032"/>
            <a:ext cx="219456" cy="0"/>
          </a:xfrm>
          <a:prstGeom prst="line">
            <a:avLst/>
          </a:prstGeom>
          <a:noFill/>
          <a:ln w="25400">
            <a:solidFill>
              <a:srgbClr val="8090A5"/>
            </a:solidFill>
            <a:prstDash val="solid"/>
            <a:headEnd type="none"/>
            <a:tailEnd type="triangle"/>
          </a:ln>
        </p:spPr>
      </p:sp>
      <p:sp>
        <p:nvSpPr>
          <p:cNvPr id="7" name="Shape 5"/>
          <p:cNvSpPr/>
          <p:nvPr/>
        </p:nvSpPr>
        <p:spPr>
          <a:xfrm>
            <a:off x="2468880" y="2148840"/>
            <a:ext cx="1572768" cy="777240"/>
          </a:xfrm>
          <a:prstGeom prst="roundRect">
            <a:avLst>
              <a:gd name="adj" fmla="val 7059"/>
            </a:avLst>
          </a:prstGeom>
          <a:solidFill>
            <a:srgbClr val="F5E6D8"/>
          </a:solidFill>
          <a:ln w="12700">
            <a:solidFill>
              <a:srgbClr val="F5E6D8"/>
            </a:solidFill>
            <a:prstDash val="solid"/>
          </a:ln>
        </p:spPr>
      </p:sp>
      <p:sp>
        <p:nvSpPr>
          <p:cNvPr id="8" name="Text 6"/>
          <p:cNvSpPr/>
          <p:nvPr/>
        </p:nvSpPr>
        <p:spPr>
          <a:xfrm>
            <a:off x="2514600" y="2194560"/>
            <a:ext cx="1481328" cy="685800"/>
          </a:xfrm>
          <a:prstGeom prst="rect">
            <a:avLst/>
          </a:prstGeom>
          <a:noFill/>
          <a:ln/>
        </p:spPr>
        <p:txBody>
          <a:bodyPr wrap="square" lIns="254" tIns="254" rIns="254" bIns="254" rtlCol="0" anchor="ctr">
            <a:normAutofit/>
          </a:bodyPr>
          <a:lstStyle/>
          <a:p>
            <a:pPr algn="ctr" indent="0" marL="0">
              <a:buNone/>
            </a:pPr>
            <a:r>
              <a:rPr lang="en-US" sz="1500" b="1" dirty="0">
                <a:solidFill>
                  <a:srgbClr val="15233C"/>
                </a:solidFill>
              </a:rPr>
              <a:t>Bronze</a:t>
            </a:r>
            <a:endParaRPr lang="en-US" sz="1500" dirty="0"/>
          </a:p>
        </p:txBody>
      </p:sp>
      <p:sp>
        <p:nvSpPr>
          <p:cNvPr id="9" name="Shape 7"/>
          <p:cNvSpPr/>
          <p:nvPr/>
        </p:nvSpPr>
        <p:spPr>
          <a:xfrm>
            <a:off x="4041648" y="2542032"/>
            <a:ext cx="219456" cy="0"/>
          </a:xfrm>
          <a:prstGeom prst="line">
            <a:avLst/>
          </a:prstGeom>
          <a:noFill/>
          <a:ln w="25400">
            <a:solidFill>
              <a:srgbClr val="8090A5"/>
            </a:solidFill>
            <a:prstDash val="solid"/>
            <a:headEnd type="none"/>
            <a:tailEnd type="triangle"/>
          </a:ln>
        </p:spPr>
      </p:sp>
      <p:sp>
        <p:nvSpPr>
          <p:cNvPr id="10" name="Shape 8"/>
          <p:cNvSpPr/>
          <p:nvPr/>
        </p:nvSpPr>
        <p:spPr>
          <a:xfrm>
            <a:off x="4370832" y="2148840"/>
            <a:ext cx="1572768" cy="777240"/>
          </a:xfrm>
          <a:prstGeom prst="roundRect">
            <a:avLst>
              <a:gd name="adj" fmla="val 7059"/>
            </a:avLst>
          </a:prstGeom>
          <a:solidFill>
            <a:srgbClr val="E7EAEE"/>
          </a:solidFill>
          <a:ln w="12700">
            <a:solidFill>
              <a:srgbClr val="E7EAEE"/>
            </a:solidFill>
            <a:prstDash val="solid"/>
          </a:ln>
        </p:spPr>
      </p:sp>
      <p:sp>
        <p:nvSpPr>
          <p:cNvPr id="11" name="Text 9"/>
          <p:cNvSpPr/>
          <p:nvPr/>
        </p:nvSpPr>
        <p:spPr>
          <a:xfrm>
            <a:off x="4416552" y="2194560"/>
            <a:ext cx="1481328" cy="685800"/>
          </a:xfrm>
          <a:prstGeom prst="rect">
            <a:avLst/>
          </a:prstGeom>
          <a:noFill/>
          <a:ln/>
        </p:spPr>
        <p:txBody>
          <a:bodyPr wrap="square" lIns="254" tIns="254" rIns="254" bIns="254" rtlCol="0" anchor="ctr">
            <a:normAutofit/>
          </a:bodyPr>
          <a:lstStyle/>
          <a:p>
            <a:pPr algn="ctr" indent="0" marL="0">
              <a:buNone/>
            </a:pPr>
            <a:r>
              <a:rPr lang="en-US" sz="1500" b="1" dirty="0">
                <a:solidFill>
                  <a:srgbClr val="15233C"/>
                </a:solidFill>
              </a:rPr>
              <a:t>Silver</a:t>
            </a:r>
            <a:endParaRPr lang="en-US" sz="1500" dirty="0"/>
          </a:p>
        </p:txBody>
      </p:sp>
      <p:sp>
        <p:nvSpPr>
          <p:cNvPr id="12" name="Shape 10"/>
          <p:cNvSpPr/>
          <p:nvPr/>
        </p:nvSpPr>
        <p:spPr>
          <a:xfrm>
            <a:off x="5943600" y="2542032"/>
            <a:ext cx="219456" cy="0"/>
          </a:xfrm>
          <a:prstGeom prst="line">
            <a:avLst/>
          </a:prstGeom>
          <a:noFill/>
          <a:ln w="25400">
            <a:solidFill>
              <a:srgbClr val="8090A5"/>
            </a:solidFill>
            <a:prstDash val="solid"/>
            <a:headEnd type="none"/>
            <a:tailEnd type="triangle"/>
          </a:ln>
        </p:spPr>
      </p:sp>
      <p:sp>
        <p:nvSpPr>
          <p:cNvPr id="13" name="Shape 11"/>
          <p:cNvSpPr/>
          <p:nvPr/>
        </p:nvSpPr>
        <p:spPr>
          <a:xfrm>
            <a:off x="6272784" y="2148840"/>
            <a:ext cx="1572768" cy="777240"/>
          </a:xfrm>
          <a:prstGeom prst="roundRect">
            <a:avLst>
              <a:gd name="adj" fmla="val 7059"/>
            </a:avLst>
          </a:prstGeom>
          <a:solidFill>
            <a:srgbClr val="F7EECF"/>
          </a:solidFill>
          <a:ln w="12700">
            <a:solidFill>
              <a:srgbClr val="F7EECF"/>
            </a:solidFill>
            <a:prstDash val="solid"/>
          </a:ln>
        </p:spPr>
      </p:sp>
      <p:sp>
        <p:nvSpPr>
          <p:cNvPr id="14" name="Text 12"/>
          <p:cNvSpPr/>
          <p:nvPr/>
        </p:nvSpPr>
        <p:spPr>
          <a:xfrm>
            <a:off x="6318504" y="2194560"/>
            <a:ext cx="1481328" cy="685800"/>
          </a:xfrm>
          <a:prstGeom prst="rect">
            <a:avLst/>
          </a:prstGeom>
          <a:noFill/>
          <a:ln/>
        </p:spPr>
        <p:txBody>
          <a:bodyPr wrap="square" lIns="254" tIns="254" rIns="254" bIns="254" rtlCol="0" anchor="ctr">
            <a:normAutofit/>
          </a:bodyPr>
          <a:lstStyle/>
          <a:p>
            <a:pPr algn="ctr" indent="0" marL="0">
              <a:buNone/>
            </a:pPr>
            <a:r>
              <a:rPr lang="en-US" sz="1500" b="1" dirty="0">
                <a:solidFill>
                  <a:srgbClr val="15233C"/>
                </a:solidFill>
              </a:rPr>
              <a:t>DW / Gold</a:t>
            </a:r>
            <a:endParaRPr lang="en-US" sz="1500" dirty="0"/>
          </a:p>
        </p:txBody>
      </p:sp>
      <p:sp>
        <p:nvSpPr>
          <p:cNvPr id="15" name="Shape 13"/>
          <p:cNvSpPr/>
          <p:nvPr/>
        </p:nvSpPr>
        <p:spPr>
          <a:xfrm>
            <a:off x="7845552" y="2542032"/>
            <a:ext cx="219456" cy="0"/>
          </a:xfrm>
          <a:prstGeom prst="line">
            <a:avLst/>
          </a:prstGeom>
          <a:noFill/>
          <a:ln w="25400">
            <a:solidFill>
              <a:srgbClr val="8090A5"/>
            </a:solidFill>
            <a:prstDash val="solid"/>
            <a:headEnd type="none"/>
            <a:tailEnd type="triangle"/>
          </a:ln>
        </p:spPr>
      </p:sp>
      <p:sp>
        <p:nvSpPr>
          <p:cNvPr id="16" name="Shape 14"/>
          <p:cNvSpPr/>
          <p:nvPr/>
        </p:nvSpPr>
        <p:spPr>
          <a:xfrm>
            <a:off x="8174736" y="2148840"/>
            <a:ext cx="1572768" cy="777240"/>
          </a:xfrm>
          <a:prstGeom prst="roundRect">
            <a:avLst>
              <a:gd name="adj" fmla="val 7059"/>
            </a:avLst>
          </a:prstGeom>
          <a:solidFill>
            <a:srgbClr val="E8E4FF"/>
          </a:solidFill>
          <a:ln w="12700">
            <a:solidFill>
              <a:srgbClr val="E8E4FF"/>
            </a:solidFill>
            <a:prstDash val="solid"/>
          </a:ln>
        </p:spPr>
      </p:sp>
      <p:sp>
        <p:nvSpPr>
          <p:cNvPr id="17" name="Text 15"/>
          <p:cNvSpPr/>
          <p:nvPr/>
        </p:nvSpPr>
        <p:spPr>
          <a:xfrm>
            <a:off x="8220456" y="2194560"/>
            <a:ext cx="1481328" cy="685800"/>
          </a:xfrm>
          <a:prstGeom prst="rect">
            <a:avLst/>
          </a:prstGeom>
          <a:noFill/>
          <a:ln/>
        </p:spPr>
        <p:txBody>
          <a:bodyPr wrap="square" lIns="254" tIns="254" rIns="254" bIns="254" rtlCol="0" anchor="ctr">
            <a:normAutofit/>
          </a:bodyPr>
          <a:lstStyle/>
          <a:p>
            <a:pPr algn="ctr" indent="0" marL="0">
              <a:buNone/>
            </a:pPr>
            <a:r>
              <a:rPr lang="en-US" sz="1500" b="1" dirty="0">
                <a:solidFill>
                  <a:srgbClr val="15233C"/>
                </a:solidFill>
              </a:rPr>
              <a:t>Data Mining</a:t>
            </a:r>
            <a:endParaRPr lang="en-US" sz="1500" dirty="0"/>
          </a:p>
        </p:txBody>
      </p:sp>
      <p:sp>
        <p:nvSpPr>
          <p:cNvPr id="18" name="Shape 16"/>
          <p:cNvSpPr/>
          <p:nvPr/>
        </p:nvSpPr>
        <p:spPr>
          <a:xfrm>
            <a:off x="9747504" y="2542032"/>
            <a:ext cx="219456" cy="0"/>
          </a:xfrm>
          <a:prstGeom prst="line">
            <a:avLst/>
          </a:prstGeom>
          <a:noFill/>
          <a:ln w="25400">
            <a:solidFill>
              <a:srgbClr val="8090A5"/>
            </a:solidFill>
            <a:prstDash val="solid"/>
            <a:headEnd type="none"/>
            <a:tailEnd type="triangle"/>
          </a:ln>
        </p:spPr>
      </p:sp>
      <p:sp>
        <p:nvSpPr>
          <p:cNvPr id="19" name="Shape 17"/>
          <p:cNvSpPr/>
          <p:nvPr/>
        </p:nvSpPr>
        <p:spPr>
          <a:xfrm>
            <a:off x="10076688" y="2148840"/>
            <a:ext cx="1572768" cy="777240"/>
          </a:xfrm>
          <a:prstGeom prst="roundRect">
            <a:avLst>
              <a:gd name="adj" fmla="val 7059"/>
            </a:avLst>
          </a:prstGeom>
          <a:solidFill>
            <a:srgbClr val="DDF5E8"/>
          </a:solidFill>
          <a:ln w="12700">
            <a:solidFill>
              <a:srgbClr val="DDF5E8"/>
            </a:solidFill>
            <a:prstDash val="solid"/>
          </a:ln>
        </p:spPr>
      </p:sp>
      <p:sp>
        <p:nvSpPr>
          <p:cNvPr id="20" name="Text 18"/>
          <p:cNvSpPr/>
          <p:nvPr/>
        </p:nvSpPr>
        <p:spPr>
          <a:xfrm>
            <a:off x="10122408" y="2194560"/>
            <a:ext cx="1481328" cy="685800"/>
          </a:xfrm>
          <a:prstGeom prst="rect">
            <a:avLst/>
          </a:prstGeom>
          <a:noFill/>
          <a:ln/>
        </p:spPr>
        <p:txBody>
          <a:bodyPr wrap="square" lIns="254" tIns="254" rIns="254" bIns="254" rtlCol="0" anchor="ctr">
            <a:normAutofit/>
          </a:bodyPr>
          <a:lstStyle/>
          <a:p>
            <a:pPr algn="ctr" indent="0" marL="0">
              <a:buNone/>
            </a:pPr>
            <a:r>
              <a:rPr lang="en-US" sz="1500" b="1" dirty="0">
                <a:solidFill>
                  <a:srgbClr val="15233C"/>
                </a:solidFill>
              </a:rPr>
              <a:t>Knowledge</a:t>
            </a:r>
            <a:endParaRPr lang="en-US" sz="1500" dirty="0"/>
          </a:p>
        </p:txBody>
      </p:sp>
      <p:sp>
        <p:nvSpPr>
          <p:cNvPr id="21" name="Text 19"/>
          <p:cNvSpPr/>
          <p:nvPr/>
        </p:nvSpPr>
        <p:spPr>
          <a:xfrm>
            <a:off x="566928" y="3246120"/>
            <a:ext cx="5166360" cy="274320"/>
          </a:xfrm>
          <a:prstGeom prst="rect">
            <a:avLst/>
          </a:prstGeom>
          <a:noFill/>
          <a:ln/>
        </p:spPr>
        <p:txBody>
          <a:bodyPr wrap="square" lIns="0" tIns="0" rIns="0" bIns="0" rtlCol="0" anchor="ctr"/>
          <a:lstStyle/>
          <a:p>
            <a:pPr algn="ctr" indent="0" marL="0">
              <a:buNone/>
            </a:pPr>
            <a:r>
              <a:rPr lang="en-US" sz="1400" b="1" dirty="0">
                <a:solidFill>
                  <a:srgbClr val="E53935"/>
                </a:solidFill>
              </a:rPr>
              <a:t>prepare trustworthy data</a:t>
            </a:r>
            <a:endParaRPr lang="en-US" sz="1400" dirty="0"/>
          </a:p>
        </p:txBody>
      </p:sp>
      <p:sp>
        <p:nvSpPr>
          <p:cNvPr id="22" name="Text 20"/>
          <p:cNvSpPr/>
          <p:nvPr/>
        </p:nvSpPr>
        <p:spPr>
          <a:xfrm>
            <a:off x="6236208" y="3246120"/>
            <a:ext cx="4663440" cy="274320"/>
          </a:xfrm>
          <a:prstGeom prst="rect">
            <a:avLst/>
          </a:prstGeom>
          <a:noFill/>
          <a:ln/>
        </p:spPr>
        <p:txBody>
          <a:bodyPr wrap="square" lIns="0" tIns="0" rIns="0" bIns="0" rtlCol="0" anchor="ctr"/>
          <a:lstStyle/>
          <a:p>
            <a:pPr algn="ctr" indent="0" marL="0">
              <a:buNone/>
            </a:pPr>
            <a:r>
              <a:rPr lang="en-US" sz="1400" b="1" dirty="0">
                <a:solidFill>
                  <a:srgbClr val="2E5BFF"/>
                </a:solidFill>
              </a:rPr>
              <a:t>discover patterns &amp; build predictive models</a:t>
            </a:r>
            <a:endParaRPr lang="en-US" sz="1400" dirty="0"/>
          </a:p>
        </p:txBody>
      </p:sp>
      <p:sp>
        <p:nvSpPr>
          <p:cNvPr id="23" name="Shape 21"/>
          <p:cNvSpPr/>
          <p:nvPr/>
        </p:nvSpPr>
        <p:spPr>
          <a:xfrm>
            <a:off x="713232" y="3611880"/>
            <a:ext cx="4846320" cy="0"/>
          </a:xfrm>
          <a:prstGeom prst="line">
            <a:avLst/>
          </a:prstGeom>
          <a:noFill/>
          <a:ln w="38100">
            <a:solidFill>
              <a:srgbClr val="E53935"/>
            </a:solidFill>
            <a:prstDash val="solid"/>
          </a:ln>
        </p:spPr>
      </p:sp>
      <p:sp>
        <p:nvSpPr>
          <p:cNvPr id="24" name="Shape 22"/>
          <p:cNvSpPr/>
          <p:nvPr/>
        </p:nvSpPr>
        <p:spPr>
          <a:xfrm>
            <a:off x="6400800" y="3611880"/>
            <a:ext cx="4434840" cy="0"/>
          </a:xfrm>
          <a:prstGeom prst="line">
            <a:avLst/>
          </a:prstGeom>
          <a:noFill/>
          <a:ln w="38100">
            <a:solidFill>
              <a:srgbClr val="2E5BFF"/>
            </a:solidFill>
            <a:prstDash val="solid"/>
          </a:ln>
        </p:spPr>
      </p:sp>
      <p:sp>
        <p:nvSpPr>
          <p:cNvPr id="25" name="Text 23"/>
          <p:cNvSpPr/>
          <p:nvPr/>
        </p:nvSpPr>
        <p:spPr>
          <a:xfrm>
            <a:off x="1051560" y="4590288"/>
            <a:ext cx="10058400" cy="566928"/>
          </a:xfrm>
          <a:prstGeom prst="rect">
            <a:avLst/>
          </a:prstGeom>
          <a:noFill/>
          <a:ln/>
        </p:spPr>
        <p:txBody>
          <a:bodyPr wrap="square" lIns="0" tIns="0" rIns="0" bIns="0" rtlCol="0" anchor="ctr"/>
          <a:lstStyle/>
          <a:p>
            <a:pPr algn="ctr" indent="0" marL="0">
              <a:buNone/>
            </a:pPr>
            <a:r>
              <a:rPr lang="en-US" sz="2200" b="1" dirty="0">
                <a:solidFill>
                  <a:srgbClr val="15233C"/>
                </a:solidFill>
              </a:rPr>
              <a:t>Every lab extends the same pipeline rather than starting from disconnected toy datasets.</a:t>
            </a:r>
            <a:endParaRPr lang="en-US" sz="22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OLTP VS ANALYTICS</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Why Not Analyse Operational Systems Directly?</a:t>
            </a:r>
            <a:endParaRPr lang="en-US" sz="2800" dirty="0"/>
          </a:p>
        </p:txBody>
      </p:sp>
      <p:sp>
        <p:nvSpPr>
          <p:cNvPr id="4" name="Shape 2"/>
          <p:cNvSpPr/>
          <p:nvPr/>
        </p:nvSpPr>
        <p:spPr>
          <a:xfrm>
            <a:off x="640080" y="1325880"/>
            <a:ext cx="5257800" cy="4434840"/>
          </a:xfrm>
          <a:prstGeom prst="roundRect">
            <a:avLst>
              <a:gd name="adj" fmla="val 1649"/>
            </a:avLst>
          </a:prstGeom>
          <a:solidFill>
            <a:srgbClr val="FFF9F8"/>
          </a:solidFill>
          <a:ln w="12700">
            <a:solidFill>
              <a:srgbClr val="D9E0E8"/>
            </a:solidFill>
            <a:prstDash val="solid"/>
          </a:ln>
        </p:spPr>
      </p:sp>
      <p:sp>
        <p:nvSpPr>
          <p:cNvPr id="5" name="Shape 3"/>
          <p:cNvSpPr/>
          <p:nvPr/>
        </p:nvSpPr>
        <p:spPr>
          <a:xfrm>
            <a:off x="640080" y="1325880"/>
            <a:ext cx="64008" cy="4434840"/>
          </a:xfrm>
          <a:prstGeom prst="rect">
            <a:avLst/>
          </a:prstGeom>
          <a:solidFill>
            <a:srgbClr val="E53935"/>
          </a:solidFill>
          <a:ln w="12700">
            <a:solidFill>
              <a:srgbClr val="E53935"/>
            </a:solidFill>
            <a:prstDash val="solid"/>
          </a:ln>
        </p:spPr>
      </p:sp>
      <p:sp>
        <p:nvSpPr>
          <p:cNvPr id="6" name="Text 4"/>
          <p:cNvSpPr/>
          <p:nvPr/>
        </p:nvSpPr>
        <p:spPr>
          <a:xfrm>
            <a:off x="868680" y="1490472"/>
            <a:ext cx="4846320" cy="256032"/>
          </a:xfrm>
          <a:prstGeom prst="rect">
            <a:avLst/>
          </a:prstGeom>
          <a:noFill/>
          <a:ln/>
        </p:spPr>
        <p:txBody>
          <a:bodyPr wrap="square" lIns="0" tIns="0" rIns="0" bIns="0" rtlCol="0" anchor="ctr"/>
          <a:lstStyle/>
          <a:p>
            <a:pPr indent="0" marL="0">
              <a:buNone/>
            </a:pPr>
            <a:r>
              <a:rPr lang="en-US" sz="2000" b="1" dirty="0">
                <a:solidFill>
                  <a:srgbClr val="15233C"/>
                </a:solidFill>
              </a:rPr>
              <a:t>Operational systems — OLTP</a:t>
            </a:r>
            <a:endParaRPr lang="en-US" sz="2000" dirty="0"/>
          </a:p>
        </p:txBody>
      </p:sp>
      <p:sp>
        <p:nvSpPr>
          <p:cNvPr id="7" name="Text 5"/>
          <p:cNvSpPr/>
          <p:nvPr/>
        </p:nvSpPr>
        <p:spPr>
          <a:xfrm>
            <a:off x="868680" y="1892808"/>
            <a:ext cx="4846320" cy="372160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Fast transactions</a:t>
            </a:r>
            <a:endParaRPr lang="en-US" sz="1700" dirty="0"/>
          </a:p>
          <a:p>
            <a:pPr indent="0" marL="0">
              <a:buNone/>
            </a:pPr>
            <a:r>
              <a:rPr lang="en-US" sz="1700" dirty="0">
                <a:solidFill>
                  <a:srgbClr val="1F2937"/>
                </a:solidFill>
              </a:rPr>
              <a:t>Frequent inserts and updates</a:t>
            </a:r>
            <a:endParaRPr lang="en-US" sz="1700" dirty="0"/>
          </a:p>
          <a:p>
            <a:pPr indent="0" marL="0">
              <a:buNone/>
            </a:pPr>
            <a:r>
              <a:rPr lang="en-US" sz="1700" dirty="0">
                <a:solidFill>
                  <a:srgbClr val="1F2937"/>
                </a:solidFill>
              </a:rPr>
              <a:t>Represents the current operational state</a:t>
            </a:r>
            <a:endParaRPr lang="en-US" sz="1700" dirty="0"/>
          </a:p>
          <a:p>
            <a:pPr indent="0" marL="0">
              <a:buNone/>
            </a:pPr>
            <a:r>
              <a:rPr lang="en-US" sz="1700" dirty="0">
                <a:solidFill>
                  <a:srgbClr val="1F2937"/>
                </a:solidFill>
              </a:rPr>
              <a:t>Schemas reflect application processes</a:t>
            </a:r>
            <a:endParaRPr lang="en-US" sz="1700" dirty="0"/>
          </a:p>
          <a:p>
            <a:pPr indent="0" marL="0">
              <a:buNone/>
            </a:pPr>
            <a:r>
              <a:rPr lang="en-US" sz="1700" dirty="0">
                <a:solidFill>
                  <a:srgbClr val="1F2937"/>
                </a:solidFill>
              </a:rPr>
              <a:t>Optimised for running the business</a:t>
            </a:r>
            <a:endParaRPr lang="en-US" sz="1700" dirty="0"/>
          </a:p>
        </p:txBody>
      </p:sp>
      <p:sp>
        <p:nvSpPr>
          <p:cNvPr id="8" name="Shape 6"/>
          <p:cNvSpPr/>
          <p:nvPr/>
        </p:nvSpPr>
        <p:spPr>
          <a:xfrm>
            <a:off x="6263640" y="1325880"/>
            <a:ext cx="5257800" cy="4434840"/>
          </a:xfrm>
          <a:prstGeom prst="roundRect">
            <a:avLst>
              <a:gd name="adj" fmla="val 1649"/>
            </a:avLst>
          </a:prstGeom>
          <a:solidFill>
            <a:srgbClr val="F8FAFF"/>
          </a:solidFill>
          <a:ln w="12700">
            <a:solidFill>
              <a:srgbClr val="D9E0E8"/>
            </a:solidFill>
            <a:prstDash val="solid"/>
          </a:ln>
        </p:spPr>
      </p:sp>
      <p:sp>
        <p:nvSpPr>
          <p:cNvPr id="9" name="Shape 7"/>
          <p:cNvSpPr/>
          <p:nvPr/>
        </p:nvSpPr>
        <p:spPr>
          <a:xfrm>
            <a:off x="6263640" y="1325880"/>
            <a:ext cx="64008" cy="4434840"/>
          </a:xfrm>
          <a:prstGeom prst="rect">
            <a:avLst/>
          </a:prstGeom>
          <a:solidFill>
            <a:srgbClr val="2E5BFF"/>
          </a:solidFill>
          <a:ln w="12700">
            <a:solidFill>
              <a:srgbClr val="2E5BFF"/>
            </a:solidFill>
            <a:prstDash val="solid"/>
          </a:ln>
        </p:spPr>
      </p:sp>
      <p:sp>
        <p:nvSpPr>
          <p:cNvPr id="10" name="Text 8"/>
          <p:cNvSpPr/>
          <p:nvPr/>
        </p:nvSpPr>
        <p:spPr>
          <a:xfrm>
            <a:off x="6492240" y="1490472"/>
            <a:ext cx="4846320" cy="256032"/>
          </a:xfrm>
          <a:prstGeom prst="rect">
            <a:avLst/>
          </a:prstGeom>
          <a:noFill/>
          <a:ln/>
        </p:spPr>
        <p:txBody>
          <a:bodyPr wrap="square" lIns="0" tIns="0" rIns="0" bIns="0" rtlCol="0" anchor="ctr"/>
          <a:lstStyle/>
          <a:p>
            <a:pPr indent="0" marL="0">
              <a:buNone/>
            </a:pPr>
            <a:r>
              <a:rPr lang="en-US" sz="2000" b="1" dirty="0">
                <a:solidFill>
                  <a:srgbClr val="15233C"/>
                </a:solidFill>
              </a:rPr>
              <a:t>Analytical systems — DW / BI</a:t>
            </a:r>
            <a:endParaRPr lang="en-US" sz="2000" dirty="0"/>
          </a:p>
        </p:txBody>
      </p:sp>
      <p:sp>
        <p:nvSpPr>
          <p:cNvPr id="11" name="Text 9"/>
          <p:cNvSpPr/>
          <p:nvPr/>
        </p:nvSpPr>
        <p:spPr>
          <a:xfrm>
            <a:off x="6492240" y="1892808"/>
            <a:ext cx="4846320" cy="372160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Integrates multiple sources</a:t>
            </a:r>
            <a:endParaRPr lang="en-US" sz="1700" dirty="0"/>
          </a:p>
          <a:p>
            <a:pPr indent="0" marL="0">
              <a:buNone/>
            </a:pPr>
            <a:r>
              <a:rPr lang="en-US" sz="1700" dirty="0">
                <a:solidFill>
                  <a:srgbClr val="1F2937"/>
                </a:solidFill>
              </a:rPr>
              <a:t>Retains historical context</a:t>
            </a:r>
            <a:endParaRPr lang="en-US" sz="1700" dirty="0"/>
          </a:p>
          <a:p>
            <a:pPr indent="0" marL="0">
              <a:buNone/>
            </a:pPr>
            <a:r>
              <a:rPr lang="en-US" sz="1700" dirty="0">
                <a:solidFill>
                  <a:srgbClr val="1F2937"/>
                </a:solidFill>
              </a:rPr>
              <a:t>Optimised for heavy aggregations</a:t>
            </a:r>
            <a:endParaRPr lang="en-US" sz="1700" dirty="0"/>
          </a:p>
          <a:p>
            <a:pPr indent="0" marL="0">
              <a:buNone/>
            </a:pPr>
            <a:r>
              <a:rPr lang="en-US" sz="1700" dirty="0">
                <a:solidFill>
                  <a:srgbClr val="1F2937"/>
                </a:solidFill>
              </a:rPr>
              <a:t>Models around analytical requirements</a:t>
            </a:r>
            <a:endParaRPr lang="en-US" sz="1700" dirty="0"/>
          </a:p>
          <a:p>
            <a:pPr indent="0" marL="0">
              <a:buNone/>
            </a:pPr>
            <a:r>
              <a:rPr lang="en-US" sz="1700" dirty="0">
                <a:solidFill>
                  <a:srgbClr val="1F2937"/>
                </a:solidFill>
              </a:rPr>
              <a:t>Optimised for understanding the business</a:t>
            </a:r>
            <a:endParaRPr lang="en-US" sz="1700" dirty="0"/>
          </a:p>
        </p:txBody>
      </p:sp>
      <p:sp>
        <p:nvSpPr>
          <p:cNvPr id="12" name="Shape 10"/>
          <p:cNvSpPr/>
          <p:nvPr/>
        </p:nvSpPr>
        <p:spPr>
          <a:xfrm>
            <a:off x="4983480" y="3154680"/>
            <a:ext cx="2194560" cy="310896"/>
          </a:xfrm>
          <a:prstGeom prst="roundRect">
            <a:avLst>
              <a:gd name="adj" fmla="val 23529"/>
            </a:avLst>
          </a:prstGeom>
          <a:solidFill>
            <a:srgbClr val="15233C"/>
          </a:solidFill>
          <a:ln w="12700">
            <a:solidFill>
              <a:srgbClr val="15233C"/>
            </a:solidFill>
            <a:prstDash val="solid"/>
          </a:ln>
        </p:spPr>
      </p:sp>
      <p:sp>
        <p:nvSpPr>
          <p:cNvPr id="13" name="Text 11"/>
          <p:cNvSpPr/>
          <p:nvPr/>
        </p:nvSpPr>
        <p:spPr>
          <a:xfrm>
            <a:off x="5056632" y="3218688"/>
            <a:ext cx="2048256" cy="146304"/>
          </a:xfrm>
          <a:prstGeom prst="rect">
            <a:avLst/>
          </a:prstGeom>
          <a:noFill/>
          <a:ln/>
        </p:spPr>
        <p:txBody>
          <a:bodyPr wrap="square" lIns="0" tIns="0" rIns="0" bIns="0" rtlCol="0" anchor="ctr"/>
          <a:lstStyle/>
          <a:p>
            <a:pPr algn="ctr" indent="0" marL="0">
              <a:buNone/>
            </a:pPr>
            <a:r>
              <a:rPr lang="en-US" sz="1000" b="1" dirty="0">
                <a:solidFill>
                  <a:srgbClr val="FFFFFF"/>
                </a:solidFill>
              </a:rPr>
              <a:t>Different workload</a:t>
            </a:r>
            <a:endParaRPr lang="en-US" sz="1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ARCHITECTURE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Database vs. Warehouse vs. Lake vs. Lakehouse</a:t>
            </a:r>
            <a:endParaRPr lang="en-US" sz="2800" dirty="0"/>
          </a:p>
        </p:txBody>
      </p:sp>
      <p:sp>
        <p:nvSpPr>
          <p:cNvPr id="4" name="Shape 2"/>
          <p:cNvSpPr/>
          <p:nvPr/>
        </p:nvSpPr>
        <p:spPr>
          <a:xfrm>
            <a:off x="566928" y="1417320"/>
            <a:ext cx="2057400" cy="502920"/>
          </a:xfrm>
          <a:prstGeom prst="rect">
            <a:avLst/>
          </a:prstGeom>
          <a:solidFill>
            <a:srgbClr val="15233C"/>
          </a:solidFill>
          <a:ln w="12700">
            <a:solidFill>
              <a:srgbClr val="15233C"/>
            </a:solidFill>
            <a:prstDash val="solid"/>
          </a:ln>
        </p:spPr>
      </p:sp>
      <p:sp>
        <p:nvSpPr>
          <p:cNvPr id="5" name="Text 3"/>
          <p:cNvSpPr/>
          <p:nvPr/>
        </p:nvSpPr>
        <p:spPr>
          <a:xfrm>
            <a:off x="676656" y="1554480"/>
            <a:ext cx="1837944" cy="182880"/>
          </a:xfrm>
          <a:prstGeom prst="rect">
            <a:avLst/>
          </a:prstGeom>
          <a:noFill/>
          <a:ln/>
        </p:spPr>
        <p:txBody>
          <a:bodyPr wrap="square" lIns="0" tIns="0" rIns="0" bIns="0" rtlCol="0" anchor="ctr"/>
          <a:lstStyle/>
          <a:p>
            <a:pPr indent="0" marL="0">
              <a:buNone/>
            </a:pPr>
            <a:r>
              <a:rPr lang="en-US" sz="1200" b="1" dirty="0">
                <a:solidFill>
                  <a:srgbClr val="FFFFFF"/>
                </a:solidFill>
              </a:rPr>
              <a:t>System</a:t>
            </a:r>
            <a:endParaRPr lang="en-US" sz="1200" dirty="0"/>
          </a:p>
        </p:txBody>
      </p:sp>
      <p:sp>
        <p:nvSpPr>
          <p:cNvPr id="6" name="Shape 4"/>
          <p:cNvSpPr/>
          <p:nvPr/>
        </p:nvSpPr>
        <p:spPr>
          <a:xfrm>
            <a:off x="2624328" y="1417320"/>
            <a:ext cx="2834640" cy="502920"/>
          </a:xfrm>
          <a:prstGeom prst="rect">
            <a:avLst/>
          </a:prstGeom>
          <a:solidFill>
            <a:srgbClr val="15233C"/>
          </a:solidFill>
          <a:ln w="12700">
            <a:solidFill>
              <a:srgbClr val="15233C"/>
            </a:solidFill>
            <a:prstDash val="solid"/>
          </a:ln>
        </p:spPr>
      </p:sp>
      <p:sp>
        <p:nvSpPr>
          <p:cNvPr id="7" name="Text 5"/>
          <p:cNvSpPr/>
          <p:nvPr/>
        </p:nvSpPr>
        <p:spPr>
          <a:xfrm>
            <a:off x="2734056" y="1554480"/>
            <a:ext cx="2615184" cy="182880"/>
          </a:xfrm>
          <a:prstGeom prst="rect">
            <a:avLst/>
          </a:prstGeom>
          <a:noFill/>
          <a:ln/>
        </p:spPr>
        <p:txBody>
          <a:bodyPr wrap="square" lIns="0" tIns="0" rIns="0" bIns="0" rtlCol="0" anchor="ctr"/>
          <a:lstStyle/>
          <a:p>
            <a:pPr indent="0" marL="0">
              <a:buNone/>
            </a:pPr>
            <a:r>
              <a:rPr lang="en-US" sz="1200" b="1" dirty="0">
                <a:solidFill>
                  <a:srgbClr val="FFFFFF"/>
                </a:solidFill>
              </a:rPr>
              <a:t>Primary purpose</a:t>
            </a:r>
            <a:endParaRPr lang="en-US" sz="1200" dirty="0"/>
          </a:p>
        </p:txBody>
      </p:sp>
      <p:sp>
        <p:nvSpPr>
          <p:cNvPr id="8" name="Shape 6"/>
          <p:cNvSpPr/>
          <p:nvPr/>
        </p:nvSpPr>
        <p:spPr>
          <a:xfrm>
            <a:off x="5458968" y="1417320"/>
            <a:ext cx="2788920" cy="502920"/>
          </a:xfrm>
          <a:prstGeom prst="rect">
            <a:avLst/>
          </a:prstGeom>
          <a:solidFill>
            <a:srgbClr val="15233C"/>
          </a:solidFill>
          <a:ln w="12700">
            <a:solidFill>
              <a:srgbClr val="15233C"/>
            </a:solidFill>
            <a:prstDash val="solid"/>
          </a:ln>
        </p:spPr>
      </p:sp>
      <p:sp>
        <p:nvSpPr>
          <p:cNvPr id="9" name="Text 7"/>
          <p:cNvSpPr/>
          <p:nvPr/>
        </p:nvSpPr>
        <p:spPr>
          <a:xfrm>
            <a:off x="5568696" y="1554480"/>
            <a:ext cx="2569464" cy="182880"/>
          </a:xfrm>
          <a:prstGeom prst="rect">
            <a:avLst/>
          </a:prstGeom>
          <a:noFill/>
          <a:ln/>
        </p:spPr>
        <p:txBody>
          <a:bodyPr wrap="square" lIns="0" tIns="0" rIns="0" bIns="0" rtlCol="0" anchor="ctr"/>
          <a:lstStyle/>
          <a:p>
            <a:pPr indent="0" marL="0">
              <a:buNone/>
            </a:pPr>
            <a:r>
              <a:rPr lang="en-US" sz="1200" b="1" dirty="0">
                <a:solidFill>
                  <a:srgbClr val="FFFFFF"/>
                </a:solidFill>
              </a:rPr>
              <a:t>Typical data profile</a:t>
            </a:r>
            <a:endParaRPr lang="en-US" sz="1200" dirty="0"/>
          </a:p>
        </p:txBody>
      </p:sp>
      <p:sp>
        <p:nvSpPr>
          <p:cNvPr id="10" name="Shape 8"/>
          <p:cNvSpPr/>
          <p:nvPr/>
        </p:nvSpPr>
        <p:spPr>
          <a:xfrm>
            <a:off x="8247888" y="1417320"/>
            <a:ext cx="3383280" cy="502920"/>
          </a:xfrm>
          <a:prstGeom prst="rect">
            <a:avLst/>
          </a:prstGeom>
          <a:solidFill>
            <a:srgbClr val="15233C"/>
          </a:solidFill>
          <a:ln w="12700">
            <a:solidFill>
              <a:srgbClr val="15233C"/>
            </a:solidFill>
            <a:prstDash val="solid"/>
          </a:ln>
        </p:spPr>
      </p:sp>
      <p:sp>
        <p:nvSpPr>
          <p:cNvPr id="11" name="Text 9"/>
          <p:cNvSpPr/>
          <p:nvPr/>
        </p:nvSpPr>
        <p:spPr>
          <a:xfrm>
            <a:off x="8357616" y="1554480"/>
            <a:ext cx="3163824" cy="182880"/>
          </a:xfrm>
          <a:prstGeom prst="rect">
            <a:avLst/>
          </a:prstGeom>
          <a:noFill/>
          <a:ln/>
        </p:spPr>
        <p:txBody>
          <a:bodyPr wrap="square" lIns="0" tIns="0" rIns="0" bIns="0" rtlCol="0" anchor="ctr"/>
          <a:lstStyle/>
          <a:p>
            <a:pPr indent="0" marL="0">
              <a:buNone/>
            </a:pPr>
            <a:r>
              <a:rPr lang="en-US" sz="1200" b="1" dirty="0">
                <a:solidFill>
                  <a:srgbClr val="FFFFFF"/>
                </a:solidFill>
              </a:rPr>
              <a:t>Course interpretation</a:t>
            </a:r>
            <a:endParaRPr lang="en-US" sz="1200" dirty="0"/>
          </a:p>
        </p:txBody>
      </p:sp>
      <p:sp>
        <p:nvSpPr>
          <p:cNvPr id="12" name="Shape 10"/>
          <p:cNvSpPr/>
          <p:nvPr/>
        </p:nvSpPr>
        <p:spPr>
          <a:xfrm>
            <a:off x="566928" y="1920240"/>
            <a:ext cx="2057400" cy="960120"/>
          </a:xfrm>
          <a:prstGeom prst="rect">
            <a:avLst/>
          </a:prstGeom>
          <a:solidFill>
            <a:srgbClr val="FFFFFF"/>
          </a:solidFill>
          <a:ln w="12700">
            <a:solidFill>
              <a:srgbClr val="D9E0E8"/>
            </a:solidFill>
            <a:prstDash val="solid"/>
          </a:ln>
        </p:spPr>
      </p:sp>
      <p:sp>
        <p:nvSpPr>
          <p:cNvPr id="13" name="Text 11"/>
          <p:cNvSpPr/>
          <p:nvPr/>
        </p:nvSpPr>
        <p:spPr>
          <a:xfrm>
            <a:off x="676656" y="2084832"/>
            <a:ext cx="1837944" cy="640080"/>
          </a:xfrm>
          <a:prstGeom prst="rect">
            <a:avLst/>
          </a:prstGeom>
          <a:noFill/>
          <a:ln/>
        </p:spPr>
        <p:txBody>
          <a:bodyPr wrap="square" lIns="0" tIns="0" rIns="0" bIns="0" rtlCol="0" anchor="ctr">
            <a:normAutofit/>
          </a:bodyPr>
          <a:lstStyle/>
          <a:p>
            <a:pPr indent="0" marL="0">
              <a:buNone/>
            </a:pPr>
            <a:r>
              <a:rPr lang="en-US" sz="1400" b="1" dirty="0">
                <a:solidFill>
                  <a:srgbClr val="E53935"/>
                </a:solidFill>
              </a:rPr>
              <a:t>Operational Database</a:t>
            </a:r>
            <a:endParaRPr lang="en-US" sz="1400" dirty="0"/>
          </a:p>
        </p:txBody>
      </p:sp>
      <p:sp>
        <p:nvSpPr>
          <p:cNvPr id="14" name="Shape 12"/>
          <p:cNvSpPr/>
          <p:nvPr/>
        </p:nvSpPr>
        <p:spPr>
          <a:xfrm>
            <a:off x="2624328" y="1920240"/>
            <a:ext cx="2834640" cy="960120"/>
          </a:xfrm>
          <a:prstGeom prst="rect">
            <a:avLst/>
          </a:prstGeom>
          <a:solidFill>
            <a:srgbClr val="FFFFFF"/>
          </a:solidFill>
          <a:ln w="12700">
            <a:solidFill>
              <a:srgbClr val="D9E0E8"/>
            </a:solidFill>
            <a:prstDash val="solid"/>
          </a:ln>
        </p:spPr>
      </p:sp>
      <p:sp>
        <p:nvSpPr>
          <p:cNvPr id="15" name="Text 13"/>
          <p:cNvSpPr/>
          <p:nvPr/>
        </p:nvSpPr>
        <p:spPr>
          <a:xfrm>
            <a:off x="2734056" y="2084832"/>
            <a:ext cx="261518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Application transactions</a:t>
            </a:r>
            <a:endParaRPr lang="en-US" sz="1260" dirty="0"/>
          </a:p>
        </p:txBody>
      </p:sp>
      <p:sp>
        <p:nvSpPr>
          <p:cNvPr id="16" name="Shape 14"/>
          <p:cNvSpPr/>
          <p:nvPr/>
        </p:nvSpPr>
        <p:spPr>
          <a:xfrm>
            <a:off x="5458968" y="1920240"/>
            <a:ext cx="2788920" cy="960120"/>
          </a:xfrm>
          <a:prstGeom prst="rect">
            <a:avLst/>
          </a:prstGeom>
          <a:solidFill>
            <a:srgbClr val="FFFFFF"/>
          </a:solidFill>
          <a:ln w="12700">
            <a:solidFill>
              <a:srgbClr val="D9E0E8"/>
            </a:solidFill>
            <a:prstDash val="solid"/>
          </a:ln>
        </p:spPr>
      </p:sp>
      <p:sp>
        <p:nvSpPr>
          <p:cNvPr id="17" name="Text 15"/>
          <p:cNvSpPr/>
          <p:nvPr/>
        </p:nvSpPr>
        <p:spPr>
          <a:xfrm>
            <a:off x="5568696" y="2084832"/>
            <a:ext cx="256946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Structured relational</a:t>
            </a:r>
            <a:endParaRPr lang="en-US" sz="1260" dirty="0"/>
          </a:p>
        </p:txBody>
      </p:sp>
      <p:sp>
        <p:nvSpPr>
          <p:cNvPr id="18" name="Shape 16"/>
          <p:cNvSpPr/>
          <p:nvPr/>
        </p:nvSpPr>
        <p:spPr>
          <a:xfrm>
            <a:off x="8247888" y="1920240"/>
            <a:ext cx="3383280" cy="960120"/>
          </a:xfrm>
          <a:prstGeom prst="rect">
            <a:avLst/>
          </a:prstGeom>
          <a:solidFill>
            <a:srgbClr val="FFFFFF"/>
          </a:solidFill>
          <a:ln w="12700">
            <a:solidFill>
              <a:srgbClr val="D9E0E8"/>
            </a:solidFill>
            <a:prstDash val="solid"/>
          </a:ln>
        </p:spPr>
      </p:sp>
      <p:sp>
        <p:nvSpPr>
          <p:cNvPr id="19" name="Text 17"/>
          <p:cNvSpPr/>
          <p:nvPr/>
        </p:nvSpPr>
        <p:spPr>
          <a:xfrm>
            <a:off x="8357616" y="2084832"/>
            <a:ext cx="316382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Raw source: orders, registrations</a:t>
            </a:r>
            <a:endParaRPr lang="en-US" sz="1260" dirty="0"/>
          </a:p>
        </p:txBody>
      </p:sp>
      <p:sp>
        <p:nvSpPr>
          <p:cNvPr id="20" name="Shape 18"/>
          <p:cNvSpPr/>
          <p:nvPr/>
        </p:nvSpPr>
        <p:spPr>
          <a:xfrm>
            <a:off x="566928" y="2880360"/>
            <a:ext cx="2057400" cy="960120"/>
          </a:xfrm>
          <a:prstGeom prst="rect">
            <a:avLst/>
          </a:prstGeom>
          <a:solidFill>
            <a:srgbClr val="F4F6F8"/>
          </a:solidFill>
          <a:ln w="12700">
            <a:solidFill>
              <a:srgbClr val="D9E0E8"/>
            </a:solidFill>
            <a:prstDash val="solid"/>
          </a:ln>
        </p:spPr>
      </p:sp>
      <p:sp>
        <p:nvSpPr>
          <p:cNvPr id="21" name="Text 19"/>
          <p:cNvSpPr/>
          <p:nvPr/>
        </p:nvSpPr>
        <p:spPr>
          <a:xfrm>
            <a:off x="676656" y="3044952"/>
            <a:ext cx="1837944" cy="640080"/>
          </a:xfrm>
          <a:prstGeom prst="rect">
            <a:avLst/>
          </a:prstGeom>
          <a:noFill/>
          <a:ln/>
        </p:spPr>
        <p:txBody>
          <a:bodyPr wrap="square" lIns="0" tIns="0" rIns="0" bIns="0" rtlCol="0" anchor="ctr">
            <a:normAutofit/>
          </a:bodyPr>
          <a:lstStyle/>
          <a:p>
            <a:pPr indent="0" marL="0">
              <a:buNone/>
            </a:pPr>
            <a:r>
              <a:rPr lang="en-US" sz="1400" b="1" dirty="0">
                <a:solidFill>
                  <a:srgbClr val="2E5BFF"/>
                </a:solidFill>
              </a:rPr>
              <a:t>Data Warehouse</a:t>
            </a:r>
            <a:endParaRPr lang="en-US" sz="1400" dirty="0"/>
          </a:p>
        </p:txBody>
      </p:sp>
      <p:sp>
        <p:nvSpPr>
          <p:cNvPr id="22" name="Shape 20"/>
          <p:cNvSpPr/>
          <p:nvPr/>
        </p:nvSpPr>
        <p:spPr>
          <a:xfrm>
            <a:off x="2624328" y="2880360"/>
            <a:ext cx="2834640" cy="960120"/>
          </a:xfrm>
          <a:prstGeom prst="rect">
            <a:avLst/>
          </a:prstGeom>
          <a:solidFill>
            <a:srgbClr val="F4F6F8"/>
          </a:solidFill>
          <a:ln w="12700">
            <a:solidFill>
              <a:srgbClr val="D9E0E8"/>
            </a:solidFill>
            <a:prstDash val="solid"/>
          </a:ln>
        </p:spPr>
      </p:sp>
      <p:sp>
        <p:nvSpPr>
          <p:cNvPr id="23" name="Text 21"/>
          <p:cNvSpPr/>
          <p:nvPr/>
        </p:nvSpPr>
        <p:spPr>
          <a:xfrm>
            <a:off x="2734056" y="3044952"/>
            <a:ext cx="261518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BI &amp; analytical queries</a:t>
            </a:r>
            <a:endParaRPr lang="en-US" sz="1260" dirty="0"/>
          </a:p>
        </p:txBody>
      </p:sp>
      <p:sp>
        <p:nvSpPr>
          <p:cNvPr id="24" name="Shape 22"/>
          <p:cNvSpPr/>
          <p:nvPr/>
        </p:nvSpPr>
        <p:spPr>
          <a:xfrm>
            <a:off x="5458968" y="2880360"/>
            <a:ext cx="2788920" cy="960120"/>
          </a:xfrm>
          <a:prstGeom prst="rect">
            <a:avLst/>
          </a:prstGeom>
          <a:solidFill>
            <a:srgbClr val="F4F6F8"/>
          </a:solidFill>
          <a:ln w="12700">
            <a:solidFill>
              <a:srgbClr val="D9E0E8"/>
            </a:solidFill>
            <a:prstDash val="solid"/>
          </a:ln>
        </p:spPr>
      </p:sp>
      <p:sp>
        <p:nvSpPr>
          <p:cNvPr id="25" name="Text 23"/>
          <p:cNvSpPr/>
          <p:nvPr/>
        </p:nvSpPr>
        <p:spPr>
          <a:xfrm>
            <a:off x="5568696" y="3044952"/>
            <a:ext cx="256946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Curated, modelled</a:t>
            </a:r>
            <a:endParaRPr lang="en-US" sz="1260" dirty="0"/>
          </a:p>
        </p:txBody>
      </p:sp>
      <p:sp>
        <p:nvSpPr>
          <p:cNvPr id="26" name="Shape 24"/>
          <p:cNvSpPr/>
          <p:nvPr/>
        </p:nvSpPr>
        <p:spPr>
          <a:xfrm>
            <a:off x="8247888" y="2880360"/>
            <a:ext cx="3383280" cy="960120"/>
          </a:xfrm>
          <a:prstGeom prst="rect">
            <a:avLst/>
          </a:prstGeom>
          <a:solidFill>
            <a:srgbClr val="F4F6F8"/>
          </a:solidFill>
          <a:ln w="12700">
            <a:solidFill>
              <a:srgbClr val="D9E0E8"/>
            </a:solidFill>
            <a:prstDash val="solid"/>
          </a:ln>
        </p:spPr>
      </p:sp>
      <p:sp>
        <p:nvSpPr>
          <p:cNvPr id="27" name="Text 25"/>
          <p:cNvSpPr/>
          <p:nvPr/>
        </p:nvSpPr>
        <p:spPr>
          <a:xfrm>
            <a:off x="8357616" y="3044952"/>
            <a:ext cx="316382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Facts + Dimensions</a:t>
            </a:r>
            <a:endParaRPr lang="en-US" sz="1260" dirty="0"/>
          </a:p>
        </p:txBody>
      </p:sp>
      <p:sp>
        <p:nvSpPr>
          <p:cNvPr id="28" name="Shape 26"/>
          <p:cNvSpPr/>
          <p:nvPr/>
        </p:nvSpPr>
        <p:spPr>
          <a:xfrm>
            <a:off x="566928" y="3840480"/>
            <a:ext cx="2057400" cy="960120"/>
          </a:xfrm>
          <a:prstGeom prst="rect">
            <a:avLst/>
          </a:prstGeom>
          <a:solidFill>
            <a:srgbClr val="FFFFFF"/>
          </a:solidFill>
          <a:ln w="12700">
            <a:solidFill>
              <a:srgbClr val="D9E0E8"/>
            </a:solidFill>
            <a:prstDash val="solid"/>
          </a:ln>
        </p:spPr>
      </p:sp>
      <p:sp>
        <p:nvSpPr>
          <p:cNvPr id="29" name="Text 27"/>
          <p:cNvSpPr/>
          <p:nvPr/>
        </p:nvSpPr>
        <p:spPr>
          <a:xfrm>
            <a:off x="676656" y="4005072"/>
            <a:ext cx="1837944" cy="640080"/>
          </a:xfrm>
          <a:prstGeom prst="rect">
            <a:avLst/>
          </a:prstGeom>
          <a:noFill/>
          <a:ln/>
        </p:spPr>
        <p:txBody>
          <a:bodyPr wrap="square" lIns="0" tIns="0" rIns="0" bIns="0" rtlCol="0" anchor="ctr">
            <a:normAutofit/>
          </a:bodyPr>
          <a:lstStyle/>
          <a:p>
            <a:pPr indent="0" marL="0">
              <a:buNone/>
            </a:pPr>
            <a:r>
              <a:rPr lang="en-US" sz="1400" b="1" dirty="0">
                <a:solidFill>
                  <a:srgbClr val="0F766E"/>
                </a:solidFill>
              </a:rPr>
              <a:t>Data Lake</a:t>
            </a:r>
            <a:endParaRPr lang="en-US" sz="1400" dirty="0"/>
          </a:p>
        </p:txBody>
      </p:sp>
      <p:sp>
        <p:nvSpPr>
          <p:cNvPr id="30" name="Shape 28"/>
          <p:cNvSpPr/>
          <p:nvPr/>
        </p:nvSpPr>
        <p:spPr>
          <a:xfrm>
            <a:off x="2624328" y="3840480"/>
            <a:ext cx="2834640" cy="960120"/>
          </a:xfrm>
          <a:prstGeom prst="rect">
            <a:avLst/>
          </a:prstGeom>
          <a:solidFill>
            <a:srgbClr val="FFFFFF"/>
          </a:solidFill>
          <a:ln w="12700">
            <a:solidFill>
              <a:srgbClr val="D9E0E8"/>
            </a:solidFill>
            <a:prstDash val="solid"/>
          </a:ln>
        </p:spPr>
      </p:sp>
      <p:sp>
        <p:nvSpPr>
          <p:cNvPr id="31" name="Text 29"/>
          <p:cNvSpPr/>
          <p:nvPr/>
        </p:nvSpPr>
        <p:spPr>
          <a:xfrm>
            <a:off x="2734056" y="4005072"/>
            <a:ext cx="261518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Flexible large-scale storage</a:t>
            </a:r>
            <a:endParaRPr lang="en-US" sz="1260" dirty="0"/>
          </a:p>
        </p:txBody>
      </p:sp>
      <p:sp>
        <p:nvSpPr>
          <p:cNvPr id="32" name="Shape 30"/>
          <p:cNvSpPr/>
          <p:nvPr/>
        </p:nvSpPr>
        <p:spPr>
          <a:xfrm>
            <a:off x="5458968" y="3840480"/>
            <a:ext cx="2788920" cy="960120"/>
          </a:xfrm>
          <a:prstGeom prst="rect">
            <a:avLst/>
          </a:prstGeom>
          <a:solidFill>
            <a:srgbClr val="FFFFFF"/>
          </a:solidFill>
          <a:ln w="12700">
            <a:solidFill>
              <a:srgbClr val="D9E0E8"/>
            </a:solidFill>
            <a:prstDash val="solid"/>
          </a:ln>
        </p:spPr>
      </p:sp>
      <p:sp>
        <p:nvSpPr>
          <p:cNvPr id="33" name="Text 31"/>
          <p:cNvSpPr/>
          <p:nvPr/>
        </p:nvSpPr>
        <p:spPr>
          <a:xfrm>
            <a:off x="5568696" y="4005072"/>
            <a:ext cx="256946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Structured + semi/unstructured</a:t>
            </a:r>
            <a:endParaRPr lang="en-US" sz="1260" dirty="0"/>
          </a:p>
        </p:txBody>
      </p:sp>
      <p:sp>
        <p:nvSpPr>
          <p:cNvPr id="34" name="Shape 32"/>
          <p:cNvSpPr/>
          <p:nvPr/>
        </p:nvSpPr>
        <p:spPr>
          <a:xfrm>
            <a:off x="8247888" y="3840480"/>
            <a:ext cx="3383280" cy="960120"/>
          </a:xfrm>
          <a:prstGeom prst="rect">
            <a:avLst/>
          </a:prstGeom>
          <a:solidFill>
            <a:srgbClr val="FFFFFF"/>
          </a:solidFill>
          <a:ln w="12700">
            <a:solidFill>
              <a:srgbClr val="D9E0E8"/>
            </a:solidFill>
            <a:prstDash val="solid"/>
          </a:ln>
        </p:spPr>
      </p:sp>
      <p:sp>
        <p:nvSpPr>
          <p:cNvPr id="35" name="Text 33"/>
          <p:cNvSpPr/>
          <p:nvPr/>
        </p:nvSpPr>
        <p:spPr>
          <a:xfrm>
            <a:off x="8357616" y="4005072"/>
            <a:ext cx="316382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Raw files + logs</a:t>
            </a:r>
            <a:endParaRPr lang="en-US" sz="1260" dirty="0"/>
          </a:p>
        </p:txBody>
      </p:sp>
      <p:sp>
        <p:nvSpPr>
          <p:cNvPr id="36" name="Shape 34"/>
          <p:cNvSpPr/>
          <p:nvPr/>
        </p:nvSpPr>
        <p:spPr>
          <a:xfrm>
            <a:off x="566928" y="4800600"/>
            <a:ext cx="2057400" cy="960120"/>
          </a:xfrm>
          <a:prstGeom prst="rect">
            <a:avLst/>
          </a:prstGeom>
          <a:solidFill>
            <a:srgbClr val="F4F6F8"/>
          </a:solidFill>
          <a:ln w="12700">
            <a:solidFill>
              <a:srgbClr val="D9E0E8"/>
            </a:solidFill>
            <a:prstDash val="solid"/>
          </a:ln>
        </p:spPr>
      </p:sp>
      <p:sp>
        <p:nvSpPr>
          <p:cNvPr id="37" name="Text 35"/>
          <p:cNvSpPr/>
          <p:nvPr/>
        </p:nvSpPr>
        <p:spPr>
          <a:xfrm>
            <a:off x="676656" y="4965192"/>
            <a:ext cx="1837944" cy="640080"/>
          </a:xfrm>
          <a:prstGeom prst="rect">
            <a:avLst/>
          </a:prstGeom>
          <a:noFill/>
          <a:ln/>
        </p:spPr>
        <p:txBody>
          <a:bodyPr wrap="square" lIns="0" tIns="0" rIns="0" bIns="0" rtlCol="0" anchor="ctr">
            <a:normAutofit/>
          </a:bodyPr>
          <a:lstStyle/>
          <a:p>
            <a:pPr indent="0" marL="0">
              <a:buNone/>
            </a:pPr>
            <a:r>
              <a:rPr lang="en-US" sz="1400" b="1" dirty="0">
                <a:solidFill>
                  <a:srgbClr val="7C3AED"/>
                </a:solidFill>
              </a:rPr>
              <a:t>Lakehouse</a:t>
            </a:r>
            <a:endParaRPr lang="en-US" sz="1400" dirty="0"/>
          </a:p>
        </p:txBody>
      </p:sp>
      <p:sp>
        <p:nvSpPr>
          <p:cNvPr id="38" name="Shape 36"/>
          <p:cNvSpPr/>
          <p:nvPr/>
        </p:nvSpPr>
        <p:spPr>
          <a:xfrm>
            <a:off x="2624328" y="4800600"/>
            <a:ext cx="2834640" cy="960120"/>
          </a:xfrm>
          <a:prstGeom prst="rect">
            <a:avLst/>
          </a:prstGeom>
          <a:solidFill>
            <a:srgbClr val="F4F6F8"/>
          </a:solidFill>
          <a:ln w="12700">
            <a:solidFill>
              <a:srgbClr val="D9E0E8"/>
            </a:solidFill>
            <a:prstDash val="solid"/>
          </a:ln>
        </p:spPr>
      </p:sp>
      <p:sp>
        <p:nvSpPr>
          <p:cNvPr id="39" name="Text 37"/>
          <p:cNvSpPr/>
          <p:nvPr/>
        </p:nvSpPr>
        <p:spPr>
          <a:xfrm>
            <a:off x="2734056" y="4965192"/>
            <a:ext cx="261518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Engineering + DW + ML</a:t>
            </a:r>
            <a:endParaRPr lang="en-US" sz="1260" dirty="0"/>
          </a:p>
        </p:txBody>
      </p:sp>
      <p:sp>
        <p:nvSpPr>
          <p:cNvPr id="40" name="Shape 38"/>
          <p:cNvSpPr/>
          <p:nvPr/>
        </p:nvSpPr>
        <p:spPr>
          <a:xfrm>
            <a:off x="5458968" y="4800600"/>
            <a:ext cx="2788920" cy="960120"/>
          </a:xfrm>
          <a:prstGeom prst="rect">
            <a:avLst/>
          </a:prstGeom>
          <a:solidFill>
            <a:srgbClr val="F4F6F8"/>
          </a:solidFill>
          <a:ln w="12700">
            <a:solidFill>
              <a:srgbClr val="D9E0E8"/>
            </a:solidFill>
            <a:prstDash val="solid"/>
          </a:ln>
        </p:spPr>
      </p:sp>
      <p:sp>
        <p:nvSpPr>
          <p:cNvPr id="41" name="Text 39"/>
          <p:cNvSpPr/>
          <p:nvPr/>
        </p:nvSpPr>
        <p:spPr>
          <a:xfrm>
            <a:off x="5568696" y="4965192"/>
            <a:ext cx="256946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Lake storage + DW reliability</a:t>
            </a:r>
            <a:endParaRPr lang="en-US" sz="1260" dirty="0"/>
          </a:p>
        </p:txBody>
      </p:sp>
      <p:sp>
        <p:nvSpPr>
          <p:cNvPr id="42" name="Shape 40"/>
          <p:cNvSpPr/>
          <p:nvPr/>
        </p:nvSpPr>
        <p:spPr>
          <a:xfrm>
            <a:off x="8247888" y="4800600"/>
            <a:ext cx="3383280" cy="960120"/>
          </a:xfrm>
          <a:prstGeom prst="rect">
            <a:avLst/>
          </a:prstGeom>
          <a:solidFill>
            <a:srgbClr val="F4F6F8"/>
          </a:solidFill>
          <a:ln w="12700">
            <a:solidFill>
              <a:srgbClr val="D9E0E8"/>
            </a:solidFill>
            <a:prstDash val="solid"/>
          </a:ln>
        </p:spPr>
      </p:sp>
      <p:sp>
        <p:nvSpPr>
          <p:cNvPr id="43" name="Text 41"/>
          <p:cNvSpPr/>
          <p:nvPr/>
        </p:nvSpPr>
        <p:spPr>
          <a:xfrm>
            <a:off x="8357616" y="4965192"/>
            <a:ext cx="3163824" cy="640080"/>
          </a:xfrm>
          <a:prstGeom prst="rect">
            <a:avLst/>
          </a:prstGeom>
          <a:noFill/>
          <a:ln/>
        </p:spPr>
        <p:txBody>
          <a:bodyPr wrap="square" lIns="0" tIns="0" rIns="0" bIns="0" rtlCol="0" anchor="ctr">
            <a:normAutofit/>
          </a:bodyPr>
          <a:lstStyle/>
          <a:p>
            <a:pPr indent="0" marL="0">
              <a:buNone/>
            </a:pPr>
            <a:r>
              <a:rPr lang="en-US" sz="1260" dirty="0">
                <a:solidFill>
                  <a:srgbClr val="1F2937"/>
                </a:solidFill>
              </a:rPr>
              <a:t>Databricks — our platform</a:t>
            </a:r>
            <a:endParaRPr lang="en-US" sz="1260" dirty="0"/>
          </a:p>
        </p:txBody>
      </p:sp>
      <p:sp>
        <p:nvSpPr>
          <p:cNvPr id="44" name="Text 42"/>
          <p:cNvSpPr/>
          <p:nvPr/>
        </p:nvSpPr>
        <p:spPr>
          <a:xfrm>
            <a:off x="914400" y="5641848"/>
            <a:ext cx="10287000" cy="411480"/>
          </a:xfrm>
          <a:prstGeom prst="rect">
            <a:avLst/>
          </a:prstGeom>
          <a:noFill/>
          <a:ln/>
        </p:spPr>
        <p:txBody>
          <a:bodyPr wrap="square" lIns="0" tIns="0" rIns="0" bIns="0" rtlCol="0" anchor="ctr"/>
          <a:lstStyle/>
          <a:p>
            <a:pPr algn="ctr" indent="0" marL="0">
              <a:buNone/>
            </a:pPr>
            <a:r>
              <a:rPr lang="en-US" sz="1700" b="1" dirty="0">
                <a:solidFill>
                  <a:srgbClr val="15233C"/>
                </a:solidFill>
              </a:rPr>
              <a:t>Lakehouse = flexible lake storage + warehouse-grade structure, reliability, performance, and governance.</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WHY LAKEHOUSE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The Best Data Warehouse is a Lakehouse</a:t>
            </a:r>
            <a:endParaRPr lang="en-US" sz="2800" dirty="0"/>
          </a:p>
        </p:txBody>
      </p:sp>
      <p:sp>
        <p:nvSpPr>
          <p:cNvPr id="4" name="Shape 2"/>
          <p:cNvSpPr/>
          <p:nvPr/>
        </p:nvSpPr>
        <p:spPr>
          <a:xfrm>
            <a:off x="4590288" y="2304288"/>
            <a:ext cx="2999232" cy="1143000"/>
          </a:xfrm>
          <a:prstGeom prst="roundRect">
            <a:avLst>
              <a:gd name="adj" fmla="val 4800"/>
            </a:avLst>
          </a:prstGeom>
          <a:solidFill>
            <a:srgbClr val="EDE9FE"/>
          </a:solidFill>
          <a:ln w="12700">
            <a:solidFill>
              <a:srgbClr val="EDE9FE"/>
            </a:solidFill>
            <a:prstDash val="solid"/>
          </a:ln>
        </p:spPr>
      </p:sp>
      <p:sp>
        <p:nvSpPr>
          <p:cNvPr id="5" name="Text 3"/>
          <p:cNvSpPr/>
          <p:nvPr/>
        </p:nvSpPr>
        <p:spPr>
          <a:xfrm>
            <a:off x="4636008" y="2350008"/>
            <a:ext cx="2907792" cy="1051560"/>
          </a:xfrm>
          <a:prstGeom prst="rect">
            <a:avLst/>
          </a:prstGeom>
          <a:noFill/>
          <a:ln/>
        </p:spPr>
        <p:txBody>
          <a:bodyPr wrap="square" lIns="254" tIns="254" rIns="254" bIns="254" rtlCol="0" anchor="ctr">
            <a:normAutofit/>
          </a:bodyPr>
          <a:lstStyle/>
          <a:p>
            <a:pPr algn="ctr" indent="0" marL="0">
              <a:buNone/>
            </a:pPr>
            <a:r>
              <a:rPr lang="en-US" sz="2000" b="1" dirty="0">
                <a:solidFill>
                  <a:srgbClr val="7C3AED"/>
                </a:solidFill>
              </a:rPr>
              <a:t>LAKEHOUSE</a:t>
            </a:r>
            <a:endParaRPr lang="en-US" sz="2000" dirty="0"/>
          </a:p>
          <a:p>
            <a:pPr algn="ctr" indent="0" marL="0">
              <a:buNone/>
            </a:pPr>
            <a:r>
              <a:rPr lang="en-US" sz="2000" b="1" dirty="0">
                <a:solidFill>
                  <a:srgbClr val="7C3AED"/>
                </a:solidFill>
              </a:rPr>
              <a:t>Unified analytical platform</a:t>
            </a:r>
            <a:endParaRPr lang="en-US" sz="2000" dirty="0"/>
          </a:p>
        </p:txBody>
      </p:sp>
      <p:sp>
        <p:nvSpPr>
          <p:cNvPr id="6" name="Shape 4"/>
          <p:cNvSpPr/>
          <p:nvPr/>
        </p:nvSpPr>
        <p:spPr>
          <a:xfrm>
            <a:off x="640080" y="1417320"/>
            <a:ext cx="3063240" cy="1417320"/>
          </a:xfrm>
          <a:prstGeom prst="roundRect">
            <a:avLst>
              <a:gd name="adj" fmla="val 5161"/>
            </a:avLst>
          </a:prstGeom>
          <a:solidFill>
            <a:srgbClr val="FFFFFF"/>
          </a:solidFill>
          <a:ln w="12700">
            <a:solidFill>
              <a:srgbClr val="D9E0E8"/>
            </a:solidFill>
            <a:prstDash val="solid"/>
          </a:ln>
        </p:spPr>
      </p:sp>
      <p:sp>
        <p:nvSpPr>
          <p:cNvPr id="7" name="Shape 5"/>
          <p:cNvSpPr/>
          <p:nvPr/>
        </p:nvSpPr>
        <p:spPr>
          <a:xfrm>
            <a:off x="640080" y="1417320"/>
            <a:ext cx="64008" cy="1417320"/>
          </a:xfrm>
          <a:prstGeom prst="rect">
            <a:avLst/>
          </a:prstGeom>
          <a:solidFill>
            <a:srgbClr val="E53935"/>
          </a:solidFill>
          <a:ln w="12700">
            <a:solidFill>
              <a:srgbClr val="E53935"/>
            </a:solidFill>
            <a:prstDash val="solid"/>
          </a:ln>
        </p:spPr>
      </p:sp>
      <p:sp>
        <p:nvSpPr>
          <p:cNvPr id="8" name="Text 6"/>
          <p:cNvSpPr/>
          <p:nvPr/>
        </p:nvSpPr>
        <p:spPr>
          <a:xfrm>
            <a:off x="868680" y="1581912"/>
            <a:ext cx="2651760" cy="256032"/>
          </a:xfrm>
          <a:prstGeom prst="rect">
            <a:avLst/>
          </a:prstGeom>
          <a:noFill/>
          <a:ln/>
        </p:spPr>
        <p:txBody>
          <a:bodyPr wrap="square" lIns="0" tIns="0" rIns="0" bIns="0" rtlCol="0" anchor="ctr"/>
          <a:lstStyle/>
          <a:p>
            <a:pPr indent="0" marL="0">
              <a:buNone/>
            </a:pPr>
            <a:r>
              <a:rPr lang="en-US" sz="1600" b="1" dirty="0">
                <a:solidFill>
                  <a:srgbClr val="15233C"/>
                </a:solidFill>
              </a:rPr>
              <a:t>Streaming + batch</a:t>
            </a:r>
            <a:endParaRPr lang="en-US" sz="1600" dirty="0"/>
          </a:p>
        </p:txBody>
      </p:sp>
      <p:sp>
        <p:nvSpPr>
          <p:cNvPr id="9" name="Text 7"/>
          <p:cNvSpPr/>
          <p:nvPr/>
        </p:nvSpPr>
        <p:spPr>
          <a:xfrm>
            <a:off x="868680" y="1984248"/>
            <a:ext cx="2651760" cy="704088"/>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Real-time and historical workloads</a:t>
            </a:r>
            <a:endParaRPr lang="en-US" sz="1300" dirty="0"/>
          </a:p>
        </p:txBody>
      </p:sp>
      <p:sp>
        <p:nvSpPr>
          <p:cNvPr id="10" name="Shape 8"/>
          <p:cNvSpPr/>
          <p:nvPr/>
        </p:nvSpPr>
        <p:spPr>
          <a:xfrm>
            <a:off x="640080" y="3794760"/>
            <a:ext cx="3063240" cy="1417320"/>
          </a:xfrm>
          <a:prstGeom prst="roundRect">
            <a:avLst>
              <a:gd name="adj" fmla="val 5161"/>
            </a:avLst>
          </a:prstGeom>
          <a:solidFill>
            <a:srgbClr val="FFFFFF"/>
          </a:solidFill>
          <a:ln w="12700">
            <a:solidFill>
              <a:srgbClr val="D9E0E8"/>
            </a:solidFill>
            <a:prstDash val="solid"/>
          </a:ln>
        </p:spPr>
      </p:sp>
      <p:sp>
        <p:nvSpPr>
          <p:cNvPr id="11" name="Shape 9"/>
          <p:cNvSpPr/>
          <p:nvPr/>
        </p:nvSpPr>
        <p:spPr>
          <a:xfrm>
            <a:off x="640080" y="3794760"/>
            <a:ext cx="64008" cy="1417320"/>
          </a:xfrm>
          <a:prstGeom prst="rect">
            <a:avLst/>
          </a:prstGeom>
          <a:solidFill>
            <a:srgbClr val="0F766E"/>
          </a:solidFill>
          <a:ln w="12700">
            <a:solidFill>
              <a:srgbClr val="0F766E"/>
            </a:solidFill>
            <a:prstDash val="solid"/>
          </a:ln>
        </p:spPr>
      </p:sp>
      <p:sp>
        <p:nvSpPr>
          <p:cNvPr id="12" name="Text 10"/>
          <p:cNvSpPr/>
          <p:nvPr/>
        </p:nvSpPr>
        <p:spPr>
          <a:xfrm>
            <a:off x="868680" y="3959352"/>
            <a:ext cx="2651760" cy="256032"/>
          </a:xfrm>
          <a:prstGeom prst="rect">
            <a:avLst/>
          </a:prstGeom>
          <a:noFill/>
          <a:ln/>
        </p:spPr>
        <p:txBody>
          <a:bodyPr wrap="square" lIns="0" tIns="0" rIns="0" bIns="0" rtlCol="0" anchor="ctr"/>
          <a:lstStyle/>
          <a:p>
            <a:pPr indent="0" marL="0">
              <a:buNone/>
            </a:pPr>
            <a:r>
              <a:rPr lang="en-US" sz="1600" b="1" dirty="0">
                <a:solidFill>
                  <a:srgbClr val="15233C"/>
                </a:solidFill>
              </a:rPr>
              <a:t>Unified governance</a:t>
            </a:r>
            <a:endParaRPr lang="en-US" sz="1600" dirty="0"/>
          </a:p>
        </p:txBody>
      </p:sp>
      <p:sp>
        <p:nvSpPr>
          <p:cNvPr id="13" name="Text 11"/>
          <p:cNvSpPr/>
          <p:nvPr/>
        </p:nvSpPr>
        <p:spPr>
          <a:xfrm>
            <a:off x="868680" y="4361688"/>
            <a:ext cx="2651760" cy="704088"/>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One security &amp; governance layer</a:t>
            </a:r>
            <a:endParaRPr lang="en-US" sz="1300" dirty="0"/>
          </a:p>
        </p:txBody>
      </p:sp>
      <p:sp>
        <p:nvSpPr>
          <p:cNvPr id="14" name="Shape 12"/>
          <p:cNvSpPr/>
          <p:nvPr/>
        </p:nvSpPr>
        <p:spPr>
          <a:xfrm>
            <a:off x="8229600" y="1417320"/>
            <a:ext cx="3063240" cy="1417320"/>
          </a:xfrm>
          <a:prstGeom prst="roundRect">
            <a:avLst>
              <a:gd name="adj" fmla="val 5161"/>
            </a:avLst>
          </a:prstGeom>
          <a:solidFill>
            <a:srgbClr val="FFFFFF"/>
          </a:solidFill>
          <a:ln w="12700">
            <a:solidFill>
              <a:srgbClr val="D9E0E8"/>
            </a:solidFill>
            <a:prstDash val="solid"/>
          </a:ln>
        </p:spPr>
      </p:sp>
      <p:sp>
        <p:nvSpPr>
          <p:cNvPr id="15" name="Shape 13"/>
          <p:cNvSpPr/>
          <p:nvPr/>
        </p:nvSpPr>
        <p:spPr>
          <a:xfrm>
            <a:off x="8229600" y="1417320"/>
            <a:ext cx="64008" cy="1417320"/>
          </a:xfrm>
          <a:prstGeom prst="rect">
            <a:avLst/>
          </a:prstGeom>
          <a:solidFill>
            <a:srgbClr val="F59E0B"/>
          </a:solidFill>
          <a:ln w="12700">
            <a:solidFill>
              <a:srgbClr val="F59E0B"/>
            </a:solidFill>
            <a:prstDash val="solid"/>
          </a:ln>
        </p:spPr>
      </p:sp>
      <p:sp>
        <p:nvSpPr>
          <p:cNvPr id="16" name="Text 14"/>
          <p:cNvSpPr/>
          <p:nvPr/>
        </p:nvSpPr>
        <p:spPr>
          <a:xfrm>
            <a:off x="8458200" y="1581912"/>
            <a:ext cx="2651760" cy="256032"/>
          </a:xfrm>
          <a:prstGeom prst="rect">
            <a:avLst/>
          </a:prstGeom>
          <a:noFill/>
          <a:ln/>
        </p:spPr>
        <p:txBody>
          <a:bodyPr wrap="square" lIns="0" tIns="0" rIns="0" bIns="0" rtlCol="0" anchor="ctr"/>
          <a:lstStyle/>
          <a:p>
            <a:pPr indent="0" marL="0">
              <a:buNone/>
            </a:pPr>
            <a:r>
              <a:rPr lang="en-US" sz="1600" b="1" dirty="0">
                <a:solidFill>
                  <a:srgbClr val="15233C"/>
                </a:solidFill>
              </a:rPr>
              <a:t>Reduced duplication</a:t>
            </a:r>
            <a:endParaRPr lang="en-US" sz="1600" dirty="0"/>
          </a:p>
        </p:txBody>
      </p:sp>
      <p:sp>
        <p:nvSpPr>
          <p:cNvPr id="17" name="Text 15"/>
          <p:cNvSpPr/>
          <p:nvPr/>
        </p:nvSpPr>
        <p:spPr>
          <a:xfrm>
            <a:off x="8458200" y="1984248"/>
            <a:ext cx="2651760" cy="704088"/>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Fewer copies between systems</a:t>
            </a:r>
            <a:endParaRPr lang="en-US" sz="1300" dirty="0"/>
          </a:p>
        </p:txBody>
      </p:sp>
      <p:sp>
        <p:nvSpPr>
          <p:cNvPr id="18" name="Shape 16"/>
          <p:cNvSpPr/>
          <p:nvPr/>
        </p:nvSpPr>
        <p:spPr>
          <a:xfrm>
            <a:off x="8229600" y="3794760"/>
            <a:ext cx="3063240" cy="1417320"/>
          </a:xfrm>
          <a:prstGeom prst="roundRect">
            <a:avLst>
              <a:gd name="adj" fmla="val 5161"/>
            </a:avLst>
          </a:prstGeom>
          <a:solidFill>
            <a:srgbClr val="FFFFFF"/>
          </a:solidFill>
          <a:ln w="12700">
            <a:solidFill>
              <a:srgbClr val="D9E0E8"/>
            </a:solidFill>
            <a:prstDash val="solid"/>
          </a:ln>
        </p:spPr>
      </p:sp>
      <p:sp>
        <p:nvSpPr>
          <p:cNvPr id="19" name="Shape 17"/>
          <p:cNvSpPr/>
          <p:nvPr/>
        </p:nvSpPr>
        <p:spPr>
          <a:xfrm>
            <a:off x="8229600" y="3794760"/>
            <a:ext cx="64008" cy="1417320"/>
          </a:xfrm>
          <a:prstGeom prst="rect">
            <a:avLst/>
          </a:prstGeom>
          <a:solidFill>
            <a:srgbClr val="2E5BFF"/>
          </a:solidFill>
          <a:ln w="12700">
            <a:solidFill>
              <a:srgbClr val="2E5BFF"/>
            </a:solidFill>
            <a:prstDash val="solid"/>
          </a:ln>
        </p:spPr>
      </p:sp>
      <p:sp>
        <p:nvSpPr>
          <p:cNvPr id="20" name="Text 18"/>
          <p:cNvSpPr/>
          <p:nvPr/>
        </p:nvSpPr>
        <p:spPr>
          <a:xfrm>
            <a:off x="8458200" y="3959352"/>
            <a:ext cx="2651760" cy="256032"/>
          </a:xfrm>
          <a:prstGeom prst="rect">
            <a:avLst/>
          </a:prstGeom>
          <a:noFill/>
          <a:ln/>
        </p:spPr>
        <p:txBody>
          <a:bodyPr wrap="square" lIns="0" tIns="0" rIns="0" bIns="0" rtlCol="0" anchor="ctr"/>
          <a:lstStyle/>
          <a:p>
            <a:pPr indent="0" marL="0">
              <a:buNone/>
            </a:pPr>
            <a:r>
              <a:rPr lang="en-US" sz="1600" b="1" dirty="0">
                <a:solidFill>
                  <a:srgbClr val="15233C"/>
                </a:solidFill>
              </a:rPr>
              <a:t>AI / ML integration</a:t>
            </a:r>
            <a:endParaRPr lang="en-US" sz="1600" dirty="0"/>
          </a:p>
        </p:txBody>
      </p:sp>
      <p:sp>
        <p:nvSpPr>
          <p:cNvPr id="21" name="Text 19"/>
          <p:cNvSpPr/>
          <p:nvPr/>
        </p:nvSpPr>
        <p:spPr>
          <a:xfrm>
            <a:off x="8458200" y="4361688"/>
            <a:ext cx="2651760" cy="704088"/>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ML beside BI and engineering</a:t>
            </a:r>
            <a:endParaRPr lang="en-US" sz="1300" dirty="0"/>
          </a:p>
        </p:txBody>
      </p:sp>
      <p:sp>
        <p:nvSpPr>
          <p:cNvPr id="22" name="Shape 20"/>
          <p:cNvSpPr/>
          <p:nvPr/>
        </p:nvSpPr>
        <p:spPr>
          <a:xfrm>
            <a:off x="3694176" y="2084832"/>
            <a:ext cx="877824" cy="612648"/>
          </a:xfrm>
          <a:prstGeom prst="line">
            <a:avLst/>
          </a:prstGeom>
          <a:noFill/>
          <a:ln w="22860">
            <a:solidFill>
              <a:srgbClr val="A7B0BE"/>
            </a:solidFill>
            <a:prstDash val="solid"/>
            <a:headEnd type="none"/>
            <a:tailEnd type="triangle"/>
          </a:ln>
        </p:spPr>
      </p:sp>
      <p:sp>
        <p:nvSpPr>
          <p:cNvPr id="23" name="Shape 21"/>
          <p:cNvSpPr/>
          <p:nvPr/>
        </p:nvSpPr>
        <p:spPr>
          <a:xfrm>
            <a:off x="3694176" y="4443984"/>
            <a:ext cx="877824" cy="-1088136"/>
          </a:xfrm>
          <a:prstGeom prst="line">
            <a:avLst/>
          </a:prstGeom>
          <a:noFill/>
          <a:ln w="22860">
            <a:solidFill>
              <a:srgbClr val="A7B0BE"/>
            </a:solidFill>
            <a:prstDash val="solid"/>
            <a:headEnd type="none"/>
            <a:tailEnd type="triangle"/>
          </a:ln>
        </p:spPr>
      </p:sp>
      <p:sp>
        <p:nvSpPr>
          <p:cNvPr id="24" name="Shape 22"/>
          <p:cNvSpPr/>
          <p:nvPr/>
        </p:nvSpPr>
        <p:spPr>
          <a:xfrm>
            <a:off x="8229600" y="2084832"/>
            <a:ext cx="-621792" cy="612648"/>
          </a:xfrm>
          <a:prstGeom prst="line">
            <a:avLst/>
          </a:prstGeom>
          <a:noFill/>
          <a:ln w="22860">
            <a:solidFill>
              <a:srgbClr val="A7B0BE"/>
            </a:solidFill>
            <a:prstDash val="solid"/>
            <a:headEnd type="none"/>
            <a:tailEnd type="triangle"/>
          </a:ln>
        </p:spPr>
      </p:sp>
      <p:sp>
        <p:nvSpPr>
          <p:cNvPr id="25" name="Shape 23"/>
          <p:cNvSpPr/>
          <p:nvPr/>
        </p:nvSpPr>
        <p:spPr>
          <a:xfrm>
            <a:off x="8229600" y="4443984"/>
            <a:ext cx="-621792" cy="-1088136"/>
          </a:xfrm>
          <a:prstGeom prst="line">
            <a:avLst/>
          </a:prstGeom>
          <a:noFill/>
          <a:ln w="22860">
            <a:solidFill>
              <a:srgbClr val="A7B0BE"/>
            </a:solidFill>
            <a:prstDash val="solid"/>
            <a:headEnd type="none"/>
            <a:tailEnd type="triangle"/>
          </a:ln>
        </p:spPr>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MODERNISATION</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From SQL Server to Databricks</a:t>
            </a:r>
            <a:endParaRPr lang="en-US" sz="2800" dirty="0"/>
          </a:p>
        </p:txBody>
      </p:sp>
      <p:sp>
        <p:nvSpPr>
          <p:cNvPr id="4" name="Shape 2"/>
          <p:cNvSpPr/>
          <p:nvPr/>
        </p:nvSpPr>
        <p:spPr>
          <a:xfrm>
            <a:off x="685800" y="1389888"/>
            <a:ext cx="5074920" cy="4251960"/>
          </a:xfrm>
          <a:prstGeom prst="roundRect">
            <a:avLst>
              <a:gd name="adj" fmla="val 1720"/>
            </a:avLst>
          </a:prstGeom>
          <a:solidFill>
            <a:srgbClr val="FFFFFF"/>
          </a:solidFill>
          <a:ln w="12700">
            <a:solidFill>
              <a:srgbClr val="D9E0E8"/>
            </a:solidFill>
            <a:prstDash val="solid"/>
          </a:ln>
        </p:spPr>
      </p:sp>
      <p:sp>
        <p:nvSpPr>
          <p:cNvPr id="5" name="Shape 3"/>
          <p:cNvSpPr/>
          <p:nvPr/>
        </p:nvSpPr>
        <p:spPr>
          <a:xfrm>
            <a:off x="685800" y="1389888"/>
            <a:ext cx="64008" cy="4251960"/>
          </a:xfrm>
          <a:prstGeom prst="rect">
            <a:avLst/>
          </a:prstGeom>
          <a:solidFill>
            <a:srgbClr val="E53935"/>
          </a:solidFill>
          <a:ln w="12700">
            <a:solidFill>
              <a:srgbClr val="E53935"/>
            </a:solidFill>
            <a:prstDash val="solid"/>
          </a:ln>
        </p:spPr>
      </p:sp>
      <p:sp>
        <p:nvSpPr>
          <p:cNvPr id="6" name="Text 4"/>
          <p:cNvSpPr/>
          <p:nvPr/>
        </p:nvSpPr>
        <p:spPr>
          <a:xfrm>
            <a:off x="914400" y="1554480"/>
            <a:ext cx="4663440" cy="256032"/>
          </a:xfrm>
          <a:prstGeom prst="rect">
            <a:avLst/>
          </a:prstGeom>
          <a:noFill/>
          <a:ln/>
        </p:spPr>
        <p:txBody>
          <a:bodyPr wrap="square" lIns="0" tIns="0" rIns="0" bIns="0" rtlCol="0" anchor="ctr"/>
          <a:lstStyle/>
          <a:p>
            <a:pPr indent="0" marL="0">
              <a:buNone/>
            </a:pPr>
            <a:r>
              <a:rPr lang="en-US" sz="2100" b="1" dirty="0">
                <a:solidFill>
                  <a:srgbClr val="15233C"/>
                </a:solidFill>
              </a:rPr>
              <a:t>Why modernise?</a:t>
            </a:r>
            <a:endParaRPr lang="en-US" sz="2100" dirty="0"/>
          </a:p>
        </p:txBody>
      </p:sp>
      <p:sp>
        <p:nvSpPr>
          <p:cNvPr id="7" name="Text 5"/>
          <p:cNvSpPr/>
          <p:nvPr/>
        </p:nvSpPr>
        <p:spPr>
          <a:xfrm>
            <a:off x="914400" y="1956816"/>
            <a:ext cx="4663440" cy="353872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Reduce legacy infrastructure overhead</a:t>
            </a:r>
            <a:endParaRPr lang="en-US" sz="1700" dirty="0"/>
          </a:p>
          <a:p>
            <a:pPr indent="0" marL="0">
              <a:buNone/>
            </a:pPr>
            <a:r>
              <a:rPr lang="en-US" sz="1700" dirty="0">
                <a:solidFill>
                  <a:srgbClr val="1F2937"/>
                </a:solidFill>
              </a:rPr>
              <a:t>Shift from SSIS / T-SQL to scalable lakehouse pipelines</a:t>
            </a:r>
            <a:endParaRPr lang="en-US" sz="1700" dirty="0"/>
          </a:p>
          <a:p>
            <a:pPr indent="0" marL="0">
              <a:buNone/>
            </a:pPr>
            <a:r>
              <a:rPr lang="en-US" sz="1700" dirty="0">
                <a:solidFill>
                  <a:srgbClr val="1F2937"/>
                </a:solidFill>
              </a:rPr>
              <a:t>Support real-time and heavy analytical workloads</a:t>
            </a:r>
            <a:endParaRPr lang="en-US" sz="1700" dirty="0"/>
          </a:p>
        </p:txBody>
      </p:sp>
      <p:sp>
        <p:nvSpPr>
          <p:cNvPr id="8" name="Shape 6"/>
          <p:cNvSpPr/>
          <p:nvPr/>
        </p:nvSpPr>
        <p:spPr>
          <a:xfrm>
            <a:off x="6428232" y="1389888"/>
            <a:ext cx="5074920" cy="4251960"/>
          </a:xfrm>
          <a:prstGeom prst="roundRect">
            <a:avLst>
              <a:gd name="adj" fmla="val 1720"/>
            </a:avLst>
          </a:prstGeom>
          <a:solidFill>
            <a:srgbClr val="FFFFFF"/>
          </a:solidFill>
          <a:ln w="12700">
            <a:solidFill>
              <a:srgbClr val="D9E0E8"/>
            </a:solidFill>
            <a:prstDash val="solid"/>
          </a:ln>
        </p:spPr>
      </p:sp>
      <p:sp>
        <p:nvSpPr>
          <p:cNvPr id="9" name="Shape 7"/>
          <p:cNvSpPr/>
          <p:nvPr/>
        </p:nvSpPr>
        <p:spPr>
          <a:xfrm>
            <a:off x="6428232" y="1389888"/>
            <a:ext cx="64008" cy="4251960"/>
          </a:xfrm>
          <a:prstGeom prst="rect">
            <a:avLst/>
          </a:prstGeom>
          <a:solidFill>
            <a:srgbClr val="2E5BFF"/>
          </a:solidFill>
          <a:ln w="12700">
            <a:solidFill>
              <a:srgbClr val="2E5BFF"/>
            </a:solidFill>
            <a:prstDash val="solid"/>
          </a:ln>
        </p:spPr>
      </p:sp>
      <p:sp>
        <p:nvSpPr>
          <p:cNvPr id="10" name="Text 8"/>
          <p:cNvSpPr/>
          <p:nvPr/>
        </p:nvSpPr>
        <p:spPr>
          <a:xfrm>
            <a:off x="6656832" y="1554480"/>
            <a:ext cx="4663440" cy="256032"/>
          </a:xfrm>
          <a:prstGeom prst="rect">
            <a:avLst/>
          </a:prstGeom>
          <a:noFill/>
          <a:ln/>
        </p:spPr>
        <p:txBody>
          <a:bodyPr wrap="square" lIns="0" tIns="0" rIns="0" bIns="0" rtlCol="0" anchor="ctr"/>
          <a:lstStyle/>
          <a:p>
            <a:pPr indent="0" marL="0">
              <a:buNone/>
            </a:pPr>
            <a:r>
              <a:rPr lang="en-US" sz="2100" b="1" dirty="0">
                <a:solidFill>
                  <a:srgbClr val="15233C"/>
                </a:solidFill>
              </a:rPr>
              <a:t>How we modernise</a:t>
            </a:r>
            <a:endParaRPr lang="en-US" sz="2100" dirty="0"/>
          </a:p>
        </p:txBody>
      </p:sp>
      <p:sp>
        <p:nvSpPr>
          <p:cNvPr id="11" name="Text 9"/>
          <p:cNvSpPr/>
          <p:nvPr/>
        </p:nvSpPr>
        <p:spPr>
          <a:xfrm>
            <a:off x="6656832" y="1956816"/>
            <a:ext cx="4663440" cy="353872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Medallion Architecture: Bronze → Silver → Gold</a:t>
            </a:r>
            <a:endParaRPr lang="en-US" sz="1700" dirty="0"/>
          </a:p>
          <a:p>
            <a:pPr indent="0" marL="0">
              <a:buNone/>
            </a:pPr>
            <a:r>
              <a:rPr lang="en-US" sz="1700" dirty="0">
                <a:solidFill>
                  <a:srgbClr val="1F2937"/>
                </a:solidFill>
              </a:rPr>
              <a:t>Unity Catalog from the start</a:t>
            </a:r>
            <a:endParaRPr lang="en-US" sz="1700" dirty="0"/>
          </a:p>
          <a:p>
            <a:pPr indent="0" marL="0">
              <a:buNone/>
            </a:pPr>
            <a:r>
              <a:rPr lang="en-US" sz="1700" dirty="0">
                <a:solidFill>
                  <a:srgbClr val="1F2937"/>
                </a:solidFill>
              </a:rPr>
              <a:t>Decouple compute and storage for scale and cost control</a:t>
            </a:r>
            <a:endParaRPr lang="en-US" sz="1700" dirty="0"/>
          </a:p>
        </p:txBody>
      </p:sp>
      <p:sp>
        <p:nvSpPr>
          <p:cNvPr id="12" name="Shape 10"/>
          <p:cNvSpPr/>
          <p:nvPr/>
        </p:nvSpPr>
        <p:spPr>
          <a:xfrm>
            <a:off x="5779008" y="3520440"/>
            <a:ext cx="621792" cy="0"/>
          </a:xfrm>
          <a:prstGeom prst="line">
            <a:avLst/>
          </a:prstGeom>
          <a:noFill/>
          <a:ln w="38100">
            <a:solidFill>
              <a:srgbClr val="15233C"/>
            </a:solidFill>
            <a:prstDash val="solid"/>
            <a:headEnd type="none"/>
            <a:tailEnd type="triangle"/>
          </a:ln>
        </p:spPr>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TOOLING</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The Databricks Environment We Will Use</a:t>
            </a:r>
            <a:endParaRPr lang="en-US" sz="2800" dirty="0"/>
          </a:p>
        </p:txBody>
      </p:sp>
      <p:sp>
        <p:nvSpPr>
          <p:cNvPr id="4" name="Shape 2"/>
          <p:cNvSpPr/>
          <p:nvPr/>
        </p:nvSpPr>
        <p:spPr>
          <a:xfrm>
            <a:off x="713232" y="1353312"/>
            <a:ext cx="5166360" cy="4553712"/>
          </a:xfrm>
          <a:prstGeom prst="roundRect">
            <a:avLst>
              <a:gd name="adj" fmla="val 1606"/>
            </a:avLst>
          </a:prstGeom>
          <a:solidFill>
            <a:srgbClr val="FFF9F8"/>
          </a:solidFill>
          <a:ln w="12700">
            <a:solidFill>
              <a:srgbClr val="D9E0E8"/>
            </a:solidFill>
            <a:prstDash val="solid"/>
          </a:ln>
        </p:spPr>
      </p:sp>
      <p:sp>
        <p:nvSpPr>
          <p:cNvPr id="5" name="Shape 3"/>
          <p:cNvSpPr/>
          <p:nvPr/>
        </p:nvSpPr>
        <p:spPr>
          <a:xfrm>
            <a:off x="713232" y="1353312"/>
            <a:ext cx="64008" cy="4553712"/>
          </a:xfrm>
          <a:prstGeom prst="rect">
            <a:avLst/>
          </a:prstGeom>
          <a:solidFill>
            <a:srgbClr val="E53935"/>
          </a:solidFill>
          <a:ln w="12700">
            <a:solidFill>
              <a:srgbClr val="E53935"/>
            </a:solidFill>
            <a:prstDash val="solid"/>
          </a:ln>
        </p:spPr>
      </p:sp>
      <p:sp>
        <p:nvSpPr>
          <p:cNvPr id="6" name="Text 4"/>
          <p:cNvSpPr/>
          <p:nvPr/>
        </p:nvSpPr>
        <p:spPr>
          <a:xfrm>
            <a:off x="941832" y="1517904"/>
            <a:ext cx="4754880" cy="256032"/>
          </a:xfrm>
          <a:prstGeom prst="rect">
            <a:avLst/>
          </a:prstGeom>
          <a:noFill/>
          <a:ln/>
        </p:spPr>
        <p:txBody>
          <a:bodyPr wrap="square" lIns="0" tIns="0" rIns="0" bIns="0" rtlCol="0" anchor="ctr"/>
          <a:lstStyle/>
          <a:p>
            <a:pPr indent="0" marL="0">
              <a:buNone/>
            </a:pPr>
            <a:r>
              <a:rPr lang="en-US" sz="2100" b="1" dirty="0">
                <a:solidFill>
                  <a:srgbClr val="15233C"/>
                </a:solidFill>
              </a:rPr>
              <a:t>In the browser — Workspace</a:t>
            </a:r>
            <a:endParaRPr lang="en-US" sz="2100" dirty="0"/>
          </a:p>
        </p:txBody>
      </p:sp>
      <p:sp>
        <p:nvSpPr>
          <p:cNvPr id="7" name="Text 5"/>
          <p:cNvSpPr/>
          <p:nvPr/>
        </p:nvSpPr>
        <p:spPr>
          <a:xfrm>
            <a:off x="941832" y="1920240"/>
            <a:ext cx="4754880" cy="3840480"/>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Databricks notebooks</a:t>
            </a:r>
            <a:endParaRPr lang="en-US" sz="1700" dirty="0"/>
          </a:p>
          <a:p>
            <a:pPr indent="0" marL="0">
              <a:buNone/>
            </a:pPr>
            <a:r>
              <a:rPr lang="en-US" sz="1700" dirty="0">
                <a:solidFill>
                  <a:srgbClr val="1F2937"/>
                </a:solidFill>
              </a:rPr>
              <a:t>Catalog explorer</a:t>
            </a:r>
            <a:endParaRPr lang="en-US" sz="1700" dirty="0"/>
          </a:p>
          <a:p>
            <a:pPr indent="0" marL="0">
              <a:buNone/>
            </a:pPr>
            <a:r>
              <a:rPr lang="en-US" sz="1700" dirty="0">
                <a:solidFill>
                  <a:srgbClr val="1F2937"/>
                </a:solidFill>
              </a:rPr>
              <a:t>SQL Editor + SQL Warehouses</a:t>
            </a:r>
            <a:endParaRPr lang="en-US" sz="1700" dirty="0"/>
          </a:p>
          <a:p>
            <a:pPr indent="0" marL="0">
              <a:buNone/>
            </a:pPr>
            <a:r>
              <a:rPr lang="en-US" sz="1700" dirty="0">
                <a:solidFill>
                  <a:srgbClr val="1F2937"/>
                </a:solidFill>
              </a:rPr>
              <a:t>Dashboards</a:t>
            </a:r>
            <a:endParaRPr lang="en-US" sz="1700" dirty="0"/>
          </a:p>
          <a:p>
            <a:pPr indent="0" marL="0">
              <a:buNone/>
            </a:pPr>
            <a:r>
              <a:rPr lang="en-US" sz="1700" dirty="0">
                <a:solidFill>
                  <a:srgbClr val="1F2937"/>
                </a:solidFill>
              </a:rPr>
              <a:t>Jobs &amp; Pipelines</a:t>
            </a:r>
            <a:endParaRPr lang="en-US" sz="1700" dirty="0"/>
          </a:p>
        </p:txBody>
      </p:sp>
      <p:sp>
        <p:nvSpPr>
          <p:cNvPr id="8" name="Shape 6"/>
          <p:cNvSpPr/>
          <p:nvPr/>
        </p:nvSpPr>
        <p:spPr>
          <a:xfrm>
            <a:off x="6309360" y="1353312"/>
            <a:ext cx="5166360" cy="4553712"/>
          </a:xfrm>
          <a:prstGeom prst="roundRect">
            <a:avLst>
              <a:gd name="adj" fmla="val 1606"/>
            </a:avLst>
          </a:prstGeom>
          <a:solidFill>
            <a:srgbClr val="F8FAFF"/>
          </a:solidFill>
          <a:ln w="12700">
            <a:solidFill>
              <a:srgbClr val="D9E0E8"/>
            </a:solidFill>
            <a:prstDash val="solid"/>
          </a:ln>
        </p:spPr>
      </p:sp>
      <p:sp>
        <p:nvSpPr>
          <p:cNvPr id="9" name="Shape 7"/>
          <p:cNvSpPr/>
          <p:nvPr/>
        </p:nvSpPr>
        <p:spPr>
          <a:xfrm>
            <a:off x="6309360" y="1353312"/>
            <a:ext cx="64008" cy="4553712"/>
          </a:xfrm>
          <a:prstGeom prst="rect">
            <a:avLst/>
          </a:prstGeom>
          <a:solidFill>
            <a:srgbClr val="2E5BFF"/>
          </a:solidFill>
          <a:ln w="12700">
            <a:solidFill>
              <a:srgbClr val="2E5BFF"/>
            </a:solidFill>
            <a:prstDash val="solid"/>
          </a:ln>
        </p:spPr>
      </p:sp>
      <p:sp>
        <p:nvSpPr>
          <p:cNvPr id="10" name="Text 8"/>
          <p:cNvSpPr/>
          <p:nvPr/>
        </p:nvSpPr>
        <p:spPr>
          <a:xfrm>
            <a:off x="6537960" y="1517904"/>
            <a:ext cx="4754880" cy="256032"/>
          </a:xfrm>
          <a:prstGeom prst="rect">
            <a:avLst/>
          </a:prstGeom>
          <a:noFill/>
          <a:ln/>
        </p:spPr>
        <p:txBody>
          <a:bodyPr wrap="square" lIns="0" tIns="0" rIns="0" bIns="0" rtlCol="0" anchor="ctr"/>
          <a:lstStyle/>
          <a:p>
            <a:pPr indent="0" marL="0">
              <a:buNone/>
            </a:pPr>
            <a:r>
              <a:rPr lang="en-US" sz="2100" b="1" dirty="0">
                <a:solidFill>
                  <a:srgbClr val="15233C"/>
                </a:solidFill>
              </a:rPr>
              <a:t>On your computer — IDE</a:t>
            </a:r>
            <a:endParaRPr lang="en-US" sz="2100" dirty="0"/>
          </a:p>
        </p:txBody>
      </p:sp>
      <p:sp>
        <p:nvSpPr>
          <p:cNvPr id="11" name="Text 9"/>
          <p:cNvSpPr/>
          <p:nvPr/>
        </p:nvSpPr>
        <p:spPr>
          <a:xfrm>
            <a:off x="6537960" y="1920240"/>
            <a:ext cx="4754880" cy="3840480"/>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VS Code + Jupyter notebooks</a:t>
            </a:r>
            <a:endParaRPr lang="en-US" sz="1700" dirty="0"/>
          </a:p>
          <a:p>
            <a:pPr indent="0" marL="0">
              <a:buNone/>
            </a:pPr>
            <a:r>
              <a:rPr lang="en-US" sz="1700" dirty="0">
                <a:solidFill>
                  <a:srgbClr val="1F2937"/>
                </a:solidFill>
              </a:rPr>
              <a:t>Python 3.12 virtual environment</a:t>
            </a:r>
            <a:endParaRPr lang="en-US" sz="1700" dirty="0"/>
          </a:p>
          <a:p>
            <a:pPr indent="0" marL="0">
              <a:buNone/>
            </a:pPr>
            <a:r>
              <a:rPr lang="en-US" sz="1700" dirty="0">
                <a:solidFill>
                  <a:srgbClr val="1F2937"/>
                </a:solidFill>
              </a:rPr>
              <a:t>Databricks Connect</a:t>
            </a:r>
            <a:endParaRPr lang="en-US" sz="1700" dirty="0"/>
          </a:p>
          <a:p>
            <a:pPr indent="0" marL="0">
              <a:buNone/>
            </a:pPr>
            <a:endParaRPr lang="en-US" sz="1700" dirty="0"/>
          </a:p>
          <a:p>
            <a:pPr indent="0" marL="0">
              <a:buNone/>
            </a:pPr>
            <a:r>
              <a:rPr lang="en-US" sz="1700" dirty="0">
                <a:solidFill>
                  <a:srgbClr val="1F2937"/>
                </a:solidFill>
              </a:rPr>
              <a:t>Your code is local; heavy Spark execution is remote.</a:t>
            </a:r>
            <a:endParaRPr lang="en-US" sz="1700" dirty="0"/>
          </a:p>
        </p:txBody>
      </p:sp>
      <p:sp>
        <p:nvSpPr>
          <p:cNvPr id="12" name="Text 10"/>
          <p:cNvSpPr/>
          <p:nvPr/>
        </p:nvSpPr>
        <p:spPr>
          <a:xfrm>
            <a:off x="1965960" y="5715000"/>
            <a:ext cx="8321040" cy="320040"/>
          </a:xfrm>
          <a:prstGeom prst="rect">
            <a:avLst/>
          </a:prstGeom>
          <a:noFill/>
          <a:ln/>
        </p:spPr>
        <p:txBody>
          <a:bodyPr wrap="square" lIns="0" tIns="0" rIns="0" bIns="0" rtlCol="0" anchor="ctr"/>
          <a:lstStyle/>
          <a:p>
            <a:pPr algn="ctr" indent="0" marL="0">
              <a:buNone/>
            </a:pPr>
            <a:r>
              <a:rPr lang="en-US" sz="1700" b="1" dirty="0">
                <a:solidFill>
                  <a:srgbClr val="15233C"/>
                </a:solidFill>
              </a:rPr>
              <a:t>Databricks Connect bridges local development and serverless Spark.</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PLATFORM ACCESS</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Databricks Free Edition for this Course</a:t>
            </a:r>
            <a:endParaRPr lang="en-US" sz="2800" dirty="0"/>
          </a:p>
        </p:txBody>
      </p:sp>
      <p:sp>
        <p:nvSpPr>
          <p:cNvPr id="4" name="Shape 2"/>
          <p:cNvSpPr/>
          <p:nvPr/>
        </p:nvSpPr>
        <p:spPr>
          <a:xfrm>
            <a:off x="731520" y="1417320"/>
            <a:ext cx="3657600" cy="4434840"/>
          </a:xfrm>
          <a:prstGeom prst="roundRect">
            <a:avLst>
              <a:gd name="adj" fmla="val 1500"/>
            </a:avLst>
          </a:prstGeom>
          <a:solidFill>
            <a:srgbClr val="FDECEC"/>
          </a:solidFill>
          <a:ln w="12700">
            <a:solidFill>
              <a:srgbClr val="FDECEC"/>
            </a:solidFill>
            <a:prstDash val="solid"/>
          </a:ln>
        </p:spPr>
      </p:sp>
      <p:sp>
        <p:nvSpPr>
          <p:cNvPr id="5" name="Text 3"/>
          <p:cNvSpPr/>
          <p:nvPr/>
        </p:nvSpPr>
        <p:spPr>
          <a:xfrm>
            <a:off x="777240" y="1463040"/>
            <a:ext cx="3566160" cy="4343400"/>
          </a:xfrm>
          <a:prstGeom prst="rect">
            <a:avLst/>
          </a:prstGeom>
          <a:noFill/>
          <a:ln/>
        </p:spPr>
        <p:txBody>
          <a:bodyPr wrap="square" lIns="254" tIns="254" rIns="254" bIns="254" rtlCol="0" anchor="ctr">
            <a:normAutofit/>
          </a:bodyPr>
          <a:lstStyle/>
          <a:p>
            <a:pPr algn="ctr" indent="0" marL="0">
              <a:buNone/>
            </a:pPr>
            <a:r>
              <a:rPr lang="en-US" sz="2800" b="1" dirty="0">
                <a:solidFill>
                  <a:srgbClr val="E53935"/>
                </a:solidFill>
              </a:rPr>
              <a:t>DATABRICKS</a:t>
            </a:r>
            <a:endParaRPr lang="en-US" sz="2800" dirty="0"/>
          </a:p>
          <a:p>
            <a:pPr algn="ctr" indent="0" marL="0">
              <a:buNone/>
            </a:pPr>
            <a:r>
              <a:rPr lang="en-US" sz="2800" b="1" dirty="0">
                <a:solidFill>
                  <a:srgbClr val="E53935"/>
                </a:solidFill>
              </a:rPr>
              <a:t>FREE EDITION</a:t>
            </a:r>
            <a:endParaRPr lang="en-US" sz="2800" dirty="0"/>
          </a:p>
        </p:txBody>
      </p:sp>
      <p:sp>
        <p:nvSpPr>
          <p:cNvPr id="6" name="Text 4"/>
          <p:cNvSpPr/>
          <p:nvPr/>
        </p:nvSpPr>
        <p:spPr>
          <a:xfrm>
            <a:off x="4846320" y="1572768"/>
            <a:ext cx="6217920" cy="3886200"/>
          </a:xfrm>
          <a:prstGeom prst="rect">
            <a:avLst/>
          </a:prstGeom>
          <a:noFill/>
          <a:ln/>
        </p:spPr>
        <p:txBody>
          <a:bodyPr wrap="square" lIns="254" tIns="254" rIns="254" bIns="254" rtlCol="0" anchor="ctr">
            <a:normAutofit/>
          </a:bodyPr>
          <a:lstStyle/>
          <a:p>
            <a:pPr marL="177800" indent="-177800">
              <a:buSzPct val="100000"/>
              <a:buChar char="•"/>
            </a:pPr>
            <a:r>
              <a:rPr lang="en-US" sz="1800" dirty="0">
                <a:solidFill>
                  <a:srgbClr val="1F2937"/>
                </a:solidFill>
              </a:rPr>
              <a:t>No-cost offering designed for learning and experimentation.</a:t>
            </a:r>
            <a:endParaRPr lang="en-US" sz="1800" dirty="0"/>
          </a:p>
          <a:p>
            <a:pPr marL="177800" indent="-177800">
              <a:buSzPct val="100000"/>
              <a:buChar char="•"/>
            </a:pPr>
            <a:r>
              <a:rPr lang="en-US" sz="1800" dirty="0">
                <a:solidFill>
                  <a:srgbClr val="1F2937"/>
                </a:solidFill>
              </a:rPr>
              <a:t>Replaces the legacy Community Edition.</a:t>
            </a:r>
            <a:endParaRPr lang="en-US" sz="1800" dirty="0"/>
          </a:p>
          <a:p>
            <a:pPr marL="177800" indent="-177800">
              <a:buSzPct val="100000"/>
              <a:buChar char="•"/>
            </a:pPr>
            <a:r>
              <a:rPr lang="en-US" sz="1800" dirty="0">
                <a:solidFill>
                  <a:srgbClr val="1F2937"/>
                </a:solidFill>
              </a:rPr>
              <a:t>Serverless compute only — no manual cluster setup.</a:t>
            </a:r>
            <a:endParaRPr lang="en-US" sz="1800" dirty="0"/>
          </a:p>
          <a:p>
            <a:pPr marL="177800" indent="-177800">
              <a:buSzPct val="100000"/>
              <a:buChar char="•"/>
            </a:pPr>
            <a:r>
              <a:rPr lang="en-US" sz="1800" dirty="0">
                <a:solidFill>
                  <a:srgbClr val="1F2937"/>
                </a:solidFill>
              </a:rPr>
              <a:t>Fair-use quotas apply; compute may pause if limits are exceeded.</a:t>
            </a:r>
            <a:endParaRPr lang="en-US" sz="1800" dirty="0"/>
          </a:p>
        </p:txBody>
      </p:sp>
      <p:sp>
        <p:nvSpPr>
          <p:cNvPr id="7" name="Shape 5"/>
          <p:cNvSpPr/>
          <p:nvPr/>
        </p:nvSpPr>
        <p:spPr>
          <a:xfrm>
            <a:off x="4892040" y="5257800"/>
            <a:ext cx="2834640" cy="310896"/>
          </a:xfrm>
          <a:prstGeom prst="roundRect">
            <a:avLst>
              <a:gd name="adj" fmla="val 23529"/>
            </a:avLst>
          </a:prstGeom>
          <a:solidFill>
            <a:srgbClr val="15233C"/>
          </a:solidFill>
          <a:ln w="12700">
            <a:solidFill>
              <a:srgbClr val="15233C"/>
            </a:solidFill>
            <a:prstDash val="solid"/>
          </a:ln>
        </p:spPr>
      </p:sp>
      <p:sp>
        <p:nvSpPr>
          <p:cNvPr id="8" name="Text 6"/>
          <p:cNvSpPr/>
          <p:nvPr/>
        </p:nvSpPr>
        <p:spPr>
          <a:xfrm>
            <a:off x="4965192" y="5321808"/>
            <a:ext cx="2688336" cy="146304"/>
          </a:xfrm>
          <a:prstGeom prst="rect">
            <a:avLst/>
          </a:prstGeom>
          <a:noFill/>
          <a:ln/>
        </p:spPr>
        <p:txBody>
          <a:bodyPr wrap="square" lIns="0" tIns="0" rIns="0" bIns="0" rtlCol="0" anchor="ctr"/>
          <a:lstStyle/>
          <a:p>
            <a:pPr algn="ctr" indent="0" marL="0">
              <a:buNone/>
            </a:pPr>
            <a:r>
              <a:rPr lang="en-US" sz="1000" b="1" dirty="0">
                <a:solidFill>
                  <a:srgbClr val="FFFFFF"/>
                </a:solidFill>
              </a:rPr>
              <a:t>Focus on code, not clusters</a:t>
            </a:r>
            <a:endParaRPr lang="en-US" sz="1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UNITY CATALOG</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Core Object Hierarchy</a:t>
            </a:r>
            <a:endParaRPr lang="en-US" sz="2800" dirty="0"/>
          </a:p>
        </p:txBody>
      </p:sp>
      <p:sp>
        <p:nvSpPr>
          <p:cNvPr id="4" name="Shape 2"/>
          <p:cNvSpPr/>
          <p:nvPr/>
        </p:nvSpPr>
        <p:spPr>
          <a:xfrm>
            <a:off x="868680" y="2057400"/>
            <a:ext cx="2880360" cy="1051560"/>
          </a:xfrm>
          <a:prstGeom prst="roundRect">
            <a:avLst>
              <a:gd name="adj" fmla="val 5217"/>
            </a:avLst>
          </a:prstGeom>
          <a:solidFill>
            <a:srgbClr val="E8EEF8"/>
          </a:solidFill>
          <a:ln w="12700">
            <a:solidFill>
              <a:srgbClr val="E8EEF8"/>
            </a:solidFill>
            <a:prstDash val="solid"/>
          </a:ln>
        </p:spPr>
      </p:sp>
      <p:sp>
        <p:nvSpPr>
          <p:cNvPr id="5" name="Text 3"/>
          <p:cNvSpPr/>
          <p:nvPr/>
        </p:nvSpPr>
        <p:spPr>
          <a:xfrm>
            <a:off x="914400" y="2103120"/>
            <a:ext cx="2788920" cy="960120"/>
          </a:xfrm>
          <a:prstGeom prst="rect">
            <a:avLst/>
          </a:prstGeom>
          <a:noFill/>
          <a:ln/>
        </p:spPr>
        <p:txBody>
          <a:bodyPr wrap="square" lIns="254" tIns="254" rIns="254" bIns="254" rtlCol="0" anchor="ctr">
            <a:normAutofit/>
          </a:bodyPr>
          <a:lstStyle/>
          <a:p>
            <a:pPr algn="ctr" indent="0" marL="0">
              <a:buNone/>
            </a:pPr>
            <a:r>
              <a:rPr lang="en-US" sz="2200" b="1" dirty="0">
                <a:solidFill>
                  <a:srgbClr val="2E5BFF"/>
                </a:solidFill>
              </a:rPr>
              <a:t>CATALOG</a:t>
            </a:r>
            <a:endParaRPr lang="en-US" sz="2200" dirty="0"/>
          </a:p>
        </p:txBody>
      </p:sp>
      <p:sp>
        <p:nvSpPr>
          <p:cNvPr id="6" name="Shape 4"/>
          <p:cNvSpPr/>
          <p:nvPr/>
        </p:nvSpPr>
        <p:spPr>
          <a:xfrm>
            <a:off x="4645152" y="2057400"/>
            <a:ext cx="2880360" cy="1051560"/>
          </a:xfrm>
          <a:prstGeom prst="roundRect">
            <a:avLst>
              <a:gd name="adj" fmla="val 5217"/>
            </a:avLst>
          </a:prstGeom>
          <a:solidFill>
            <a:srgbClr val="EEF7F4"/>
          </a:solidFill>
          <a:ln w="12700">
            <a:solidFill>
              <a:srgbClr val="EEF7F4"/>
            </a:solidFill>
            <a:prstDash val="solid"/>
          </a:ln>
        </p:spPr>
      </p:sp>
      <p:sp>
        <p:nvSpPr>
          <p:cNvPr id="7" name="Text 5"/>
          <p:cNvSpPr/>
          <p:nvPr/>
        </p:nvSpPr>
        <p:spPr>
          <a:xfrm>
            <a:off x="4690872" y="2103120"/>
            <a:ext cx="2788920" cy="960120"/>
          </a:xfrm>
          <a:prstGeom prst="rect">
            <a:avLst/>
          </a:prstGeom>
          <a:noFill/>
          <a:ln/>
        </p:spPr>
        <p:txBody>
          <a:bodyPr wrap="square" lIns="254" tIns="254" rIns="254" bIns="254" rtlCol="0" anchor="ctr">
            <a:normAutofit/>
          </a:bodyPr>
          <a:lstStyle/>
          <a:p>
            <a:pPr algn="ctr" indent="0" marL="0">
              <a:buNone/>
            </a:pPr>
            <a:r>
              <a:rPr lang="en-US" sz="2200" b="1" dirty="0">
                <a:solidFill>
                  <a:srgbClr val="0F766E"/>
                </a:solidFill>
              </a:rPr>
              <a:t>SCHEMA</a:t>
            </a:r>
            <a:endParaRPr lang="en-US" sz="2200" dirty="0"/>
          </a:p>
        </p:txBody>
      </p:sp>
      <p:sp>
        <p:nvSpPr>
          <p:cNvPr id="8" name="Shape 6"/>
          <p:cNvSpPr/>
          <p:nvPr/>
        </p:nvSpPr>
        <p:spPr>
          <a:xfrm>
            <a:off x="8412480" y="2057400"/>
            <a:ext cx="2880360" cy="1051560"/>
          </a:xfrm>
          <a:prstGeom prst="roundRect">
            <a:avLst>
              <a:gd name="adj" fmla="val 5217"/>
            </a:avLst>
          </a:prstGeom>
          <a:solidFill>
            <a:srgbClr val="F5EFFF"/>
          </a:solidFill>
          <a:ln w="12700">
            <a:solidFill>
              <a:srgbClr val="F5EFFF"/>
            </a:solidFill>
            <a:prstDash val="solid"/>
          </a:ln>
        </p:spPr>
      </p:sp>
      <p:sp>
        <p:nvSpPr>
          <p:cNvPr id="9" name="Text 7"/>
          <p:cNvSpPr/>
          <p:nvPr/>
        </p:nvSpPr>
        <p:spPr>
          <a:xfrm>
            <a:off x="8458200" y="2103120"/>
            <a:ext cx="2788920" cy="960120"/>
          </a:xfrm>
          <a:prstGeom prst="rect">
            <a:avLst/>
          </a:prstGeom>
          <a:noFill/>
          <a:ln/>
        </p:spPr>
        <p:txBody>
          <a:bodyPr wrap="square" lIns="254" tIns="254" rIns="254" bIns="254" rtlCol="0" anchor="ctr">
            <a:normAutofit/>
          </a:bodyPr>
          <a:lstStyle/>
          <a:p>
            <a:pPr algn="ctr" indent="0" marL="0">
              <a:buNone/>
            </a:pPr>
            <a:r>
              <a:rPr lang="en-US" sz="2200" b="1" dirty="0">
                <a:solidFill>
                  <a:srgbClr val="7C3AED"/>
                </a:solidFill>
              </a:rPr>
              <a:t>TABLE / VIEW</a:t>
            </a:r>
            <a:endParaRPr lang="en-US" sz="2200" dirty="0"/>
          </a:p>
        </p:txBody>
      </p:sp>
      <p:sp>
        <p:nvSpPr>
          <p:cNvPr id="10" name="Shape 8"/>
          <p:cNvSpPr/>
          <p:nvPr/>
        </p:nvSpPr>
        <p:spPr>
          <a:xfrm>
            <a:off x="3749040" y="2578608"/>
            <a:ext cx="841248" cy="0"/>
          </a:xfrm>
          <a:prstGeom prst="line">
            <a:avLst/>
          </a:prstGeom>
          <a:noFill/>
          <a:ln w="35560">
            <a:solidFill>
              <a:srgbClr val="8492A6"/>
            </a:solidFill>
            <a:prstDash val="solid"/>
            <a:headEnd type="none"/>
            <a:tailEnd type="triangle"/>
          </a:ln>
        </p:spPr>
      </p:sp>
      <p:sp>
        <p:nvSpPr>
          <p:cNvPr id="11" name="Shape 9"/>
          <p:cNvSpPr/>
          <p:nvPr/>
        </p:nvSpPr>
        <p:spPr>
          <a:xfrm>
            <a:off x="7525512" y="2578608"/>
            <a:ext cx="822960" cy="0"/>
          </a:xfrm>
          <a:prstGeom prst="line">
            <a:avLst/>
          </a:prstGeom>
          <a:noFill/>
          <a:ln w="35560">
            <a:solidFill>
              <a:srgbClr val="8492A6"/>
            </a:solidFill>
            <a:prstDash val="solid"/>
            <a:headEnd type="none"/>
            <a:tailEnd type="triangle"/>
          </a:ln>
        </p:spPr>
      </p:sp>
      <p:sp>
        <p:nvSpPr>
          <p:cNvPr id="12" name="Text 10"/>
          <p:cNvSpPr/>
          <p:nvPr/>
        </p:nvSpPr>
        <p:spPr>
          <a:xfrm>
            <a:off x="932688" y="3337560"/>
            <a:ext cx="2743200" cy="274320"/>
          </a:xfrm>
          <a:prstGeom prst="rect">
            <a:avLst/>
          </a:prstGeom>
          <a:noFill/>
          <a:ln/>
        </p:spPr>
        <p:txBody>
          <a:bodyPr wrap="square" lIns="0" tIns="0" rIns="0" bIns="0" rtlCol="0" anchor="ctr"/>
          <a:lstStyle/>
          <a:p>
            <a:pPr algn="ctr" indent="0" marL="0">
              <a:buNone/>
            </a:pPr>
            <a:r>
              <a:rPr lang="en-US" sz="1300" dirty="0">
                <a:solidFill>
                  <a:srgbClr val="667085"/>
                </a:solidFill>
              </a:rPr>
              <a:t>top-level container</a:t>
            </a:r>
            <a:endParaRPr lang="en-US" sz="1300" dirty="0"/>
          </a:p>
        </p:txBody>
      </p:sp>
      <p:sp>
        <p:nvSpPr>
          <p:cNvPr id="13" name="Text 11"/>
          <p:cNvSpPr/>
          <p:nvPr/>
        </p:nvSpPr>
        <p:spPr>
          <a:xfrm>
            <a:off x="4709160" y="3337560"/>
            <a:ext cx="2743200" cy="274320"/>
          </a:xfrm>
          <a:prstGeom prst="rect">
            <a:avLst/>
          </a:prstGeom>
          <a:noFill/>
          <a:ln/>
        </p:spPr>
        <p:txBody>
          <a:bodyPr wrap="square" lIns="0" tIns="0" rIns="0" bIns="0" rtlCol="0" anchor="ctr"/>
          <a:lstStyle/>
          <a:p>
            <a:pPr algn="ctr" indent="0" marL="0">
              <a:buNone/>
            </a:pPr>
            <a:r>
              <a:rPr lang="en-US" sz="1300" dirty="0">
                <a:solidFill>
                  <a:srgbClr val="667085"/>
                </a:solidFill>
              </a:rPr>
              <a:t>logical namespace</a:t>
            </a:r>
            <a:endParaRPr lang="en-US" sz="1300" dirty="0"/>
          </a:p>
        </p:txBody>
      </p:sp>
      <p:sp>
        <p:nvSpPr>
          <p:cNvPr id="14" name="Text 12"/>
          <p:cNvSpPr/>
          <p:nvPr/>
        </p:nvSpPr>
        <p:spPr>
          <a:xfrm>
            <a:off x="8485632" y="3337560"/>
            <a:ext cx="2743200" cy="274320"/>
          </a:xfrm>
          <a:prstGeom prst="rect">
            <a:avLst/>
          </a:prstGeom>
          <a:noFill/>
          <a:ln/>
        </p:spPr>
        <p:txBody>
          <a:bodyPr wrap="square" lIns="0" tIns="0" rIns="0" bIns="0" rtlCol="0" anchor="ctr"/>
          <a:lstStyle/>
          <a:p>
            <a:pPr algn="ctr" indent="0" marL="0">
              <a:buNone/>
            </a:pPr>
            <a:r>
              <a:rPr lang="en-US" sz="1300" dirty="0">
                <a:solidFill>
                  <a:srgbClr val="667085"/>
                </a:solidFill>
              </a:rPr>
              <a:t>queryable data object</a:t>
            </a:r>
            <a:endParaRPr lang="en-US" sz="1300" dirty="0"/>
          </a:p>
        </p:txBody>
      </p:sp>
      <p:sp>
        <p:nvSpPr>
          <p:cNvPr id="15" name="Shape 13"/>
          <p:cNvSpPr/>
          <p:nvPr/>
        </p:nvSpPr>
        <p:spPr>
          <a:xfrm>
            <a:off x="2011680" y="4160520"/>
            <a:ext cx="8183880" cy="960120"/>
          </a:xfrm>
          <a:prstGeom prst="roundRect">
            <a:avLst/>
          </a:prstGeom>
          <a:solidFill>
            <a:srgbClr val="111827"/>
          </a:solidFill>
          <a:ln w="12700">
            <a:solidFill>
              <a:srgbClr val="111827"/>
            </a:solidFill>
            <a:prstDash val="solid"/>
          </a:ln>
        </p:spPr>
      </p:sp>
      <p:sp>
        <p:nvSpPr>
          <p:cNvPr id="16" name="Text 14"/>
          <p:cNvSpPr/>
          <p:nvPr/>
        </p:nvSpPr>
        <p:spPr>
          <a:xfrm>
            <a:off x="2331720" y="4489704"/>
            <a:ext cx="7543800" cy="256032"/>
          </a:xfrm>
          <a:prstGeom prst="rect">
            <a:avLst/>
          </a:prstGeom>
          <a:noFill/>
          <a:ln/>
        </p:spPr>
        <p:txBody>
          <a:bodyPr wrap="square" lIns="0" tIns="0" rIns="0" bIns="0" rtlCol="0" anchor="ctr"/>
          <a:lstStyle/>
          <a:p>
            <a:pPr indent="0" marL="0">
              <a:buNone/>
            </a:pPr>
            <a:r>
              <a:rPr lang="en-US" sz="1600" dirty="0">
                <a:solidFill>
                  <a:srgbClr val="F8FAFC"/>
                </a:solidFill>
                <a:latin typeface="Courier New" pitchFamily="34" charset="0"/>
                <a:ea typeface="Courier New" pitchFamily="34" charset="-122"/>
                <a:cs typeface="Courier New" pitchFamily="34" charset="-120"/>
              </a:rPr>
              <a:t>SELECT * FROM catalog_name.schema_name.table_name;</a:t>
            </a:r>
            <a:endParaRPr lang="en-US" sz="16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RELATIONAL FUNDAMENTALS</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Tables, Rows, Columns, and Schemas Still Matter</a:t>
            </a:r>
            <a:endParaRPr lang="en-US" sz="2800" dirty="0"/>
          </a:p>
        </p:txBody>
      </p:sp>
      <p:sp>
        <p:nvSpPr>
          <p:cNvPr id="4" name="Shape 2"/>
          <p:cNvSpPr/>
          <p:nvPr/>
        </p:nvSpPr>
        <p:spPr>
          <a:xfrm>
            <a:off x="685800" y="1417320"/>
            <a:ext cx="3291840" cy="4343400"/>
          </a:xfrm>
          <a:prstGeom prst="roundRect">
            <a:avLst>
              <a:gd name="adj" fmla="val 2222"/>
            </a:avLst>
          </a:prstGeom>
          <a:solidFill>
            <a:srgbClr val="FFFFFF"/>
          </a:solidFill>
          <a:ln w="12700">
            <a:solidFill>
              <a:srgbClr val="D9E0E8"/>
            </a:solidFill>
            <a:prstDash val="solid"/>
          </a:ln>
        </p:spPr>
      </p:sp>
      <p:sp>
        <p:nvSpPr>
          <p:cNvPr id="5" name="Shape 3"/>
          <p:cNvSpPr/>
          <p:nvPr/>
        </p:nvSpPr>
        <p:spPr>
          <a:xfrm>
            <a:off x="685800" y="1417320"/>
            <a:ext cx="64008" cy="4343400"/>
          </a:xfrm>
          <a:prstGeom prst="rect">
            <a:avLst/>
          </a:prstGeom>
          <a:solidFill>
            <a:srgbClr val="2E5BFF"/>
          </a:solidFill>
          <a:ln w="12700">
            <a:solidFill>
              <a:srgbClr val="2E5BFF"/>
            </a:solidFill>
            <a:prstDash val="solid"/>
          </a:ln>
        </p:spPr>
      </p:sp>
      <p:sp>
        <p:nvSpPr>
          <p:cNvPr id="6" name="Text 4"/>
          <p:cNvSpPr/>
          <p:nvPr/>
        </p:nvSpPr>
        <p:spPr>
          <a:xfrm>
            <a:off x="914400" y="1581912"/>
            <a:ext cx="2880360" cy="256032"/>
          </a:xfrm>
          <a:prstGeom prst="rect">
            <a:avLst/>
          </a:prstGeom>
          <a:noFill/>
          <a:ln/>
        </p:spPr>
        <p:txBody>
          <a:bodyPr wrap="square" lIns="0" tIns="0" rIns="0" bIns="0" rtlCol="0" anchor="ctr"/>
          <a:lstStyle/>
          <a:p>
            <a:pPr indent="0" marL="0">
              <a:buNone/>
            </a:pPr>
            <a:r>
              <a:rPr lang="en-US" sz="2200" b="1" dirty="0">
                <a:solidFill>
                  <a:srgbClr val="15233C"/>
                </a:solidFill>
              </a:rPr>
              <a:t>Rows</a:t>
            </a:r>
            <a:endParaRPr lang="en-US" sz="2200" dirty="0"/>
          </a:p>
        </p:txBody>
      </p:sp>
      <p:sp>
        <p:nvSpPr>
          <p:cNvPr id="7" name="Text 5"/>
          <p:cNvSpPr/>
          <p:nvPr/>
        </p:nvSpPr>
        <p:spPr>
          <a:xfrm>
            <a:off x="914400" y="1984248"/>
            <a:ext cx="2880360" cy="363016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Records / observations</a:t>
            </a:r>
            <a:endParaRPr lang="en-US" sz="1700" dirty="0"/>
          </a:p>
          <a:p>
            <a:pPr indent="0" marL="0">
              <a:buNone/>
            </a:pPr>
            <a:endParaRPr lang="en-US" sz="1700" dirty="0"/>
          </a:p>
          <a:p>
            <a:pPr indent="0" marL="0">
              <a:buNone/>
            </a:pPr>
            <a:r>
              <a:rPr lang="en-US" sz="1700" dirty="0">
                <a:solidFill>
                  <a:srgbClr val="1F2937"/>
                </a:solidFill>
              </a:rPr>
              <a:t>Example: one sale, one customer, one sensor reading.</a:t>
            </a:r>
            <a:endParaRPr lang="en-US" sz="1700" dirty="0"/>
          </a:p>
        </p:txBody>
      </p:sp>
      <p:sp>
        <p:nvSpPr>
          <p:cNvPr id="8" name="Shape 6"/>
          <p:cNvSpPr/>
          <p:nvPr/>
        </p:nvSpPr>
        <p:spPr>
          <a:xfrm>
            <a:off x="4443984" y="1417320"/>
            <a:ext cx="3291840" cy="4343400"/>
          </a:xfrm>
          <a:prstGeom prst="roundRect">
            <a:avLst>
              <a:gd name="adj" fmla="val 2222"/>
            </a:avLst>
          </a:prstGeom>
          <a:solidFill>
            <a:srgbClr val="FFFFFF"/>
          </a:solidFill>
          <a:ln w="12700">
            <a:solidFill>
              <a:srgbClr val="D9E0E8"/>
            </a:solidFill>
            <a:prstDash val="solid"/>
          </a:ln>
        </p:spPr>
      </p:sp>
      <p:sp>
        <p:nvSpPr>
          <p:cNvPr id="9" name="Shape 7"/>
          <p:cNvSpPr/>
          <p:nvPr/>
        </p:nvSpPr>
        <p:spPr>
          <a:xfrm>
            <a:off x="4443984" y="1417320"/>
            <a:ext cx="64008" cy="4343400"/>
          </a:xfrm>
          <a:prstGeom prst="rect">
            <a:avLst/>
          </a:prstGeom>
          <a:solidFill>
            <a:srgbClr val="0F766E"/>
          </a:solidFill>
          <a:ln w="12700">
            <a:solidFill>
              <a:srgbClr val="0F766E"/>
            </a:solidFill>
            <a:prstDash val="solid"/>
          </a:ln>
        </p:spPr>
      </p:sp>
      <p:sp>
        <p:nvSpPr>
          <p:cNvPr id="10" name="Text 8"/>
          <p:cNvSpPr/>
          <p:nvPr/>
        </p:nvSpPr>
        <p:spPr>
          <a:xfrm>
            <a:off x="4672584" y="1581912"/>
            <a:ext cx="2880360" cy="256032"/>
          </a:xfrm>
          <a:prstGeom prst="rect">
            <a:avLst/>
          </a:prstGeom>
          <a:noFill/>
          <a:ln/>
        </p:spPr>
        <p:txBody>
          <a:bodyPr wrap="square" lIns="0" tIns="0" rIns="0" bIns="0" rtlCol="0" anchor="ctr"/>
          <a:lstStyle/>
          <a:p>
            <a:pPr indent="0" marL="0">
              <a:buNone/>
            </a:pPr>
            <a:r>
              <a:rPr lang="en-US" sz="2200" b="1" dirty="0">
                <a:solidFill>
                  <a:srgbClr val="15233C"/>
                </a:solidFill>
              </a:rPr>
              <a:t>Columns</a:t>
            </a:r>
            <a:endParaRPr lang="en-US" sz="2200" dirty="0"/>
          </a:p>
        </p:txBody>
      </p:sp>
      <p:sp>
        <p:nvSpPr>
          <p:cNvPr id="11" name="Text 9"/>
          <p:cNvSpPr/>
          <p:nvPr/>
        </p:nvSpPr>
        <p:spPr>
          <a:xfrm>
            <a:off x="4672584" y="1984248"/>
            <a:ext cx="2880360" cy="363016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Named attributes</a:t>
            </a:r>
            <a:endParaRPr lang="en-US" sz="1700" dirty="0"/>
          </a:p>
          <a:p>
            <a:pPr indent="0" marL="0">
              <a:buNone/>
            </a:pPr>
            <a:endParaRPr lang="en-US" sz="1700" dirty="0"/>
          </a:p>
          <a:p>
            <a:pPr indent="0" marL="0">
              <a:buNone/>
            </a:pPr>
            <a:r>
              <a:rPr lang="en-US" sz="1700" dirty="0">
                <a:solidFill>
                  <a:srgbClr val="1F2937"/>
                </a:solidFill>
              </a:rPr>
              <a:t>Examples: Product, Price, OrderDate, CustomerKey.</a:t>
            </a:r>
            <a:endParaRPr lang="en-US" sz="1700" dirty="0"/>
          </a:p>
        </p:txBody>
      </p:sp>
      <p:sp>
        <p:nvSpPr>
          <p:cNvPr id="12" name="Shape 10"/>
          <p:cNvSpPr/>
          <p:nvPr/>
        </p:nvSpPr>
        <p:spPr>
          <a:xfrm>
            <a:off x="8202168" y="1417320"/>
            <a:ext cx="3291840" cy="4343400"/>
          </a:xfrm>
          <a:prstGeom prst="roundRect">
            <a:avLst>
              <a:gd name="adj" fmla="val 2222"/>
            </a:avLst>
          </a:prstGeom>
          <a:solidFill>
            <a:srgbClr val="FFFFFF"/>
          </a:solidFill>
          <a:ln w="12700">
            <a:solidFill>
              <a:srgbClr val="D9E0E8"/>
            </a:solidFill>
            <a:prstDash val="solid"/>
          </a:ln>
        </p:spPr>
      </p:sp>
      <p:sp>
        <p:nvSpPr>
          <p:cNvPr id="13" name="Shape 11"/>
          <p:cNvSpPr/>
          <p:nvPr/>
        </p:nvSpPr>
        <p:spPr>
          <a:xfrm>
            <a:off x="8202168" y="1417320"/>
            <a:ext cx="64008" cy="4343400"/>
          </a:xfrm>
          <a:prstGeom prst="rect">
            <a:avLst/>
          </a:prstGeom>
          <a:solidFill>
            <a:srgbClr val="E53935"/>
          </a:solidFill>
          <a:ln w="12700">
            <a:solidFill>
              <a:srgbClr val="E53935"/>
            </a:solidFill>
            <a:prstDash val="solid"/>
          </a:ln>
        </p:spPr>
      </p:sp>
      <p:sp>
        <p:nvSpPr>
          <p:cNvPr id="14" name="Text 12"/>
          <p:cNvSpPr/>
          <p:nvPr/>
        </p:nvSpPr>
        <p:spPr>
          <a:xfrm>
            <a:off x="8430768" y="1581912"/>
            <a:ext cx="2880360" cy="256032"/>
          </a:xfrm>
          <a:prstGeom prst="rect">
            <a:avLst/>
          </a:prstGeom>
          <a:noFill/>
          <a:ln/>
        </p:spPr>
        <p:txBody>
          <a:bodyPr wrap="square" lIns="0" tIns="0" rIns="0" bIns="0" rtlCol="0" anchor="ctr"/>
          <a:lstStyle/>
          <a:p>
            <a:pPr indent="0" marL="0">
              <a:buNone/>
            </a:pPr>
            <a:r>
              <a:rPr lang="en-US" sz="2200" b="1" dirty="0">
                <a:solidFill>
                  <a:srgbClr val="15233C"/>
                </a:solidFill>
              </a:rPr>
              <a:t>Schema</a:t>
            </a:r>
            <a:endParaRPr lang="en-US" sz="2200" dirty="0"/>
          </a:p>
        </p:txBody>
      </p:sp>
      <p:sp>
        <p:nvSpPr>
          <p:cNvPr id="15" name="Text 13"/>
          <p:cNvSpPr/>
          <p:nvPr/>
        </p:nvSpPr>
        <p:spPr>
          <a:xfrm>
            <a:off x="8430768" y="1984248"/>
            <a:ext cx="2880360" cy="3630168"/>
          </a:xfrm>
          <a:prstGeom prst="rect">
            <a:avLst/>
          </a:prstGeom>
          <a:noFill/>
          <a:ln/>
        </p:spPr>
        <p:txBody>
          <a:bodyPr wrap="square" lIns="254" tIns="254" rIns="254" bIns="254" rtlCol="0" anchor="t">
            <a:normAutofit/>
          </a:bodyPr>
          <a:lstStyle/>
          <a:p>
            <a:pPr indent="0" marL="0">
              <a:buNone/>
            </a:pPr>
            <a:r>
              <a:rPr lang="en-US" sz="1650" dirty="0">
                <a:solidFill>
                  <a:srgbClr val="1F2937"/>
                </a:solidFill>
              </a:rPr>
              <a:t>Defines column names and data types.</a:t>
            </a:r>
            <a:endParaRPr lang="en-US" sz="1650" dirty="0"/>
          </a:p>
          <a:p>
            <a:pPr indent="0" marL="0">
              <a:buNone/>
            </a:pPr>
            <a:endParaRPr lang="en-US" sz="1650" dirty="0"/>
          </a:p>
          <a:p>
            <a:pPr indent="0" marL="0">
              <a:buNone/>
            </a:pPr>
            <a:r>
              <a:rPr lang="en-US" sz="1650" dirty="0">
                <a:solidFill>
                  <a:srgbClr val="1F2937"/>
                </a:solidFill>
              </a:rPr>
              <a:t>In Databricks, analytical tables are commonly stored as Delta tables.</a:t>
            </a:r>
            <a:endParaRPr lang="en-US" sz="1650" dirty="0"/>
          </a:p>
        </p:txBody>
      </p:sp>
      <p:sp>
        <p:nvSpPr>
          <p:cNvPr id="16" name="Text 14"/>
          <p:cNvSpPr/>
          <p:nvPr/>
        </p:nvSpPr>
        <p:spPr>
          <a:xfrm>
            <a:off x="1188720" y="5742432"/>
            <a:ext cx="9829800" cy="347472"/>
          </a:xfrm>
          <a:prstGeom prst="rect">
            <a:avLst/>
          </a:prstGeom>
          <a:noFill/>
          <a:ln/>
        </p:spPr>
        <p:txBody>
          <a:bodyPr wrap="square" lIns="0" tIns="0" rIns="0" bIns="0" rtlCol="0" anchor="ctr"/>
          <a:lstStyle/>
          <a:p>
            <a:pPr algn="ctr" indent="0" marL="0">
              <a:buNone/>
            </a:pPr>
            <a:r>
              <a:rPr lang="en-US" sz="1700" b="1" dirty="0">
                <a:solidFill>
                  <a:srgbClr val="15233C"/>
                </a:solidFill>
              </a:rPr>
              <a:t>The platform changed. The need for clean, well-defined data structures did not.</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STORAGE LAYER</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Delta Lake — Reliable Tables on the Lakehouse</a:t>
            </a:r>
            <a:endParaRPr lang="en-US" sz="2800" dirty="0"/>
          </a:p>
        </p:txBody>
      </p:sp>
      <p:sp>
        <p:nvSpPr>
          <p:cNvPr id="4" name="Shape 2"/>
          <p:cNvSpPr/>
          <p:nvPr/>
        </p:nvSpPr>
        <p:spPr>
          <a:xfrm>
            <a:off x="749808" y="1417320"/>
            <a:ext cx="2926080" cy="4389120"/>
          </a:xfrm>
          <a:prstGeom prst="roundRect">
            <a:avLst>
              <a:gd name="adj" fmla="val 1875"/>
            </a:avLst>
          </a:prstGeom>
          <a:solidFill>
            <a:srgbClr val="EEF2FF"/>
          </a:solidFill>
          <a:ln w="12700">
            <a:solidFill>
              <a:srgbClr val="EEF2FF"/>
            </a:solidFill>
            <a:prstDash val="solid"/>
          </a:ln>
        </p:spPr>
      </p:sp>
      <p:sp>
        <p:nvSpPr>
          <p:cNvPr id="5" name="Text 3"/>
          <p:cNvSpPr/>
          <p:nvPr/>
        </p:nvSpPr>
        <p:spPr>
          <a:xfrm>
            <a:off x="795528" y="1463040"/>
            <a:ext cx="2834640" cy="4297680"/>
          </a:xfrm>
          <a:prstGeom prst="rect">
            <a:avLst/>
          </a:prstGeom>
          <a:noFill/>
          <a:ln/>
        </p:spPr>
        <p:txBody>
          <a:bodyPr wrap="square" lIns="254" tIns="254" rIns="254" bIns="254" rtlCol="0" anchor="ctr">
            <a:normAutofit/>
          </a:bodyPr>
          <a:lstStyle/>
          <a:p>
            <a:pPr algn="ctr" indent="0" marL="0">
              <a:buNone/>
            </a:pPr>
            <a:r>
              <a:rPr lang="en-US" sz="3000" b="1" dirty="0">
                <a:solidFill>
                  <a:srgbClr val="2E5BFF"/>
                </a:solidFill>
              </a:rPr>
              <a:t>DELTA</a:t>
            </a:r>
            <a:endParaRPr lang="en-US" sz="3000" dirty="0"/>
          </a:p>
          <a:p>
            <a:pPr algn="ctr" indent="0" marL="0">
              <a:buNone/>
            </a:pPr>
            <a:r>
              <a:rPr lang="en-US" sz="3000" b="1" dirty="0">
                <a:solidFill>
                  <a:srgbClr val="2E5BFF"/>
                </a:solidFill>
              </a:rPr>
              <a:t>LAKE</a:t>
            </a:r>
            <a:endParaRPr lang="en-US" sz="3000" dirty="0"/>
          </a:p>
        </p:txBody>
      </p:sp>
      <p:sp>
        <p:nvSpPr>
          <p:cNvPr id="6" name="Shape 4"/>
          <p:cNvSpPr/>
          <p:nvPr/>
        </p:nvSpPr>
        <p:spPr>
          <a:xfrm>
            <a:off x="4160520" y="1417320"/>
            <a:ext cx="7150608" cy="1143000"/>
          </a:xfrm>
          <a:prstGeom prst="roundRect">
            <a:avLst>
              <a:gd name="adj" fmla="val 6400"/>
            </a:avLst>
          </a:prstGeom>
          <a:solidFill>
            <a:srgbClr val="FFFFFF"/>
          </a:solidFill>
          <a:ln w="12700">
            <a:solidFill>
              <a:srgbClr val="D9E0E8"/>
            </a:solidFill>
            <a:prstDash val="solid"/>
          </a:ln>
        </p:spPr>
      </p:sp>
      <p:sp>
        <p:nvSpPr>
          <p:cNvPr id="7" name="Shape 5"/>
          <p:cNvSpPr/>
          <p:nvPr/>
        </p:nvSpPr>
        <p:spPr>
          <a:xfrm>
            <a:off x="4160520" y="1417320"/>
            <a:ext cx="64008" cy="1143000"/>
          </a:xfrm>
          <a:prstGeom prst="rect">
            <a:avLst/>
          </a:prstGeom>
          <a:solidFill>
            <a:srgbClr val="2E5BFF"/>
          </a:solidFill>
          <a:ln w="12700">
            <a:solidFill>
              <a:srgbClr val="2E5BFF"/>
            </a:solidFill>
            <a:prstDash val="solid"/>
          </a:ln>
        </p:spPr>
      </p:sp>
      <p:sp>
        <p:nvSpPr>
          <p:cNvPr id="8" name="Text 6"/>
          <p:cNvSpPr/>
          <p:nvPr/>
        </p:nvSpPr>
        <p:spPr>
          <a:xfrm>
            <a:off x="4389120" y="1581912"/>
            <a:ext cx="6739128" cy="256032"/>
          </a:xfrm>
          <a:prstGeom prst="rect">
            <a:avLst/>
          </a:prstGeom>
          <a:noFill/>
          <a:ln/>
        </p:spPr>
        <p:txBody>
          <a:bodyPr wrap="square" lIns="0" tIns="0" rIns="0" bIns="0" rtlCol="0" anchor="ctr"/>
          <a:lstStyle/>
          <a:p>
            <a:pPr indent="0" marL="0">
              <a:buNone/>
            </a:pPr>
            <a:r>
              <a:rPr lang="en-US" sz="1700" b="1" dirty="0">
                <a:solidFill>
                  <a:srgbClr val="15233C"/>
                </a:solidFill>
              </a:rPr>
              <a:t>ACID transactions</a:t>
            </a:r>
            <a:endParaRPr lang="en-US" sz="1700" dirty="0"/>
          </a:p>
        </p:txBody>
      </p:sp>
      <p:sp>
        <p:nvSpPr>
          <p:cNvPr id="9" name="Text 7"/>
          <p:cNvSpPr/>
          <p:nvPr/>
        </p:nvSpPr>
        <p:spPr>
          <a:xfrm>
            <a:off x="4389120" y="1984248"/>
            <a:ext cx="6739128" cy="429768"/>
          </a:xfrm>
          <a:prstGeom prst="rect">
            <a:avLst/>
          </a:prstGeom>
          <a:noFill/>
          <a:ln/>
        </p:spPr>
        <p:txBody>
          <a:bodyPr wrap="square" lIns="254" tIns="254" rIns="254" bIns="254" rtlCol="0" anchor="t">
            <a:normAutofit/>
          </a:bodyPr>
          <a:lstStyle/>
          <a:p>
            <a:pPr indent="0" marL="0">
              <a:buNone/>
            </a:pPr>
            <a:r>
              <a:rPr lang="en-US" sz="1420" dirty="0">
                <a:solidFill>
                  <a:srgbClr val="1F2937"/>
                </a:solidFill>
              </a:rPr>
              <a:t>Operations fully succeed or fully fail.</a:t>
            </a:r>
            <a:endParaRPr lang="en-US" sz="1420" dirty="0"/>
          </a:p>
        </p:txBody>
      </p:sp>
      <p:sp>
        <p:nvSpPr>
          <p:cNvPr id="10" name="Shape 8"/>
          <p:cNvSpPr/>
          <p:nvPr/>
        </p:nvSpPr>
        <p:spPr>
          <a:xfrm>
            <a:off x="4160520" y="2862072"/>
            <a:ext cx="7150608" cy="1143000"/>
          </a:xfrm>
          <a:prstGeom prst="roundRect">
            <a:avLst>
              <a:gd name="adj" fmla="val 6400"/>
            </a:avLst>
          </a:prstGeom>
          <a:solidFill>
            <a:srgbClr val="FFFFFF"/>
          </a:solidFill>
          <a:ln w="12700">
            <a:solidFill>
              <a:srgbClr val="D9E0E8"/>
            </a:solidFill>
            <a:prstDash val="solid"/>
          </a:ln>
        </p:spPr>
      </p:sp>
      <p:sp>
        <p:nvSpPr>
          <p:cNvPr id="11" name="Shape 9"/>
          <p:cNvSpPr/>
          <p:nvPr/>
        </p:nvSpPr>
        <p:spPr>
          <a:xfrm>
            <a:off x="4160520" y="2862072"/>
            <a:ext cx="64008" cy="1143000"/>
          </a:xfrm>
          <a:prstGeom prst="rect">
            <a:avLst/>
          </a:prstGeom>
          <a:solidFill>
            <a:srgbClr val="E53935"/>
          </a:solidFill>
          <a:ln w="12700">
            <a:solidFill>
              <a:srgbClr val="E53935"/>
            </a:solidFill>
            <a:prstDash val="solid"/>
          </a:ln>
        </p:spPr>
      </p:sp>
      <p:sp>
        <p:nvSpPr>
          <p:cNvPr id="12" name="Text 10"/>
          <p:cNvSpPr/>
          <p:nvPr/>
        </p:nvSpPr>
        <p:spPr>
          <a:xfrm>
            <a:off x="4389120" y="3026664"/>
            <a:ext cx="6739128" cy="256032"/>
          </a:xfrm>
          <a:prstGeom prst="rect">
            <a:avLst/>
          </a:prstGeom>
          <a:noFill/>
          <a:ln/>
        </p:spPr>
        <p:txBody>
          <a:bodyPr wrap="square" lIns="0" tIns="0" rIns="0" bIns="0" rtlCol="0" anchor="ctr"/>
          <a:lstStyle/>
          <a:p>
            <a:pPr indent="0" marL="0">
              <a:buNone/>
            </a:pPr>
            <a:r>
              <a:rPr lang="en-US" sz="1700" b="1" dirty="0">
                <a:solidFill>
                  <a:srgbClr val="15233C"/>
                </a:solidFill>
              </a:rPr>
              <a:t>Schema enforcement</a:t>
            </a:r>
            <a:endParaRPr lang="en-US" sz="1700" dirty="0"/>
          </a:p>
        </p:txBody>
      </p:sp>
      <p:sp>
        <p:nvSpPr>
          <p:cNvPr id="13" name="Text 11"/>
          <p:cNvSpPr/>
          <p:nvPr/>
        </p:nvSpPr>
        <p:spPr>
          <a:xfrm>
            <a:off x="4389120" y="3429000"/>
            <a:ext cx="6739128" cy="429768"/>
          </a:xfrm>
          <a:prstGeom prst="rect">
            <a:avLst/>
          </a:prstGeom>
          <a:noFill/>
          <a:ln/>
        </p:spPr>
        <p:txBody>
          <a:bodyPr wrap="square" lIns="254" tIns="254" rIns="254" bIns="254" rtlCol="0" anchor="t">
            <a:normAutofit/>
          </a:bodyPr>
          <a:lstStyle/>
          <a:p>
            <a:pPr indent="0" marL="0">
              <a:buNone/>
            </a:pPr>
            <a:r>
              <a:rPr lang="en-US" sz="1420" dirty="0">
                <a:solidFill>
                  <a:srgbClr val="1F2937"/>
                </a:solidFill>
              </a:rPr>
              <a:t>Rejects incompatible writes before data is corrupted.</a:t>
            </a:r>
            <a:endParaRPr lang="en-US" sz="1420" dirty="0"/>
          </a:p>
        </p:txBody>
      </p:sp>
      <p:sp>
        <p:nvSpPr>
          <p:cNvPr id="14" name="Shape 12"/>
          <p:cNvSpPr/>
          <p:nvPr/>
        </p:nvSpPr>
        <p:spPr>
          <a:xfrm>
            <a:off x="4160520" y="4306824"/>
            <a:ext cx="7150608" cy="1143000"/>
          </a:xfrm>
          <a:prstGeom prst="roundRect">
            <a:avLst>
              <a:gd name="adj" fmla="val 6400"/>
            </a:avLst>
          </a:prstGeom>
          <a:solidFill>
            <a:srgbClr val="FFFFFF"/>
          </a:solidFill>
          <a:ln w="12700">
            <a:solidFill>
              <a:srgbClr val="D9E0E8"/>
            </a:solidFill>
            <a:prstDash val="solid"/>
          </a:ln>
        </p:spPr>
      </p:sp>
      <p:sp>
        <p:nvSpPr>
          <p:cNvPr id="15" name="Shape 13"/>
          <p:cNvSpPr/>
          <p:nvPr/>
        </p:nvSpPr>
        <p:spPr>
          <a:xfrm>
            <a:off x="4160520" y="4306824"/>
            <a:ext cx="64008" cy="1143000"/>
          </a:xfrm>
          <a:prstGeom prst="rect">
            <a:avLst/>
          </a:prstGeom>
          <a:solidFill>
            <a:srgbClr val="0F766E"/>
          </a:solidFill>
          <a:ln w="12700">
            <a:solidFill>
              <a:srgbClr val="0F766E"/>
            </a:solidFill>
            <a:prstDash val="solid"/>
          </a:ln>
        </p:spPr>
      </p:sp>
      <p:sp>
        <p:nvSpPr>
          <p:cNvPr id="16" name="Text 14"/>
          <p:cNvSpPr/>
          <p:nvPr/>
        </p:nvSpPr>
        <p:spPr>
          <a:xfrm>
            <a:off x="4389120" y="4471416"/>
            <a:ext cx="6739128" cy="256032"/>
          </a:xfrm>
          <a:prstGeom prst="rect">
            <a:avLst/>
          </a:prstGeom>
          <a:noFill/>
          <a:ln/>
        </p:spPr>
        <p:txBody>
          <a:bodyPr wrap="square" lIns="0" tIns="0" rIns="0" bIns="0" rtlCol="0" anchor="ctr"/>
          <a:lstStyle/>
          <a:p>
            <a:pPr indent="0" marL="0">
              <a:buNone/>
            </a:pPr>
            <a:r>
              <a:rPr lang="en-US" sz="1700" b="1" dirty="0">
                <a:solidFill>
                  <a:srgbClr val="15233C"/>
                </a:solidFill>
              </a:rPr>
              <a:t>Lakehouse foundation</a:t>
            </a:r>
            <a:endParaRPr lang="en-US" sz="1700" dirty="0"/>
          </a:p>
        </p:txBody>
      </p:sp>
      <p:sp>
        <p:nvSpPr>
          <p:cNvPr id="17" name="Text 15"/>
          <p:cNvSpPr/>
          <p:nvPr/>
        </p:nvSpPr>
        <p:spPr>
          <a:xfrm>
            <a:off x="4389120" y="4873752"/>
            <a:ext cx="6739128" cy="429768"/>
          </a:xfrm>
          <a:prstGeom prst="rect">
            <a:avLst/>
          </a:prstGeom>
          <a:noFill/>
          <a:ln/>
        </p:spPr>
        <p:txBody>
          <a:bodyPr wrap="square" lIns="254" tIns="254" rIns="254" bIns="254" rtlCol="0" anchor="t">
            <a:normAutofit/>
          </a:bodyPr>
          <a:lstStyle/>
          <a:p>
            <a:pPr indent="0" marL="0">
              <a:buNone/>
            </a:pPr>
            <a:r>
              <a:rPr lang="en-US" sz="1420" dirty="0">
                <a:solidFill>
                  <a:srgbClr val="1F2937"/>
                </a:solidFill>
              </a:rPr>
              <a:t>Persistent layer for Bronze, Silver, and Gold tables.</a:t>
            </a:r>
            <a:endParaRPr lang="en-US" sz="142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DISTRIBUTED COMPUTE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Apache Spark and PySpark</a:t>
            </a:r>
            <a:endParaRPr lang="en-US" sz="2800" dirty="0"/>
          </a:p>
        </p:txBody>
      </p:sp>
      <p:sp>
        <p:nvSpPr>
          <p:cNvPr id="4" name="Shape 2"/>
          <p:cNvSpPr/>
          <p:nvPr/>
        </p:nvSpPr>
        <p:spPr>
          <a:xfrm>
            <a:off x="731520" y="1371600"/>
            <a:ext cx="5074920" cy="4526280"/>
          </a:xfrm>
          <a:prstGeom prst="roundRect">
            <a:avLst>
              <a:gd name="adj" fmla="val 1616"/>
            </a:avLst>
          </a:prstGeom>
          <a:solidFill>
            <a:srgbClr val="FFFFFF"/>
          </a:solidFill>
          <a:ln w="12700">
            <a:solidFill>
              <a:srgbClr val="D9E0E8"/>
            </a:solidFill>
            <a:prstDash val="solid"/>
          </a:ln>
        </p:spPr>
      </p:sp>
      <p:sp>
        <p:nvSpPr>
          <p:cNvPr id="5" name="Shape 3"/>
          <p:cNvSpPr/>
          <p:nvPr/>
        </p:nvSpPr>
        <p:spPr>
          <a:xfrm>
            <a:off x="731520" y="1371600"/>
            <a:ext cx="64008" cy="4526280"/>
          </a:xfrm>
          <a:prstGeom prst="rect">
            <a:avLst/>
          </a:prstGeom>
          <a:solidFill>
            <a:srgbClr val="F59E0B"/>
          </a:solidFill>
          <a:ln w="12700">
            <a:solidFill>
              <a:srgbClr val="F59E0B"/>
            </a:solidFill>
            <a:prstDash val="solid"/>
          </a:ln>
        </p:spPr>
      </p:sp>
      <p:sp>
        <p:nvSpPr>
          <p:cNvPr id="6" name="Text 4"/>
          <p:cNvSpPr/>
          <p:nvPr/>
        </p:nvSpPr>
        <p:spPr>
          <a:xfrm>
            <a:off x="960120" y="1536192"/>
            <a:ext cx="4663440" cy="256032"/>
          </a:xfrm>
          <a:prstGeom prst="rect">
            <a:avLst/>
          </a:prstGeom>
          <a:noFill/>
          <a:ln/>
        </p:spPr>
        <p:txBody>
          <a:bodyPr wrap="square" lIns="0" tIns="0" rIns="0" bIns="0" rtlCol="0" anchor="ctr"/>
          <a:lstStyle/>
          <a:p>
            <a:pPr indent="0" marL="0">
              <a:buNone/>
            </a:pPr>
            <a:r>
              <a:rPr lang="en-US" sz="2200" b="1" dirty="0">
                <a:solidFill>
                  <a:srgbClr val="15233C"/>
                </a:solidFill>
              </a:rPr>
              <a:t>Apache Spark</a:t>
            </a:r>
            <a:endParaRPr lang="en-US" sz="2200" dirty="0"/>
          </a:p>
        </p:txBody>
      </p:sp>
      <p:sp>
        <p:nvSpPr>
          <p:cNvPr id="7" name="Text 5"/>
          <p:cNvSpPr/>
          <p:nvPr/>
        </p:nvSpPr>
        <p:spPr>
          <a:xfrm>
            <a:off x="960120" y="1938528"/>
            <a:ext cx="4663440" cy="3813048"/>
          </a:xfrm>
          <a:prstGeom prst="rect">
            <a:avLst/>
          </a:prstGeom>
          <a:noFill/>
          <a:ln/>
        </p:spPr>
        <p:txBody>
          <a:bodyPr wrap="square" lIns="254" tIns="254" rIns="254" bIns="254" rtlCol="0" anchor="t">
            <a:normAutofit/>
          </a:bodyPr>
          <a:lstStyle/>
          <a:p>
            <a:pPr indent="0" marL="0">
              <a:buNone/>
            </a:pPr>
            <a:r>
              <a:rPr lang="en-US" sz="1800" dirty="0">
                <a:solidFill>
                  <a:srgbClr val="1F2937"/>
                </a:solidFill>
              </a:rPr>
              <a:t>Distributed processing engine</a:t>
            </a:r>
            <a:endParaRPr lang="en-US" sz="1800" dirty="0"/>
          </a:p>
          <a:p>
            <a:pPr indent="0" marL="0">
              <a:buNone/>
            </a:pPr>
            <a:r>
              <a:rPr lang="en-US" sz="1800" dirty="0">
                <a:solidFill>
                  <a:srgbClr val="1F2937"/>
                </a:solidFill>
              </a:rPr>
              <a:t>Designed for scalable data workloads</a:t>
            </a:r>
            <a:endParaRPr lang="en-US" sz="1800" dirty="0"/>
          </a:p>
          <a:p>
            <a:pPr indent="0" marL="0">
              <a:buNone/>
            </a:pPr>
            <a:r>
              <a:rPr lang="en-US" sz="1800" dirty="0">
                <a:solidFill>
                  <a:srgbClr val="1F2937"/>
                </a:solidFill>
              </a:rPr>
              <a:t>Executes transformations across compute resources</a:t>
            </a:r>
            <a:endParaRPr lang="en-US" sz="1800" dirty="0"/>
          </a:p>
          <a:p>
            <a:pPr indent="0" marL="0">
              <a:buNone/>
            </a:pPr>
            <a:r>
              <a:rPr lang="en-US" sz="1800" dirty="0">
                <a:solidFill>
                  <a:srgbClr val="1F2937"/>
                </a:solidFill>
              </a:rPr>
              <a:t>Underlying compute engine for Databricks</a:t>
            </a:r>
            <a:endParaRPr lang="en-US" sz="1800" dirty="0"/>
          </a:p>
        </p:txBody>
      </p:sp>
      <p:sp>
        <p:nvSpPr>
          <p:cNvPr id="8" name="Shape 6"/>
          <p:cNvSpPr/>
          <p:nvPr/>
        </p:nvSpPr>
        <p:spPr>
          <a:xfrm>
            <a:off x="6355080" y="1371600"/>
            <a:ext cx="5074920" cy="4526280"/>
          </a:xfrm>
          <a:prstGeom prst="roundRect">
            <a:avLst>
              <a:gd name="adj" fmla="val 1616"/>
            </a:avLst>
          </a:prstGeom>
          <a:solidFill>
            <a:srgbClr val="FFFFFF"/>
          </a:solidFill>
          <a:ln w="12700">
            <a:solidFill>
              <a:srgbClr val="D9E0E8"/>
            </a:solidFill>
            <a:prstDash val="solid"/>
          </a:ln>
        </p:spPr>
      </p:sp>
      <p:sp>
        <p:nvSpPr>
          <p:cNvPr id="9" name="Shape 7"/>
          <p:cNvSpPr/>
          <p:nvPr/>
        </p:nvSpPr>
        <p:spPr>
          <a:xfrm>
            <a:off x="6355080" y="1371600"/>
            <a:ext cx="64008" cy="4526280"/>
          </a:xfrm>
          <a:prstGeom prst="rect">
            <a:avLst/>
          </a:prstGeom>
          <a:solidFill>
            <a:srgbClr val="2E5BFF"/>
          </a:solidFill>
          <a:ln w="12700">
            <a:solidFill>
              <a:srgbClr val="2E5BFF"/>
            </a:solidFill>
            <a:prstDash val="solid"/>
          </a:ln>
        </p:spPr>
      </p:sp>
      <p:sp>
        <p:nvSpPr>
          <p:cNvPr id="10" name="Text 8"/>
          <p:cNvSpPr/>
          <p:nvPr/>
        </p:nvSpPr>
        <p:spPr>
          <a:xfrm>
            <a:off x="6583680" y="1536192"/>
            <a:ext cx="4663440" cy="256032"/>
          </a:xfrm>
          <a:prstGeom prst="rect">
            <a:avLst/>
          </a:prstGeom>
          <a:noFill/>
          <a:ln/>
        </p:spPr>
        <p:txBody>
          <a:bodyPr wrap="square" lIns="0" tIns="0" rIns="0" bIns="0" rtlCol="0" anchor="ctr"/>
          <a:lstStyle/>
          <a:p>
            <a:pPr indent="0" marL="0">
              <a:buNone/>
            </a:pPr>
            <a:r>
              <a:rPr lang="en-US" sz="2200" b="1" dirty="0">
                <a:solidFill>
                  <a:srgbClr val="15233C"/>
                </a:solidFill>
              </a:rPr>
              <a:t>PySpark + DataFrames</a:t>
            </a:r>
            <a:endParaRPr lang="en-US" sz="2200" dirty="0"/>
          </a:p>
        </p:txBody>
      </p:sp>
      <p:sp>
        <p:nvSpPr>
          <p:cNvPr id="11" name="Text 9"/>
          <p:cNvSpPr/>
          <p:nvPr/>
        </p:nvSpPr>
        <p:spPr>
          <a:xfrm>
            <a:off x="6583680" y="1938528"/>
            <a:ext cx="4663440" cy="3813048"/>
          </a:xfrm>
          <a:prstGeom prst="rect">
            <a:avLst/>
          </a:prstGeom>
          <a:noFill/>
          <a:ln/>
        </p:spPr>
        <p:txBody>
          <a:bodyPr wrap="square" lIns="254" tIns="254" rIns="254" bIns="254" rtlCol="0" anchor="t">
            <a:normAutofit/>
          </a:bodyPr>
          <a:lstStyle/>
          <a:p>
            <a:pPr indent="0" marL="0">
              <a:buNone/>
            </a:pPr>
            <a:r>
              <a:rPr lang="en-US" sz="1800" dirty="0">
                <a:solidFill>
                  <a:srgbClr val="1F2937"/>
                </a:solidFill>
              </a:rPr>
              <a:t>Python interface to Spark</a:t>
            </a:r>
            <a:endParaRPr lang="en-US" sz="1800" dirty="0"/>
          </a:p>
          <a:p>
            <a:pPr indent="0" marL="0">
              <a:buNone/>
            </a:pPr>
            <a:r>
              <a:rPr lang="en-US" sz="1800" dirty="0">
                <a:solidFill>
                  <a:srgbClr val="1F2937"/>
                </a:solidFill>
              </a:rPr>
              <a:t>Named, typed columns</a:t>
            </a:r>
            <a:endParaRPr lang="en-US" sz="1800" dirty="0"/>
          </a:p>
          <a:p>
            <a:pPr indent="0" marL="0">
              <a:buNone/>
            </a:pPr>
            <a:r>
              <a:rPr lang="en-US" sz="1800" dirty="0">
                <a:solidFill>
                  <a:srgbClr val="1F2937"/>
                </a:solidFill>
              </a:rPr>
              <a:t>Familiar DataFrame abstraction</a:t>
            </a:r>
            <a:endParaRPr lang="en-US" sz="1800" dirty="0"/>
          </a:p>
          <a:p>
            <a:pPr indent="0" marL="0">
              <a:buNone/>
            </a:pPr>
            <a:r>
              <a:rPr lang="en-US" sz="1800" dirty="0">
                <a:solidFill>
                  <a:srgbClr val="1F2937"/>
                </a:solidFill>
              </a:rPr>
              <a:t>Used throughout ETL and feature preparation</a:t>
            </a:r>
            <a:endParaRPr lang="en-US" sz="1800" dirty="0"/>
          </a:p>
        </p:txBody>
      </p:sp>
      <p:sp>
        <p:nvSpPr>
          <p:cNvPr id="12" name="Text 10"/>
          <p:cNvSpPr/>
          <p:nvPr/>
        </p:nvSpPr>
        <p:spPr>
          <a:xfrm>
            <a:off x="1234440" y="5715000"/>
            <a:ext cx="9784080" cy="320040"/>
          </a:xfrm>
          <a:prstGeom prst="rect">
            <a:avLst/>
          </a:prstGeom>
          <a:noFill/>
          <a:ln/>
        </p:spPr>
        <p:txBody>
          <a:bodyPr wrap="square" lIns="0" tIns="0" rIns="0" bIns="0" rtlCol="0" anchor="ctr"/>
          <a:lstStyle/>
          <a:p>
            <a:pPr algn="ctr" indent="0" marL="0">
              <a:buNone/>
            </a:pPr>
            <a:r>
              <a:rPr lang="en-US" sz="1700" b="1" dirty="0">
                <a:solidFill>
                  <a:srgbClr val="15233C"/>
                </a:solidFill>
              </a:rPr>
              <a:t>Write familiar Python-like transformations → execute them at distributed scale.</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ANALYTICAL QUERYING</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SQL Remains a Core Skill</a:t>
            </a:r>
            <a:endParaRPr lang="en-US" sz="2800" dirty="0"/>
          </a:p>
        </p:txBody>
      </p:sp>
      <p:sp>
        <p:nvSpPr>
          <p:cNvPr id="4" name="Shape 2"/>
          <p:cNvSpPr/>
          <p:nvPr/>
        </p:nvSpPr>
        <p:spPr>
          <a:xfrm>
            <a:off x="658368" y="1417320"/>
            <a:ext cx="6720840" cy="4370832"/>
          </a:xfrm>
          <a:prstGeom prst="roundRect">
            <a:avLst/>
          </a:prstGeom>
          <a:solidFill>
            <a:srgbClr val="111827"/>
          </a:solidFill>
          <a:ln w="12700">
            <a:solidFill>
              <a:srgbClr val="111827"/>
            </a:solidFill>
            <a:prstDash val="solid"/>
          </a:ln>
        </p:spPr>
      </p:sp>
      <p:sp>
        <p:nvSpPr>
          <p:cNvPr id="5" name="Text 3"/>
          <p:cNvSpPr/>
          <p:nvPr/>
        </p:nvSpPr>
        <p:spPr>
          <a:xfrm>
            <a:off x="941832" y="1810512"/>
            <a:ext cx="6172200" cy="3611880"/>
          </a:xfrm>
          <a:prstGeom prst="rect">
            <a:avLst/>
          </a:prstGeom>
          <a:noFill/>
          <a:ln/>
        </p:spPr>
        <p:txBody>
          <a:bodyPr wrap="square" lIns="381" tIns="381" rIns="381" bIns="381" rtlCol="0" anchor="ctr">
            <a:normAutofit/>
          </a:bodyPr>
          <a:lstStyle/>
          <a:p>
            <a:pPr indent="0" marL="0">
              <a:buNone/>
            </a:pPr>
            <a:r>
              <a:rPr lang="en-US" sz="1700" dirty="0">
                <a:solidFill>
                  <a:srgbClr val="F9FAFB"/>
                </a:solidFill>
                <a:latin typeface="Courier New" pitchFamily="34" charset="0"/>
                <a:ea typeface="Courier New" pitchFamily="34" charset="-122"/>
                <a:cs typeface="Courier New" pitchFamily="34" charset="-120"/>
              </a:rPr>
              <a:t>SELECT ProductCategory,</a:t>
            </a:r>
            <a:endParaRPr lang="en-US" sz="1700" dirty="0"/>
          </a:p>
          <a:p>
            <a:pPr indent="0" marL="0">
              <a:buNone/>
            </a:pPr>
            <a:r>
              <a:rPr lang="en-US" sz="1700" dirty="0">
                <a:solidFill>
                  <a:srgbClr val="F9FAFB"/>
                </a:solidFill>
                <a:latin typeface="Courier New" pitchFamily="34" charset="0"/>
                <a:ea typeface="Courier New" pitchFamily="34" charset="-122"/>
                <a:cs typeface="Courier New" pitchFamily="34" charset="-120"/>
              </a:rPr>
              <a:t>       SUM(SalesAmount) AS TotalSales</a:t>
            </a:r>
            <a:endParaRPr lang="en-US" sz="1700" dirty="0"/>
          </a:p>
          <a:p>
            <a:pPr indent="0" marL="0">
              <a:buNone/>
            </a:pPr>
            <a:r>
              <a:rPr lang="en-US" sz="1700" dirty="0">
                <a:solidFill>
                  <a:srgbClr val="F9FAFB"/>
                </a:solidFill>
                <a:latin typeface="Courier New" pitchFamily="34" charset="0"/>
                <a:ea typeface="Courier New" pitchFamily="34" charset="-122"/>
                <a:cs typeface="Courier New" pitchFamily="34" charset="-120"/>
              </a:rPr>
              <a:t>FROM gold.FactSales f</a:t>
            </a:r>
            <a:endParaRPr lang="en-US" sz="1700" dirty="0"/>
          </a:p>
          <a:p>
            <a:pPr indent="0" marL="0">
              <a:buNone/>
            </a:pPr>
            <a:r>
              <a:rPr lang="en-US" sz="1700" dirty="0">
                <a:solidFill>
                  <a:srgbClr val="F9FAFB"/>
                </a:solidFill>
                <a:latin typeface="Courier New" pitchFamily="34" charset="0"/>
                <a:ea typeface="Courier New" pitchFamily="34" charset="-122"/>
                <a:cs typeface="Courier New" pitchFamily="34" charset="-120"/>
              </a:rPr>
              <a:t>JOIN gold.DimProduct p</a:t>
            </a:r>
            <a:endParaRPr lang="en-US" sz="1700" dirty="0"/>
          </a:p>
          <a:p>
            <a:pPr indent="0" marL="0">
              <a:buNone/>
            </a:pPr>
            <a:r>
              <a:rPr lang="en-US" sz="1700" dirty="0">
                <a:solidFill>
                  <a:srgbClr val="F9FAFB"/>
                </a:solidFill>
                <a:latin typeface="Courier New" pitchFamily="34" charset="0"/>
                <a:ea typeface="Courier New" pitchFamily="34" charset="-122"/>
                <a:cs typeface="Courier New" pitchFamily="34" charset="-120"/>
              </a:rPr>
              <a:t>  ON f.ProductKey = p.ProductKey</a:t>
            </a:r>
            <a:endParaRPr lang="en-US" sz="1700" dirty="0"/>
          </a:p>
          <a:p>
            <a:pPr indent="0" marL="0">
              <a:buNone/>
            </a:pPr>
            <a:r>
              <a:rPr lang="en-US" sz="1700" dirty="0">
                <a:solidFill>
                  <a:srgbClr val="F9FAFB"/>
                </a:solidFill>
                <a:latin typeface="Courier New" pitchFamily="34" charset="0"/>
                <a:ea typeface="Courier New" pitchFamily="34" charset="-122"/>
                <a:cs typeface="Courier New" pitchFamily="34" charset="-120"/>
              </a:rPr>
              <a:t>GROUP BY ProductCategory</a:t>
            </a:r>
            <a:endParaRPr lang="en-US" sz="1700" dirty="0"/>
          </a:p>
          <a:p>
            <a:pPr indent="0" marL="0">
              <a:buNone/>
            </a:pPr>
            <a:r>
              <a:rPr lang="en-US" sz="1700" dirty="0">
                <a:solidFill>
                  <a:srgbClr val="F9FAFB"/>
                </a:solidFill>
                <a:latin typeface="Courier New" pitchFamily="34" charset="0"/>
                <a:ea typeface="Courier New" pitchFamily="34" charset="-122"/>
                <a:cs typeface="Courier New" pitchFamily="34" charset="-120"/>
              </a:rPr>
              <a:t>ORDER BY TotalSales DESC;</a:t>
            </a:r>
            <a:endParaRPr lang="en-US" sz="1700" dirty="0"/>
          </a:p>
        </p:txBody>
      </p:sp>
      <p:sp>
        <p:nvSpPr>
          <p:cNvPr id="6" name="Shape 4"/>
          <p:cNvSpPr/>
          <p:nvPr/>
        </p:nvSpPr>
        <p:spPr>
          <a:xfrm>
            <a:off x="7754112" y="1417320"/>
            <a:ext cx="3703320" cy="4370832"/>
          </a:xfrm>
          <a:prstGeom prst="roundRect">
            <a:avLst>
              <a:gd name="adj" fmla="val 1975"/>
            </a:avLst>
          </a:prstGeom>
          <a:solidFill>
            <a:srgbClr val="FFFFFF"/>
          </a:solidFill>
          <a:ln w="12700">
            <a:solidFill>
              <a:srgbClr val="D9E0E8"/>
            </a:solidFill>
            <a:prstDash val="solid"/>
          </a:ln>
        </p:spPr>
      </p:sp>
      <p:sp>
        <p:nvSpPr>
          <p:cNvPr id="7" name="Shape 5"/>
          <p:cNvSpPr/>
          <p:nvPr/>
        </p:nvSpPr>
        <p:spPr>
          <a:xfrm>
            <a:off x="7754112" y="1417320"/>
            <a:ext cx="64008" cy="4370832"/>
          </a:xfrm>
          <a:prstGeom prst="rect">
            <a:avLst/>
          </a:prstGeom>
          <a:solidFill>
            <a:srgbClr val="E53935"/>
          </a:solidFill>
          <a:ln w="12700">
            <a:solidFill>
              <a:srgbClr val="E53935"/>
            </a:solidFill>
            <a:prstDash val="solid"/>
          </a:ln>
        </p:spPr>
      </p:sp>
      <p:sp>
        <p:nvSpPr>
          <p:cNvPr id="8" name="Text 6"/>
          <p:cNvSpPr/>
          <p:nvPr/>
        </p:nvSpPr>
        <p:spPr>
          <a:xfrm>
            <a:off x="7982712" y="1581912"/>
            <a:ext cx="3291840" cy="256032"/>
          </a:xfrm>
          <a:prstGeom prst="rect">
            <a:avLst/>
          </a:prstGeom>
          <a:noFill/>
          <a:ln/>
        </p:spPr>
        <p:txBody>
          <a:bodyPr wrap="square" lIns="0" tIns="0" rIns="0" bIns="0" rtlCol="0" anchor="ctr"/>
          <a:lstStyle/>
          <a:p>
            <a:pPr indent="0" marL="0">
              <a:buNone/>
            </a:pPr>
            <a:r>
              <a:rPr lang="en-US" sz="2000" b="1" dirty="0">
                <a:solidFill>
                  <a:srgbClr val="15233C"/>
                </a:solidFill>
              </a:rPr>
              <a:t>Why SQL still matters</a:t>
            </a:r>
            <a:endParaRPr lang="en-US" sz="2000" dirty="0"/>
          </a:p>
        </p:txBody>
      </p:sp>
      <p:sp>
        <p:nvSpPr>
          <p:cNvPr id="9" name="Text 7"/>
          <p:cNvSpPr/>
          <p:nvPr/>
        </p:nvSpPr>
        <p:spPr>
          <a:xfrm>
            <a:off x="7982712" y="1984248"/>
            <a:ext cx="3291840" cy="3657600"/>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Joining fact + dimension tables</a:t>
            </a:r>
            <a:endParaRPr lang="en-US" sz="1700" dirty="0"/>
          </a:p>
          <a:p>
            <a:pPr indent="0" marL="0">
              <a:buNone/>
            </a:pPr>
            <a:r>
              <a:rPr lang="en-US" sz="1700" dirty="0">
                <a:solidFill>
                  <a:srgbClr val="1F2937"/>
                </a:solidFill>
              </a:rPr>
              <a:t>Aggregating business measures</a:t>
            </a:r>
            <a:endParaRPr lang="en-US" sz="1700" dirty="0"/>
          </a:p>
          <a:p>
            <a:pPr indent="0" marL="0">
              <a:buNone/>
            </a:pPr>
            <a:r>
              <a:rPr lang="en-US" sz="1700" dirty="0">
                <a:solidFill>
                  <a:srgbClr val="1F2937"/>
                </a:solidFill>
              </a:rPr>
              <a:t>Filtering and grouping Gold data</a:t>
            </a:r>
            <a:endParaRPr lang="en-US" sz="1700" dirty="0"/>
          </a:p>
          <a:p>
            <a:pPr indent="0" marL="0">
              <a:buNone/>
            </a:pPr>
            <a:r>
              <a:rPr lang="en-US" sz="1700" dirty="0">
                <a:solidFill>
                  <a:srgbClr val="1F2937"/>
                </a:solidFill>
              </a:rPr>
              <a:t>Readable, expressive analytics</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STAR SCHEMA</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Why JOINs are Especially Important in a Warehouse</a:t>
            </a:r>
            <a:endParaRPr lang="en-US" sz="2800" dirty="0"/>
          </a:p>
        </p:txBody>
      </p:sp>
      <p:sp>
        <p:nvSpPr>
          <p:cNvPr id="4" name="Shape 2"/>
          <p:cNvSpPr/>
          <p:nvPr/>
        </p:nvSpPr>
        <p:spPr>
          <a:xfrm>
            <a:off x="4617720" y="2267712"/>
            <a:ext cx="2926080" cy="1051560"/>
          </a:xfrm>
          <a:prstGeom prst="roundRect">
            <a:avLst>
              <a:gd name="adj" fmla="val 5217"/>
            </a:avLst>
          </a:prstGeom>
          <a:solidFill>
            <a:srgbClr val="FDECEC"/>
          </a:solidFill>
          <a:ln w="12700">
            <a:solidFill>
              <a:srgbClr val="FDECEC"/>
            </a:solidFill>
            <a:prstDash val="solid"/>
          </a:ln>
        </p:spPr>
      </p:sp>
      <p:sp>
        <p:nvSpPr>
          <p:cNvPr id="5" name="Text 3"/>
          <p:cNvSpPr/>
          <p:nvPr/>
        </p:nvSpPr>
        <p:spPr>
          <a:xfrm>
            <a:off x="4663440" y="2313432"/>
            <a:ext cx="2834640" cy="960120"/>
          </a:xfrm>
          <a:prstGeom prst="rect">
            <a:avLst/>
          </a:prstGeom>
          <a:noFill/>
          <a:ln/>
        </p:spPr>
        <p:txBody>
          <a:bodyPr wrap="square" lIns="254" tIns="254" rIns="254" bIns="254" rtlCol="0" anchor="ctr">
            <a:normAutofit/>
          </a:bodyPr>
          <a:lstStyle/>
          <a:p>
            <a:pPr algn="ctr" indent="0" marL="0">
              <a:buNone/>
            </a:pPr>
            <a:r>
              <a:rPr lang="en-US" sz="2200" b="1" dirty="0">
                <a:solidFill>
                  <a:srgbClr val="E53935"/>
                </a:solidFill>
              </a:rPr>
              <a:t>FactSales</a:t>
            </a:r>
            <a:endParaRPr lang="en-US" sz="2200" dirty="0"/>
          </a:p>
        </p:txBody>
      </p:sp>
      <p:sp>
        <p:nvSpPr>
          <p:cNvPr id="6" name="Shape 4"/>
          <p:cNvSpPr/>
          <p:nvPr/>
        </p:nvSpPr>
        <p:spPr>
          <a:xfrm>
            <a:off x="960120" y="1325880"/>
            <a:ext cx="2926080" cy="914400"/>
          </a:xfrm>
          <a:prstGeom prst="roundRect">
            <a:avLst>
              <a:gd name="adj" fmla="val 6000"/>
            </a:avLst>
          </a:prstGeom>
          <a:solidFill>
            <a:srgbClr val="EEF2FF"/>
          </a:solidFill>
          <a:ln w="12700">
            <a:solidFill>
              <a:srgbClr val="EEF2FF"/>
            </a:solidFill>
            <a:prstDash val="solid"/>
          </a:ln>
        </p:spPr>
      </p:sp>
      <p:sp>
        <p:nvSpPr>
          <p:cNvPr id="7" name="Text 5"/>
          <p:cNvSpPr/>
          <p:nvPr/>
        </p:nvSpPr>
        <p:spPr>
          <a:xfrm>
            <a:off x="1005840" y="1371600"/>
            <a:ext cx="2834640" cy="822960"/>
          </a:xfrm>
          <a:prstGeom prst="rect">
            <a:avLst/>
          </a:prstGeom>
          <a:noFill/>
          <a:ln/>
        </p:spPr>
        <p:txBody>
          <a:bodyPr wrap="square" lIns="254" tIns="254" rIns="254" bIns="254" rtlCol="0" anchor="ctr">
            <a:normAutofit/>
          </a:bodyPr>
          <a:lstStyle/>
          <a:p>
            <a:pPr algn="ctr" indent="0" marL="0">
              <a:buNone/>
            </a:pPr>
            <a:r>
              <a:rPr lang="en-US" sz="1800" b="1" dirty="0">
                <a:solidFill>
                  <a:srgbClr val="2E5BFF"/>
                </a:solidFill>
              </a:rPr>
              <a:t>DimCustomer</a:t>
            </a:r>
            <a:endParaRPr lang="en-US" sz="1800" dirty="0"/>
          </a:p>
        </p:txBody>
      </p:sp>
      <p:sp>
        <p:nvSpPr>
          <p:cNvPr id="8" name="Shape 6"/>
          <p:cNvSpPr/>
          <p:nvPr/>
        </p:nvSpPr>
        <p:spPr>
          <a:xfrm>
            <a:off x="3886200" y="1783080"/>
            <a:ext cx="685800" cy="868680"/>
          </a:xfrm>
          <a:prstGeom prst="line">
            <a:avLst/>
          </a:prstGeom>
          <a:noFill/>
          <a:ln w="26670">
            <a:solidFill>
              <a:srgbClr val="98A2B3"/>
            </a:solidFill>
            <a:prstDash val="solid"/>
            <a:headEnd type="none"/>
            <a:tailEnd type="triangle"/>
          </a:ln>
        </p:spPr>
      </p:sp>
      <p:sp>
        <p:nvSpPr>
          <p:cNvPr id="9" name="Shape 7"/>
          <p:cNvSpPr/>
          <p:nvPr/>
        </p:nvSpPr>
        <p:spPr>
          <a:xfrm>
            <a:off x="960120" y="4160520"/>
            <a:ext cx="2926080" cy="914400"/>
          </a:xfrm>
          <a:prstGeom prst="roundRect">
            <a:avLst>
              <a:gd name="adj" fmla="val 6000"/>
            </a:avLst>
          </a:prstGeom>
          <a:solidFill>
            <a:srgbClr val="EEF2FF"/>
          </a:solidFill>
          <a:ln w="12700">
            <a:solidFill>
              <a:srgbClr val="EEF2FF"/>
            </a:solidFill>
            <a:prstDash val="solid"/>
          </a:ln>
        </p:spPr>
      </p:sp>
      <p:sp>
        <p:nvSpPr>
          <p:cNvPr id="10" name="Text 8"/>
          <p:cNvSpPr/>
          <p:nvPr/>
        </p:nvSpPr>
        <p:spPr>
          <a:xfrm>
            <a:off x="1005840" y="4206240"/>
            <a:ext cx="2834640" cy="822960"/>
          </a:xfrm>
          <a:prstGeom prst="rect">
            <a:avLst/>
          </a:prstGeom>
          <a:noFill/>
          <a:ln/>
        </p:spPr>
        <p:txBody>
          <a:bodyPr wrap="square" lIns="254" tIns="254" rIns="254" bIns="254" rtlCol="0" anchor="ctr">
            <a:normAutofit/>
          </a:bodyPr>
          <a:lstStyle/>
          <a:p>
            <a:pPr algn="ctr" indent="0" marL="0">
              <a:buNone/>
            </a:pPr>
            <a:r>
              <a:rPr lang="en-US" sz="1800" b="1" dirty="0">
                <a:solidFill>
                  <a:srgbClr val="2E5BFF"/>
                </a:solidFill>
              </a:rPr>
              <a:t>DimDate</a:t>
            </a:r>
            <a:endParaRPr lang="en-US" sz="1800" dirty="0"/>
          </a:p>
        </p:txBody>
      </p:sp>
      <p:sp>
        <p:nvSpPr>
          <p:cNvPr id="11" name="Shape 9"/>
          <p:cNvSpPr/>
          <p:nvPr/>
        </p:nvSpPr>
        <p:spPr>
          <a:xfrm>
            <a:off x="3886200" y="4617720"/>
            <a:ext cx="685800" cy="-1965960"/>
          </a:xfrm>
          <a:prstGeom prst="line">
            <a:avLst/>
          </a:prstGeom>
          <a:noFill/>
          <a:ln w="26670">
            <a:solidFill>
              <a:srgbClr val="98A2B3"/>
            </a:solidFill>
            <a:prstDash val="solid"/>
            <a:headEnd type="none"/>
            <a:tailEnd type="triangle"/>
          </a:ln>
        </p:spPr>
      </p:sp>
      <p:sp>
        <p:nvSpPr>
          <p:cNvPr id="12" name="Shape 10"/>
          <p:cNvSpPr/>
          <p:nvPr/>
        </p:nvSpPr>
        <p:spPr>
          <a:xfrm>
            <a:off x="8275320" y="1325880"/>
            <a:ext cx="2926080" cy="914400"/>
          </a:xfrm>
          <a:prstGeom prst="roundRect">
            <a:avLst>
              <a:gd name="adj" fmla="val 6000"/>
            </a:avLst>
          </a:prstGeom>
          <a:solidFill>
            <a:srgbClr val="EEF2FF"/>
          </a:solidFill>
          <a:ln w="12700">
            <a:solidFill>
              <a:srgbClr val="EEF2FF"/>
            </a:solidFill>
            <a:prstDash val="solid"/>
          </a:ln>
        </p:spPr>
      </p:sp>
      <p:sp>
        <p:nvSpPr>
          <p:cNvPr id="13" name="Text 11"/>
          <p:cNvSpPr/>
          <p:nvPr/>
        </p:nvSpPr>
        <p:spPr>
          <a:xfrm>
            <a:off x="8321040" y="1371600"/>
            <a:ext cx="2834640" cy="822960"/>
          </a:xfrm>
          <a:prstGeom prst="rect">
            <a:avLst/>
          </a:prstGeom>
          <a:noFill/>
          <a:ln/>
        </p:spPr>
        <p:txBody>
          <a:bodyPr wrap="square" lIns="254" tIns="254" rIns="254" bIns="254" rtlCol="0" anchor="ctr">
            <a:normAutofit/>
          </a:bodyPr>
          <a:lstStyle/>
          <a:p>
            <a:pPr algn="ctr" indent="0" marL="0">
              <a:buNone/>
            </a:pPr>
            <a:r>
              <a:rPr lang="en-US" sz="1800" b="1" dirty="0">
                <a:solidFill>
                  <a:srgbClr val="2E5BFF"/>
                </a:solidFill>
              </a:rPr>
              <a:t>DimProduct</a:t>
            </a:r>
            <a:endParaRPr lang="en-US" sz="1800" dirty="0"/>
          </a:p>
        </p:txBody>
      </p:sp>
      <p:sp>
        <p:nvSpPr>
          <p:cNvPr id="14" name="Shape 12"/>
          <p:cNvSpPr/>
          <p:nvPr/>
        </p:nvSpPr>
        <p:spPr>
          <a:xfrm>
            <a:off x="8275320" y="1783080"/>
            <a:ext cx="-731520" cy="868680"/>
          </a:xfrm>
          <a:prstGeom prst="line">
            <a:avLst/>
          </a:prstGeom>
          <a:noFill/>
          <a:ln w="26670">
            <a:solidFill>
              <a:srgbClr val="98A2B3"/>
            </a:solidFill>
            <a:prstDash val="solid"/>
            <a:headEnd type="none"/>
            <a:tailEnd type="triangle"/>
          </a:ln>
        </p:spPr>
      </p:sp>
      <p:sp>
        <p:nvSpPr>
          <p:cNvPr id="15" name="Shape 13"/>
          <p:cNvSpPr/>
          <p:nvPr/>
        </p:nvSpPr>
        <p:spPr>
          <a:xfrm>
            <a:off x="8275320" y="4160520"/>
            <a:ext cx="2926080" cy="914400"/>
          </a:xfrm>
          <a:prstGeom prst="roundRect">
            <a:avLst>
              <a:gd name="adj" fmla="val 6000"/>
            </a:avLst>
          </a:prstGeom>
          <a:solidFill>
            <a:srgbClr val="EEF2FF"/>
          </a:solidFill>
          <a:ln w="12700">
            <a:solidFill>
              <a:srgbClr val="EEF2FF"/>
            </a:solidFill>
            <a:prstDash val="solid"/>
          </a:ln>
        </p:spPr>
      </p:sp>
      <p:sp>
        <p:nvSpPr>
          <p:cNvPr id="16" name="Text 14"/>
          <p:cNvSpPr/>
          <p:nvPr/>
        </p:nvSpPr>
        <p:spPr>
          <a:xfrm>
            <a:off x="8321040" y="4206240"/>
            <a:ext cx="2834640" cy="822960"/>
          </a:xfrm>
          <a:prstGeom prst="rect">
            <a:avLst/>
          </a:prstGeom>
          <a:noFill/>
          <a:ln/>
        </p:spPr>
        <p:txBody>
          <a:bodyPr wrap="square" lIns="254" tIns="254" rIns="254" bIns="254" rtlCol="0" anchor="ctr">
            <a:normAutofit/>
          </a:bodyPr>
          <a:lstStyle/>
          <a:p>
            <a:pPr algn="ctr" indent="0" marL="0">
              <a:buNone/>
            </a:pPr>
            <a:r>
              <a:rPr lang="en-US" sz="1800" b="1" dirty="0">
                <a:solidFill>
                  <a:srgbClr val="2E5BFF"/>
                </a:solidFill>
              </a:rPr>
              <a:t>DimStore</a:t>
            </a:r>
            <a:endParaRPr lang="en-US" sz="1800" dirty="0"/>
          </a:p>
        </p:txBody>
      </p:sp>
      <p:sp>
        <p:nvSpPr>
          <p:cNvPr id="17" name="Shape 15"/>
          <p:cNvSpPr/>
          <p:nvPr/>
        </p:nvSpPr>
        <p:spPr>
          <a:xfrm>
            <a:off x="8275320" y="4617720"/>
            <a:ext cx="-731520" cy="-1965960"/>
          </a:xfrm>
          <a:prstGeom prst="line">
            <a:avLst/>
          </a:prstGeom>
          <a:noFill/>
          <a:ln w="26670">
            <a:solidFill>
              <a:srgbClr val="98A2B3"/>
            </a:solidFill>
            <a:prstDash val="solid"/>
            <a:headEnd type="none"/>
            <a:tailEnd type="triangle"/>
          </a:ln>
        </p:spPr>
      </p:sp>
      <p:sp>
        <p:nvSpPr>
          <p:cNvPr id="18" name="Text 16"/>
          <p:cNvSpPr/>
          <p:nvPr/>
        </p:nvSpPr>
        <p:spPr>
          <a:xfrm>
            <a:off x="4709160" y="3474720"/>
            <a:ext cx="2743200" cy="256032"/>
          </a:xfrm>
          <a:prstGeom prst="rect">
            <a:avLst/>
          </a:prstGeom>
          <a:noFill/>
          <a:ln/>
        </p:spPr>
        <p:txBody>
          <a:bodyPr wrap="square" lIns="0" tIns="0" rIns="0" bIns="0" rtlCol="0" anchor="ctr"/>
          <a:lstStyle/>
          <a:p>
            <a:pPr algn="ctr" indent="0" marL="0">
              <a:buNone/>
            </a:pPr>
            <a:r>
              <a:rPr lang="en-US" sz="1300" dirty="0">
                <a:solidFill>
                  <a:srgbClr val="667085"/>
                </a:solidFill>
              </a:rPr>
              <a:t>measurable events</a:t>
            </a:r>
            <a:endParaRPr lang="en-US" sz="1300" dirty="0"/>
          </a:p>
        </p:txBody>
      </p:sp>
      <p:sp>
        <p:nvSpPr>
          <p:cNvPr id="19" name="Text 17"/>
          <p:cNvSpPr/>
          <p:nvPr/>
        </p:nvSpPr>
        <p:spPr>
          <a:xfrm>
            <a:off x="1874520" y="5715000"/>
            <a:ext cx="8458200" cy="347472"/>
          </a:xfrm>
          <a:prstGeom prst="rect">
            <a:avLst/>
          </a:prstGeom>
          <a:noFill/>
          <a:ln/>
        </p:spPr>
        <p:txBody>
          <a:bodyPr wrap="square" lIns="0" tIns="0" rIns="0" bIns="0" rtlCol="0" anchor="ctr"/>
          <a:lstStyle/>
          <a:p>
            <a:pPr algn="ctr" indent="0" marL="0">
              <a:buNone/>
            </a:pPr>
            <a:r>
              <a:rPr lang="en-US" sz="1700" b="1" dirty="0">
                <a:solidFill>
                  <a:srgbClr val="15233C"/>
                </a:solidFill>
              </a:rPr>
              <a:t>dimensions provide the descriptive context used to slice, filter, and group facts</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DATA MOVEMENT</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ETL versus ELT</a:t>
            </a:r>
            <a:endParaRPr lang="en-US" sz="2800" dirty="0"/>
          </a:p>
        </p:txBody>
      </p:sp>
      <p:sp>
        <p:nvSpPr>
          <p:cNvPr id="4" name="Text 2"/>
          <p:cNvSpPr/>
          <p:nvPr/>
        </p:nvSpPr>
        <p:spPr>
          <a:xfrm>
            <a:off x="1051560" y="1417320"/>
            <a:ext cx="1828800" cy="411480"/>
          </a:xfrm>
          <a:prstGeom prst="rect">
            <a:avLst/>
          </a:prstGeom>
          <a:noFill/>
          <a:ln/>
        </p:spPr>
        <p:txBody>
          <a:bodyPr wrap="square" lIns="0" tIns="0" rIns="0" bIns="0" rtlCol="0" anchor="ctr"/>
          <a:lstStyle/>
          <a:p>
            <a:pPr indent="0" marL="0">
              <a:buNone/>
            </a:pPr>
            <a:r>
              <a:rPr lang="en-US" sz="2800" b="1" dirty="0">
                <a:solidFill>
                  <a:srgbClr val="E53935"/>
                </a:solidFill>
              </a:rPr>
              <a:t>ETL</a:t>
            </a:r>
            <a:endParaRPr lang="en-US" sz="2800" dirty="0"/>
          </a:p>
        </p:txBody>
      </p:sp>
      <p:sp>
        <p:nvSpPr>
          <p:cNvPr id="5" name="Shape 3"/>
          <p:cNvSpPr/>
          <p:nvPr/>
        </p:nvSpPr>
        <p:spPr>
          <a:xfrm>
            <a:off x="731520" y="2148840"/>
            <a:ext cx="2194560" cy="822960"/>
          </a:xfrm>
          <a:prstGeom prst="roundRect">
            <a:avLst>
              <a:gd name="adj" fmla="val 6667"/>
            </a:avLst>
          </a:prstGeom>
          <a:solidFill>
            <a:srgbClr val="FCE8E8"/>
          </a:solidFill>
          <a:ln w="12700">
            <a:solidFill>
              <a:srgbClr val="FCE8E8"/>
            </a:solidFill>
            <a:prstDash val="solid"/>
          </a:ln>
        </p:spPr>
      </p:sp>
      <p:sp>
        <p:nvSpPr>
          <p:cNvPr id="6" name="Text 4"/>
          <p:cNvSpPr/>
          <p:nvPr/>
        </p:nvSpPr>
        <p:spPr>
          <a:xfrm>
            <a:off x="777240" y="2194560"/>
            <a:ext cx="2103120" cy="731520"/>
          </a:xfrm>
          <a:prstGeom prst="rect">
            <a:avLst/>
          </a:prstGeom>
          <a:noFill/>
          <a:ln/>
        </p:spPr>
        <p:txBody>
          <a:bodyPr wrap="square" lIns="254" tIns="254" rIns="254" bIns="254" rtlCol="0" anchor="ctr">
            <a:normAutofit/>
          </a:bodyPr>
          <a:lstStyle/>
          <a:p>
            <a:pPr algn="ctr" indent="0" marL="0">
              <a:buNone/>
            </a:pPr>
            <a:r>
              <a:rPr lang="en-US" sz="1600" b="1" dirty="0">
                <a:solidFill>
                  <a:srgbClr val="E53935"/>
                </a:solidFill>
              </a:rPr>
              <a:t>EXTRACT</a:t>
            </a:r>
            <a:endParaRPr lang="en-US" sz="1600" dirty="0"/>
          </a:p>
        </p:txBody>
      </p:sp>
      <p:sp>
        <p:nvSpPr>
          <p:cNvPr id="7" name="Shape 5"/>
          <p:cNvSpPr/>
          <p:nvPr/>
        </p:nvSpPr>
        <p:spPr>
          <a:xfrm>
            <a:off x="2926080" y="2560320"/>
            <a:ext cx="320040" cy="0"/>
          </a:xfrm>
          <a:prstGeom prst="line">
            <a:avLst/>
          </a:prstGeom>
          <a:noFill/>
          <a:ln w="25400">
            <a:solidFill>
              <a:srgbClr val="98A2B3"/>
            </a:solidFill>
            <a:prstDash val="solid"/>
            <a:headEnd type="none"/>
            <a:tailEnd type="triangle"/>
          </a:ln>
        </p:spPr>
      </p:sp>
      <p:sp>
        <p:nvSpPr>
          <p:cNvPr id="8" name="Shape 6"/>
          <p:cNvSpPr/>
          <p:nvPr/>
        </p:nvSpPr>
        <p:spPr>
          <a:xfrm>
            <a:off x="3246120" y="2148840"/>
            <a:ext cx="2194560" cy="822960"/>
          </a:xfrm>
          <a:prstGeom prst="roundRect">
            <a:avLst>
              <a:gd name="adj" fmla="val 6667"/>
            </a:avLst>
          </a:prstGeom>
          <a:solidFill>
            <a:srgbClr val="FCE8E8"/>
          </a:solidFill>
          <a:ln w="12700">
            <a:solidFill>
              <a:srgbClr val="FCE8E8"/>
            </a:solidFill>
            <a:prstDash val="solid"/>
          </a:ln>
        </p:spPr>
      </p:sp>
      <p:sp>
        <p:nvSpPr>
          <p:cNvPr id="9" name="Text 7"/>
          <p:cNvSpPr/>
          <p:nvPr/>
        </p:nvSpPr>
        <p:spPr>
          <a:xfrm>
            <a:off x="3291840" y="2194560"/>
            <a:ext cx="2103120" cy="731520"/>
          </a:xfrm>
          <a:prstGeom prst="rect">
            <a:avLst/>
          </a:prstGeom>
          <a:noFill/>
          <a:ln/>
        </p:spPr>
        <p:txBody>
          <a:bodyPr wrap="square" lIns="254" tIns="254" rIns="254" bIns="254" rtlCol="0" anchor="ctr">
            <a:normAutofit/>
          </a:bodyPr>
          <a:lstStyle/>
          <a:p>
            <a:pPr algn="ctr" indent="0" marL="0">
              <a:buNone/>
            </a:pPr>
            <a:r>
              <a:rPr lang="en-US" sz="1600" b="1" dirty="0">
                <a:solidFill>
                  <a:srgbClr val="E53935"/>
                </a:solidFill>
              </a:rPr>
              <a:t>TRANSFORM</a:t>
            </a:r>
            <a:endParaRPr lang="en-US" sz="1600" dirty="0"/>
          </a:p>
        </p:txBody>
      </p:sp>
      <p:sp>
        <p:nvSpPr>
          <p:cNvPr id="10" name="Shape 8"/>
          <p:cNvSpPr/>
          <p:nvPr/>
        </p:nvSpPr>
        <p:spPr>
          <a:xfrm>
            <a:off x="5440680" y="2560320"/>
            <a:ext cx="320040" cy="0"/>
          </a:xfrm>
          <a:prstGeom prst="line">
            <a:avLst/>
          </a:prstGeom>
          <a:noFill/>
          <a:ln w="25400">
            <a:solidFill>
              <a:srgbClr val="98A2B3"/>
            </a:solidFill>
            <a:prstDash val="solid"/>
            <a:headEnd type="none"/>
            <a:tailEnd type="triangle"/>
          </a:ln>
        </p:spPr>
      </p:sp>
      <p:sp>
        <p:nvSpPr>
          <p:cNvPr id="11" name="Shape 9"/>
          <p:cNvSpPr/>
          <p:nvPr/>
        </p:nvSpPr>
        <p:spPr>
          <a:xfrm>
            <a:off x="5760720" y="2148840"/>
            <a:ext cx="2194560" cy="822960"/>
          </a:xfrm>
          <a:prstGeom prst="roundRect">
            <a:avLst>
              <a:gd name="adj" fmla="val 6667"/>
            </a:avLst>
          </a:prstGeom>
          <a:solidFill>
            <a:srgbClr val="FCE8E8"/>
          </a:solidFill>
          <a:ln w="12700">
            <a:solidFill>
              <a:srgbClr val="FCE8E8"/>
            </a:solidFill>
            <a:prstDash val="solid"/>
          </a:ln>
        </p:spPr>
      </p:sp>
      <p:sp>
        <p:nvSpPr>
          <p:cNvPr id="12" name="Text 10"/>
          <p:cNvSpPr/>
          <p:nvPr/>
        </p:nvSpPr>
        <p:spPr>
          <a:xfrm>
            <a:off x="5806440" y="2194560"/>
            <a:ext cx="2103120" cy="731520"/>
          </a:xfrm>
          <a:prstGeom prst="rect">
            <a:avLst/>
          </a:prstGeom>
          <a:noFill/>
          <a:ln/>
        </p:spPr>
        <p:txBody>
          <a:bodyPr wrap="square" lIns="254" tIns="254" rIns="254" bIns="254" rtlCol="0" anchor="ctr">
            <a:normAutofit/>
          </a:bodyPr>
          <a:lstStyle/>
          <a:p>
            <a:pPr algn="ctr" indent="0" marL="0">
              <a:buNone/>
            </a:pPr>
            <a:r>
              <a:rPr lang="en-US" sz="1600" b="1" dirty="0">
                <a:solidFill>
                  <a:srgbClr val="E53935"/>
                </a:solidFill>
              </a:rPr>
              <a:t>LOAD</a:t>
            </a:r>
            <a:endParaRPr lang="en-US" sz="1600" dirty="0"/>
          </a:p>
        </p:txBody>
      </p:sp>
      <p:sp>
        <p:nvSpPr>
          <p:cNvPr id="13" name="Text 11"/>
          <p:cNvSpPr/>
          <p:nvPr/>
        </p:nvSpPr>
        <p:spPr>
          <a:xfrm>
            <a:off x="749808" y="3200400"/>
            <a:ext cx="7315200" cy="320040"/>
          </a:xfrm>
          <a:prstGeom prst="rect">
            <a:avLst/>
          </a:prstGeom>
          <a:noFill/>
          <a:ln/>
        </p:spPr>
        <p:txBody>
          <a:bodyPr wrap="square" lIns="0" tIns="0" rIns="0" bIns="0" rtlCol="0" anchor="ctr"/>
          <a:lstStyle/>
          <a:p>
            <a:pPr indent="0" marL="0">
              <a:buNone/>
            </a:pPr>
            <a:r>
              <a:rPr lang="en-US" sz="1550" dirty="0">
                <a:solidFill>
                  <a:srgbClr val="1F2937"/>
                </a:solidFill>
              </a:rPr>
              <a:t>Transform before loading into the final warehouse.</a:t>
            </a:r>
            <a:endParaRPr lang="en-US" sz="1550" dirty="0"/>
          </a:p>
        </p:txBody>
      </p:sp>
      <p:sp>
        <p:nvSpPr>
          <p:cNvPr id="14" name="Text 12"/>
          <p:cNvSpPr/>
          <p:nvPr/>
        </p:nvSpPr>
        <p:spPr>
          <a:xfrm>
            <a:off x="1051560" y="3886200"/>
            <a:ext cx="3200400" cy="411480"/>
          </a:xfrm>
          <a:prstGeom prst="rect">
            <a:avLst/>
          </a:prstGeom>
          <a:noFill/>
          <a:ln/>
        </p:spPr>
        <p:txBody>
          <a:bodyPr wrap="square" lIns="0" tIns="0" rIns="0" bIns="0" rtlCol="0" anchor="ctr"/>
          <a:lstStyle/>
          <a:p>
            <a:pPr indent="0" marL="0">
              <a:buNone/>
            </a:pPr>
            <a:r>
              <a:rPr lang="en-US" sz="2800" b="1" dirty="0">
                <a:solidFill>
                  <a:srgbClr val="2E5BFF"/>
                </a:solidFill>
              </a:rPr>
              <a:t>ELT / Lakehouse</a:t>
            </a:r>
            <a:endParaRPr lang="en-US" sz="2800" dirty="0"/>
          </a:p>
        </p:txBody>
      </p:sp>
      <p:sp>
        <p:nvSpPr>
          <p:cNvPr id="15" name="Shape 13"/>
          <p:cNvSpPr/>
          <p:nvPr/>
        </p:nvSpPr>
        <p:spPr>
          <a:xfrm>
            <a:off x="731520" y="4617720"/>
            <a:ext cx="2194560" cy="822960"/>
          </a:xfrm>
          <a:prstGeom prst="roundRect">
            <a:avLst>
              <a:gd name="adj" fmla="val 6667"/>
            </a:avLst>
          </a:prstGeom>
          <a:solidFill>
            <a:srgbClr val="E8F0FF"/>
          </a:solidFill>
          <a:ln w="12700">
            <a:solidFill>
              <a:srgbClr val="E8F0FF"/>
            </a:solidFill>
            <a:prstDash val="solid"/>
          </a:ln>
        </p:spPr>
      </p:sp>
      <p:sp>
        <p:nvSpPr>
          <p:cNvPr id="16" name="Text 14"/>
          <p:cNvSpPr/>
          <p:nvPr/>
        </p:nvSpPr>
        <p:spPr>
          <a:xfrm>
            <a:off x="777240" y="4663440"/>
            <a:ext cx="2103120" cy="731520"/>
          </a:xfrm>
          <a:prstGeom prst="rect">
            <a:avLst/>
          </a:prstGeom>
          <a:noFill/>
          <a:ln/>
        </p:spPr>
        <p:txBody>
          <a:bodyPr wrap="square" lIns="254" tIns="254" rIns="254" bIns="254" rtlCol="0" anchor="ctr">
            <a:normAutofit/>
          </a:bodyPr>
          <a:lstStyle/>
          <a:p>
            <a:pPr algn="ctr" indent="0" marL="0">
              <a:buNone/>
            </a:pPr>
            <a:r>
              <a:rPr lang="en-US" sz="1600" b="1" dirty="0">
                <a:solidFill>
                  <a:srgbClr val="2E5BFF"/>
                </a:solidFill>
              </a:rPr>
              <a:t>EXTRACT</a:t>
            </a:r>
            <a:endParaRPr lang="en-US" sz="1600" dirty="0"/>
          </a:p>
        </p:txBody>
      </p:sp>
      <p:sp>
        <p:nvSpPr>
          <p:cNvPr id="17" name="Shape 15"/>
          <p:cNvSpPr/>
          <p:nvPr/>
        </p:nvSpPr>
        <p:spPr>
          <a:xfrm>
            <a:off x="2926080" y="5029200"/>
            <a:ext cx="320040" cy="0"/>
          </a:xfrm>
          <a:prstGeom prst="line">
            <a:avLst/>
          </a:prstGeom>
          <a:noFill/>
          <a:ln w="25400">
            <a:solidFill>
              <a:srgbClr val="98A2B3"/>
            </a:solidFill>
            <a:prstDash val="solid"/>
            <a:headEnd type="none"/>
            <a:tailEnd type="triangle"/>
          </a:ln>
        </p:spPr>
      </p:sp>
      <p:sp>
        <p:nvSpPr>
          <p:cNvPr id="18" name="Shape 16"/>
          <p:cNvSpPr/>
          <p:nvPr/>
        </p:nvSpPr>
        <p:spPr>
          <a:xfrm>
            <a:off x="3246120" y="4617720"/>
            <a:ext cx="2194560" cy="822960"/>
          </a:xfrm>
          <a:prstGeom prst="roundRect">
            <a:avLst>
              <a:gd name="adj" fmla="val 6667"/>
            </a:avLst>
          </a:prstGeom>
          <a:solidFill>
            <a:srgbClr val="E8F0FF"/>
          </a:solidFill>
          <a:ln w="12700">
            <a:solidFill>
              <a:srgbClr val="E8F0FF"/>
            </a:solidFill>
            <a:prstDash val="solid"/>
          </a:ln>
        </p:spPr>
      </p:sp>
      <p:sp>
        <p:nvSpPr>
          <p:cNvPr id="19" name="Text 17"/>
          <p:cNvSpPr/>
          <p:nvPr/>
        </p:nvSpPr>
        <p:spPr>
          <a:xfrm>
            <a:off x="3291840" y="4663440"/>
            <a:ext cx="2103120" cy="731520"/>
          </a:xfrm>
          <a:prstGeom prst="rect">
            <a:avLst/>
          </a:prstGeom>
          <a:noFill/>
          <a:ln/>
        </p:spPr>
        <p:txBody>
          <a:bodyPr wrap="square" lIns="254" tIns="254" rIns="254" bIns="254" rtlCol="0" anchor="ctr">
            <a:normAutofit/>
          </a:bodyPr>
          <a:lstStyle/>
          <a:p>
            <a:pPr algn="ctr" indent="0" marL="0">
              <a:buNone/>
            </a:pPr>
            <a:r>
              <a:rPr lang="en-US" sz="1600" b="1" dirty="0">
                <a:solidFill>
                  <a:srgbClr val="2E5BFF"/>
                </a:solidFill>
              </a:rPr>
              <a:t>LOAD</a:t>
            </a:r>
            <a:endParaRPr lang="en-US" sz="1600" dirty="0"/>
          </a:p>
        </p:txBody>
      </p:sp>
      <p:sp>
        <p:nvSpPr>
          <p:cNvPr id="20" name="Shape 18"/>
          <p:cNvSpPr/>
          <p:nvPr/>
        </p:nvSpPr>
        <p:spPr>
          <a:xfrm>
            <a:off x="5440680" y="5029200"/>
            <a:ext cx="320040" cy="0"/>
          </a:xfrm>
          <a:prstGeom prst="line">
            <a:avLst/>
          </a:prstGeom>
          <a:noFill/>
          <a:ln w="25400">
            <a:solidFill>
              <a:srgbClr val="98A2B3"/>
            </a:solidFill>
            <a:prstDash val="solid"/>
            <a:headEnd type="none"/>
            <a:tailEnd type="triangle"/>
          </a:ln>
        </p:spPr>
      </p:sp>
      <p:sp>
        <p:nvSpPr>
          <p:cNvPr id="21" name="Shape 19"/>
          <p:cNvSpPr/>
          <p:nvPr/>
        </p:nvSpPr>
        <p:spPr>
          <a:xfrm>
            <a:off x="5760720" y="4617720"/>
            <a:ext cx="2194560" cy="822960"/>
          </a:xfrm>
          <a:prstGeom prst="roundRect">
            <a:avLst>
              <a:gd name="adj" fmla="val 6667"/>
            </a:avLst>
          </a:prstGeom>
          <a:solidFill>
            <a:srgbClr val="E8F0FF"/>
          </a:solidFill>
          <a:ln w="12700">
            <a:solidFill>
              <a:srgbClr val="E8F0FF"/>
            </a:solidFill>
            <a:prstDash val="solid"/>
          </a:ln>
        </p:spPr>
      </p:sp>
      <p:sp>
        <p:nvSpPr>
          <p:cNvPr id="22" name="Text 20"/>
          <p:cNvSpPr/>
          <p:nvPr/>
        </p:nvSpPr>
        <p:spPr>
          <a:xfrm>
            <a:off x="5806440" y="4663440"/>
            <a:ext cx="2103120" cy="731520"/>
          </a:xfrm>
          <a:prstGeom prst="rect">
            <a:avLst/>
          </a:prstGeom>
          <a:noFill/>
          <a:ln/>
        </p:spPr>
        <p:txBody>
          <a:bodyPr wrap="square" lIns="254" tIns="254" rIns="254" bIns="254" rtlCol="0" anchor="ctr">
            <a:normAutofit/>
          </a:bodyPr>
          <a:lstStyle/>
          <a:p>
            <a:pPr algn="ctr" indent="0" marL="0">
              <a:buNone/>
            </a:pPr>
            <a:r>
              <a:rPr lang="en-US" sz="1600" b="1" dirty="0">
                <a:solidFill>
                  <a:srgbClr val="2E5BFF"/>
                </a:solidFill>
              </a:rPr>
              <a:t>TRANSFORM</a:t>
            </a:r>
            <a:endParaRPr lang="en-US" sz="1600" dirty="0"/>
          </a:p>
        </p:txBody>
      </p:sp>
      <p:sp>
        <p:nvSpPr>
          <p:cNvPr id="23" name="Shape 21"/>
          <p:cNvSpPr/>
          <p:nvPr/>
        </p:nvSpPr>
        <p:spPr>
          <a:xfrm>
            <a:off x="8549640" y="1417320"/>
            <a:ext cx="2971800" cy="4498848"/>
          </a:xfrm>
          <a:prstGeom prst="roundRect">
            <a:avLst>
              <a:gd name="adj" fmla="val 2462"/>
            </a:avLst>
          </a:prstGeom>
          <a:solidFill>
            <a:srgbClr val="FFFFFF"/>
          </a:solidFill>
          <a:ln w="12700">
            <a:solidFill>
              <a:srgbClr val="D9E0E8"/>
            </a:solidFill>
            <a:prstDash val="solid"/>
          </a:ln>
        </p:spPr>
      </p:sp>
      <p:sp>
        <p:nvSpPr>
          <p:cNvPr id="24" name="Shape 22"/>
          <p:cNvSpPr/>
          <p:nvPr/>
        </p:nvSpPr>
        <p:spPr>
          <a:xfrm>
            <a:off x="8549640" y="1417320"/>
            <a:ext cx="64008" cy="4498848"/>
          </a:xfrm>
          <a:prstGeom prst="rect">
            <a:avLst/>
          </a:prstGeom>
          <a:solidFill>
            <a:srgbClr val="0F766E"/>
          </a:solidFill>
          <a:ln w="12700">
            <a:solidFill>
              <a:srgbClr val="0F766E"/>
            </a:solidFill>
            <a:prstDash val="solid"/>
          </a:ln>
        </p:spPr>
      </p:sp>
      <p:sp>
        <p:nvSpPr>
          <p:cNvPr id="25" name="Text 23"/>
          <p:cNvSpPr/>
          <p:nvPr/>
        </p:nvSpPr>
        <p:spPr>
          <a:xfrm>
            <a:off x="8778240" y="1581912"/>
            <a:ext cx="2560320" cy="256032"/>
          </a:xfrm>
          <a:prstGeom prst="rect">
            <a:avLst/>
          </a:prstGeom>
          <a:noFill/>
          <a:ln/>
        </p:spPr>
        <p:txBody>
          <a:bodyPr wrap="square" lIns="0" tIns="0" rIns="0" bIns="0" rtlCol="0" anchor="ctr"/>
          <a:lstStyle/>
          <a:p>
            <a:pPr indent="0" marL="0">
              <a:buNone/>
            </a:pPr>
            <a:r>
              <a:rPr lang="en-US" sz="1900" b="1" dirty="0">
                <a:solidFill>
                  <a:srgbClr val="15233C"/>
                </a:solidFill>
              </a:rPr>
              <a:t>Why ELT fits Databricks</a:t>
            </a:r>
            <a:endParaRPr lang="en-US" sz="1900" dirty="0"/>
          </a:p>
        </p:txBody>
      </p:sp>
      <p:sp>
        <p:nvSpPr>
          <p:cNvPr id="26" name="Text 24"/>
          <p:cNvSpPr/>
          <p:nvPr/>
        </p:nvSpPr>
        <p:spPr>
          <a:xfrm>
            <a:off x="8778240" y="1984248"/>
            <a:ext cx="2560320" cy="3785616"/>
          </a:xfrm>
          <a:prstGeom prst="rect">
            <a:avLst/>
          </a:prstGeom>
          <a:noFill/>
          <a:ln/>
        </p:spPr>
        <p:txBody>
          <a:bodyPr wrap="square" lIns="254" tIns="254" rIns="254" bIns="254" rtlCol="0" anchor="t">
            <a:normAutofit/>
          </a:bodyPr>
          <a:lstStyle/>
          <a:p>
            <a:pPr indent="0" marL="0">
              <a:buNone/>
            </a:pPr>
            <a:r>
              <a:rPr lang="en-US" sz="1550" dirty="0">
                <a:solidFill>
                  <a:srgbClr val="1F2937"/>
                </a:solidFill>
              </a:rPr>
              <a:t>Land raw data first</a:t>
            </a:r>
            <a:endParaRPr lang="en-US" sz="1550" dirty="0"/>
          </a:p>
          <a:p>
            <a:pPr indent="0" marL="0">
              <a:buNone/>
            </a:pPr>
            <a:r>
              <a:rPr lang="en-US" sz="1550" dirty="0">
                <a:solidFill>
                  <a:srgbClr val="1F2937"/>
                </a:solidFill>
              </a:rPr>
              <a:t>Preserve source fidelity</a:t>
            </a:r>
            <a:endParaRPr lang="en-US" sz="1550" dirty="0"/>
          </a:p>
          <a:p>
            <a:pPr indent="0" marL="0">
              <a:buNone/>
            </a:pPr>
            <a:r>
              <a:rPr lang="en-US" sz="1550" dirty="0">
                <a:solidFill>
                  <a:srgbClr val="1F2937"/>
                </a:solidFill>
              </a:rPr>
              <a:t>Transform inside scalable analytical compute</a:t>
            </a:r>
            <a:endParaRPr lang="en-US" sz="1550" dirty="0"/>
          </a:p>
          <a:p>
            <a:pPr indent="0" marL="0">
              <a:buNone/>
            </a:pPr>
            <a:r>
              <a:rPr lang="en-US" sz="1550" dirty="0">
                <a:solidFill>
                  <a:srgbClr val="1F2937"/>
                </a:solidFill>
              </a:rPr>
              <a:t>Reprocess without re-extracting source history</a:t>
            </a:r>
            <a:endParaRPr lang="en-US" sz="155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PROGRESSIVE REFINEMENT</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Medallion Architecture</a:t>
            </a:r>
            <a:endParaRPr lang="en-US" sz="2800" dirty="0"/>
          </a:p>
        </p:txBody>
      </p:sp>
      <p:sp>
        <p:nvSpPr>
          <p:cNvPr id="4" name="Shape 2"/>
          <p:cNvSpPr/>
          <p:nvPr/>
        </p:nvSpPr>
        <p:spPr>
          <a:xfrm>
            <a:off x="777240" y="1828800"/>
            <a:ext cx="3246120" cy="1143000"/>
          </a:xfrm>
          <a:prstGeom prst="roundRect">
            <a:avLst>
              <a:gd name="adj" fmla="val 4800"/>
            </a:avLst>
          </a:prstGeom>
          <a:solidFill>
            <a:srgbClr val="F3E4D7"/>
          </a:solidFill>
          <a:ln w="12700">
            <a:solidFill>
              <a:srgbClr val="F3E4D7"/>
            </a:solidFill>
            <a:prstDash val="solid"/>
          </a:ln>
        </p:spPr>
      </p:sp>
      <p:sp>
        <p:nvSpPr>
          <p:cNvPr id="5" name="Text 3"/>
          <p:cNvSpPr/>
          <p:nvPr/>
        </p:nvSpPr>
        <p:spPr>
          <a:xfrm>
            <a:off x="822960" y="1874520"/>
            <a:ext cx="3154680" cy="1051560"/>
          </a:xfrm>
          <a:prstGeom prst="rect">
            <a:avLst/>
          </a:prstGeom>
          <a:noFill/>
          <a:ln/>
        </p:spPr>
        <p:txBody>
          <a:bodyPr wrap="square" lIns="254" tIns="254" rIns="254" bIns="254" rtlCol="0" anchor="ctr">
            <a:normAutofit/>
          </a:bodyPr>
          <a:lstStyle/>
          <a:p>
            <a:pPr algn="ctr" indent="0" marL="0">
              <a:buNone/>
            </a:pPr>
            <a:r>
              <a:rPr lang="en-US" sz="2500" b="1" dirty="0">
                <a:solidFill>
                  <a:srgbClr val="A16207"/>
                </a:solidFill>
              </a:rPr>
              <a:t>BRONZE</a:t>
            </a:r>
            <a:endParaRPr lang="en-US" sz="2500" dirty="0"/>
          </a:p>
        </p:txBody>
      </p:sp>
      <p:sp>
        <p:nvSpPr>
          <p:cNvPr id="6" name="Text 4"/>
          <p:cNvSpPr/>
          <p:nvPr/>
        </p:nvSpPr>
        <p:spPr>
          <a:xfrm>
            <a:off x="914400" y="3218688"/>
            <a:ext cx="2971800" cy="457200"/>
          </a:xfrm>
          <a:prstGeom prst="rect">
            <a:avLst/>
          </a:prstGeom>
          <a:noFill/>
          <a:ln/>
        </p:spPr>
        <p:txBody>
          <a:bodyPr wrap="square" lIns="0" tIns="0" rIns="0" bIns="0" rtlCol="0" anchor="ctr"/>
          <a:lstStyle/>
          <a:p>
            <a:pPr algn="ctr" indent="0" marL="0">
              <a:buNone/>
            </a:pPr>
            <a:r>
              <a:rPr lang="en-US" sz="1500" dirty="0">
                <a:solidFill>
                  <a:srgbClr val="1F2937"/>
                </a:solidFill>
              </a:rPr>
              <a:t>Raw / minimally transformed</a:t>
            </a:r>
            <a:endParaRPr lang="en-US" sz="1500" dirty="0"/>
          </a:p>
        </p:txBody>
      </p:sp>
      <p:sp>
        <p:nvSpPr>
          <p:cNvPr id="7" name="Shape 5"/>
          <p:cNvSpPr/>
          <p:nvPr/>
        </p:nvSpPr>
        <p:spPr>
          <a:xfrm>
            <a:off x="4023360" y="2395728"/>
            <a:ext cx="502920" cy="0"/>
          </a:xfrm>
          <a:prstGeom prst="line">
            <a:avLst/>
          </a:prstGeom>
          <a:noFill/>
          <a:ln w="38100">
            <a:solidFill>
              <a:srgbClr val="8B98A8"/>
            </a:solidFill>
            <a:prstDash val="solid"/>
            <a:headEnd type="none"/>
            <a:tailEnd type="triangle"/>
          </a:ln>
        </p:spPr>
      </p:sp>
      <p:sp>
        <p:nvSpPr>
          <p:cNvPr id="8" name="Shape 6"/>
          <p:cNvSpPr/>
          <p:nvPr/>
        </p:nvSpPr>
        <p:spPr>
          <a:xfrm>
            <a:off x="4526280" y="1828800"/>
            <a:ext cx="3246120" cy="1143000"/>
          </a:xfrm>
          <a:prstGeom prst="roundRect">
            <a:avLst>
              <a:gd name="adj" fmla="val 4800"/>
            </a:avLst>
          </a:prstGeom>
          <a:solidFill>
            <a:srgbClr val="E8EBEF"/>
          </a:solidFill>
          <a:ln w="12700">
            <a:solidFill>
              <a:srgbClr val="E8EBEF"/>
            </a:solidFill>
            <a:prstDash val="solid"/>
          </a:ln>
        </p:spPr>
      </p:sp>
      <p:sp>
        <p:nvSpPr>
          <p:cNvPr id="9" name="Text 7"/>
          <p:cNvSpPr/>
          <p:nvPr/>
        </p:nvSpPr>
        <p:spPr>
          <a:xfrm>
            <a:off x="4572000" y="1874520"/>
            <a:ext cx="3154680" cy="1051560"/>
          </a:xfrm>
          <a:prstGeom prst="rect">
            <a:avLst/>
          </a:prstGeom>
          <a:noFill/>
          <a:ln/>
        </p:spPr>
        <p:txBody>
          <a:bodyPr wrap="square" lIns="254" tIns="254" rIns="254" bIns="254" rtlCol="0" anchor="ctr">
            <a:normAutofit/>
          </a:bodyPr>
          <a:lstStyle/>
          <a:p>
            <a:pPr algn="ctr" indent="0" marL="0">
              <a:buNone/>
            </a:pPr>
            <a:r>
              <a:rPr lang="en-US" sz="2500" b="1" dirty="0">
                <a:solidFill>
                  <a:srgbClr val="64748B"/>
                </a:solidFill>
              </a:rPr>
              <a:t>SILVER</a:t>
            </a:r>
            <a:endParaRPr lang="en-US" sz="2500" dirty="0"/>
          </a:p>
        </p:txBody>
      </p:sp>
      <p:sp>
        <p:nvSpPr>
          <p:cNvPr id="10" name="Text 8"/>
          <p:cNvSpPr/>
          <p:nvPr/>
        </p:nvSpPr>
        <p:spPr>
          <a:xfrm>
            <a:off x="4663440" y="3218688"/>
            <a:ext cx="2971800" cy="457200"/>
          </a:xfrm>
          <a:prstGeom prst="rect">
            <a:avLst/>
          </a:prstGeom>
          <a:noFill/>
          <a:ln/>
        </p:spPr>
        <p:txBody>
          <a:bodyPr wrap="square" lIns="0" tIns="0" rIns="0" bIns="0" rtlCol="0" anchor="ctr"/>
          <a:lstStyle/>
          <a:p>
            <a:pPr algn="ctr" indent="0" marL="0">
              <a:buNone/>
            </a:pPr>
            <a:r>
              <a:rPr lang="en-US" sz="1500" dirty="0">
                <a:solidFill>
                  <a:srgbClr val="1F2937"/>
                </a:solidFill>
              </a:rPr>
              <a:t>Cleaned / validated / integrated</a:t>
            </a:r>
            <a:endParaRPr lang="en-US" sz="1500" dirty="0"/>
          </a:p>
        </p:txBody>
      </p:sp>
      <p:sp>
        <p:nvSpPr>
          <p:cNvPr id="11" name="Shape 9"/>
          <p:cNvSpPr/>
          <p:nvPr/>
        </p:nvSpPr>
        <p:spPr>
          <a:xfrm>
            <a:off x="7772400" y="2395728"/>
            <a:ext cx="502920" cy="0"/>
          </a:xfrm>
          <a:prstGeom prst="line">
            <a:avLst/>
          </a:prstGeom>
          <a:noFill/>
          <a:ln w="38100">
            <a:solidFill>
              <a:srgbClr val="8B98A8"/>
            </a:solidFill>
            <a:prstDash val="solid"/>
            <a:headEnd type="none"/>
            <a:tailEnd type="triangle"/>
          </a:ln>
        </p:spPr>
      </p:sp>
      <p:sp>
        <p:nvSpPr>
          <p:cNvPr id="12" name="Shape 10"/>
          <p:cNvSpPr/>
          <p:nvPr/>
        </p:nvSpPr>
        <p:spPr>
          <a:xfrm>
            <a:off x="8275320" y="1828800"/>
            <a:ext cx="3246120" cy="1143000"/>
          </a:xfrm>
          <a:prstGeom prst="roundRect">
            <a:avLst>
              <a:gd name="adj" fmla="val 4800"/>
            </a:avLst>
          </a:prstGeom>
          <a:solidFill>
            <a:srgbClr val="F7ECC8"/>
          </a:solidFill>
          <a:ln w="12700">
            <a:solidFill>
              <a:srgbClr val="F7ECC8"/>
            </a:solidFill>
            <a:prstDash val="solid"/>
          </a:ln>
        </p:spPr>
      </p:sp>
      <p:sp>
        <p:nvSpPr>
          <p:cNvPr id="13" name="Text 11"/>
          <p:cNvSpPr/>
          <p:nvPr/>
        </p:nvSpPr>
        <p:spPr>
          <a:xfrm>
            <a:off x="8321040" y="1874520"/>
            <a:ext cx="3154680" cy="1051560"/>
          </a:xfrm>
          <a:prstGeom prst="rect">
            <a:avLst/>
          </a:prstGeom>
          <a:noFill/>
          <a:ln/>
        </p:spPr>
        <p:txBody>
          <a:bodyPr wrap="square" lIns="254" tIns="254" rIns="254" bIns="254" rtlCol="0" anchor="ctr">
            <a:normAutofit/>
          </a:bodyPr>
          <a:lstStyle/>
          <a:p>
            <a:pPr algn="ctr" indent="0" marL="0">
              <a:buNone/>
            </a:pPr>
            <a:r>
              <a:rPr lang="en-US" sz="2500" b="1" dirty="0">
                <a:solidFill>
                  <a:srgbClr val="D4A017"/>
                </a:solidFill>
              </a:rPr>
              <a:t>GOLD</a:t>
            </a:r>
            <a:endParaRPr lang="en-US" sz="2500" dirty="0"/>
          </a:p>
        </p:txBody>
      </p:sp>
      <p:sp>
        <p:nvSpPr>
          <p:cNvPr id="14" name="Text 12"/>
          <p:cNvSpPr/>
          <p:nvPr/>
        </p:nvSpPr>
        <p:spPr>
          <a:xfrm>
            <a:off x="8412480" y="3218688"/>
            <a:ext cx="2971800" cy="457200"/>
          </a:xfrm>
          <a:prstGeom prst="rect">
            <a:avLst/>
          </a:prstGeom>
          <a:noFill/>
          <a:ln/>
        </p:spPr>
        <p:txBody>
          <a:bodyPr wrap="square" lIns="0" tIns="0" rIns="0" bIns="0" rtlCol="0" anchor="ctr"/>
          <a:lstStyle/>
          <a:p>
            <a:pPr algn="ctr" indent="0" marL="0">
              <a:buNone/>
            </a:pPr>
            <a:r>
              <a:rPr lang="en-US" sz="1500" dirty="0">
                <a:solidFill>
                  <a:srgbClr val="1F2937"/>
                </a:solidFill>
              </a:rPr>
              <a:t>Business-ready / dimensional</a:t>
            </a:r>
            <a:endParaRPr lang="en-US" sz="1500" dirty="0"/>
          </a:p>
        </p:txBody>
      </p:sp>
      <p:sp>
        <p:nvSpPr>
          <p:cNvPr id="15" name="Text 13"/>
          <p:cNvSpPr/>
          <p:nvPr/>
        </p:nvSpPr>
        <p:spPr>
          <a:xfrm>
            <a:off x="3794760" y="4315968"/>
            <a:ext cx="4572000" cy="292608"/>
          </a:xfrm>
          <a:prstGeom prst="rect">
            <a:avLst/>
          </a:prstGeom>
          <a:noFill/>
          <a:ln/>
        </p:spPr>
        <p:txBody>
          <a:bodyPr wrap="square" lIns="0" tIns="0" rIns="0" bIns="0" rtlCol="0" anchor="ctr"/>
          <a:lstStyle/>
          <a:p>
            <a:pPr algn="ctr" indent="0" marL="0">
              <a:buNone/>
            </a:pPr>
            <a:r>
              <a:rPr lang="en-US" sz="1200" b="1" spc="120" kern="0" dirty="0">
                <a:solidFill>
                  <a:srgbClr val="667085"/>
                </a:solidFill>
              </a:rPr>
              <a:t>QUALITY + BUSINESS READINESS</a:t>
            </a:r>
            <a:endParaRPr lang="en-US" sz="1200" dirty="0"/>
          </a:p>
        </p:txBody>
      </p:sp>
      <p:sp>
        <p:nvSpPr>
          <p:cNvPr id="16" name="Shape 14"/>
          <p:cNvSpPr/>
          <p:nvPr/>
        </p:nvSpPr>
        <p:spPr>
          <a:xfrm>
            <a:off x="1965960" y="4800600"/>
            <a:ext cx="8092440" cy="0"/>
          </a:xfrm>
          <a:prstGeom prst="line">
            <a:avLst/>
          </a:prstGeom>
          <a:noFill/>
          <a:ln w="38100">
            <a:solidFill>
              <a:srgbClr val="15233C"/>
            </a:solidFill>
            <a:prstDash val="solid"/>
            <a:headEnd type="none"/>
            <a:tailEnd type="triangle"/>
          </a:ln>
        </p:spPr>
      </p:sp>
      <p:sp>
        <p:nvSpPr>
          <p:cNvPr id="17" name="Text 15"/>
          <p:cNvSpPr/>
          <p:nvPr/>
        </p:nvSpPr>
        <p:spPr>
          <a:xfrm>
            <a:off x="1463040" y="5349240"/>
            <a:ext cx="9235440" cy="411480"/>
          </a:xfrm>
          <a:prstGeom prst="rect">
            <a:avLst/>
          </a:prstGeom>
          <a:noFill/>
          <a:ln/>
        </p:spPr>
        <p:txBody>
          <a:bodyPr wrap="square" lIns="0" tIns="0" rIns="0" bIns="0" rtlCol="0" anchor="ctr"/>
          <a:lstStyle/>
          <a:p>
            <a:pPr algn="ctr" indent="0" marL="0">
              <a:buNone/>
            </a:pPr>
            <a:r>
              <a:rPr lang="en-US" sz="1900" b="1" dirty="0">
                <a:solidFill>
                  <a:srgbClr val="15233C"/>
                </a:solidFill>
              </a:rPr>
              <a:t>Preserve raw data → progressively refine → publish trusted analytical data.</a:t>
            </a:r>
            <a:endParaRPr lang="en-US" sz="19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MEDALLION LAYER</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Bronze Layer — Preserve the Raw Source</a:t>
            </a:r>
            <a:endParaRPr lang="en-US" sz="2800" dirty="0"/>
          </a:p>
        </p:txBody>
      </p:sp>
      <p:sp>
        <p:nvSpPr>
          <p:cNvPr id="4" name="Shape 2"/>
          <p:cNvSpPr/>
          <p:nvPr/>
        </p:nvSpPr>
        <p:spPr>
          <a:xfrm>
            <a:off x="822960" y="1508760"/>
            <a:ext cx="2743200" cy="4160520"/>
          </a:xfrm>
          <a:prstGeom prst="roundRect">
            <a:avLst>
              <a:gd name="adj" fmla="val 2000"/>
            </a:avLst>
          </a:prstGeom>
          <a:solidFill>
            <a:srgbClr val="F6EBDD"/>
          </a:solidFill>
          <a:ln w="12700">
            <a:solidFill>
              <a:srgbClr val="F6EBDD"/>
            </a:solidFill>
            <a:prstDash val="solid"/>
          </a:ln>
        </p:spPr>
      </p:sp>
      <p:sp>
        <p:nvSpPr>
          <p:cNvPr id="5" name="Text 3"/>
          <p:cNvSpPr/>
          <p:nvPr/>
        </p:nvSpPr>
        <p:spPr>
          <a:xfrm>
            <a:off x="868680" y="1554480"/>
            <a:ext cx="2651760" cy="4069080"/>
          </a:xfrm>
          <a:prstGeom prst="rect">
            <a:avLst/>
          </a:prstGeom>
          <a:noFill/>
          <a:ln/>
        </p:spPr>
        <p:txBody>
          <a:bodyPr wrap="square" lIns="254" tIns="254" rIns="254" bIns="254" rtlCol="0" anchor="ctr">
            <a:normAutofit/>
          </a:bodyPr>
          <a:lstStyle/>
          <a:p>
            <a:pPr algn="ctr" indent="0" marL="0">
              <a:buNone/>
            </a:pPr>
            <a:r>
              <a:rPr lang="en-US" sz="3100" b="1" dirty="0">
                <a:solidFill>
                  <a:srgbClr val="A16207"/>
                </a:solidFill>
              </a:rPr>
              <a:t>BRONZE</a:t>
            </a:r>
            <a:endParaRPr lang="en-US" sz="3100" dirty="0"/>
          </a:p>
        </p:txBody>
      </p:sp>
      <p:sp>
        <p:nvSpPr>
          <p:cNvPr id="6" name="Shape 4"/>
          <p:cNvSpPr/>
          <p:nvPr/>
        </p:nvSpPr>
        <p:spPr>
          <a:xfrm>
            <a:off x="4069080" y="1572768"/>
            <a:ext cx="0" cy="4069080"/>
          </a:xfrm>
          <a:prstGeom prst="line">
            <a:avLst/>
          </a:prstGeom>
          <a:noFill/>
          <a:ln w="15240">
            <a:solidFill>
              <a:srgbClr val="D9E0E8"/>
            </a:solidFill>
            <a:prstDash val="solid"/>
          </a:ln>
        </p:spPr>
      </p:sp>
      <p:sp>
        <p:nvSpPr>
          <p:cNvPr id="7" name="Text 5"/>
          <p:cNvSpPr/>
          <p:nvPr/>
        </p:nvSpPr>
        <p:spPr>
          <a:xfrm>
            <a:off x="4526280" y="1554480"/>
            <a:ext cx="6675120" cy="3520440"/>
          </a:xfrm>
          <a:prstGeom prst="rect">
            <a:avLst/>
          </a:prstGeom>
          <a:noFill/>
          <a:ln/>
        </p:spPr>
        <p:txBody>
          <a:bodyPr wrap="square" lIns="254" tIns="254" rIns="254" bIns="254" rtlCol="0" anchor="ctr">
            <a:normAutofit/>
          </a:bodyPr>
          <a:lstStyle/>
          <a:p>
            <a:pPr marL="177800" indent="-177800">
              <a:buSzPct val="100000"/>
              <a:buChar char="•"/>
            </a:pPr>
            <a:r>
              <a:rPr lang="en-US" sz="1800" dirty="0">
                <a:solidFill>
                  <a:srgbClr val="1F2937"/>
                </a:solidFill>
              </a:rPr>
              <a:t>Raw, unvalidated source data in original or near-original state.</a:t>
            </a:r>
            <a:endParaRPr lang="en-US" sz="1800" dirty="0"/>
          </a:p>
          <a:p>
            <a:pPr marL="177800" indent="-177800">
              <a:buSzPct val="100000"/>
              <a:buChar char="•"/>
            </a:pPr>
            <a:r>
              <a:rPr lang="en-US" sz="1800" dirty="0">
                <a:solidFill>
                  <a:srgbClr val="1F2937"/>
                </a:solidFill>
              </a:rPr>
              <a:t>Historical archive for auditing and reprocessing.</a:t>
            </a:r>
            <a:endParaRPr lang="en-US" sz="1800" dirty="0"/>
          </a:p>
          <a:p>
            <a:pPr marL="177800" indent="-177800">
              <a:buSzPct val="100000"/>
              <a:buChar char="•"/>
            </a:pPr>
            <a:r>
              <a:rPr lang="en-US" sz="1800" dirty="0">
                <a:solidFill>
                  <a:srgbClr val="1F2937"/>
                </a:solidFill>
              </a:rPr>
              <a:t>Downstream pipelines read Bronze instead of repeatedly stressing operational systems.</a:t>
            </a:r>
            <a:endParaRPr lang="en-US" sz="1800" dirty="0"/>
          </a:p>
        </p:txBody>
      </p:sp>
      <p:sp>
        <p:nvSpPr>
          <p:cNvPr id="8" name="Shape 6"/>
          <p:cNvSpPr/>
          <p:nvPr/>
        </p:nvSpPr>
        <p:spPr>
          <a:xfrm>
            <a:off x="4526280" y="5074920"/>
            <a:ext cx="2926080" cy="310896"/>
          </a:xfrm>
          <a:prstGeom prst="roundRect">
            <a:avLst>
              <a:gd name="adj" fmla="val 23529"/>
            </a:avLst>
          </a:prstGeom>
          <a:solidFill>
            <a:srgbClr val="A16207"/>
          </a:solidFill>
          <a:ln w="12700">
            <a:solidFill>
              <a:srgbClr val="A16207"/>
            </a:solidFill>
            <a:prstDash val="solid"/>
          </a:ln>
        </p:spPr>
      </p:sp>
      <p:sp>
        <p:nvSpPr>
          <p:cNvPr id="9" name="Text 7"/>
          <p:cNvSpPr/>
          <p:nvPr/>
        </p:nvSpPr>
        <p:spPr>
          <a:xfrm>
            <a:off x="4599432" y="5138928"/>
            <a:ext cx="2779776" cy="146304"/>
          </a:xfrm>
          <a:prstGeom prst="rect">
            <a:avLst/>
          </a:prstGeom>
          <a:noFill/>
          <a:ln/>
        </p:spPr>
        <p:txBody>
          <a:bodyPr wrap="square" lIns="0" tIns="0" rIns="0" bIns="0" rtlCol="0" anchor="ctr"/>
          <a:lstStyle/>
          <a:p>
            <a:pPr algn="ctr" indent="0" marL="0">
              <a:buNone/>
            </a:pPr>
            <a:r>
              <a:rPr lang="en-US" sz="1000" b="1" dirty="0">
                <a:solidFill>
                  <a:srgbClr val="FFFFFF"/>
                </a:solidFill>
              </a:rPr>
              <a:t>Source fidelity</a:t>
            </a:r>
            <a:endParaRPr lang="en-US" sz="1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MEDALLION LAYER</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Silver Layer — Clean, Validate, Integrate</a:t>
            </a:r>
            <a:endParaRPr lang="en-US" sz="2800" dirty="0"/>
          </a:p>
        </p:txBody>
      </p:sp>
      <p:sp>
        <p:nvSpPr>
          <p:cNvPr id="4" name="Shape 2"/>
          <p:cNvSpPr/>
          <p:nvPr/>
        </p:nvSpPr>
        <p:spPr>
          <a:xfrm>
            <a:off x="822960" y="1508760"/>
            <a:ext cx="2743200" cy="4160520"/>
          </a:xfrm>
          <a:prstGeom prst="roundRect">
            <a:avLst>
              <a:gd name="adj" fmla="val 2000"/>
            </a:avLst>
          </a:prstGeom>
          <a:solidFill>
            <a:srgbClr val="EDF0F3"/>
          </a:solidFill>
          <a:ln w="12700">
            <a:solidFill>
              <a:srgbClr val="EDF0F3"/>
            </a:solidFill>
            <a:prstDash val="solid"/>
          </a:ln>
        </p:spPr>
      </p:sp>
      <p:sp>
        <p:nvSpPr>
          <p:cNvPr id="5" name="Text 3"/>
          <p:cNvSpPr/>
          <p:nvPr/>
        </p:nvSpPr>
        <p:spPr>
          <a:xfrm>
            <a:off x="868680" y="1554480"/>
            <a:ext cx="2651760" cy="4069080"/>
          </a:xfrm>
          <a:prstGeom prst="rect">
            <a:avLst/>
          </a:prstGeom>
          <a:noFill/>
          <a:ln/>
        </p:spPr>
        <p:txBody>
          <a:bodyPr wrap="square" lIns="254" tIns="254" rIns="254" bIns="254" rtlCol="0" anchor="ctr">
            <a:normAutofit/>
          </a:bodyPr>
          <a:lstStyle/>
          <a:p>
            <a:pPr algn="ctr" indent="0" marL="0">
              <a:buNone/>
            </a:pPr>
            <a:r>
              <a:rPr lang="en-US" sz="3100" b="1" dirty="0">
                <a:solidFill>
                  <a:srgbClr val="64748B"/>
                </a:solidFill>
              </a:rPr>
              <a:t>SILVER</a:t>
            </a:r>
            <a:endParaRPr lang="en-US" sz="3100" dirty="0"/>
          </a:p>
        </p:txBody>
      </p:sp>
      <p:sp>
        <p:nvSpPr>
          <p:cNvPr id="6" name="Shape 4"/>
          <p:cNvSpPr/>
          <p:nvPr/>
        </p:nvSpPr>
        <p:spPr>
          <a:xfrm>
            <a:off x="4069080" y="1572768"/>
            <a:ext cx="0" cy="4069080"/>
          </a:xfrm>
          <a:prstGeom prst="line">
            <a:avLst/>
          </a:prstGeom>
          <a:noFill/>
          <a:ln w="15240">
            <a:solidFill>
              <a:srgbClr val="D9E0E8"/>
            </a:solidFill>
            <a:prstDash val="solid"/>
          </a:ln>
        </p:spPr>
      </p:sp>
      <p:sp>
        <p:nvSpPr>
          <p:cNvPr id="7" name="Text 5"/>
          <p:cNvSpPr/>
          <p:nvPr/>
        </p:nvSpPr>
        <p:spPr>
          <a:xfrm>
            <a:off x="4526280" y="1554480"/>
            <a:ext cx="6675120" cy="3520440"/>
          </a:xfrm>
          <a:prstGeom prst="rect">
            <a:avLst/>
          </a:prstGeom>
          <a:noFill/>
          <a:ln/>
        </p:spPr>
        <p:txBody>
          <a:bodyPr wrap="square" lIns="254" tIns="254" rIns="254" bIns="254" rtlCol="0" anchor="ctr">
            <a:normAutofit/>
          </a:bodyPr>
          <a:lstStyle/>
          <a:p>
            <a:pPr marL="177800" indent="-177800">
              <a:buSzPct val="100000"/>
              <a:buChar char="•"/>
            </a:pPr>
            <a:r>
              <a:rPr lang="en-US" sz="1800" dirty="0">
                <a:solidFill>
                  <a:srgbClr val="1F2937"/>
                </a:solidFill>
              </a:rPr>
              <a:t>Clean and validate Bronze records.</a:t>
            </a:r>
            <a:endParaRPr lang="en-US" sz="1800" dirty="0"/>
          </a:p>
          <a:p>
            <a:pPr marL="177800" indent="-177800">
              <a:buSzPct val="100000"/>
              <a:buChar char="•"/>
            </a:pPr>
            <a:r>
              <a:rPr lang="en-US" sz="1800" dirty="0">
                <a:solidFill>
                  <a:srgbClr val="1F2937"/>
                </a:solidFill>
              </a:rPr>
              <a:t>Handle nulls and duplicates.</a:t>
            </a:r>
            <a:endParaRPr lang="en-US" sz="1800" dirty="0"/>
          </a:p>
          <a:p>
            <a:pPr marL="177800" indent="-177800">
              <a:buSzPct val="100000"/>
              <a:buChar char="•"/>
            </a:pPr>
            <a:r>
              <a:rPr lang="en-US" sz="1800" dirty="0">
                <a:solidFill>
                  <a:srgbClr val="1F2937"/>
                </a:solidFill>
              </a:rPr>
              <a:t>Apply data types and schema rules.</a:t>
            </a:r>
            <a:endParaRPr lang="en-US" sz="1800" dirty="0"/>
          </a:p>
          <a:p>
            <a:pPr marL="177800" indent="-177800">
              <a:buSzPct val="100000"/>
              <a:buChar char="•"/>
            </a:pPr>
            <a:r>
              <a:rPr lang="en-US" sz="1800" dirty="0">
                <a:solidFill>
                  <a:srgbClr val="1F2937"/>
                </a:solidFill>
              </a:rPr>
              <a:t>Standardise representations across sources.</a:t>
            </a:r>
            <a:endParaRPr lang="en-US" sz="1800" dirty="0"/>
          </a:p>
        </p:txBody>
      </p:sp>
      <p:sp>
        <p:nvSpPr>
          <p:cNvPr id="8" name="Shape 6"/>
          <p:cNvSpPr/>
          <p:nvPr/>
        </p:nvSpPr>
        <p:spPr>
          <a:xfrm>
            <a:off x="4526280" y="5074920"/>
            <a:ext cx="2926080" cy="310896"/>
          </a:xfrm>
          <a:prstGeom prst="roundRect">
            <a:avLst>
              <a:gd name="adj" fmla="val 23529"/>
            </a:avLst>
          </a:prstGeom>
          <a:solidFill>
            <a:srgbClr val="64748B"/>
          </a:solidFill>
          <a:ln w="12700">
            <a:solidFill>
              <a:srgbClr val="64748B"/>
            </a:solidFill>
            <a:prstDash val="solid"/>
          </a:ln>
        </p:spPr>
      </p:sp>
      <p:sp>
        <p:nvSpPr>
          <p:cNvPr id="9" name="Text 7"/>
          <p:cNvSpPr/>
          <p:nvPr/>
        </p:nvSpPr>
        <p:spPr>
          <a:xfrm>
            <a:off x="4599432" y="5138928"/>
            <a:ext cx="2779776" cy="146304"/>
          </a:xfrm>
          <a:prstGeom prst="rect">
            <a:avLst/>
          </a:prstGeom>
          <a:noFill/>
          <a:ln/>
        </p:spPr>
        <p:txBody>
          <a:bodyPr wrap="square" lIns="0" tIns="0" rIns="0" bIns="0" rtlCol="0" anchor="ctr"/>
          <a:lstStyle/>
          <a:p>
            <a:pPr algn="ctr" indent="0" marL="0">
              <a:buNone/>
            </a:pPr>
            <a:r>
              <a:rPr lang="en-US" sz="1000" b="1" dirty="0">
                <a:solidFill>
                  <a:srgbClr val="FFFFFF"/>
                </a:solidFill>
              </a:rPr>
              <a:t>Trusted detail</a:t>
            </a:r>
            <a:endParaRPr lang="en-US" sz="1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MEDALLION LAYER</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Gold Layer — Business-Ready Analytical Data</a:t>
            </a:r>
            <a:endParaRPr lang="en-US" sz="2800" dirty="0"/>
          </a:p>
        </p:txBody>
      </p:sp>
      <p:sp>
        <p:nvSpPr>
          <p:cNvPr id="4" name="Shape 2"/>
          <p:cNvSpPr/>
          <p:nvPr/>
        </p:nvSpPr>
        <p:spPr>
          <a:xfrm>
            <a:off x="822960" y="1508760"/>
            <a:ext cx="2743200" cy="4160520"/>
          </a:xfrm>
          <a:prstGeom prst="roundRect">
            <a:avLst>
              <a:gd name="adj" fmla="val 2000"/>
            </a:avLst>
          </a:prstGeom>
          <a:solidFill>
            <a:srgbClr val="FAF0CE"/>
          </a:solidFill>
          <a:ln w="12700">
            <a:solidFill>
              <a:srgbClr val="FAF0CE"/>
            </a:solidFill>
            <a:prstDash val="solid"/>
          </a:ln>
        </p:spPr>
      </p:sp>
      <p:sp>
        <p:nvSpPr>
          <p:cNvPr id="5" name="Text 3"/>
          <p:cNvSpPr/>
          <p:nvPr/>
        </p:nvSpPr>
        <p:spPr>
          <a:xfrm>
            <a:off x="868680" y="1554480"/>
            <a:ext cx="2651760" cy="4069080"/>
          </a:xfrm>
          <a:prstGeom prst="rect">
            <a:avLst/>
          </a:prstGeom>
          <a:noFill/>
          <a:ln/>
        </p:spPr>
        <p:txBody>
          <a:bodyPr wrap="square" lIns="254" tIns="254" rIns="254" bIns="254" rtlCol="0" anchor="ctr">
            <a:normAutofit/>
          </a:bodyPr>
          <a:lstStyle/>
          <a:p>
            <a:pPr algn="ctr" indent="0" marL="0">
              <a:buNone/>
            </a:pPr>
            <a:r>
              <a:rPr lang="en-US" sz="3100" b="1" dirty="0">
                <a:solidFill>
                  <a:srgbClr val="D4A017"/>
                </a:solidFill>
              </a:rPr>
              <a:t>GOLD</a:t>
            </a:r>
            <a:endParaRPr lang="en-US" sz="3100" dirty="0"/>
          </a:p>
        </p:txBody>
      </p:sp>
      <p:sp>
        <p:nvSpPr>
          <p:cNvPr id="6" name="Shape 4"/>
          <p:cNvSpPr/>
          <p:nvPr/>
        </p:nvSpPr>
        <p:spPr>
          <a:xfrm>
            <a:off x="4069080" y="1572768"/>
            <a:ext cx="0" cy="4069080"/>
          </a:xfrm>
          <a:prstGeom prst="line">
            <a:avLst/>
          </a:prstGeom>
          <a:noFill/>
          <a:ln w="15240">
            <a:solidFill>
              <a:srgbClr val="D9E0E8"/>
            </a:solidFill>
            <a:prstDash val="solid"/>
          </a:ln>
        </p:spPr>
      </p:sp>
      <p:sp>
        <p:nvSpPr>
          <p:cNvPr id="7" name="Text 5"/>
          <p:cNvSpPr/>
          <p:nvPr/>
        </p:nvSpPr>
        <p:spPr>
          <a:xfrm>
            <a:off x="4526280" y="1554480"/>
            <a:ext cx="6675120" cy="3520440"/>
          </a:xfrm>
          <a:prstGeom prst="rect">
            <a:avLst/>
          </a:prstGeom>
          <a:noFill/>
          <a:ln/>
        </p:spPr>
        <p:txBody>
          <a:bodyPr wrap="square" lIns="254" tIns="254" rIns="254" bIns="254" rtlCol="0" anchor="ctr">
            <a:normAutofit/>
          </a:bodyPr>
          <a:lstStyle/>
          <a:p>
            <a:pPr marL="177800" indent="-177800">
              <a:buSzPct val="100000"/>
              <a:buChar char="•"/>
            </a:pPr>
            <a:r>
              <a:rPr lang="en-US" sz="1800" dirty="0">
                <a:solidFill>
                  <a:srgbClr val="1F2937"/>
                </a:solidFill>
              </a:rPr>
              <a:t>Highly refined data for BI, dashboards, and downstream ML.</a:t>
            </a:r>
            <a:endParaRPr lang="en-US" sz="1800" dirty="0"/>
          </a:p>
          <a:p>
            <a:pPr marL="177800" indent="-177800">
              <a:buSzPct val="100000"/>
              <a:buChar char="•"/>
            </a:pPr>
            <a:r>
              <a:rPr lang="en-US" sz="1800" dirty="0">
                <a:solidFill>
                  <a:srgbClr val="1F2937"/>
                </a:solidFill>
              </a:rPr>
              <a:t>Often aggregated or filtered for business use.</a:t>
            </a:r>
            <a:endParaRPr lang="en-US" sz="1800" dirty="0"/>
          </a:p>
          <a:p>
            <a:pPr marL="177800" indent="-177800">
              <a:buSzPct val="100000"/>
              <a:buChar char="•"/>
            </a:pPr>
            <a:r>
              <a:rPr lang="en-US" sz="1800" dirty="0">
                <a:solidFill>
                  <a:srgbClr val="1F2937"/>
                </a:solidFill>
              </a:rPr>
              <a:t>Where our dimensional Facts and Dimensions are implemented.</a:t>
            </a:r>
            <a:endParaRPr lang="en-US" sz="1800" dirty="0"/>
          </a:p>
        </p:txBody>
      </p:sp>
      <p:sp>
        <p:nvSpPr>
          <p:cNvPr id="8" name="Shape 6"/>
          <p:cNvSpPr/>
          <p:nvPr/>
        </p:nvSpPr>
        <p:spPr>
          <a:xfrm>
            <a:off x="4526280" y="5074920"/>
            <a:ext cx="2926080" cy="310896"/>
          </a:xfrm>
          <a:prstGeom prst="roundRect">
            <a:avLst>
              <a:gd name="adj" fmla="val 23529"/>
            </a:avLst>
          </a:prstGeom>
          <a:solidFill>
            <a:srgbClr val="D4A017"/>
          </a:solidFill>
          <a:ln w="12700">
            <a:solidFill>
              <a:srgbClr val="D4A017"/>
            </a:solidFill>
            <a:prstDash val="solid"/>
          </a:ln>
        </p:spPr>
      </p:sp>
      <p:sp>
        <p:nvSpPr>
          <p:cNvPr id="9" name="Text 7"/>
          <p:cNvSpPr/>
          <p:nvPr/>
        </p:nvSpPr>
        <p:spPr>
          <a:xfrm>
            <a:off x="4599432" y="5138928"/>
            <a:ext cx="2779776" cy="146304"/>
          </a:xfrm>
          <a:prstGeom prst="rect">
            <a:avLst/>
          </a:prstGeom>
          <a:noFill/>
          <a:ln/>
        </p:spPr>
        <p:txBody>
          <a:bodyPr wrap="square" lIns="0" tIns="0" rIns="0" bIns="0" rtlCol="0" anchor="ctr"/>
          <a:lstStyle/>
          <a:p>
            <a:pPr algn="ctr" indent="0" marL="0">
              <a:buNone/>
            </a:pPr>
            <a:r>
              <a:rPr lang="en-US" sz="1000" b="1" dirty="0">
                <a:solidFill>
                  <a:srgbClr val="FFFFFF"/>
                </a:solidFill>
              </a:rPr>
              <a:t>Business-ready</a:t>
            </a:r>
            <a:endParaRPr lang="en-US" sz="1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CONCEPT INTERSECTION</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Where Does the Dimensional Warehouse Fit?</a:t>
            </a:r>
            <a:endParaRPr lang="en-US" sz="2800" dirty="0"/>
          </a:p>
        </p:txBody>
      </p:sp>
      <p:sp>
        <p:nvSpPr>
          <p:cNvPr id="4" name="Shape 2"/>
          <p:cNvSpPr/>
          <p:nvPr/>
        </p:nvSpPr>
        <p:spPr>
          <a:xfrm>
            <a:off x="749808" y="1325880"/>
            <a:ext cx="4846320" cy="4343400"/>
          </a:xfrm>
          <a:prstGeom prst="roundRect">
            <a:avLst>
              <a:gd name="adj" fmla="val 1684"/>
            </a:avLst>
          </a:prstGeom>
          <a:solidFill>
            <a:srgbClr val="FFFFFF"/>
          </a:solidFill>
          <a:ln w="12700">
            <a:solidFill>
              <a:srgbClr val="D9E0E8"/>
            </a:solidFill>
            <a:prstDash val="solid"/>
          </a:ln>
        </p:spPr>
      </p:sp>
      <p:sp>
        <p:nvSpPr>
          <p:cNvPr id="5" name="Shape 3"/>
          <p:cNvSpPr/>
          <p:nvPr/>
        </p:nvSpPr>
        <p:spPr>
          <a:xfrm>
            <a:off x="749808" y="1325880"/>
            <a:ext cx="64008" cy="4343400"/>
          </a:xfrm>
          <a:prstGeom prst="rect">
            <a:avLst/>
          </a:prstGeom>
          <a:solidFill>
            <a:srgbClr val="0F766E"/>
          </a:solidFill>
          <a:ln w="12700">
            <a:solidFill>
              <a:srgbClr val="0F766E"/>
            </a:solidFill>
            <a:prstDash val="solid"/>
          </a:ln>
        </p:spPr>
      </p:sp>
      <p:sp>
        <p:nvSpPr>
          <p:cNvPr id="6" name="Text 4"/>
          <p:cNvSpPr/>
          <p:nvPr/>
        </p:nvSpPr>
        <p:spPr>
          <a:xfrm>
            <a:off x="978408" y="1490472"/>
            <a:ext cx="4434840" cy="256032"/>
          </a:xfrm>
          <a:prstGeom prst="rect">
            <a:avLst/>
          </a:prstGeom>
          <a:noFill/>
          <a:ln/>
        </p:spPr>
        <p:txBody>
          <a:bodyPr wrap="square" lIns="0" tIns="0" rIns="0" bIns="0" rtlCol="0" anchor="ctr"/>
          <a:lstStyle/>
          <a:p>
            <a:pPr indent="0" marL="0">
              <a:buNone/>
            </a:pPr>
            <a:r>
              <a:rPr lang="en-US" sz="2200" b="1" dirty="0">
                <a:solidFill>
                  <a:srgbClr val="15233C"/>
                </a:solidFill>
              </a:rPr>
              <a:t>Medallion Architecture</a:t>
            </a:r>
            <a:endParaRPr lang="en-US" sz="2200" dirty="0"/>
          </a:p>
        </p:txBody>
      </p:sp>
      <p:sp>
        <p:nvSpPr>
          <p:cNvPr id="7" name="Text 5"/>
          <p:cNvSpPr/>
          <p:nvPr/>
        </p:nvSpPr>
        <p:spPr>
          <a:xfrm>
            <a:off x="978408" y="1892808"/>
            <a:ext cx="4434840" cy="3630168"/>
          </a:xfrm>
          <a:prstGeom prst="rect">
            <a:avLst/>
          </a:prstGeom>
          <a:noFill/>
          <a:ln/>
        </p:spPr>
        <p:txBody>
          <a:bodyPr wrap="square" lIns="254" tIns="254" rIns="254" bIns="254" rtlCol="0" anchor="t">
            <a:normAutofit/>
          </a:bodyPr>
          <a:lstStyle/>
          <a:p>
            <a:pPr indent="0" marL="0">
              <a:buNone/>
            </a:pPr>
            <a:r>
              <a:rPr lang="en-US" sz="1800" dirty="0">
                <a:solidFill>
                  <a:srgbClr val="1F2937"/>
                </a:solidFill>
              </a:rPr>
              <a:t>Describes the data journey:</a:t>
            </a:r>
            <a:endParaRPr lang="en-US" sz="1800" dirty="0"/>
          </a:p>
          <a:p>
            <a:pPr indent="0" marL="0">
              <a:buNone/>
            </a:pPr>
            <a:endParaRPr lang="en-US" sz="1800" dirty="0"/>
          </a:p>
          <a:p>
            <a:pPr indent="0" marL="0">
              <a:buNone/>
            </a:pPr>
            <a:r>
              <a:rPr lang="en-US" sz="1800" dirty="0">
                <a:solidFill>
                  <a:srgbClr val="1F2937"/>
                </a:solidFill>
              </a:rPr>
              <a:t>Bronze → Silver → Gold</a:t>
            </a:r>
            <a:endParaRPr lang="en-US" sz="1800" dirty="0"/>
          </a:p>
          <a:p>
            <a:pPr indent="0" marL="0">
              <a:buNone/>
            </a:pPr>
            <a:endParaRPr lang="en-US" sz="1800" dirty="0"/>
          </a:p>
          <a:p>
            <a:pPr indent="0" marL="0">
              <a:buNone/>
            </a:pPr>
            <a:r>
              <a:rPr lang="en-US" sz="1800" dirty="0">
                <a:solidFill>
                  <a:srgbClr val="1F2937"/>
                </a:solidFill>
              </a:rPr>
              <a:t>Focus: quality, readiness, lineage</a:t>
            </a:r>
            <a:endParaRPr lang="en-US" sz="1800" dirty="0"/>
          </a:p>
        </p:txBody>
      </p:sp>
      <p:sp>
        <p:nvSpPr>
          <p:cNvPr id="8" name="Shape 6"/>
          <p:cNvSpPr/>
          <p:nvPr/>
        </p:nvSpPr>
        <p:spPr>
          <a:xfrm>
            <a:off x="6583680" y="1325880"/>
            <a:ext cx="4846320" cy="4343400"/>
          </a:xfrm>
          <a:prstGeom prst="roundRect">
            <a:avLst>
              <a:gd name="adj" fmla="val 1684"/>
            </a:avLst>
          </a:prstGeom>
          <a:solidFill>
            <a:srgbClr val="FFFFFF"/>
          </a:solidFill>
          <a:ln w="12700">
            <a:solidFill>
              <a:srgbClr val="D9E0E8"/>
            </a:solidFill>
            <a:prstDash val="solid"/>
          </a:ln>
        </p:spPr>
      </p:sp>
      <p:sp>
        <p:nvSpPr>
          <p:cNvPr id="9" name="Shape 7"/>
          <p:cNvSpPr/>
          <p:nvPr/>
        </p:nvSpPr>
        <p:spPr>
          <a:xfrm>
            <a:off x="6583680" y="1325880"/>
            <a:ext cx="64008" cy="4343400"/>
          </a:xfrm>
          <a:prstGeom prst="rect">
            <a:avLst/>
          </a:prstGeom>
          <a:solidFill>
            <a:srgbClr val="2E5BFF"/>
          </a:solidFill>
          <a:ln w="12700">
            <a:solidFill>
              <a:srgbClr val="2E5BFF"/>
            </a:solidFill>
            <a:prstDash val="solid"/>
          </a:ln>
        </p:spPr>
      </p:sp>
      <p:sp>
        <p:nvSpPr>
          <p:cNvPr id="10" name="Text 8"/>
          <p:cNvSpPr/>
          <p:nvPr/>
        </p:nvSpPr>
        <p:spPr>
          <a:xfrm>
            <a:off x="6812280" y="1490472"/>
            <a:ext cx="4434840" cy="256032"/>
          </a:xfrm>
          <a:prstGeom prst="rect">
            <a:avLst/>
          </a:prstGeom>
          <a:noFill/>
          <a:ln/>
        </p:spPr>
        <p:txBody>
          <a:bodyPr wrap="square" lIns="0" tIns="0" rIns="0" bIns="0" rtlCol="0" anchor="ctr"/>
          <a:lstStyle/>
          <a:p>
            <a:pPr indent="0" marL="0">
              <a:buNone/>
            </a:pPr>
            <a:r>
              <a:rPr lang="en-US" sz="2200" b="1" dirty="0">
                <a:solidFill>
                  <a:srgbClr val="15233C"/>
                </a:solidFill>
              </a:rPr>
              <a:t>Dimensional Modelling</a:t>
            </a:r>
            <a:endParaRPr lang="en-US" sz="2200" dirty="0"/>
          </a:p>
        </p:txBody>
      </p:sp>
      <p:sp>
        <p:nvSpPr>
          <p:cNvPr id="11" name="Text 9"/>
          <p:cNvSpPr/>
          <p:nvPr/>
        </p:nvSpPr>
        <p:spPr>
          <a:xfrm>
            <a:off x="6812280" y="1892808"/>
            <a:ext cx="4434840" cy="3630168"/>
          </a:xfrm>
          <a:prstGeom prst="rect">
            <a:avLst/>
          </a:prstGeom>
          <a:noFill/>
          <a:ln/>
        </p:spPr>
        <p:txBody>
          <a:bodyPr wrap="square" lIns="254" tIns="254" rIns="254" bIns="254" rtlCol="0" anchor="t">
            <a:normAutofit/>
          </a:bodyPr>
          <a:lstStyle/>
          <a:p>
            <a:pPr indent="0" marL="0">
              <a:buNone/>
            </a:pPr>
            <a:r>
              <a:rPr lang="en-US" sz="1800" dirty="0">
                <a:solidFill>
                  <a:srgbClr val="1F2937"/>
                </a:solidFill>
              </a:rPr>
              <a:t>Describes how polished data is organised:</a:t>
            </a:r>
            <a:endParaRPr lang="en-US" sz="1800" dirty="0"/>
          </a:p>
          <a:p>
            <a:pPr indent="0" marL="0">
              <a:buNone/>
            </a:pPr>
            <a:endParaRPr lang="en-US" sz="1800" dirty="0"/>
          </a:p>
          <a:p>
            <a:pPr indent="0" marL="0">
              <a:buNone/>
            </a:pPr>
            <a:r>
              <a:rPr lang="en-US" sz="1800" dirty="0">
                <a:solidFill>
                  <a:srgbClr val="1F2937"/>
                </a:solidFill>
              </a:rPr>
              <a:t>Facts • Dimensions • Grain</a:t>
            </a:r>
            <a:endParaRPr lang="en-US" sz="1800" dirty="0"/>
          </a:p>
          <a:p>
            <a:pPr indent="0" marL="0">
              <a:buNone/>
            </a:pPr>
            <a:endParaRPr lang="en-US" sz="1800" dirty="0"/>
          </a:p>
          <a:p>
            <a:pPr indent="0" marL="0">
              <a:buNone/>
            </a:pPr>
            <a:r>
              <a:rPr lang="en-US" sz="1800" dirty="0">
                <a:solidFill>
                  <a:srgbClr val="1F2937"/>
                </a:solidFill>
              </a:rPr>
              <a:t>Focus: analytical usability</a:t>
            </a:r>
            <a:endParaRPr lang="en-US" sz="1800" dirty="0"/>
          </a:p>
        </p:txBody>
      </p:sp>
      <p:sp>
        <p:nvSpPr>
          <p:cNvPr id="12" name="Shape 10"/>
          <p:cNvSpPr/>
          <p:nvPr/>
        </p:nvSpPr>
        <p:spPr>
          <a:xfrm>
            <a:off x="5166360" y="2761488"/>
            <a:ext cx="1874520" cy="1143000"/>
          </a:xfrm>
          <a:prstGeom prst="ellipse">
            <a:avLst/>
          </a:prstGeom>
          <a:solidFill>
            <a:srgbClr val="FDECEC">
              <a:alpha val="90000"/>
            </a:srgbClr>
          </a:solidFill>
          <a:ln w="25400">
            <a:solidFill>
              <a:srgbClr val="E53935"/>
            </a:solidFill>
            <a:prstDash val="solid"/>
          </a:ln>
        </p:spPr>
      </p:sp>
      <p:sp>
        <p:nvSpPr>
          <p:cNvPr id="13" name="Text 11"/>
          <p:cNvSpPr/>
          <p:nvPr/>
        </p:nvSpPr>
        <p:spPr>
          <a:xfrm>
            <a:off x="5340096" y="2999232"/>
            <a:ext cx="1517904" cy="640080"/>
          </a:xfrm>
          <a:prstGeom prst="rect">
            <a:avLst/>
          </a:prstGeom>
          <a:noFill/>
          <a:ln/>
        </p:spPr>
        <p:txBody>
          <a:bodyPr wrap="square" lIns="0" tIns="0" rIns="0" bIns="0" rtlCol="0" anchor="ctr"/>
          <a:lstStyle/>
          <a:p>
            <a:pPr algn="ctr" indent="0" marL="0">
              <a:buNone/>
            </a:pPr>
            <a:r>
              <a:rPr lang="en-US" sz="1250" b="1" dirty="0">
                <a:solidFill>
                  <a:srgbClr val="E53935"/>
                </a:solidFill>
              </a:rPr>
              <a:t>GOLD</a:t>
            </a:r>
            <a:endParaRPr lang="en-US" sz="1250" dirty="0"/>
          </a:p>
          <a:p>
            <a:pPr algn="ctr" indent="0" marL="0">
              <a:buNone/>
            </a:pPr>
            <a:r>
              <a:rPr lang="en-US" sz="1250" b="1" dirty="0">
                <a:solidFill>
                  <a:srgbClr val="E53935"/>
                </a:solidFill>
              </a:rPr>
              <a:t>DIMENSIONAL</a:t>
            </a:r>
            <a:endParaRPr lang="en-US" sz="1250" dirty="0"/>
          </a:p>
          <a:p>
            <a:pPr algn="ctr" indent="0" marL="0">
              <a:buNone/>
            </a:pPr>
            <a:r>
              <a:rPr lang="en-US" sz="1250" b="1" dirty="0">
                <a:solidFill>
                  <a:srgbClr val="E53935"/>
                </a:solidFill>
              </a:rPr>
              <a:t>WAREHOUSE</a:t>
            </a:r>
            <a:endParaRPr lang="en-US" sz="1250" dirty="0"/>
          </a:p>
        </p:txBody>
      </p:sp>
      <p:sp>
        <p:nvSpPr>
          <p:cNvPr id="14" name="Text 12"/>
          <p:cNvSpPr/>
          <p:nvPr/>
        </p:nvSpPr>
        <p:spPr>
          <a:xfrm>
            <a:off x="1234440" y="5715000"/>
            <a:ext cx="9692640" cy="347472"/>
          </a:xfrm>
          <a:prstGeom prst="rect">
            <a:avLst/>
          </a:prstGeom>
          <a:noFill/>
          <a:ln/>
        </p:spPr>
        <p:txBody>
          <a:bodyPr wrap="square" lIns="0" tIns="0" rIns="0" bIns="0" rtlCol="0" anchor="ctr"/>
          <a:lstStyle/>
          <a:p>
            <a:pPr algn="ctr" indent="0" marL="0">
              <a:buNone/>
            </a:pPr>
            <a:r>
              <a:rPr lang="en-US" sz="1800" b="1" dirty="0">
                <a:solidFill>
                  <a:srgbClr val="15233C"/>
                </a:solidFill>
              </a:rPr>
              <a:t>In this course: clean Silver data → dimensional warehouse in Gold.</a:t>
            </a:r>
            <a:endParaRPr lang="en-US" sz="18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DIMENSIONAL MODELLING</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Fact Tables, Dimensions, and Grain</a:t>
            </a:r>
            <a:endParaRPr lang="en-US" sz="2800" dirty="0"/>
          </a:p>
        </p:txBody>
      </p:sp>
      <p:sp>
        <p:nvSpPr>
          <p:cNvPr id="4" name="Shape 2"/>
          <p:cNvSpPr/>
          <p:nvPr/>
        </p:nvSpPr>
        <p:spPr>
          <a:xfrm>
            <a:off x="685800" y="1371600"/>
            <a:ext cx="5166360" cy="4480560"/>
          </a:xfrm>
          <a:prstGeom prst="roundRect">
            <a:avLst>
              <a:gd name="adj" fmla="val 1633"/>
            </a:avLst>
          </a:prstGeom>
          <a:solidFill>
            <a:srgbClr val="FFFFFF"/>
          </a:solidFill>
          <a:ln w="12700">
            <a:solidFill>
              <a:srgbClr val="D9E0E8"/>
            </a:solidFill>
            <a:prstDash val="solid"/>
          </a:ln>
        </p:spPr>
      </p:sp>
      <p:sp>
        <p:nvSpPr>
          <p:cNvPr id="5" name="Shape 3"/>
          <p:cNvSpPr/>
          <p:nvPr/>
        </p:nvSpPr>
        <p:spPr>
          <a:xfrm>
            <a:off x="685800" y="1371600"/>
            <a:ext cx="64008" cy="4480560"/>
          </a:xfrm>
          <a:prstGeom prst="rect">
            <a:avLst/>
          </a:prstGeom>
          <a:solidFill>
            <a:srgbClr val="E53935"/>
          </a:solidFill>
          <a:ln w="12700">
            <a:solidFill>
              <a:srgbClr val="E53935"/>
            </a:solidFill>
            <a:prstDash val="solid"/>
          </a:ln>
        </p:spPr>
      </p:sp>
      <p:sp>
        <p:nvSpPr>
          <p:cNvPr id="6" name="Text 4"/>
          <p:cNvSpPr/>
          <p:nvPr/>
        </p:nvSpPr>
        <p:spPr>
          <a:xfrm>
            <a:off x="914400" y="1536192"/>
            <a:ext cx="4754880" cy="256032"/>
          </a:xfrm>
          <a:prstGeom prst="rect">
            <a:avLst/>
          </a:prstGeom>
          <a:noFill/>
          <a:ln/>
        </p:spPr>
        <p:txBody>
          <a:bodyPr wrap="square" lIns="0" tIns="0" rIns="0" bIns="0" rtlCol="0" anchor="ctr"/>
          <a:lstStyle/>
          <a:p>
            <a:pPr indent="0" marL="0">
              <a:buNone/>
            </a:pPr>
            <a:r>
              <a:rPr lang="en-US" sz="2200" b="1" dirty="0">
                <a:solidFill>
                  <a:srgbClr val="15233C"/>
                </a:solidFill>
              </a:rPr>
              <a:t>Fact table</a:t>
            </a:r>
            <a:endParaRPr lang="en-US" sz="2200" dirty="0"/>
          </a:p>
        </p:txBody>
      </p:sp>
      <p:sp>
        <p:nvSpPr>
          <p:cNvPr id="7" name="Text 5"/>
          <p:cNvSpPr/>
          <p:nvPr/>
        </p:nvSpPr>
        <p:spPr>
          <a:xfrm>
            <a:off x="914400" y="1938528"/>
            <a:ext cx="4754880" cy="376732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Represents a measurable business event</a:t>
            </a:r>
            <a:endParaRPr lang="en-US" sz="1700" dirty="0"/>
          </a:p>
          <a:p>
            <a:pPr indent="0" marL="0">
              <a:buNone/>
            </a:pPr>
            <a:r>
              <a:rPr lang="en-US" sz="1700" dirty="0">
                <a:solidFill>
                  <a:srgbClr val="1F2937"/>
                </a:solidFill>
              </a:rPr>
              <a:t>Contains quantitative measures + foreign keys</a:t>
            </a:r>
            <a:endParaRPr lang="en-US" sz="1700" dirty="0"/>
          </a:p>
          <a:p>
            <a:pPr indent="0" marL="0">
              <a:buNone/>
            </a:pPr>
            <a:endParaRPr lang="en-US" sz="1700" dirty="0"/>
          </a:p>
          <a:p>
            <a:pPr indent="0" marL="0">
              <a:buNone/>
            </a:pPr>
            <a:r>
              <a:rPr lang="en-US" sz="1700" dirty="0">
                <a:solidFill>
                  <a:srgbClr val="1F2937"/>
                </a:solidFill>
              </a:rPr>
              <a:t>Example grain:</a:t>
            </a:r>
            <a:endParaRPr lang="en-US" sz="1700" dirty="0"/>
          </a:p>
          <a:p>
            <a:pPr indent="0" marL="0">
              <a:buNone/>
            </a:pPr>
            <a:r>
              <a:rPr lang="en-US" sz="1700" dirty="0">
                <a:solidFill>
                  <a:srgbClr val="1F2937"/>
                </a:solidFill>
              </a:rPr>
              <a:t>“one product line within one specific order”</a:t>
            </a:r>
            <a:endParaRPr lang="en-US" sz="1700" dirty="0"/>
          </a:p>
        </p:txBody>
      </p:sp>
      <p:sp>
        <p:nvSpPr>
          <p:cNvPr id="8" name="Shape 6"/>
          <p:cNvSpPr/>
          <p:nvPr/>
        </p:nvSpPr>
        <p:spPr>
          <a:xfrm>
            <a:off x="6355080" y="1371600"/>
            <a:ext cx="5166360" cy="4480560"/>
          </a:xfrm>
          <a:prstGeom prst="roundRect">
            <a:avLst>
              <a:gd name="adj" fmla="val 1633"/>
            </a:avLst>
          </a:prstGeom>
          <a:solidFill>
            <a:srgbClr val="FFFFFF"/>
          </a:solidFill>
          <a:ln w="12700">
            <a:solidFill>
              <a:srgbClr val="D9E0E8"/>
            </a:solidFill>
            <a:prstDash val="solid"/>
          </a:ln>
        </p:spPr>
      </p:sp>
      <p:sp>
        <p:nvSpPr>
          <p:cNvPr id="9" name="Shape 7"/>
          <p:cNvSpPr/>
          <p:nvPr/>
        </p:nvSpPr>
        <p:spPr>
          <a:xfrm>
            <a:off x="6355080" y="1371600"/>
            <a:ext cx="64008" cy="4480560"/>
          </a:xfrm>
          <a:prstGeom prst="rect">
            <a:avLst/>
          </a:prstGeom>
          <a:solidFill>
            <a:srgbClr val="2E5BFF"/>
          </a:solidFill>
          <a:ln w="12700">
            <a:solidFill>
              <a:srgbClr val="2E5BFF"/>
            </a:solidFill>
            <a:prstDash val="solid"/>
          </a:ln>
        </p:spPr>
      </p:sp>
      <p:sp>
        <p:nvSpPr>
          <p:cNvPr id="10" name="Text 8"/>
          <p:cNvSpPr/>
          <p:nvPr/>
        </p:nvSpPr>
        <p:spPr>
          <a:xfrm>
            <a:off x="6583680" y="1536192"/>
            <a:ext cx="4754880" cy="256032"/>
          </a:xfrm>
          <a:prstGeom prst="rect">
            <a:avLst/>
          </a:prstGeom>
          <a:noFill/>
          <a:ln/>
        </p:spPr>
        <p:txBody>
          <a:bodyPr wrap="square" lIns="0" tIns="0" rIns="0" bIns="0" rtlCol="0" anchor="ctr"/>
          <a:lstStyle/>
          <a:p>
            <a:pPr indent="0" marL="0">
              <a:buNone/>
            </a:pPr>
            <a:r>
              <a:rPr lang="en-US" sz="2200" b="1" dirty="0">
                <a:solidFill>
                  <a:srgbClr val="15233C"/>
                </a:solidFill>
              </a:rPr>
              <a:t>Dimension tables</a:t>
            </a:r>
            <a:endParaRPr lang="en-US" sz="2200" dirty="0"/>
          </a:p>
        </p:txBody>
      </p:sp>
      <p:sp>
        <p:nvSpPr>
          <p:cNvPr id="11" name="Text 9"/>
          <p:cNvSpPr/>
          <p:nvPr/>
        </p:nvSpPr>
        <p:spPr>
          <a:xfrm>
            <a:off x="6583680" y="1938528"/>
            <a:ext cx="4754880" cy="3767328"/>
          </a:xfrm>
          <a:prstGeom prst="rect">
            <a:avLst/>
          </a:prstGeom>
          <a:noFill/>
          <a:ln/>
        </p:spPr>
        <p:txBody>
          <a:bodyPr wrap="square" lIns="254" tIns="254" rIns="254" bIns="254" rtlCol="0" anchor="t">
            <a:normAutofit/>
          </a:bodyPr>
          <a:lstStyle/>
          <a:p>
            <a:pPr indent="0" marL="0">
              <a:buNone/>
            </a:pPr>
            <a:r>
              <a:rPr lang="en-US" sz="1700" dirty="0">
                <a:solidFill>
                  <a:srgbClr val="1F2937"/>
                </a:solidFill>
              </a:rPr>
              <a:t>Provide descriptive context</a:t>
            </a:r>
            <a:endParaRPr lang="en-US" sz="1700" dirty="0"/>
          </a:p>
          <a:p>
            <a:pPr indent="0" marL="0">
              <a:buNone/>
            </a:pPr>
            <a:r>
              <a:rPr lang="en-US" sz="1700" dirty="0">
                <a:solidFill>
                  <a:srgbClr val="1F2937"/>
                </a:solidFill>
              </a:rPr>
              <a:t>Answer Who? What? Where? When?</a:t>
            </a:r>
            <a:endParaRPr lang="en-US" sz="1700" dirty="0"/>
          </a:p>
          <a:p>
            <a:pPr indent="0" marL="0">
              <a:buNone/>
            </a:pPr>
            <a:r>
              <a:rPr lang="en-US" sz="1700" dirty="0">
                <a:solidFill>
                  <a:srgbClr val="1F2937"/>
                </a:solidFill>
              </a:rPr>
              <a:t>Used to slice, filter, group, and label facts</a:t>
            </a:r>
            <a:endParaRPr lang="en-US" sz="1700" dirty="0"/>
          </a:p>
          <a:p>
            <a:pPr indent="0" marL="0">
              <a:buNone/>
            </a:pPr>
            <a:endParaRPr lang="en-US" sz="1700" dirty="0"/>
          </a:p>
          <a:p>
            <a:pPr indent="0" marL="0">
              <a:buNone/>
            </a:pPr>
            <a:r>
              <a:rPr lang="en-US" sz="1700" dirty="0">
                <a:solidFill>
                  <a:srgbClr val="1F2937"/>
                </a:solidFill>
              </a:rPr>
              <a:t>Examples: Customer • Product • Date • Store</a:t>
            </a:r>
            <a:endParaRPr lang="en-US" sz="1700" dirty="0"/>
          </a:p>
        </p:txBody>
      </p:sp>
      <p:sp>
        <p:nvSpPr>
          <p:cNvPr id="12" name="Shape 10"/>
          <p:cNvSpPr/>
          <p:nvPr/>
        </p:nvSpPr>
        <p:spPr>
          <a:xfrm>
            <a:off x="4242816" y="5212080"/>
            <a:ext cx="3657600" cy="310896"/>
          </a:xfrm>
          <a:prstGeom prst="roundRect">
            <a:avLst>
              <a:gd name="adj" fmla="val 23529"/>
            </a:avLst>
          </a:prstGeom>
          <a:solidFill>
            <a:srgbClr val="15233C"/>
          </a:solidFill>
          <a:ln w="12700">
            <a:solidFill>
              <a:srgbClr val="15233C"/>
            </a:solidFill>
            <a:prstDash val="solid"/>
          </a:ln>
        </p:spPr>
      </p:sp>
      <p:sp>
        <p:nvSpPr>
          <p:cNvPr id="13" name="Text 11"/>
          <p:cNvSpPr/>
          <p:nvPr/>
        </p:nvSpPr>
        <p:spPr>
          <a:xfrm>
            <a:off x="4315968" y="5276088"/>
            <a:ext cx="3511296" cy="146304"/>
          </a:xfrm>
          <a:prstGeom prst="rect">
            <a:avLst/>
          </a:prstGeom>
          <a:noFill/>
          <a:ln/>
        </p:spPr>
        <p:txBody>
          <a:bodyPr wrap="square" lIns="0" tIns="0" rIns="0" bIns="0" rtlCol="0" anchor="ctr"/>
          <a:lstStyle/>
          <a:p>
            <a:pPr algn="ctr" indent="0" marL="0">
              <a:buNone/>
            </a:pPr>
            <a:r>
              <a:rPr lang="en-US" sz="1000" b="1" dirty="0">
                <a:solidFill>
                  <a:srgbClr val="FFFFFF"/>
                </a:solidFill>
              </a:rPr>
              <a:t>Grain = level of detail</a:t>
            </a:r>
            <a:endParaRPr lang="en-US" sz="1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LAB SYSTEM</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Our Semester Warehouse: SmartRetail</a:t>
            </a:r>
            <a:endParaRPr lang="en-US" sz="2800" dirty="0"/>
          </a:p>
        </p:txBody>
      </p:sp>
      <p:sp>
        <p:nvSpPr>
          <p:cNvPr id="4" name="Shape 2"/>
          <p:cNvSpPr/>
          <p:nvPr/>
        </p:nvSpPr>
        <p:spPr>
          <a:xfrm>
            <a:off x="411480" y="1874520"/>
            <a:ext cx="1874520" cy="1143000"/>
          </a:xfrm>
          <a:prstGeom prst="roundRect">
            <a:avLst>
              <a:gd name="adj" fmla="val 4800"/>
            </a:avLst>
          </a:prstGeom>
          <a:solidFill>
            <a:srgbClr val="E9EEF8"/>
          </a:solidFill>
          <a:ln w="12700">
            <a:solidFill>
              <a:srgbClr val="E9EEF8"/>
            </a:solidFill>
            <a:prstDash val="solid"/>
          </a:ln>
        </p:spPr>
      </p:sp>
      <p:sp>
        <p:nvSpPr>
          <p:cNvPr id="5" name="Text 3"/>
          <p:cNvSpPr/>
          <p:nvPr/>
        </p:nvSpPr>
        <p:spPr>
          <a:xfrm>
            <a:off x="457200" y="1920240"/>
            <a:ext cx="1783080" cy="1051560"/>
          </a:xfrm>
          <a:prstGeom prst="rect">
            <a:avLst/>
          </a:prstGeom>
          <a:noFill/>
          <a:ln/>
        </p:spPr>
        <p:txBody>
          <a:bodyPr wrap="square" lIns="254" tIns="254" rIns="254" bIns="254" rtlCol="0" anchor="ctr">
            <a:normAutofit/>
          </a:bodyPr>
          <a:lstStyle/>
          <a:p>
            <a:pPr algn="ctr" indent="0" marL="0">
              <a:buNone/>
            </a:pPr>
            <a:r>
              <a:rPr lang="en-US" sz="1900" b="1" dirty="0">
                <a:solidFill>
                  <a:srgbClr val="2E5BFF"/>
                </a:solidFill>
              </a:rPr>
              <a:t>CSVs</a:t>
            </a:r>
            <a:endParaRPr lang="en-US" sz="1900" dirty="0"/>
          </a:p>
        </p:txBody>
      </p:sp>
      <p:sp>
        <p:nvSpPr>
          <p:cNvPr id="6" name="Text 4"/>
          <p:cNvSpPr/>
          <p:nvPr/>
        </p:nvSpPr>
        <p:spPr>
          <a:xfrm>
            <a:off x="484632" y="3182112"/>
            <a:ext cx="1737360" cy="530352"/>
          </a:xfrm>
          <a:prstGeom prst="rect">
            <a:avLst/>
          </a:prstGeom>
          <a:noFill/>
          <a:ln/>
        </p:spPr>
        <p:txBody>
          <a:bodyPr wrap="square" lIns="0" tIns="0" rIns="0" bIns="0" rtlCol="0" anchor="ctr">
            <a:normAutofit/>
          </a:bodyPr>
          <a:lstStyle/>
          <a:p>
            <a:pPr algn="ctr" indent="0" marL="0">
              <a:buNone/>
            </a:pPr>
            <a:r>
              <a:rPr lang="en-US" sz="1280" dirty="0">
                <a:solidFill>
                  <a:srgbClr val="1F2937"/>
                </a:solidFill>
              </a:rPr>
              <a:t>Customers</a:t>
            </a:r>
            <a:endParaRPr lang="en-US" sz="1280" dirty="0"/>
          </a:p>
          <a:p>
            <a:pPr algn="ctr" indent="0" marL="0">
              <a:buNone/>
            </a:pPr>
            <a:r>
              <a:rPr lang="en-US" sz="1280" dirty="0">
                <a:solidFill>
                  <a:srgbClr val="1F2937"/>
                </a:solidFill>
              </a:rPr>
              <a:t>Products</a:t>
            </a:r>
            <a:endParaRPr lang="en-US" sz="1280" dirty="0"/>
          </a:p>
          <a:p>
            <a:pPr algn="ctr" indent="0" marL="0">
              <a:buNone/>
            </a:pPr>
            <a:r>
              <a:rPr lang="en-US" sz="1280" dirty="0">
                <a:solidFill>
                  <a:srgbClr val="1F2937"/>
                </a:solidFill>
              </a:rPr>
              <a:t>Stores</a:t>
            </a:r>
            <a:endParaRPr lang="en-US" sz="1280" dirty="0"/>
          </a:p>
          <a:p>
            <a:pPr algn="ctr" indent="0" marL="0">
              <a:buNone/>
            </a:pPr>
            <a:r>
              <a:rPr lang="en-US" sz="1280" dirty="0">
                <a:solidFill>
                  <a:srgbClr val="1F2937"/>
                </a:solidFill>
              </a:rPr>
              <a:t>Sales</a:t>
            </a:r>
            <a:endParaRPr lang="en-US" sz="1280" dirty="0"/>
          </a:p>
        </p:txBody>
      </p:sp>
      <p:sp>
        <p:nvSpPr>
          <p:cNvPr id="7" name="Shape 5"/>
          <p:cNvSpPr/>
          <p:nvPr/>
        </p:nvSpPr>
        <p:spPr>
          <a:xfrm>
            <a:off x="2286000" y="2450592"/>
            <a:ext cx="338328" cy="0"/>
          </a:xfrm>
          <a:prstGeom prst="line">
            <a:avLst/>
          </a:prstGeom>
          <a:noFill/>
          <a:ln w="29210">
            <a:solidFill>
              <a:srgbClr val="8F9BAD"/>
            </a:solidFill>
            <a:prstDash val="solid"/>
            <a:headEnd type="none"/>
            <a:tailEnd type="triangle"/>
          </a:ln>
        </p:spPr>
      </p:sp>
      <p:sp>
        <p:nvSpPr>
          <p:cNvPr id="8" name="Shape 6"/>
          <p:cNvSpPr/>
          <p:nvPr/>
        </p:nvSpPr>
        <p:spPr>
          <a:xfrm>
            <a:off x="2743200" y="1874520"/>
            <a:ext cx="1874520" cy="1143000"/>
          </a:xfrm>
          <a:prstGeom prst="roundRect">
            <a:avLst>
              <a:gd name="adj" fmla="val 4800"/>
            </a:avLst>
          </a:prstGeom>
          <a:solidFill>
            <a:srgbClr val="F5E6D8"/>
          </a:solidFill>
          <a:ln w="12700">
            <a:solidFill>
              <a:srgbClr val="F5E6D8"/>
            </a:solidFill>
            <a:prstDash val="solid"/>
          </a:ln>
        </p:spPr>
      </p:sp>
      <p:sp>
        <p:nvSpPr>
          <p:cNvPr id="9" name="Text 7"/>
          <p:cNvSpPr/>
          <p:nvPr/>
        </p:nvSpPr>
        <p:spPr>
          <a:xfrm>
            <a:off x="2788920" y="1920240"/>
            <a:ext cx="1783080" cy="1051560"/>
          </a:xfrm>
          <a:prstGeom prst="rect">
            <a:avLst/>
          </a:prstGeom>
          <a:noFill/>
          <a:ln/>
        </p:spPr>
        <p:txBody>
          <a:bodyPr wrap="square" lIns="254" tIns="254" rIns="254" bIns="254" rtlCol="0" anchor="ctr">
            <a:normAutofit/>
          </a:bodyPr>
          <a:lstStyle/>
          <a:p>
            <a:pPr algn="ctr" indent="0" marL="0">
              <a:buNone/>
            </a:pPr>
            <a:r>
              <a:rPr lang="en-US" sz="1900" b="1" dirty="0">
                <a:solidFill>
                  <a:srgbClr val="A16207"/>
                </a:solidFill>
              </a:rPr>
              <a:t>Bronze</a:t>
            </a:r>
            <a:endParaRPr lang="en-US" sz="1900" dirty="0"/>
          </a:p>
        </p:txBody>
      </p:sp>
      <p:sp>
        <p:nvSpPr>
          <p:cNvPr id="10" name="Text 8"/>
          <p:cNvSpPr/>
          <p:nvPr/>
        </p:nvSpPr>
        <p:spPr>
          <a:xfrm>
            <a:off x="2816352" y="3182112"/>
            <a:ext cx="1737360" cy="530352"/>
          </a:xfrm>
          <a:prstGeom prst="rect">
            <a:avLst/>
          </a:prstGeom>
          <a:noFill/>
          <a:ln/>
        </p:spPr>
        <p:txBody>
          <a:bodyPr wrap="square" lIns="0" tIns="0" rIns="0" bIns="0" rtlCol="0" anchor="ctr">
            <a:normAutofit/>
          </a:bodyPr>
          <a:lstStyle/>
          <a:p>
            <a:pPr algn="ctr" indent="0" marL="0">
              <a:buNone/>
            </a:pPr>
            <a:r>
              <a:rPr lang="en-US" sz="1280" dirty="0">
                <a:solidFill>
                  <a:srgbClr val="1F2937"/>
                </a:solidFill>
              </a:rPr>
              <a:t>ingest</a:t>
            </a:r>
            <a:endParaRPr lang="en-US" sz="1280" dirty="0"/>
          </a:p>
        </p:txBody>
      </p:sp>
      <p:sp>
        <p:nvSpPr>
          <p:cNvPr id="11" name="Shape 9"/>
          <p:cNvSpPr/>
          <p:nvPr/>
        </p:nvSpPr>
        <p:spPr>
          <a:xfrm>
            <a:off x="4617720" y="2450592"/>
            <a:ext cx="338328" cy="0"/>
          </a:xfrm>
          <a:prstGeom prst="line">
            <a:avLst/>
          </a:prstGeom>
          <a:noFill/>
          <a:ln w="29210">
            <a:solidFill>
              <a:srgbClr val="8F9BAD"/>
            </a:solidFill>
            <a:prstDash val="solid"/>
            <a:headEnd type="none"/>
            <a:tailEnd type="triangle"/>
          </a:ln>
        </p:spPr>
      </p:sp>
      <p:sp>
        <p:nvSpPr>
          <p:cNvPr id="12" name="Shape 10"/>
          <p:cNvSpPr/>
          <p:nvPr/>
        </p:nvSpPr>
        <p:spPr>
          <a:xfrm>
            <a:off x="5074920" y="1874520"/>
            <a:ext cx="1874520" cy="1143000"/>
          </a:xfrm>
          <a:prstGeom prst="roundRect">
            <a:avLst>
              <a:gd name="adj" fmla="val 4800"/>
            </a:avLst>
          </a:prstGeom>
          <a:solidFill>
            <a:srgbClr val="EDF0F3"/>
          </a:solidFill>
          <a:ln w="12700">
            <a:solidFill>
              <a:srgbClr val="EDF0F3"/>
            </a:solidFill>
            <a:prstDash val="solid"/>
          </a:ln>
        </p:spPr>
      </p:sp>
      <p:sp>
        <p:nvSpPr>
          <p:cNvPr id="13" name="Text 11"/>
          <p:cNvSpPr/>
          <p:nvPr/>
        </p:nvSpPr>
        <p:spPr>
          <a:xfrm>
            <a:off x="5120640" y="1920240"/>
            <a:ext cx="1783080" cy="1051560"/>
          </a:xfrm>
          <a:prstGeom prst="rect">
            <a:avLst/>
          </a:prstGeom>
          <a:noFill/>
          <a:ln/>
        </p:spPr>
        <p:txBody>
          <a:bodyPr wrap="square" lIns="254" tIns="254" rIns="254" bIns="254" rtlCol="0" anchor="ctr">
            <a:normAutofit/>
          </a:bodyPr>
          <a:lstStyle/>
          <a:p>
            <a:pPr algn="ctr" indent="0" marL="0">
              <a:buNone/>
            </a:pPr>
            <a:r>
              <a:rPr lang="en-US" sz="1900" b="1" dirty="0">
                <a:solidFill>
                  <a:srgbClr val="64748B"/>
                </a:solidFill>
              </a:rPr>
              <a:t>Silver</a:t>
            </a:r>
            <a:endParaRPr lang="en-US" sz="1900" dirty="0"/>
          </a:p>
        </p:txBody>
      </p:sp>
      <p:sp>
        <p:nvSpPr>
          <p:cNvPr id="14" name="Text 12"/>
          <p:cNvSpPr/>
          <p:nvPr/>
        </p:nvSpPr>
        <p:spPr>
          <a:xfrm>
            <a:off x="5148072" y="3182112"/>
            <a:ext cx="1737360" cy="530352"/>
          </a:xfrm>
          <a:prstGeom prst="rect">
            <a:avLst/>
          </a:prstGeom>
          <a:noFill/>
          <a:ln/>
        </p:spPr>
        <p:txBody>
          <a:bodyPr wrap="square" lIns="0" tIns="0" rIns="0" bIns="0" rtlCol="0" anchor="ctr">
            <a:normAutofit/>
          </a:bodyPr>
          <a:lstStyle/>
          <a:p>
            <a:pPr algn="ctr" indent="0" marL="0">
              <a:buNone/>
            </a:pPr>
            <a:r>
              <a:rPr lang="en-US" sz="1280" dirty="0">
                <a:solidFill>
                  <a:srgbClr val="1F2937"/>
                </a:solidFill>
              </a:rPr>
              <a:t>clean + integrate</a:t>
            </a:r>
            <a:endParaRPr lang="en-US" sz="1280" dirty="0"/>
          </a:p>
        </p:txBody>
      </p:sp>
      <p:sp>
        <p:nvSpPr>
          <p:cNvPr id="15" name="Shape 13"/>
          <p:cNvSpPr/>
          <p:nvPr/>
        </p:nvSpPr>
        <p:spPr>
          <a:xfrm>
            <a:off x="6949440" y="2450592"/>
            <a:ext cx="338328" cy="0"/>
          </a:xfrm>
          <a:prstGeom prst="line">
            <a:avLst/>
          </a:prstGeom>
          <a:noFill/>
          <a:ln w="29210">
            <a:solidFill>
              <a:srgbClr val="8F9BAD"/>
            </a:solidFill>
            <a:prstDash val="solid"/>
            <a:headEnd type="none"/>
            <a:tailEnd type="triangle"/>
          </a:ln>
        </p:spPr>
      </p:sp>
      <p:sp>
        <p:nvSpPr>
          <p:cNvPr id="16" name="Shape 14"/>
          <p:cNvSpPr/>
          <p:nvPr/>
        </p:nvSpPr>
        <p:spPr>
          <a:xfrm>
            <a:off x="7406640" y="1874520"/>
            <a:ext cx="1874520" cy="1143000"/>
          </a:xfrm>
          <a:prstGeom prst="roundRect">
            <a:avLst>
              <a:gd name="adj" fmla="val 4800"/>
            </a:avLst>
          </a:prstGeom>
          <a:solidFill>
            <a:srgbClr val="FAF0CE"/>
          </a:solidFill>
          <a:ln w="12700">
            <a:solidFill>
              <a:srgbClr val="FAF0CE"/>
            </a:solidFill>
            <a:prstDash val="solid"/>
          </a:ln>
        </p:spPr>
      </p:sp>
      <p:sp>
        <p:nvSpPr>
          <p:cNvPr id="17" name="Text 15"/>
          <p:cNvSpPr/>
          <p:nvPr/>
        </p:nvSpPr>
        <p:spPr>
          <a:xfrm>
            <a:off x="7452360" y="1920240"/>
            <a:ext cx="1783080" cy="1051560"/>
          </a:xfrm>
          <a:prstGeom prst="rect">
            <a:avLst/>
          </a:prstGeom>
          <a:noFill/>
          <a:ln/>
        </p:spPr>
        <p:txBody>
          <a:bodyPr wrap="square" lIns="254" tIns="254" rIns="254" bIns="254" rtlCol="0" anchor="ctr">
            <a:normAutofit/>
          </a:bodyPr>
          <a:lstStyle/>
          <a:p>
            <a:pPr algn="ctr" indent="0" marL="0">
              <a:buNone/>
            </a:pPr>
            <a:r>
              <a:rPr lang="en-US" sz="1900" b="1" dirty="0">
                <a:solidFill>
                  <a:srgbClr val="D4A017"/>
                </a:solidFill>
              </a:rPr>
              <a:t>Gold</a:t>
            </a:r>
            <a:endParaRPr lang="en-US" sz="1900" dirty="0"/>
          </a:p>
        </p:txBody>
      </p:sp>
      <p:sp>
        <p:nvSpPr>
          <p:cNvPr id="18" name="Text 16"/>
          <p:cNvSpPr/>
          <p:nvPr/>
        </p:nvSpPr>
        <p:spPr>
          <a:xfrm>
            <a:off x="7479792" y="3182112"/>
            <a:ext cx="1737360" cy="530352"/>
          </a:xfrm>
          <a:prstGeom prst="rect">
            <a:avLst/>
          </a:prstGeom>
          <a:noFill/>
          <a:ln/>
        </p:spPr>
        <p:txBody>
          <a:bodyPr wrap="square" lIns="0" tIns="0" rIns="0" bIns="0" rtlCol="0" anchor="ctr">
            <a:normAutofit/>
          </a:bodyPr>
          <a:lstStyle/>
          <a:p>
            <a:pPr algn="ctr" indent="0" marL="0">
              <a:buNone/>
            </a:pPr>
            <a:r>
              <a:rPr lang="en-US" sz="1280" dirty="0">
                <a:solidFill>
                  <a:srgbClr val="1F2937"/>
                </a:solidFill>
              </a:rPr>
              <a:t>dimensional model</a:t>
            </a:r>
            <a:endParaRPr lang="en-US" sz="1280" dirty="0"/>
          </a:p>
        </p:txBody>
      </p:sp>
      <p:sp>
        <p:nvSpPr>
          <p:cNvPr id="19" name="Shape 17"/>
          <p:cNvSpPr/>
          <p:nvPr/>
        </p:nvSpPr>
        <p:spPr>
          <a:xfrm>
            <a:off x="9281160" y="2450592"/>
            <a:ext cx="338328" cy="0"/>
          </a:xfrm>
          <a:prstGeom prst="line">
            <a:avLst/>
          </a:prstGeom>
          <a:noFill/>
          <a:ln w="29210">
            <a:solidFill>
              <a:srgbClr val="8F9BAD"/>
            </a:solidFill>
            <a:prstDash val="solid"/>
            <a:headEnd type="none"/>
            <a:tailEnd type="triangle"/>
          </a:ln>
        </p:spPr>
      </p:sp>
      <p:sp>
        <p:nvSpPr>
          <p:cNvPr id="20" name="Shape 18"/>
          <p:cNvSpPr/>
          <p:nvPr/>
        </p:nvSpPr>
        <p:spPr>
          <a:xfrm>
            <a:off x="9738360" y="1874520"/>
            <a:ext cx="1874520" cy="1143000"/>
          </a:xfrm>
          <a:prstGeom prst="roundRect">
            <a:avLst>
              <a:gd name="adj" fmla="val 4800"/>
            </a:avLst>
          </a:prstGeom>
          <a:solidFill>
            <a:srgbClr val="EDE9FE"/>
          </a:solidFill>
          <a:ln w="12700">
            <a:solidFill>
              <a:srgbClr val="EDE9FE"/>
            </a:solidFill>
            <a:prstDash val="solid"/>
          </a:ln>
        </p:spPr>
      </p:sp>
      <p:sp>
        <p:nvSpPr>
          <p:cNvPr id="21" name="Text 19"/>
          <p:cNvSpPr/>
          <p:nvPr/>
        </p:nvSpPr>
        <p:spPr>
          <a:xfrm>
            <a:off x="9784080" y="1920240"/>
            <a:ext cx="1783080" cy="1051560"/>
          </a:xfrm>
          <a:prstGeom prst="rect">
            <a:avLst/>
          </a:prstGeom>
          <a:noFill/>
          <a:ln/>
        </p:spPr>
        <p:txBody>
          <a:bodyPr wrap="square" lIns="254" tIns="254" rIns="254" bIns="254" rtlCol="0" anchor="ctr">
            <a:normAutofit/>
          </a:bodyPr>
          <a:lstStyle/>
          <a:p>
            <a:pPr algn="ctr" indent="0" marL="0">
              <a:buNone/>
            </a:pPr>
            <a:r>
              <a:rPr lang="en-US" sz="1900" b="1" dirty="0">
                <a:solidFill>
                  <a:srgbClr val="7C3AED"/>
                </a:solidFill>
              </a:rPr>
              <a:t>Mining</a:t>
            </a:r>
            <a:endParaRPr lang="en-US" sz="1900" dirty="0"/>
          </a:p>
        </p:txBody>
      </p:sp>
      <p:sp>
        <p:nvSpPr>
          <p:cNvPr id="22" name="Text 20"/>
          <p:cNvSpPr/>
          <p:nvPr/>
        </p:nvSpPr>
        <p:spPr>
          <a:xfrm>
            <a:off x="9811512" y="3182112"/>
            <a:ext cx="1737360" cy="530352"/>
          </a:xfrm>
          <a:prstGeom prst="rect">
            <a:avLst/>
          </a:prstGeom>
          <a:noFill/>
          <a:ln/>
        </p:spPr>
        <p:txBody>
          <a:bodyPr wrap="square" lIns="0" tIns="0" rIns="0" bIns="0" rtlCol="0" anchor="ctr">
            <a:normAutofit/>
          </a:bodyPr>
          <a:lstStyle/>
          <a:p>
            <a:pPr algn="ctr" indent="0" marL="0">
              <a:buNone/>
            </a:pPr>
            <a:r>
              <a:rPr lang="en-US" sz="1280" dirty="0">
                <a:solidFill>
                  <a:srgbClr val="1F2937"/>
                </a:solidFill>
              </a:rPr>
              <a:t>feature marts</a:t>
            </a:r>
            <a:endParaRPr lang="en-US" sz="1280" dirty="0"/>
          </a:p>
        </p:txBody>
      </p:sp>
      <p:sp>
        <p:nvSpPr>
          <p:cNvPr id="23" name="Text 21"/>
          <p:cNvSpPr/>
          <p:nvPr/>
        </p:nvSpPr>
        <p:spPr>
          <a:xfrm>
            <a:off x="4343400" y="4160520"/>
            <a:ext cx="3520440" cy="274320"/>
          </a:xfrm>
          <a:prstGeom prst="rect">
            <a:avLst/>
          </a:prstGeom>
          <a:noFill/>
          <a:ln/>
        </p:spPr>
        <p:txBody>
          <a:bodyPr wrap="square" lIns="0" tIns="0" rIns="0" bIns="0" rtlCol="0" anchor="ctr"/>
          <a:lstStyle/>
          <a:p>
            <a:pPr algn="ctr" indent="0" marL="0">
              <a:buNone/>
            </a:pPr>
            <a:r>
              <a:rPr lang="en-US" sz="1400" b="1" dirty="0">
                <a:solidFill>
                  <a:srgbClr val="15233C"/>
                </a:solidFill>
              </a:rPr>
              <a:t>Gold schema</a:t>
            </a:r>
            <a:endParaRPr lang="en-US" sz="1400" dirty="0"/>
          </a:p>
        </p:txBody>
      </p:sp>
      <p:sp>
        <p:nvSpPr>
          <p:cNvPr id="24" name="Shape 22"/>
          <p:cNvSpPr/>
          <p:nvPr/>
        </p:nvSpPr>
        <p:spPr>
          <a:xfrm>
            <a:off x="1874520" y="4636008"/>
            <a:ext cx="1828800" cy="310896"/>
          </a:xfrm>
          <a:prstGeom prst="roundRect">
            <a:avLst>
              <a:gd name="adj" fmla="val 23529"/>
            </a:avLst>
          </a:prstGeom>
          <a:solidFill>
            <a:srgbClr val="EEF2FF"/>
          </a:solidFill>
          <a:ln w="12700">
            <a:solidFill>
              <a:srgbClr val="EEF2FF"/>
            </a:solidFill>
            <a:prstDash val="solid"/>
          </a:ln>
        </p:spPr>
      </p:sp>
      <p:sp>
        <p:nvSpPr>
          <p:cNvPr id="25" name="Text 23"/>
          <p:cNvSpPr/>
          <p:nvPr/>
        </p:nvSpPr>
        <p:spPr>
          <a:xfrm>
            <a:off x="1947672" y="4700016"/>
            <a:ext cx="1682496" cy="146304"/>
          </a:xfrm>
          <a:prstGeom prst="rect">
            <a:avLst/>
          </a:prstGeom>
          <a:noFill/>
          <a:ln/>
        </p:spPr>
        <p:txBody>
          <a:bodyPr wrap="square" lIns="0" tIns="0" rIns="0" bIns="0" rtlCol="0" anchor="ctr"/>
          <a:lstStyle/>
          <a:p>
            <a:pPr algn="ctr" indent="0" marL="0">
              <a:buNone/>
            </a:pPr>
            <a:r>
              <a:rPr lang="en-US" sz="1000" b="1" dirty="0">
                <a:solidFill>
                  <a:srgbClr val="2E5BFF"/>
                </a:solidFill>
              </a:rPr>
              <a:t>DimCustomer</a:t>
            </a:r>
            <a:endParaRPr lang="en-US" sz="1000" dirty="0"/>
          </a:p>
        </p:txBody>
      </p:sp>
      <p:sp>
        <p:nvSpPr>
          <p:cNvPr id="26" name="Shape 24"/>
          <p:cNvSpPr/>
          <p:nvPr/>
        </p:nvSpPr>
        <p:spPr>
          <a:xfrm>
            <a:off x="3886200" y="4636008"/>
            <a:ext cx="1691640" cy="310896"/>
          </a:xfrm>
          <a:prstGeom prst="roundRect">
            <a:avLst>
              <a:gd name="adj" fmla="val 23529"/>
            </a:avLst>
          </a:prstGeom>
          <a:solidFill>
            <a:srgbClr val="EEF2FF"/>
          </a:solidFill>
          <a:ln w="12700">
            <a:solidFill>
              <a:srgbClr val="EEF2FF"/>
            </a:solidFill>
            <a:prstDash val="solid"/>
          </a:ln>
        </p:spPr>
      </p:sp>
      <p:sp>
        <p:nvSpPr>
          <p:cNvPr id="27" name="Text 25"/>
          <p:cNvSpPr/>
          <p:nvPr/>
        </p:nvSpPr>
        <p:spPr>
          <a:xfrm>
            <a:off x="3959352" y="4700016"/>
            <a:ext cx="1545336" cy="146304"/>
          </a:xfrm>
          <a:prstGeom prst="rect">
            <a:avLst/>
          </a:prstGeom>
          <a:noFill/>
          <a:ln/>
        </p:spPr>
        <p:txBody>
          <a:bodyPr wrap="square" lIns="0" tIns="0" rIns="0" bIns="0" rtlCol="0" anchor="ctr"/>
          <a:lstStyle/>
          <a:p>
            <a:pPr algn="ctr" indent="0" marL="0">
              <a:buNone/>
            </a:pPr>
            <a:r>
              <a:rPr lang="en-US" sz="1000" b="1" dirty="0">
                <a:solidFill>
                  <a:srgbClr val="2E5BFF"/>
                </a:solidFill>
              </a:rPr>
              <a:t>DimDate</a:t>
            </a:r>
            <a:endParaRPr lang="en-US" sz="1000" dirty="0"/>
          </a:p>
        </p:txBody>
      </p:sp>
      <p:sp>
        <p:nvSpPr>
          <p:cNvPr id="28" name="Shape 26"/>
          <p:cNvSpPr/>
          <p:nvPr/>
        </p:nvSpPr>
        <p:spPr>
          <a:xfrm>
            <a:off x="5760720" y="4636008"/>
            <a:ext cx="1828800" cy="310896"/>
          </a:xfrm>
          <a:prstGeom prst="roundRect">
            <a:avLst>
              <a:gd name="adj" fmla="val 23529"/>
            </a:avLst>
          </a:prstGeom>
          <a:solidFill>
            <a:srgbClr val="FDECEC"/>
          </a:solidFill>
          <a:ln w="12700">
            <a:solidFill>
              <a:srgbClr val="FDECEC"/>
            </a:solidFill>
            <a:prstDash val="solid"/>
          </a:ln>
        </p:spPr>
      </p:sp>
      <p:sp>
        <p:nvSpPr>
          <p:cNvPr id="29" name="Text 27"/>
          <p:cNvSpPr/>
          <p:nvPr/>
        </p:nvSpPr>
        <p:spPr>
          <a:xfrm>
            <a:off x="5833872" y="4700016"/>
            <a:ext cx="1682496" cy="146304"/>
          </a:xfrm>
          <a:prstGeom prst="rect">
            <a:avLst/>
          </a:prstGeom>
          <a:noFill/>
          <a:ln/>
        </p:spPr>
        <p:txBody>
          <a:bodyPr wrap="square" lIns="0" tIns="0" rIns="0" bIns="0" rtlCol="0" anchor="ctr"/>
          <a:lstStyle/>
          <a:p>
            <a:pPr algn="ctr" indent="0" marL="0">
              <a:buNone/>
            </a:pPr>
            <a:r>
              <a:rPr lang="en-US" sz="1000" b="1" dirty="0">
                <a:solidFill>
                  <a:srgbClr val="E53935"/>
                </a:solidFill>
              </a:rPr>
              <a:t>FactSales</a:t>
            </a:r>
            <a:endParaRPr lang="en-US" sz="1000" dirty="0"/>
          </a:p>
        </p:txBody>
      </p:sp>
      <p:sp>
        <p:nvSpPr>
          <p:cNvPr id="30" name="Shape 28"/>
          <p:cNvSpPr/>
          <p:nvPr/>
        </p:nvSpPr>
        <p:spPr>
          <a:xfrm>
            <a:off x="7772400" y="4636008"/>
            <a:ext cx="1828800" cy="310896"/>
          </a:xfrm>
          <a:prstGeom prst="roundRect">
            <a:avLst>
              <a:gd name="adj" fmla="val 23529"/>
            </a:avLst>
          </a:prstGeom>
          <a:solidFill>
            <a:srgbClr val="EEF2FF"/>
          </a:solidFill>
          <a:ln w="12700">
            <a:solidFill>
              <a:srgbClr val="EEF2FF"/>
            </a:solidFill>
            <a:prstDash val="solid"/>
          </a:ln>
        </p:spPr>
      </p:sp>
      <p:sp>
        <p:nvSpPr>
          <p:cNvPr id="31" name="Text 29"/>
          <p:cNvSpPr/>
          <p:nvPr/>
        </p:nvSpPr>
        <p:spPr>
          <a:xfrm>
            <a:off x="7845552" y="4700016"/>
            <a:ext cx="1682496" cy="146304"/>
          </a:xfrm>
          <a:prstGeom prst="rect">
            <a:avLst/>
          </a:prstGeom>
          <a:noFill/>
          <a:ln/>
        </p:spPr>
        <p:txBody>
          <a:bodyPr wrap="square" lIns="0" tIns="0" rIns="0" bIns="0" rtlCol="0" anchor="ctr"/>
          <a:lstStyle/>
          <a:p>
            <a:pPr algn="ctr" indent="0" marL="0">
              <a:buNone/>
            </a:pPr>
            <a:r>
              <a:rPr lang="en-US" sz="1000" b="1" dirty="0">
                <a:solidFill>
                  <a:srgbClr val="2E5BFF"/>
                </a:solidFill>
              </a:rPr>
              <a:t>DimProduct</a:t>
            </a:r>
            <a:endParaRPr lang="en-US" sz="1000" dirty="0"/>
          </a:p>
        </p:txBody>
      </p:sp>
      <p:sp>
        <p:nvSpPr>
          <p:cNvPr id="32" name="Shape 30"/>
          <p:cNvSpPr/>
          <p:nvPr/>
        </p:nvSpPr>
        <p:spPr>
          <a:xfrm>
            <a:off x="9784080" y="4636008"/>
            <a:ext cx="1645920" cy="310896"/>
          </a:xfrm>
          <a:prstGeom prst="roundRect">
            <a:avLst>
              <a:gd name="adj" fmla="val 23529"/>
            </a:avLst>
          </a:prstGeom>
          <a:solidFill>
            <a:srgbClr val="EEF2FF"/>
          </a:solidFill>
          <a:ln w="12700">
            <a:solidFill>
              <a:srgbClr val="EEF2FF"/>
            </a:solidFill>
            <a:prstDash val="solid"/>
          </a:ln>
        </p:spPr>
      </p:sp>
      <p:sp>
        <p:nvSpPr>
          <p:cNvPr id="33" name="Text 31"/>
          <p:cNvSpPr/>
          <p:nvPr/>
        </p:nvSpPr>
        <p:spPr>
          <a:xfrm>
            <a:off x="9857232" y="4700016"/>
            <a:ext cx="1499616" cy="146304"/>
          </a:xfrm>
          <a:prstGeom prst="rect">
            <a:avLst/>
          </a:prstGeom>
          <a:noFill/>
          <a:ln/>
        </p:spPr>
        <p:txBody>
          <a:bodyPr wrap="square" lIns="0" tIns="0" rIns="0" bIns="0" rtlCol="0" anchor="ctr"/>
          <a:lstStyle/>
          <a:p>
            <a:pPr algn="ctr" indent="0" marL="0">
              <a:buNone/>
            </a:pPr>
            <a:r>
              <a:rPr lang="en-US" sz="1000" b="1" dirty="0">
                <a:solidFill>
                  <a:srgbClr val="2E5BFF"/>
                </a:solidFill>
              </a:rPr>
              <a:t>DimStore</a:t>
            </a:r>
            <a:endParaRPr lang="en-US" sz="1000" dirty="0"/>
          </a:p>
        </p:txBody>
      </p:sp>
      <p:sp>
        <p:nvSpPr>
          <p:cNvPr id="34" name="Text 32"/>
          <p:cNvSpPr/>
          <p:nvPr/>
        </p:nvSpPr>
        <p:spPr>
          <a:xfrm>
            <a:off x="3291840" y="5687568"/>
            <a:ext cx="5577840" cy="320040"/>
          </a:xfrm>
          <a:prstGeom prst="rect">
            <a:avLst/>
          </a:prstGeom>
          <a:noFill/>
          <a:ln/>
        </p:spPr>
        <p:txBody>
          <a:bodyPr wrap="square" lIns="0" tIns="0" rIns="0" bIns="0" rtlCol="0" anchor="ctr"/>
          <a:lstStyle/>
          <a:p>
            <a:pPr algn="ctr" indent="0" marL="0">
              <a:buNone/>
            </a:pPr>
            <a:r>
              <a:rPr lang="en-US" sz="1800" b="1" dirty="0">
                <a:solidFill>
                  <a:srgbClr val="15233C"/>
                </a:solidFill>
              </a:rPr>
              <a:t>Every lab builds on the previous one.</a:t>
            </a:r>
            <a:endParaRPr lang="en-US" sz="18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BI → ML</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The Warehouse is Not the End — It Becomes the Mining Source</a:t>
            </a:r>
            <a:endParaRPr lang="en-US" sz="2800" dirty="0"/>
          </a:p>
        </p:txBody>
      </p:sp>
      <p:sp>
        <p:nvSpPr>
          <p:cNvPr id="4" name="Shape 2"/>
          <p:cNvSpPr/>
          <p:nvPr/>
        </p:nvSpPr>
        <p:spPr>
          <a:xfrm>
            <a:off x="777240" y="1874520"/>
            <a:ext cx="2971800" cy="1143000"/>
          </a:xfrm>
          <a:prstGeom prst="roundRect">
            <a:avLst>
              <a:gd name="adj" fmla="val 4800"/>
            </a:avLst>
          </a:prstGeom>
          <a:solidFill>
            <a:srgbClr val="FAF0CE"/>
          </a:solidFill>
          <a:ln w="12700">
            <a:solidFill>
              <a:srgbClr val="FAF0CE"/>
            </a:solidFill>
            <a:prstDash val="solid"/>
          </a:ln>
        </p:spPr>
      </p:sp>
      <p:sp>
        <p:nvSpPr>
          <p:cNvPr id="5" name="Text 3"/>
          <p:cNvSpPr/>
          <p:nvPr/>
        </p:nvSpPr>
        <p:spPr>
          <a:xfrm>
            <a:off x="822960" y="1920240"/>
            <a:ext cx="2880360" cy="1051560"/>
          </a:xfrm>
          <a:prstGeom prst="rect">
            <a:avLst/>
          </a:prstGeom>
          <a:noFill/>
          <a:ln/>
        </p:spPr>
        <p:txBody>
          <a:bodyPr wrap="square" lIns="254" tIns="254" rIns="254" bIns="254" rtlCol="0" anchor="ctr">
            <a:normAutofit/>
          </a:bodyPr>
          <a:lstStyle/>
          <a:p>
            <a:pPr algn="ctr" indent="0" marL="0">
              <a:buNone/>
            </a:pPr>
            <a:r>
              <a:rPr lang="en-US" sz="2400" b="1" dirty="0">
                <a:solidFill>
                  <a:srgbClr val="D4A017"/>
                </a:solidFill>
              </a:rPr>
              <a:t>GOLD</a:t>
            </a:r>
            <a:endParaRPr lang="en-US" sz="2400" dirty="0"/>
          </a:p>
          <a:p>
            <a:pPr algn="ctr" indent="0" marL="0">
              <a:buNone/>
            </a:pPr>
            <a:r>
              <a:rPr lang="en-US" sz="2400" b="1" dirty="0">
                <a:solidFill>
                  <a:srgbClr val="D4A017"/>
                </a:solidFill>
              </a:rPr>
              <a:t>WAREHOUSE</a:t>
            </a:r>
            <a:endParaRPr lang="en-US" sz="2400" dirty="0"/>
          </a:p>
        </p:txBody>
      </p:sp>
      <p:sp>
        <p:nvSpPr>
          <p:cNvPr id="6" name="Shape 4"/>
          <p:cNvSpPr/>
          <p:nvPr/>
        </p:nvSpPr>
        <p:spPr>
          <a:xfrm>
            <a:off x="3749040" y="2441448"/>
            <a:ext cx="822960" cy="0"/>
          </a:xfrm>
          <a:prstGeom prst="line">
            <a:avLst/>
          </a:prstGeom>
          <a:noFill/>
          <a:ln w="38100">
            <a:solidFill>
              <a:srgbClr val="98A2B3"/>
            </a:solidFill>
            <a:prstDash val="solid"/>
            <a:headEnd type="none"/>
            <a:tailEnd type="triangle"/>
          </a:ln>
        </p:spPr>
      </p:sp>
      <p:sp>
        <p:nvSpPr>
          <p:cNvPr id="7" name="Shape 5"/>
          <p:cNvSpPr/>
          <p:nvPr/>
        </p:nvSpPr>
        <p:spPr>
          <a:xfrm>
            <a:off x="4572000" y="1874520"/>
            <a:ext cx="2971800" cy="1143000"/>
          </a:xfrm>
          <a:prstGeom prst="roundRect">
            <a:avLst>
              <a:gd name="adj" fmla="val 4800"/>
            </a:avLst>
          </a:prstGeom>
          <a:solidFill>
            <a:srgbClr val="E9F6F2"/>
          </a:solidFill>
          <a:ln w="12700">
            <a:solidFill>
              <a:srgbClr val="E9F6F2"/>
            </a:solidFill>
            <a:prstDash val="solid"/>
          </a:ln>
        </p:spPr>
      </p:sp>
      <p:sp>
        <p:nvSpPr>
          <p:cNvPr id="8" name="Text 6"/>
          <p:cNvSpPr/>
          <p:nvPr/>
        </p:nvSpPr>
        <p:spPr>
          <a:xfrm>
            <a:off x="4617720" y="1920240"/>
            <a:ext cx="2880360" cy="1051560"/>
          </a:xfrm>
          <a:prstGeom prst="rect">
            <a:avLst/>
          </a:prstGeom>
          <a:noFill/>
          <a:ln/>
        </p:spPr>
        <p:txBody>
          <a:bodyPr wrap="square" lIns="254" tIns="254" rIns="254" bIns="254" rtlCol="0" anchor="ctr">
            <a:normAutofit/>
          </a:bodyPr>
          <a:lstStyle/>
          <a:p>
            <a:pPr algn="ctr" indent="0" marL="0">
              <a:buNone/>
            </a:pPr>
            <a:r>
              <a:rPr lang="en-US" sz="2400" b="1" dirty="0">
                <a:solidFill>
                  <a:srgbClr val="0F766E"/>
                </a:solidFill>
              </a:rPr>
              <a:t>FEATURE</a:t>
            </a:r>
            <a:endParaRPr lang="en-US" sz="2400" dirty="0"/>
          </a:p>
          <a:p>
            <a:pPr algn="ctr" indent="0" marL="0">
              <a:buNone/>
            </a:pPr>
            <a:r>
              <a:rPr lang="en-US" sz="2400" b="1" dirty="0">
                <a:solidFill>
                  <a:srgbClr val="0F766E"/>
                </a:solidFill>
              </a:rPr>
              <a:t>MARTS</a:t>
            </a:r>
            <a:endParaRPr lang="en-US" sz="2400" dirty="0"/>
          </a:p>
        </p:txBody>
      </p:sp>
      <p:sp>
        <p:nvSpPr>
          <p:cNvPr id="9" name="Shape 7"/>
          <p:cNvSpPr/>
          <p:nvPr/>
        </p:nvSpPr>
        <p:spPr>
          <a:xfrm>
            <a:off x="7543800" y="2441448"/>
            <a:ext cx="685800" cy="0"/>
          </a:xfrm>
          <a:prstGeom prst="line">
            <a:avLst/>
          </a:prstGeom>
          <a:noFill/>
          <a:ln w="38100">
            <a:solidFill>
              <a:srgbClr val="98A2B3"/>
            </a:solidFill>
            <a:prstDash val="solid"/>
            <a:headEnd type="none"/>
            <a:tailEnd type="triangle"/>
          </a:ln>
        </p:spPr>
      </p:sp>
      <p:sp>
        <p:nvSpPr>
          <p:cNvPr id="10" name="Shape 8"/>
          <p:cNvSpPr/>
          <p:nvPr/>
        </p:nvSpPr>
        <p:spPr>
          <a:xfrm>
            <a:off x="8229600" y="1143000"/>
            <a:ext cx="3108960" cy="1188720"/>
          </a:xfrm>
          <a:prstGeom prst="roundRect">
            <a:avLst>
              <a:gd name="adj" fmla="val 6154"/>
            </a:avLst>
          </a:prstGeom>
          <a:solidFill>
            <a:srgbClr val="FFFFFF"/>
          </a:solidFill>
          <a:ln w="12700">
            <a:solidFill>
              <a:srgbClr val="D9E0E8"/>
            </a:solidFill>
            <a:prstDash val="solid"/>
          </a:ln>
        </p:spPr>
      </p:sp>
      <p:sp>
        <p:nvSpPr>
          <p:cNvPr id="11" name="Shape 9"/>
          <p:cNvSpPr/>
          <p:nvPr/>
        </p:nvSpPr>
        <p:spPr>
          <a:xfrm>
            <a:off x="8229600" y="1143000"/>
            <a:ext cx="64008" cy="1188720"/>
          </a:xfrm>
          <a:prstGeom prst="rect">
            <a:avLst/>
          </a:prstGeom>
          <a:solidFill>
            <a:srgbClr val="E53935"/>
          </a:solidFill>
          <a:ln w="12700">
            <a:solidFill>
              <a:srgbClr val="E53935"/>
            </a:solidFill>
            <a:prstDash val="solid"/>
          </a:ln>
        </p:spPr>
      </p:sp>
      <p:sp>
        <p:nvSpPr>
          <p:cNvPr id="12" name="Text 10"/>
          <p:cNvSpPr/>
          <p:nvPr/>
        </p:nvSpPr>
        <p:spPr>
          <a:xfrm>
            <a:off x="8458200" y="1307592"/>
            <a:ext cx="2697480" cy="256032"/>
          </a:xfrm>
          <a:prstGeom prst="rect">
            <a:avLst/>
          </a:prstGeom>
          <a:noFill/>
          <a:ln/>
        </p:spPr>
        <p:txBody>
          <a:bodyPr wrap="square" lIns="0" tIns="0" rIns="0" bIns="0" rtlCol="0" anchor="ctr"/>
          <a:lstStyle/>
          <a:p>
            <a:pPr indent="0" marL="0">
              <a:buNone/>
            </a:pPr>
            <a:r>
              <a:rPr lang="en-US" sz="1600" b="1" dirty="0">
                <a:solidFill>
                  <a:srgbClr val="15233C"/>
                </a:solidFill>
              </a:rPr>
              <a:t>Classification</a:t>
            </a:r>
            <a:endParaRPr lang="en-US" sz="1600" dirty="0"/>
          </a:p>
        </p:txBody>
      </p:sp>
      <p:sp>
        <p:nvSpPr>
          <p:cNvPr id="13" name="Text 11"/>
          <p:cNvSpPr/>
          <p:nvPr/>
        </p:nvSpPr>
        <p:spPr>
          <a:xfrm>
            <a:off x="8458200" y="1709928"/>
            <a:ext cx="2697480" cy="475488"/>
          </a:xfrm>
          <a:prstGeom prst="rect">
            <a:avLst/>
          </a:prstGeom>
          <a:noFill/>
          <a:ln/>
        </p:spPr>
        <p:txBody>
          <a:bodyPr wrap="square" lIns="254" tIns="254" rIns="254" bIns="254" rtlCol="0" anchor="t">
            <a:normAutofit/>
          </a:bodyPr>
          <a:lstStyle/>
          <a:p>
            <a:pPr indent="0" marL="0">
              <a:buNone/>
            </a:pPr>
            <a:r>
              <a:rPr lang="en-US" sz="1230" dirty="0">
                <a:solidFill>
                  <a:srgbClr val="1F2937"/>
                </a:solidFill>
              </a:rPr>
              <a:t>KNN • Decision Trees • Naïve Bayes</a:t>
            </a:r>
            <a:endParaRPr lang="en-US" sz="1230" dirty="0"/>
          </a:p>
        </p:txBody>
      </p:sp>
      <p:sp>
        <p:nvSpPr>
          <p:cNvPr id="14" name="Shape 12"/>
          <p:cNvSpPr/>
          <p:nvPr/>
        </p:nvSpPr>
        <p:spPr>
          <a:xfrm>
            <a:off x="8229600" y="2606040"/>
            <a:ext cx="3108960" cy="1188720"/>
          </a:xfrm>
          <a:prstGeom prst="roundRect">
            <a:avLst>
              <a:gd name="adj" fmla="val 6154"/>
            </a:avLst>
          </a:prstGeom>
          <a:solidFill>
            <a:srgbClr val="FFFFFF"/>
          </a:solidFill>
          <a:ln w="12700">
            <a:solidFill>
              <a:srgbClr val="D9E0E8"/>
            </a:solidFill>
            <a:prstDash val="solid"/>
          </a:ln>
        </p:spPr>
      </p:sp>
      <p:sp>
        <p:nvSpPr>
          <p:cNvPr id="15" name="Shape 13"/>
          <p:cNvSpPr/>
          <p:nvPr/>
        </p:nvSpPr>
        <p:spPr>
          <a:xfrm>
            <a:off x="8229600" y="2606040"/>
            <a:ext cx="64008" cy="1188720"/>
          </a:xfrm>
          <a:prstGeom prst="rect">
            <a:avLst/>
          </a:prstGeom>
          <a:solidFill>
            <a:srgbClr val="2E5BFF"/>
          </a:solidFill>
          <a:ln w="12700">
            <a:solidFill>
              <a:srgbClr val="2E5BFF"/>
            </a:solidFill>
            <a:prstDash val="solid"/>
          </a:ln>
        </p:spPr>
      </p:sp>
      <p:sp>
        <p:nvSpPr>
          <p:cNvPr id="16" name="Text 14"/>
          <p:cNvSpPr/>
          <p:nvPr/>
        </p:nvSpPr>
        <p:spPr>
          <a:xfrm>
            <a:off x="8458200" y="2770632"/>
            <a:ext cx="2697480" cy="256032"/>
          </a:xfrm>
          <a:prstGeom prst="rect">
            <a:avLst/>
          </a:prstGeom>
          <a:noFill/>
          <a:ln/>
        </p:spPr>
        <p:txBody>
          <a:bodyPr wrap="square" lIns="0" tIns="0" rIns="0" bIns="0" rtlCol="0" anchor="ctr"/>
          <a:lstStyle/>
          <a:p>
            <a:pPr indent="0" marL="0">
              <a:buNone/>
            </a:pPr>
            <a:r>
              <a:rPr lang="en-US" sz="1600" b="1" dirty="0">
                <a:solidFill>
                  <a:srgbClr val="15233C"/>
                </a:solidFill>
              </a:rPr>
              <a:t>Clustering</a:t>
            </a:r>
            <a:endParaRPr lang="en-US" sz="1600" dirty="0"/>
          </a:p>
        </p:txBody>
      </p:sp>
      <p:sp>
        <p:nvSpPr>
          <p:cNvPr id="17" name="Text 15"/>
          <p:cNvSpPr/>
          <p:nvPr/>
        </p:nvSpPr>
        <p:spPr>
          <a:xfrm>
            <a:off x="8458200" y="3172968"/>
            <a:ext cx="2697480" cy="475488"/>
          </a:xfrm>
          <a:prstGeom prst="rect">
            <a:avLst/>
          </a:prstGeom>
          <a:noFill/>
          <a:ln/>
        </p:spPr>
        <p:txBody>
          <a:bodyPr wrap="square" lIns="254" tIns="254" rIns="254" bIns="254" rtlCol="0" anchor="t">
            <a:normAutofit/>
          </a:bodyPr>
          <a:lstStyle/>
          <a:p>
            <a:pPr indent="0" marL="0">
              <a:buNone/>
            </a:pPr>
            <a:r>
              <a:rPr lang="en-US" sz="1230" dirty="0">
                <a:solidFill>
                  <a:srgbClr val="1F2937"/>
                </a:solidFill>
              </a:rPr>
              <a:t>K-Means • DBSCAN</a:t>
            </a:r>
            <a:endParaRPr lang="en-US" sz="1230" dirty="0"/>
          </a:p>
        </p:txBody>
      </p:sp>
      <p:sp>
        <p:nvSpPr>
          <p:cNvPr id="18" name="Shape 16"/>
          <p:cNvSpPr/>
          <p:nvPr/>
        </p:nvSpPr>
        <p:spPr>
          <a:xfrm>
            <a:off x="8229600" y="4069080"/>
            <a:ext cx="3108960" cy="1188720"/>
          </a:xfrm>
          <a:prstGeom prst="roundRect">
            <a:avLst>
              <a:gd name="adj" fmla="val 6154"/>
            </a:avLst>
          </a:prstGeom>
          <a:solidFill>
            <a:srgbClr val="FFFFFF"/>
          </a:solidFill>
          <a:ln w="12700">
            <a:solidFill>
              <a:srgbClr val="D9E0E8"/>
            </a:solidFill>
            <a:prstDash val="solid"/>
          </a:ln>
        </p:spPr>
      </p:sp>
      <p:sp>
        <p:nvSpPr>
          <p:cNvPr id="19" name="Shape 17"/>
          <p:cNvSpPr/>
          <p:nvPr/>
        </p:nvSpPr>
        <p:spPr>
          <a:xfrm>
            <a:off x="8229600" y="4069080"/>
            <a:ext cx="64008" cy="1188720"/>
          </a:xfrm>
          <a:prstGeom prst="rect">
            <a:avLst/>
          </a:prstGeom>
          <a:solidFill>
            <a:srgbClr val="7C3AED"/>
          </a:solidFill>
          <a:ln w="12700">
            <a:solidFill>
              <a:srgbClr val="7C3AED"/>
            </a:solidFill>
            <a:prstDash val="solid"/>
          </a:ln>
        </p:spPr>
      </p:sp>
      <p:sp>
        <p:nvSpPr>
          <p:cNvPr id="20" name="Text 18"/>
          <p:cNvSpPr/>
          <p:nvPr/>
        </p:nvSpPr>
        <p:spPr>
          <a:xfrm>
            <a:off x="8458200" y="4233672"/>
            <a:ext cx="2697480" cy="256032"/>
          </a:xfrm>
          <a:prstGeom prst="rect">
            <a:avLst/>
          </a:prstGeom>
          <a:noFill/>
          <a:ln/>
        </p:spPr>
        <p:txBody>
          <a:bodyPr wrap="square" lIns="0" tIns="0" rIns="0" bIns="0" rtlCol="0" anchor="ctr"/>
          <a:lstStyle/>
          <a:p>
            <a:pPr indent="0" marL="0">
              <a:buNone/>
            </a:pPr>
            <a:r>
              <a:rPr lang="en-US" sz="1600" b="1" dirty="0">
                <a:solidFill>
                  <a:srgbClr val="15233C"/>
                </a:solidFill>
              </a:rPr>
              <a:t>Association Rules</a:t>
            </a:r>
            <a:endParaRPr lang="en-US" sz="1600" dirty="0"/>
          </a:p>
        </p:txBody>
      </p:sp>
      <p:sp>
        <p:nvSpPr>
          <p:cNvPr id="21" name="Text 19"/>
          <p:cNvSpPr/>
          <p:nvPr/>
        </p:nvSpPr>
        <p:spPr>
          <a:xfrm>
            <a:off x="8458200" y="4636008"/>
            <a:ext cx="2697480" cy="475488"/>
          </a:xfrm>
          <a:prstGeom prst="rect">
            <a:avLst/>
          </a:prstGeom>
          <a:noFill/>
          <a:ln/>
        </p:spPr>
        <p:txBody>
          <a:bodyPr wrap="square" lIns="254" tIns="254" rIns="254" bIns="254" rtlCol="0" anchor="t">
            <a:normAutofit/>
          </a:bodyPr>
          <a:lstStyle/>
          <a:p>
            <a:pPr indent="0" marL="0">
              <a:buNone/>
            </a:pPr>
            <a:r>
              <a:rPr lang="en-US" sz="1230" dirty="0">
                <a:solidFill>
                  <a:srgbClr val="1F2937"/>
                </a:solidFill>
              </a:rPr>
              <a:t>Apriori • FP-Growth</a:t>
            </a:r>
            <a:endParaRPr lang="en-US" sz="1230" dirty="0"/>
          </a:p>
        </p:txBody>
      </p:sp>
      <p:sp>
        <p:nvSpPr>
          <p:cNvPr id="22" name="Text 20"/>
          <p:cNvSpPr/>
          <p:nvPr/>
        </p:nvSpPr>
        <p:spPr>
          <a:xfrm>
            <a:off x="1097280" y="5394960"/>
            <a:ext cx="9784080" cy="411480"/>
          </a:xfrm>
          <a:prstGeom prst="rect">
            <a:avLst/>
          </a:prstGeom>
          <a:noFill/>
          <a:ln/>
        </p:spPr>
        <p:txBody>
          <a:bodyPr wrap="square" lIns="0" tIns="0" rIns="0" bIns="0" rtlCol="0" anchor="ctr"/>
          <a:lstStyle/>
          <a:p>
            <a:pPr algn="ctr" indent="0" marL="0">
              <a:buNone/>
            </a:pPr>
            <a:r>
              <a:rPr lang="en-US" sz="1900" b="1" dirty="0">
                <a:solidFill>
                  <a:srgbClr val="15233C"/>
                </a:solidFill>
              </a:rPr>
              <a:t>The same integrated historical data supports dashboards AND machine learning.</a:t>
            </a:r>
            <a:endParaRPr lang="en-US" sz="19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CLUSTERING</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Example — DW to Customer Segmentation</a:t>
            </a:r>
            <a:endParaRPr lang="en-US" sz="2800" dirty="0"/>
          </a:p>
        </p:txBody>
      </p:sp>
      <p:sp>
        <p:nvSpPr>
          <p:cNvPr id="4" name="Shape 2"/>
          <p:cNvSpPr/>
          <p:nvPr/>
        </p:nvSpPr>
        <p:spPr>
          <a:xfrm>
            <a:off x="576072" y="1490472"/>
            <a:ext cx="594360" cy="594360"/>
          </a:xfrm>
          <a:prstGeom prst="ellipse">
            <a:avLst/>
          </a:prstGeom>
          <a:solidFill>
            <a:srgbClr val="15233C"/>
          </a:solidFill>
          <a:ln w="12700">
            <a:solidFill>
              <a:srgbClr val="15233C"/>
            </a:solidFill>
            <a:prstDash val="solid"/>
          </a:ln>
        </p:spPr>
      </p:sp>
      <p:sp>
        <p:nvSpPr>
          <p:cNvPr id="5" name="Text 3"/>
          <p:cNvSpPr/>
          <p:nvPr/>
        </p:nvSpPr>
        <p:spPr>
          <a:xfrm>
            <a:off x="576072" y="1645920"/>
            <a:ext cx="594360" cy="1828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Shape 4"/>
          <p:cNvSpPr/>
          <p:nvPr/>
        </p:nvSpPr>
        <p:spPr>
          <a:xfrm>
            <a:off x="576072" y="2331720"/>
            <a:ext cx="2011680" cy="2331720"/>
          </a:xfrm>
          <a:prstGeom prst="roundRect">
            <a:avLst>
              <a:gd name="adj" fmla="val 3636"/>
            </a:avLst>
          </a:prstGeom>
          <a:solidFill>
            <a:srgbClr val="FFFFFF"/>
          </a:solidFill>
          <a:ln w="12700">
            <a:solidFill>
              <a:srgbClr val="D9E0E8"/>
            </a:solidFill>
            <a:prstDash val="solid"/>
          </a:ln>
        </p:spPr>
      </p:sp>
      <p:sp>
        <p:nvSpPr>
          <p:cNvPr id="7" name="Shape 5"/>
          <p:cNvSpPr/>
          <p:nvPr/>
        </p:nvSpPr>
        <p:spPr>
          <a:xfrm>
            <a:off x="576072" y="2331720"/>
            <a:ext cx="64008" cy="2331720"/>
          </a:xfrm>
          <a:prstGeom prst="rect">
            <a:avLst/>
          </a:prstGeom>
          <a:solidFill>
            <a:srgbClr val="2E5BFF"/>
          </a:solidFill>
          <a:ln w="12700">
            <a:solidFill>
              <a:srgbClr val="2E5BFF"/>
            </a:solidFill>
            <a:prstDash val="solid"/>
          </a:ln>
        </p:spPr>
      </p:sp>
      <p:sp>
        <p:nvSpPr>
          <p:cNvPr id="8" name="Text 6"/>
          <p:cNvSpPr/>
          <p:nvPr/>
        </p:nvSpPr>
        <p:spPr>
          <a:xfrm>
            <a:off x="804672" y="2496312"/>
            <a:ext cx="1600200" cy="256032"/>
          </a:xfrm>
          <a:prstGeom prst="rect">
            <a:avLst/>
          </a:prstGeom>
          <a:noFill/>
          <a:ln/>
        </p:spPr>
        <p:txBody>
          <a:bodyPr wrap="square" lIns="0" tIns="0" rIns="0" bIns="0" rtlCol="0" anchor="ctr"/>
          <a:lstStyle/>
          <a:p>
            <a:pPr indent="0" marL="0">
              <a:buNone/>
            </a:pPr>
            <a:r>
              <a:rPr lang="en-US" sz="1700" b="1" dirty="0">
                <a:solidFill>
                  <a:srgbClr val="15233C"/>
                </a:solidFill>
              </a:rPr>
              <a:t>Query</a:t>
            </a:r>
            <a:endParaRPr lang="en-US" sz="1700" dirty="0"/>
          </a:p>
        </p:txBody>
      </p:sp>
      <p:sp>
        <p:nvSpPr>
          <p:cNvPr id="9" name="Text 7"/>
          <p:cNvSpPr/>
          <p:nvPr/>
        </p:nvSpPr>
        <p:spPr>
          <a:xfrm>
            <a:off x="804672" y="2898648"/>
            <a:ext cx="1600200" cy="1618488"/>
          </a:xfrm>
          <a:prstGeom prst="rect">
            <a:avLst/>
          </a:prstGeom>
          <a:noFill/>
          <a:ln/>
        </p:spPr>
        <p:txBody>
          <a:bodyPr wrap="square" lIns="254" tIns="254" rIns="254" bIns="254" rtlCol="0" anchor="t">
            <a:normAutofit/>
          </a:bodyPr>
          <a:lstStyle/>
          <a:p>
            <a:pPr indent="0" marL="0">
              <a:buNone/>
            </a:pPr>
            <a:r>
              <a:rPr lang="en-US" sz="1350" dirty="0">
                <a:solidFill>
                  <a:srgbClr val="1F2937"/>
                </a:solidFill>
              </a:rPr>
              <a:t>FactSales + DimCustomer</a:t>
            </a:r>
            <a:endParaRPr lang="en-US" sz="1350" dirty="0"/>
          </a:p>
        </p:txBody>
      </p:sp>
      <p:sp>
        <p:nvSpPr>
          <p:cNvPr id="10" name="Shape 8"/>
          <p:cNvSpPr/>
          <p:nvPr/>
        </p:nvSpPr>
        <p:spPr>
          <a:xfrm>
            <a:off x="2587752" y="3493008"/>
            <a:ext cx="246888" cy="0"/>
          </a:xfrm>
          <a:prstGeom prst="line">
            <a:avLst/>
          </a:prstGeom>
          <a:noFill/>
          <a:ln w="25400">
            <a:solidFill>
              <a:srgbClr val="9AA6B5"/>
            </a:solidFill>
            <a:prstDash val="solid"/>
            <a:headEnd type="none"/>
            <a:tailEnd type="triangle"/>
          </a:ln>
        </p:spPr>
      </p:sp>
      <p:sp>
        <p:nvSpPr>
          <p:cNvPr id="11" name="Shape 9"/>
          <p:cNvSpPr/>
          <p:nvPr/>
        </p:nvSpPr>
        <p:spPr>
          <a:xfrm>
            <a:off x="2880360" y="1490472"/>
            <a:ext cx="594360" cy="594360"/>
          </a:xfrm>
          <a:prstGeom prst="ellipse">
            <a:avLst/>
          </a:prstGeom>
          <a:solidFill>
            <a:srgbClr val="15233C"/>
          </a:solidFill>
          <a:ln w="12700">
            <a:solidFill>
              <a:srgbClr val="15233C"/>
            </a:solidFill>
            <a:prstDash val="solid"/>
          </a:ln>
        </p:spPr>
      </p:sp>
      <p:sp>
        <p:nvSpPr>
          <p:cNvPr id="12" name="Text 10"/>
          <p:cNvSpPr/>
          <p:nvPr/>
        </p:nvSpPr>
        <p:spPr>
          <a:xfrm>
            <a:off x="2880360" y="1645920"/>
            <a:ext cx="594360" cy="1828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3" name="Shape 11"/>
          <p:cNvSpPr/>
          <p:nvPr/>
        </p:nvSpPr>
        <p:spPr>
          <a:xfrm>
            <a:off x="2880360" y="2331720"/>
            <a:ext cx="2011680" cy="2331720"/>
          </a:xfrm>
          <a:prstGeom prst="roundRect">
            <a:avLst>
              <a:gd name="adj" fmla="val 3636"/>
            </a:avLst>
          </a:prstGeom>
          <a:solidFill>
            <a:srgbClr val="FFFFFF"/>
          </a:solidFill>
          <a:ln w="12700">
            <a:solidFill>
              <a:srgbClr val="D9E0E8"/>
            </a:solidFill>
            <a:prstDash val="solid"/>
          </a:ln>
        </p:spPr>
      </p:sp>
      <p:sp>
        <p:nvSpPr>
          <p:cNvPr id="14" name="Shape 12"/>
          <p:cNvSpPr/>
          <p:nvPr/>
        </p:nvSpPr>
        <p:spPr>
          <a:xfrm>
            <a:off x="2880360" y="2331720"/>
            <a:ext cx="64008" cy="2331720"/>
          </a:xfrm>
          <a:prstGeom prst="rect">
            <a:avLst/>
          </a:prstGeom>
          <a:solidFill>
            <a:srgbClr val="0F766E"/>
          </a:solidFill>
          <a:ln w="12700">
            <a:solidFill>
              <a:srgbClr val="0F766E"/>
            </a:solidFill>
            <a:prstDash val="solid"/>
          </a:ln>
        </p:spPr>
      </p:sp>
      <p:sp>
        <p:nvSpPr>
          <p:cNvPr id="15" name="Text 13"/>
          <p:cNvSpPr/>
          <p:nvPr/>
        </p:nvSpPr>
        <p:spPr>
          <a:xfrm>
            <a:off x="3108960" y="2496312"/>
            <a:ext cx="1600200" cy="256032"/>
          </a:xfrm>
          <a:prstGeom prst="rect">
            <a:avLst/>
          </a:prstGeom>
          <a:noFill/>
          <a:ln/>
        </p:spPr>
        <p:txBody>
          <a:bodyPr wrap="square" lIns="0" tIns="0" rIns="0" bIns="0" rtlCol="0" anchor="ctr"/>
          <a:lstStyle/>
          <a:p>
            <a:pPr indent="0" marL="0">
              <a:buNone/>
            </a:pPr>
            <a:r>
              <a:rPr lang="en-US" sz="1700" b="1" dirty="0">
                <a:solidFill>
                  <a:srgbClr val="15233C"/>
                </a:solidFill>
              </a:rPr>
              <a:t>Aggregate</a:t>
            </a:r>
            <a:endParaRPr lang="en-US" sz="1700" dirty="0"/>
          </a:p>
        </p:txBody>
      </p:sp>
      <p:sp>
        <p:nvSpPr>
          <p:cNvPr id="16" name="Text 14"/>
          <p:cNvSpPr/>
          <p:nvPr/>
        </p:nvSpPr>
        <p:spPr>
          <a:xfrm>
            <a:off x="3108960" y="2898648"/>
            <a:ext cx="1600200" cy="1618488"/>
          </a:xfrm>
          <a:prstGeom prst="rect">
            <a:avLst/>
          </a:prstGeom>
          <a:noFill/>
          <a:ln/>
        </p:spPr>
        <p:txBody>
          <a:bodyPr wrap="square" lIns="254" tIns="254" rIns="254" bIns="254" rtlCol="0" anchor="t">
            <a:normAutofit/>
          </a:bodyPr>
          <a:lstStyle/>
          <a:p>
            <a:pPr indent="0" marL="0">
              <a:buNone/>
            </a:pPr>
            <a:r>
              <a:rPr lang="en-US" sz="1350" dirty="0">
                <a:solidFill>
                  <a:srgbClr val="1F2937"/>
                </a:solidFill>
              </a:rPr>
              <a:t>Purchasing behaviour by customer</a:t>
            </a:r>
            <a:endParaRPr lang="en-US" sz="1350" dirty="0"/>
          </a:p>
        </p:txBody>
      </p:sp>
      <p:sp>
        <p:nvSpPr>
          <p:cNvPr id="17" name="Shape 15"/>
          <p:cNvSpPr/>
          <p:nvPr/>
        </p:nvSpPr>
        <p:spPr>
          <a:xfrm>
            <a:off x="4892040" y="3493008"/>
            <a:ext cx="246888" cy="0"/>
          </a:xfrm>
          <a:prstGeom prst="line">
            <a:avLst/>
          </a:prstGeom>
          <a:noFill/>
          <a:ln w="25400">
            <a:solidFill>
              <a:srgbClr val="9AA6B5"/>
            </a:solidFill>
            <a:prstDash val="solid"/>
            <a:headEnd type="none"/>
            <a:tailEnd type="triangle"/>
          </a:ln>
        </p:spPr>
      </p:sp>
      <p:sp>
        <p:nvSpPr>
          <p:cNvPr id="18" name="Shape 16"/>
          <p:cNvSpPr/>
          <p:nvPr/>
        </p:nvSpPr>
        <p:spPr>
          <a:xfrm>
            <a:off x="5184648" y="1490472"/>
            <a:ext cx="594360" cy="594360"/>
          </a:xfrm>
          <a:prstGeom prst="ellipse">
            <a:avLst/>
          </a:prstGeom>
          <a:solidFill>
            <a:srgbClr val="15233C"/>
          </a:solidFill>
          <a:ln w="12700">
            <a:solidFill>
              <a:srgbClr val="15233C"/>
            </a:solidFill>
            <a:prstDash val="solid"/>
          </a:ln>
        </p:spPr>
      </p:sp>
      <p:sp>
        <p:nvSpPr>
          <p:cNvPr id="19" name="Text 17"/>
          <p:cNvSpPr/>
          <p:nvPr/>
        </p:nvSpPr>
        <p:spPr>
          <a:xfrm>
            <a:off x="5184648" y="1645920"/>
            <a:ext cx="594360" cy="1828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Shape 18"/>
          <p:cNvSpPr/>
          <p:nvPr/>
        </p:nvSpPr>
        <p:spPr>
          <a:xfrm>
            <a:off x="5184648" y="2331720"/>
            <a:ext cx="2011680" cy="2331720"/>
          </a:xfrm>
          <a:prstGeom prst="roundRect">
            <a:avLst>
              <a:gd name="adj" fmla="val 3636"/>
            </a:avLst>
          </a:prstGeom>
          <a:solidFill>
            <a:srgbClr val="FFFFFF"/>
          </a:solidFill>
          <a:ln w="12700">
            <a:solidFill>
              <a:srgbClr val="D9E0E8"/>
            </a:solidFill>
            <a:prstDash val="solid"/>
          </a:ln>
        </p:spPr>
      </p:sp>
      <p:sp>
        <p:nvSpPr>
          <p:cNvPr id="21" name="Shape 19"/>
          <p:cNvSpPr/>
          <p:nvPr/>
        </p:nvSpPr>
        <p:spPr>
          <a:xfrm>
            <a:off x="5184648" y="2331720"/>
            <a:ext cx="64008" cy="2331720"/>
          </a:xfrm>
          <a:prstGeom prst="rect">
            <a:avLst/>
          </a:prstGeom>
          <a:solidFill>
            <a:srgbClr val="F59E0B"/>
          </a:solidFill>
          <a:ln w="12700">
            <a:solidFill>
              <a:srgbClr val="F59E0B"/>
            </a:solidFill>
            <a:prstDash val="solid"/>
          </a:ln>
        </p:spPr>
      </p:sp>
      <p:sp>
        <p:nvSpPr>
          <p:cNvPr id="22" name="Text 20"/>
          <p:cNvSpPr/>
          <p:nvPr/>
        </p:nvSpPr>
        <p:spPr>
          <a:xfrm>
            <a:off x="5413248" y="2496312"/>
            <a:ext cx="1600200" cy="256032"/>
          </a:xfrm>
          <a:prstGeom prst="rect">
            <a:avLst/>
          </a:prstGeom>
          <a:noFill/>
          <a:ln/>
        </p:spPr>
        <p:txBody>
          <a:bodyPr wrap="square" lIns="0" tIns="0" rIns="0" bIns="0" rtlCol="0" anchor="ctr"/>
          <a:lstStyle/>
          <a:p>
            <a:pPr indent="0" marL="0">
              <a:buNone/>
            </a:pPr>
            <a:r>
              <a:rPr lang="en-US" sz="1700" b="1" dirty="0">
                <a:solidFill>
                  <a:srgbClr val="15233C"/>
                </a:solidFill>
              </a:rPr>
              <a:t>Engineer</a:t>
            </a:r>
            <a:endParaRPr lang="en-US" sz="1700" dirty="0"/>
          </a:p>
        </p:txBody>
      </p:sp>
      <p:sp>
        <p:nvSpPr>
          <p:cNvPr id="23" name="Text 21"/>
          <p:cNvSpPr/>
          <p:nvPr/>
        </p:nvSpPr>
        <p:spPr>
          <a:xfrm>
            <a:off x="5413248" y="2898648"/>
            <a:ext cx="1600200" cy="1618488"/>
          </a:xfrm>
          <a:prstGeom prst="rect">
            <a:avLst/>
          </a:prstGeom>
          <a:noFill/>
          <a:ln/>
        </p:spPr>
        <p:txBody>
          <a:bodyPr wrap="square" lIns="254" tIns="254" rIns="254" bIns="254" rtlCol="0" anchor="t">
            <a:normAutofit/>
          </a:bodyPr>
          <a:lstStyle/>
          <a:p>
            <a:pPr indent="0" marL="0">
              <a:buNone/>
            </a:pPr>
            <a:r>
              <a:rPr lang="en-US" sz="1350" dirty="0">
                <a:solidFill>
                  <a:srgbClr val="1F2937"/>
                </a:solidFill>
              </a:rPr>
              <a:t>RFM: recency, frequency, monetary</a:t>
            </a:r>
            <a:endParaRPr lang="en-US" sz="1350" dirty="0"/>
          </a:p>
        </p:txBody>
      </p:sp>
      <p:sp>
        <p:nvSpPr>
          <p:cNvPr id="24" name="Shape 22"/>
          <p:cNvSpPr/>
          <p:nvPr/>
        </p:nvSpPr>
        <p:spPr>
          <a:xfrm>
            <a:off x="7196328" y="3493008"/>
            <a:ext cx="246888" cy="0"/>
          </a:xfrm>
          <a:prstGeom prst="line">
            <a:avLst/>
          </a:prstGeom>
          <a:noFill/>
          <a:ln w="25400">
            <a:solidFill>
              <a:srgbClr val="9AA6B5"/>
            </a:solidFill>
            <a:prstDash val="solid"/>
            <a:headEnd type="none"/>
            <a:tailEnd type="triangle"/>
          </a:ln>
        </p:spPr>
      </p:sp>
      <p:sp>
        <p:nvSpPr>
          <p:cNvPr id="25" name="Shape 23"/>
          <p:cNvSpPr/>
          <p:nvPr/>
        </p:nvSpPr>
        <p:spPr>
          <a:xfrm>
            <a:off x="7488936" y="1490472"/>
            <a:ext cx="594360" cy="594360"/>
          </a:xfrm>
          <a:prstGeom prst="ellipse">
            <a:avLst/>
          </a:prstGeom>
          <a:solidFill>
            <a:srgbClr val="15233C"/>
          </a:solidFill>
          <a:ln w="12700">
            <a:solidFill>
              <a:srgbClr val="15233C"/>
            </a:solidFill>
            <a:prstDash val="solid"/>
          </a:ln>
        </p:spPr>
      </p:sp>
      <p:sp>
        <p:nvSpPr>
          <p:cNvPr id="26" name="Text 24"/>
          <p:cNvSpPr/>
          <p:nvPr/>
        </p:nvSpPr>
        <p:spPr>
          <a:xfrm>
            <a:off x="7488936" y="1645920"/>
            <a:ext cx="594360" cy="1828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7" name="Shape 25"/>
          <p:cNvSpPr/>
          <p:nvPr/>
        </p:nvSpPr>
        <p:spPr>
          <a:xfrm>
            <a:off x="7488936" y="2331720"/>
            <a:ext cx="2011680" cy="2331720"/>
          </a:xfrm>
          <a:prstGeom prst="roundRect">
            <a:avLst>
              <a:gd name="adj" fmla="val 3636"/>
            </a:avLst>
          </a:prstGeom>
          <a:solidFill>
            <a:srgbClr val="FFFFFF"/>
          </a:solidFill>
          <a:ln w="12700">
            <a:solidFill>
              <a:srgbClr val="D9E0E8"/>
            </a:solidFill>
            <a:prstDash val="solid"/>
          </a:ln>
        </p:spPr>
      </p:sp>
      <p:sp>
        <p:nvSpPr>
          <p:cNvPr id="28" name="Shape 26"/>
          <p:cNvSpPr/>
          <p:nvPr/>
        </p:nvSpPr>
        <p:spPr>
          <a:xfrm>
            <a:off x="7488936" y="2331720"/>
            <a:ext cx="64008" cy="2331720"/>
          </a:xfrm>
          <a:prstGeom prst="rect">
            <a:avLst/>
          </a:prstGeom>
          <a:solidFill>
            <a:srgbClr val="7C3AED"/>
          </a:solidFill>
          <a:ln w="12700">
            <a:solidFill>
              <a:srgbClr val="7C3AED"/>
            </a:solidFill>
            <a:prstDash val="solid"/>
          </a:ln>
        </p:spPr>
      </p:sp>
      <p:sp>
        <p:nvSpPr>
          <p:cNvPr id="29" name="Text 27"/>
          <p:cNvSpPr/>
          <p:nvPr/>
        </p:nvSpPr>
        <p:spPr>
          <a:xfrm>
            <a:off x="7717536" y="2496312"/>
            <a:ext cx="1600200" cy="256032"/>
          </a:xfrm>
          <a:prstGeom prst="rect">
            <a:avLst/>
          </a:prstGeom>
          <a:noFill/>
          <a:ln/>
        </p:spPr>
        <p:txBody>
          <a:bodyPr wrap="square" lIns="0" tIns="0" rIns="0" bIns="0" rtlCol="0" anchor="ctr"/>
          <a:lstStyle/>
          <a:p>
            <a:pPr indent="0" marL="0">
              <a:buNone/>
            </a:pPr>
            <a:r>
              <a:rPr lang="en-US" sz="1700" b="1" dirty="0">
                <a:solidFill>
                  <a:srgbClr val="15233C"/>
                </a:solidFill>
              </a:rPr>
              <a:t>Scale</a:t>
            </a:r>
            <a:endParaRPr lang="en-US" sz="1700" dirty="0"/>
          </a:p>
        </p:txBody>
      </p:sp>
      <p:sp>
        <p:nvSpPr>
          <p:cNvPr id="30" name="Text 28"/>
          <p:cNvSpPr/>
          <p:nvPr/>
        </p:nvSpPr>
        <p:spPr>
          <a:xfrm>
            <a:off x="7717536" y="2898648"/>
            <a:ext cx="1600200" cy="1618488"/>
          </a:xfrm>
          <a:prstGeom prst="rect">
            <a:avLst/>
          </a:prstGeom>
          <a:noFill/>
          <a:ln/>
        </p:spPr>
        <p:txBody>
          <a:bodyPr wrap="square" lIns="254" tIns="254" rIns="254" bIns="254" rtlCol="0" anchor="t">
            <a:normAutofit/>
          </a:bodyPr>
          <a:lstStyle/>
          <a:p>
            <a:pPr indent="0" marL="0">
              <a:buNone/>
            </a:pPr>
            <a:r>
              <a:rPr lang="en-US" sz="1350" dirty="0">
                <a:solidFill>
                  <a:srgbClr val="1F2937"/>
                </a:solidFill>
              </a:rPr>
              <a:t>Standardise features</a:t>
            </a:r>
            <a:endParaRPr lang="en-US" sz="1350" dirty="0"/>
          </a:p>
        </p:txBody>
      </p:sp>
      <p:sp>
        <p:nvSpPr>
          <p:cNvPr id="31" name="Shape 29"/>
          <p:cNvSpPr/>
          <p:nvPr/>
        </p:nvSpPr>
        <p:spPr>
          <a:xfrm>
            <a:off x="9500616" y="3493008"/>
            <a:ext cx="246888" cy="0"/>
          </a:xfrm>
          <a:prstGeom prst="line">
            <a:avLst/>
          </a:prstGeom>
          <a:noFill/>
          <a:ln w="25400">
            <a:solidFill>
              <a:srgbClr val="9AA6B5"/>
            </a:solidFill>
            <a:prstDash val="solid"/>
            <a:headEnd type="none"/>
            <a:tailEnd type="triangle"/>
          </a:ln>
        </p:spPr>
      </p:sp>
      <p:sp>
        <p:nvSpPr>
          <p:cNvPr id="32" name="Shape 30"/>
          <p:cNvSpPr/>
          <p:nvPr/>
        </p:nvSpPr>
        <p:spPr>
          <a:xfrm>
            <a:off x="9793224" y="1490472"/>
            <a:ext cx="594360" cy="594360"/>
          </a:xfrm>
          <a:prstGeom prst="ellipse">
            <a:avLst/>
          </a:prstGeom>
          <a:solidFill>
            <a:srgbClr val="E53935"/>
          </a:solidFill>
          <a:ln w="12700">
            <a:solidFill>
              <a:srgbClr val="E53935"/>
            </a:solidFill>
            <a:prstDash val="solid"/>
          </a:ln>
        </p:spPr>
      </p:sp>
      <p:sp>
        <p:nvSpPr>
          <p:cNvPr id="33" name="Text 31"/>
          <p:cNvSpPr/>
          <p:nvPr/>
        </p:nvSpPr>
        <p:spPr>
          <a:xfrm>
            <a:off x="9793224" y="1645920"/>
            <a:ext cx="594360" cy="18288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4" name="Shape 32"/>
          <p:cNvSpPr/>
          <p:nvPr/>
        </p:nvSpPr>
        <p:spPr>
          <a:xfrm>
            <a:off x="9793224" y="2331720"/>
            <a:ext cx="2011680" cy="2331720"/>
          </a:xfrm>
          <a:prstGeom prst="roundRect">
            <a:avLst>
              <a:gd name="adj" fmla="val 3636"/>
            </a:avLst>
          </a:prstGeom>
          <a:solidFill>
            <a:srgbClr val="FFFFFF"/>
          </a:solidFill>
          <a:ln w="12700">
            <a:solidFill>
              <a:srgbClr val="D9E0E8"/>
            </a:solidFill>
            <a:prstDash val="solid"/>
          </a:ln>
        </p:spPr>
      </p:sp>
      <p:sp>
        <p:nvSpPr>
          <p:cNvPr id="35" name="Shape 33"/>
          <p:cNvSpPr/>
          <p:nvPr/>
        </p:nvSpPr>
        <p:spPr>
          <a:xfrm>
            <a:off x="9793224" y="2331720"/>
            <a:ext cx="64008" cy="2331720"/>
          </a:xfrm>
          <a:prstGeom prst="rect">
            <a:avLst/>
          </a:prstGeom>
          <a:solidFill>
            <a:srgbClr val="E53935"/>
          </a:solidFill>
          <a:ln w="12700">
            <a:solidFill>
              <a:srgbClr val="E53935"/>
            </a:solidFill>
            <a:prstDash val="solid"/>
          </a:ln>
        </p:spPr>
      </p:sp>
      <p:sp>
        <p:nvSpPr>
          <p:cNvPr id="36" name="Text 34"/>
          <p:cNvSpPr/>
          <p:nvPr/>
        </p:nvSpPr>
        <p:spPr>
          <a:xfrm>
            <a:off x="10021824" y="2496312"/>
            <a:ext cx="1600200" cy="256032"/>
          </a:xfrm>
          <a:prstGeom prst="rect">
            <a:avLst/>
          </a:prstGeom>
          <a:noFill/>
          <a:ln/>
        </p:spPr>
        <p:txBody>
          <a:bodyPr wrap="square" lIns="0" tIns="0" rIns="0" bIns="0" rtlCol="0" anchor="ctr"/>
          <a:lstStyle/>
          <a:p>
            <a:pPr indent="0" marL="0">
              <a:buNone/>
            </a:pPr>
            <a:r>
              <a:rPr lang="en-US" sz="1700" b="1" dirty="0">
                <a:solidFill>
                  <a:srgbClr val="15233C"/>
                </a:solidFill>
              </a:rPr>
              <a:t>Cluster</a:t>
            </a:r>
            <a:endParaRPr lang="en-US" sz="1700" dirty="0"/>
          </a:p>
        </p:txBody>
      </p:sp>
      <p:sp>
        <p:nvSpPr>
          <p:cNvPr id="37" name="Text 35"/>
          <p:cNvSpPr/>
          <p:nvPr/>
        </p:nvSpPr>
        <p:spPr>
          <a:xfrm>
            <a:off x="10021824" y="2898648"/>
            <a:ext cx="1600200" cy="1618488"/>
          </a:xfrm>
          <a:prstGeom prst="rect">
            <a:avLst/>
          </a:prstGeom>
          <a:noFill/>
          <a:ln/>
        </p:spPr>
        <p:txBody>
          <a:bodyPr wrap="square" lIns="254" tIns="254" rIns="254" bIns="254" rtlCol="0" anchor="t">
            <a:normAutofit/>
          </a:bodyPr>
          <a:lstStyle/>
          <a:p>
            <a:pPr indent="0" marL="0">
              <a:buNone/>
            </a:pPr>
            <a:r>
              <a:rPr lang="en-US" sz="1350" dirty="0">
                <a:solidFill>
                  <a:srgbClr val="1F2937"/>
                </a:solidFill>
              </a:rPr>
              <a:t>Apply K-Means</a:t>
            </a:r>
            <a:endParaRPr lang="en-US" sz="1350" dirty="0"/>
          </a:p>
        </p:txBody>
      </p:sp>
      <p:sp>
        <p:nvSpPr>
          <p:cNvPr id="38" name="Text 36"/>
          <p:cNvSpPr/>
          <p:nvPr/>
        </p:nvSpPr>
        <p:spPr>
          <a:xfrm>
            <a:off x="1051560" y="5257800"/>
            <a:ext cx="10058400" cy="384048"/>
          </a:xfrm>
          <a:prstGeom prst="rect">
            <a:avLst/>
          </a:prstGeom>
          <a:noFill/>
          <a:ln/>
        </p:spPr>
        <p:txBody>
          <a:bodyPr wrap="square" lIns="0" tIns="0" rIns="0" bIns="0" rtlCol="0" anchor="ctr"/>
          <a:lstStyle/>
          <a:p>
            <a:pPr algn="ctr" indent="0" marL="0">
              <a:buNone/>
            </a:pPr>
            <a:r>
              <a:rPr lang="en-US" sz="1800" b="1" dirty="0">
                <a:solidFill>
                  <a:srgbClr val="15233C"/>
                </a:solidFill>
              </a:rPr>
              <a:t>Output: behavioural customer segments for analysis and targeting.</a:t>
            </a:r>
            <a:endParaRPr lang="en-US" sz="18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PREVENT TARGET LEAKAGE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Example — DW to Classification</a:t>
            </a:r>
            <a:endParaRPr lang="en-US" sz="2800" dirty="0"/>
          </a:p>
        </p:txBody>
      </p:sp>
      <p:sp>
        <p:nvSpPr>
          <p:cNvPr id="4" name="Shape 2"/>
          <p:cNvSpPr/>
          <p:nvPr/>
        </p:nvSpPr>
        <p:spPr>
          <a:xfrm>
            <a:off x="868680" y="1938528"/>
            <a:ext cx="4389120" cy="1170432"/>
          </a:xfrm>
          <a:prstGeom prst="roundRect">
            <a:avLst>
              <a:gd name="adj" fmla="val 4688"/>
            </a:avLst>
          </a:prstGeom>
          <a:solidFill>
            <a:srgbClr val="E8F0FF"/>
          </a:solidFill>
          <a:ln w="12700">
            <a:solidFill>
              <a:srgbClr val="E8F0FF"/>
            </a:solidFill>
            <a:prstDash val="solid"/>
          </a:ln>
        </p:spPr>
      </p:sp>
      <p:sp>
        <p:nvSpPr>
          <p:cNvPr id="5" name="Text 3"/>
          <p:cNvSpPr/>
          <p:nvPr/>
        </p:nvSpPr>
        <p:spPr>
          <a:xfrm>
            <a:off x="914400" y="1984248"/>
            <a:ext cx="4297680" cy="1078992"/>
          </a:xfrm>
          <a:prstGeom prst="rect">
            <a:avLst/>
          </a:prstGeom>
          <a:noFill/>
          <a:ln/>
        </p:spPr>
        <p:txBody>
          <a:bodyPr wrap="square" lIns="254" tIns="254" rIns="254" bIns="254" rtlCol="0" anchor="ctr">
            <a:normAutofit/>
          </a:bodyPr>
          <a:lstStyle/>
          <a:p>
            <a:pPr algn="ctr" indent="0" marL="0">
              <a:buNone/>
            </a:pPr>
            <a:r>
              <a:rPr lang="en-US" sz="2100" b="1" dirty="0">
                <a:solidFill>
                  <a:srgbClr val="2E5BFF"/>
                </a:solidFill>
              </a:rPr>
              <a:t>HISTORICAL WINDOW</a:t>
            </a:r>
            <a:endParaRPr lang="en-US" sz="2100" dirty="0"/>
          </a:p>
          <a:p>
            <a:pPr algn="ctr" indent="0" marL="0">
              <a:buNone/>
            </a:pPr>
            <a:r>
              <a:rPr lang="en-US" sz="2100" b="1" dirty="0">
                <a:solidFill>
                  <a:srgbClr val="2E5BFF"/>
                </a:solidFill>
              </a:rPr>
              <a:t>Features</a:t>
            </a:r>
            <a:endParaRPr lang="en-US" sz="2100" dirty="0"/>
          </a:p>
        </p:txBody>
      </p:sp>
      <p:sp>
        <p:nvSpPr>
          <p:cNvPr id="6" name="Shape 4"/>
          <p:cNvSpPr/>
          <p:nvPr/>
        </p:nvSpPr>
        <p:spPr>
          <a:xfrm>
            <a:off x="6967728" y="1938528"/>
            <a:ext cx="4389120" cy="1170432"/>
          </a:xfrm>
          <a:prstGeom prst="roundRect">
            <a:avLst>
              <a:gd name="adj" fmla="val 4688"/>
            </a:avLst>
          </a:prstGeom>
          <a:solidFill>
            <a:srgbClr val="FDECEC"/>
          </a:solidFill>
          <a:ln w="12700">
            <a:solidFill>
              <a:srgbClr val="FDECEC"/>
            </a:solidFill>
            <a:prstDash val="solid"/>
          </a:ln>
        </p:spPr>
      </p:sp>
      <p:sp>
        <p:nvSpPr>
          <p:cNvPr id="7" name="Text 5"/>
          <p:cNvSpPr/>
          <p:nvPr/>
        </p:nvSpPr>
        <p:spPr>
          <a:xfrm>
            <a:off x="7013448" y="1984248"/>
            <a:ext cx="4297680" cy="1078992"/>
          </a:xfrm>
          <a:prstGeom prst="rect">
            <a:avLst/>
          </a:prstGeom>
          <a:noFill/>
          <a:ln/>
        </p:spPr>
        <p:txBody>
          <a:bodyPr wrap="square" lIns="254" tIns="254" rIns="254" bIns="254" rtlCol="0" anchor="ctr">
            <a:normAutofit/>
          </a:bodyPr>
          <a:lstStyle/>
          <a:p>
            <a:pPr algn="ctr" indent="0" marL="0">
              <a:buNone/>
            </a:pPr>
            <a:r>
              <a:rPr lang="en-US" sz="2100" b="1" dirty="0">
                <a:solidFill>
                  <a:srgbClr val="E53935"/>
                </a:solidFill>
              </a:rPr>
              <a:t>FUTURE WINDOW</a:t>
            </a:r>
            <a:endParaRPr lang="en-US" sz="2100" dirty="0"/>
          </a:p>
          <a:p>
            <a:pPr algn="ctr" indent="0" marL="0">
              <a:buNone/>
            </a:pPr>
            <a:r>
              <a:rPr lang="en-US" sz="2100" b="1" dirty="0">
                <a:solidFill>
                  <a:srgbClr val="E53935"/>
                </a:solidFill>
              </a:rPr>
              <a:t>Label</a:t>
            </a:r>
            <a:endParaRPr lang="en-US" sz="2100" dirty="0"/>
          </a:p>
        </p:txBody>
      </p:sp>
      <p:sp>
        <p:nvSpPr>
          <p:cNvPr id="8" name="Shape 6"/>
          <p:cNvSpPr/>
          <p:nvPr/>
        </p:nvSpPr>
        <p:spPr>
          <a:xfrm>
            <a:off x="5257800" y="2523744"/>
            <a:ext cx="1664208" cy="0"/>
          </a:xfrm>
          <a:prstGeom prst="line">
            <a:avLst/>
          </a:prstGeom>
          <a:noFill/>
          <a:ln w="38100">
            <a:solidFill>
              <a:srgbClr val="98A2B3"/>
            </a:solidFill>
            <a:prstDash val="solid"/>
            <a:headEnd type="none"/>
            <a:tailEnd type="triangle"/>
          </a:ln>
        </p:spPr>
      </p:sp>
      <p:sp>
        <p:nvSpPr>
          <p:cNvPr id="9" name="Text 7"/>
          <p:cNvSpPr/>
          <p:nvPr/>
        </p:nvSpPr>
        <p:spPr>
          <a:xfrm>
            <a:off x="1005840" y="3429000"/>
            <a:ext cx="4114800" cy="502920"/>
          </a:xfrm>
          <a:prstGeom prst="rect">
            <a:avLst/>
          </a:prstGeom>
          <a:noFill/>
          <a:ln/>
        </p:spPr>
        <p:txBody>
          <a:bodyPr wrap="square" lIns="0" tIns="0" rIns="0" bIns="0" rtlCol="0" anchor="ctr"/>
          <a:lstStyle/>
          <a:p>
            <a:pPr algn="ctr" indent="0" marL="0">
              <a:buNone/>
            </a:pPr>
            <a:r>
              <a:rPr lang="en-US" sz="1600" dirty="0">
                <a:solidFill>
                  <a:srgbClr val="1F2937"/>
                </a:solidFill>
              </a:rPr>
              <a:t>HistOrders  •  HistSpend  •  UnitsPurchased</a:t>
            </a:r>
            <a:endParaRPr lang="en-US" sz="1600" dirty="0"/>
          </a:p>
        </p:txBody>
      </p:sp>
      <p:sp>
        <p:nvSpPr>
          <p:cNvPr id="10" name="Text 8"/>
          <p:cNvSpPr/>
          <p:nvPr/>
        </p:nvSpPr>
        <p:spPr>
          <a:xfrm>
            <a:off x="7315200" y="3346704"/>
            <a:ext cx="3703320" cy="658368"/>
          </a:xfrm>
          <a:prstGeom prst="rect">
            <a:avLst/>
          </a:prstGeom>
          <a:noFill/>
          <a:ln/>
        </p:spPr>
        <p:txBody>
          <a:bodyPr wrap="square" lIns="0" tIns="0" rIns="0" bIns="0" rtlCol="0" anchor="ctr"/>
          <a:lstStyle/>
          <a:p>
            <a:pPr algn="ctr" indent="0" marL="0">
              <a:buNone/>
            </a:pPr>
            <a:r>
              <a:rPr lang="en-US" sz="1700" b="1" dirty="0">
                <a:solidFill>
                  <a:srgbClr val="1F2937"/>
                </a:solidFill>
              </a:rPr>
              <a:t>RepeatBuyer = 0 / 1</a:t>
            </a:r>
            <a:endParaRPr lang="en-US" sz="1700" dirty="0"/>
          </a:p>
          <a:p>
            <a:pPr algn="ctr" indent="0" marL="0">
              <a:buNone/>
            </a:pPr>
            <a:r>
              <a:rPr lang="en-US" sz="1700" b="1" dirty="0">
                <a:solidFill>
                  <a:srgbClr val="1F2937"/>
                </a:solidFill>
              </a:rPr>
              <a:t>(next 30 days)</a:t>
            </a:r>
            <a:endParaRPr lang="en-US" sz="1700" dirty="0"/>
          </a:p>
        </p:txBody>
      </p:sp>
      <p:sp>
        <p:nvSpPr>
          <p:cNvPr id="11" name="Shape 9"/>
          <p:cNvSpPr/>
          <p:nvPr/>
        </p:nvSpPr>
        <p:spPr>
          <a:xfrm>
            <a:off x="4178808" y="4709160"/>
            <a:ext cx="3840480" cy="310896"/>
          </a:xfrm>
          <a:prstGeom prst="roundRect">
            <a:avLst>
              <a:gd name="adj" fmla="val 23529"/>
            </a:avLst>
          </a:prstGeom>
          <a:solidFill>
            <a:srgbClr val="15233C"/>
          </a:solidFill>
          <a:ln w="12700">
            <a:solidFill>
              <a:srgbClr val="15233C"/>
            </a:solidFill>
            <a:prstDash val="solid"/>
          </a:ln>
        </p:spPr>
      </p:sp>
      <p:sp>
        <p:nvSpPr>
          <p:cNvPr id="12" name="Text 10"/>
          <p:cNvSpPr/>
          <p:nvPr/>
        </p:nvSpPr>
        <p:spPr>
          <a:xfrm>
            <a:off x="4251960" y="4773168"/>
            <a:ext cx="3694176" cy="146304"/>
          </a:xfrm>
          <a:prstGeom prst="rect">
            <a:avLst/>
          </a:prstGeom>
          <a:noFill/>
          <a:ln/>
        </p:spPr>
        <p:txBody>
          <a:bodyPr wrap="square" lIns="0" tIns="0" rIns="0" bIns="0" rtlCol="0" anchor="ctr"/>
          <a:lstStyle/>
          <a:p>
            <a:pPr algn="ctr" indent="0" marL="0">
              <a:buNone/>
            </a:pPr>
            <a:r>
              <a:rPr lang="en-US" sz="1000" b="1" dirty="0">
                <a:solidFill>
                  <a:srgbClr val="FFFFFF"/>
                </a:solidFill>
              </a:rPr>
              <a:t>Never use future information as an input feature</a:t>
            </a:r>
            <a:endParaRPr lang="en-US" sz="1000" dirty="0"/>
          </a:p>
        </p:txBody>
      </p:sp>
      <p:sp>
        <p:nvSpPr>
          <p:cNvPr id="13" name="Text 11"/>
          <p:cNvSpPr/>
          <p:nvPr/>
        </p:nvSpPr>
        <p:spPr>
          <a:xfrm>
            <a:off x="2011680" y="5321808"/>
            <a:ext cx="8138160" cy="384048"/>
          </a:xfrm>
          <a:prstGeom prst="rect">
            <a:avLst/>
          </a:prstGeom>
          <a:noFill/>
          <a:ln/>
        </p:spPr>
        <p:txBody>
          <a:bodyPr wrap="square" lIns="0" tIns="0" rIns="0" bIns="0" rtlCol="0" anchor="ctr"/>
          <a:lstStyle/>
          <a:p>
            <a:pPr algn="ctr" indent="0" marL="0">
              <a:buNone/>
            </a:pPr>
            <a:r>
              <a:rPr lang="en-US" sz="1900" b="1" dirty="0">
                <a:solidFill>
                  <a:srgbClr val="E53935"/>
                </a:solidFill>
              </a:rPr>
              <a:t>Temporal separation prevents target leakage.</a:t>
            </a:r>
            <a:endParaRPr lang="en-US" sz="19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MARKET BASKET ANALYSIS</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Example — DW to Association-Rule Mining</a:t>
            </a:r>
            <a:endParaRPr lang="en-US" sz="2800" dirty="0"/>
          </a:p>
        </p:txBody>
      </p:sp>
      <p:sp>
        <p:nvSpPr>
          <p:cNvPr id="4" name="Shape 2"/>
          <p:cNvSpPr/>
          <p:nvPr/>
        </p:nvSpPr>
        <p:spPr>
          <a:xfrm>
            <a:off x="731520" y="2057400"/>
            <a:ext cx="2331720" cy="914400"/>
          </a:xfrm>
          <a:prstGeom prst="roundRect">
            <a:avLst>
              <a:gd name="adj" fmla="val 6000"/>
            </a:avLst>
          </a:prstGeom>
          <a:solidFill>
            <a:srgbClr val="FDECEC"/>
          </a:solidFill>
          <a:ln w="12700">
            <a:solidFill>
              <a:srgbClr val="FDECEC"/>
            </a:solidFill>
            <a:prstDash val="solid"/>
          </a:ln>
        </p:spPr>
      </p:sp>
      <p:sp>
        <p:nvSpPr>
          <p:cNvPr id="5" name="Text 3"/>
          <p:cNvSpPr/>
          <p:nvPr/>
        </p:nvSpPr>
        <p:spPr>
          <a:xfrm>
            <a:off x="777240" y="2103120"/>
            <a:ext cx="2240280" cy="822960"/>
          </a:xfrm>
          <a:prstGeom prst="rect">
            <a:avLst/>
          </a:prstGeom>
          <a:noFill/>
          <a:ln/>
        </p:spPr>
        <p:txBody>
          <a:bodyPr wrap="square" lIns="254" tIns="254" rIns="254" bIns="254" rtlCol="0" anchor="ctr">
            <a:normAutofit/>
          </a:bodyPr>
          <a:lstStyle/>
          <a:p>
            <a:pPr algn="ctr" indent="0" marL="0">
              <a:buNone/>
            </a:pPr>
            <a:r>
              <a:rPr lang="en-US" sz="1600" b="1" dirty="0">
                <a:solidFill>
                  <a:srgbClr val="E53935"/>
                </a:solidFill>
              </a:rPr>
              <a:t>FactSales</a:t>
            </a:r>
            <a:endParaRPr lang="en-US" sz="1600" dirty="0"/>
          </a:p>
        </p:txBody>
      </p:sp>
      <p:sp>
        <p:nvSpPr>
          <p:cNvPr id="6" name="Text 4"/>
          <p:cNvSpPr/>
          <p:nvPr/>
        </p:nvSpPr>
        <p:spPr>
          <a:xfrm>
            <a:off x="822960" y="3246120"/>
            <a:ext cx="2148840" cy="365760"/>
          </a:xfrm>
          <a:prstGeom prst="rect">
            <a:avLst/>
          </a:prstGeom>
          <a:noFill/>
          <a:ln/>
        </p:spPr>
        <p:txBody>
          <a:bodyPr wrap="square" lIns="0" tIns="0" rIns="0" bIns="0" rtlCol="0" anchor="ctr"/>
          <a:lstStyle/>
          <a:p>
            <a:pPr algn="ctr" indent="0" marL="0">
              <a:buNone/>
            </a:pPr>
            <a:r>
              <a:rPr lang="en-US" sz="1300" dirty="0">
                <a:solidFill>
                  <a:srgbClr val="667085"/>
                </a:solidFill>
              </a:rPr>
              <a:t>line-item grain</a:t>
            </a:r>
            <a:endParaRPr lang="en-US" sz="1300" dirty="0"/>
          </a:p>
        </p:txBody>
      </p:sp>
      <p:sp>
        <p:nvSpPr>
          <p:cNvPr id="7" name="Shape 5"/>
          <p:cNvSpPr/>
          <p:nvPr/>
        </p:nvSpPr>
        <p:spPr>
          <a:xfrm>
            <a:off x="3063240" y="2514600"/>
            <a:ext cx="411480" cy="0"/>
          </a:xfrm>
          <a:prstGeom prst="line">
            <a:avLst/>
          </a:prstGeom>
          <a:noFill/>
          <a:ln w="31750">
            <a:solidFill>
              <a:srgbClr val="95A1B1"/>
            </a:solidFill>
            <a:prstDash val="solid"/>
            <a:headEnd type="none"/>
            <a:tailEnd type="triangle"/>
          </a:ln>
        </p:spPr>
      </p:sp>
      <p:sp>
        <p:nvSpPr>
          <p:cNvPr id="8" name="Shape 6"/>
          <p:cNvSpPr/>
          <p:nvPr/>
        </p:nvSpPr>
        <p:spPr>
          <a:xfrm>
            <a:off x="3547872" y="2057400"/>
            <a:ext cx="2331720" cy="914400"/>
          </a:xfrm>
          <a:prstGeom prst="roundRect">
            <a:avLst>
              <a:gd name="adj" fmla="val 6000"/>
            </a:avLst>
          </a:prstGeom>
          <a:solidFill>
            <a:srgbClr val="EEF2FF"/>
          </a:solidFill>
          <a:ln w="12700">
            <a:solidFill>
              <a:srgbClr val="EEF2FF"/>
            </a:solidFill>
            <a:prstDash val="solid"/>
          </a:ln>
        </p:spPr>
      </p:sp>
      <p:sp>
        <p:nvSpPr>
          <p:cNvPr id="9" name="Text 7"/>
          <p:cNvSpPr/>
          <p:nvPr/>
        </p:nvSpPr>
        <p:spPr>
          <a:xfrm>
            <a:off x="3593592" y="2103120"/>
            <a:ext cx="2240280" cy="822960"/>
          </a:xfrm>
          <a:prstGeom prst="rect">
            <a:avLst/>
          </a:prstGeom>
          <a:noFill/>
          <a:ln/>
        </p:spPr>
        <p:txBody>
          <a:bodyPr wrap="square" lIns="254" tIns="254" rIns="254" bIns="254" rtlCol="0" anchor="ctr">
            <a:normAutofit/>
          </a:bodyPr>
          <a:lstStyle/>
          <a:p>
            <a:pPr algn="ctr" indent="0" marL="0">
              <a:buNone/>
            </a:pPr>
            <a:r>
              <a:rPr lang="en-US" sz="1600" b="1" dirty="0">
                <a:solidFill>
                  <a:srgbClr val="2E5BFF"/>
                </a:solidFill>
              </a:rPr>
              <a:t>Group by OrderID</a:t>
            </a:r>
            <a:endParaRPr lang="en-US" sz="1600" dirty="0"/>
          </a:p>
        </p:txBody>
      </p:sp>
      <p:sp>
        <p:nvSpPr>
          <p:cNvPr id="10" name="Text 8"/>
          <p:cNvSpPr/>
          <p:nvPr/>
        </p:nvSpPr>
        <p:spPr>
          <a:xfrm>
            <a:off x="3639312" y="3246120"/>
            <a:ext cx="2148840" cy="365760"/>
          </a:xfrm>
          <a:prstGeom prst="rect">
            <a:avLst/>
          </a:prstGeom>
          <a:noFill/>
          <a:ln/>
        </p:spPr>
        <p:txBody>
          <a:bodyPr wrap="square" lIns="0" tIns="0" rIns="0" bIns="0" rtlCol="0" anchor="ctr"/>
          <a:lstStyle/>
          <a:p>
            <a:pPr algn="ctr" indent="0" marL="0">
              <a:buNone/>
            </a:pPr>
            <a:r>
              <a:rPr lang="en-US" sz="1300" dirty="0">
                <a:solidFill>
                  <a:srgbClr val="667085"/>
                </a:solidFill>
              </a:rPr>
              <a:t>build baskets</a:t>
            </a:r>
            <a:endParaRPr lang="en-US" sz="1300" dirty="0"/>
          </a:p>
        </p:txBody>
      </p:sp>
      <p:sp>
        <p:nvSpPr>
          <p:cNvPr id="11" name="Shape 9"/>
          <p:cNvSpPr/>
          <p:nvPr/>
        </p:nvSpPr>
        <p:spPr>
          <a:xfrm>
            <a:off x="5879592" y="2514600"/>
            <a:ext cx="411480" cy="0"/>
          </a:xfrm>
          <a:prstGeom prst="line">
            <a:avLst/>
          </a:prstGeom>
          <a:noFill/>
          <a:ln w="31750">
            <a:solidFill>
              <a:srgbClr val="95A1B1"/>
            </a:solidFill>
            <a:prstDash val="solid"/>
            <a:headEnd type="none"/>
            <a:tailEnd type="triangle"/>
          </a:ln>
        </p:spPr>
      </p:sp>
      <p:sp>
        <p:nvSpPr>
          <p:cNvPr id="12" name="Shape 10"/>
          <p:cNvSpPr/>
          <p:nvPr/>
        </p:nvSpPr>
        <p:spPr>
          <a:xfrm>
            <a:off x="6364224" y="2057400"/>
            <a:ext cx="2331720" cy="914400"/>
          </a:xfrm>
          <a:prstGeom prst="roundRect">
            <a:avLst>
              <a:gd name="adj" fmla="val 6000"/>
            </a:avLst>
          </a:prstGeom>
          <a:solidFill>
            <a:srgbClr val="EDE9FE"/>
          </a:solidFill>
          <a:ln w="12700">
            <a:solidFill>
              <a:srgbClr val="EDE9FE"/>
            </a:solidFill>
            <a:prstDash val="solid"/>
          </a:ln>
        </p:spPr>
      </p:sp>
      <p:sp>
        <p:nvSpPr>
          <p:cNvPr id="13" name="Text 11"/>
          <p:cNvSpPr/>
          <p:nvPr/>
        </p:nvSpPr>
        <p:spPr>
          <a:xfrm>
            <a:off x="6409944" y="2103120"/>
            <a:ext cx="2240280" cy="822960"/>
          </a:xfrm>
          <a:prstGeom prst="rect">
            <a:avLst/>
          </a:prstGeom>
          <a:noFill/>
          <a:ln/>
        </p:spPr>
        <p:txBody>
          <a:bodyPr wrap="square" lIns="254" tIns="254" rIns="254" bIns="254" rtlCol="0" anchor="ctr">
            <a:normAutofit/>
          </a:bodyPr>
          <a:lstStyle/>
          <a:p>
            <a:pPr algn="ctr" indent="0" marL="0">
              <a:buNone/>
            </a:pPr>
            <a:r>
              <a:rPr lang="en-US" sz="1600" b="1" dirty="0">
                <a:solidFill>
                  <a:srgbClr val="7C3AED"/>
                </a:solidFill>
              </a:rPr>
              <a:t>Apriori / FP-Growth</a:t>
            </a:r>
            <a:endParaRPr lang="en-US" sz="1600" dirty="0"/>
          </a:p>
        </p:txBody>
      </p:sp>
      <p:sp>
        <p:nvSpPr>
          <p:cNvPr id="14" name="Text 12"/>
          <p:cNvSpPr/>
          <p:nvPr/>
        </p:nvSpPr>
        <p:spPr>
          <a:xfrm>
            <a:off x="6455664" y="3246120"/>
            <a:ext cx="2148840" cy="365760"/>
          </a:xfrm>
          <a:prstGeom prst="rect">
            <a:avLst/>
          </a:prstGeom>
          <a:noFill/>
          <a:ln/>
        </p:spPr>
        <p:txBody>
          <a:bodyPr wrap="square" lIns="0" tIns="0" rIns="0" bIns="0" rtlCol="0" anchor="ctr"/>
          <a:lstStyle/>
          <a:p>
            <a:pPr algn="ctr" indent="0" marL="0">
              <a:buNone/>
            </a:pPr>
            <a:r>
              <a:rPr lang="en-US" sz="1300" dirty="0">
                <a:solidFill>
                  <a:srgbClr val="667085"/>
                </a:solidFill>
              </a:rPr>
              <a:t>mine itemsets</a:t>
            </a:r>
            <a:endParaRPr lang="en-US" sz="1300" dirty="0"/>
          </a:p>
        </p:txBody>
      </p:sp>
      <p:sp>
        <p:nvSpPr>
          <p:cNvPr id="15" name="Shape 13"/>
          <p:cNvSpPr/>
          <p:nvPr/>
        </p:nvSpPr>
        <p:spPr>
          <a:xfrm>
            <a:off x="8695944" y="2514600"/>
            <a:ext cx="411480" cy="0"/>
          </a:xfrm>
          <a:prstGeom prst="line">
            <a:avLst/>
          </a:prstGeom>
          <a:noFill/>
          <a:ln w="31750">
            <a:solidFill>
              <a:srgbClr val="95A1B1"/>
            </a:solidFill>
            <a:prstDash val="solid"/>
            <a:headEnd type="none"/>
            <a:tailEnd type="triangle"/>
          </a:ln>
        </p:spPr>
      </p:sp>
      <p:sp>
        <p:nvSpPr>
          <p:cNvPr id="16" name="Shape 14"/>
          <p:cNvSpPr/>
          <p:nvPr/>
        </p:nvSpPr>
        <p:spPr>
          <a:xfrm>
            <a:off x="9180576" y="2057400"/>
            <a:ext cx="2331720" cy="914400"/>
          </a:xfrm>
          <a:prstGeom prst="roundRect">
            <a:avLst>
              <a:gd name="adj" fmla="val 6000"/>
            </a:avLst>
          </a:prstGeom>
          <a:solidFill>
            <a:srgbClr val="E8F6ED"/>
          </a:solidFill>
          <a:ln w="12700">
            <a:solidFill>
              <a:srgbClr val="E8F6ED"/>
            </a:solidFill>
            <a:prstDash val="solid"/>
          </a:ln>
        </p:spPr>
      </p:sp>
      <p:sp>
        <p:nvSpPr>
          <p:cNvPr id="17" name="Text 15"/>
          <p:cNvSpPr/>
          <p:nvPr/>
        </p:nvSpPr>
        <p:spPr>
          <a:xfrm>
            <a:off x="9226296" y="2103120"/>
            <a:ext cx="2240280" cy="822960"/>
          </a:xfrm>
          <a:prstGeom prst="rect">
            <a:avLst/>
          </a:prstGeom>
          <a:noFill/>
          <a:ln/>
        </p:spPr>
        <p:txBody>
          <a:bodyPr wrap="square" lIns="254" tIns="254" rIns="254" bIns="254" rtlCol="0" anchor="ctr">
            <a:normAutofit/>
          </a:bodyPr>
          <a:lstStyle/>
          <a:p>
            <a:pPr algn="ctr" indent="0" marL="0">
              <a:buNone/>
            </a:pPr>
            <a:r>
              <a:rPr lang="en-US" sz="1600" b="1" dirty="0">
                <a:solidFill>
                  <a:srgbClr val="16A34A"/>
                </a:solidFill>
              </a:rPr>
              <a:t>Rules</a:t>
            </a:r>
            <a:endParaRPr lang="en-US" sz="1600" dirty="0"/>
          </a:p>
        </p:txBody>
      </p:sp>
      <p:sp>
        <p:nvSpPr>
          <p:cNvPr id="18" name="Text 16"/>
          <p:cNvSpPr/>
          <p:nvPr/>
        </p:nvSpPr>
        <p:spPr>
          <a:xfrm>
            <a:off x="9272016" y="3246120"/>
            <a:ext cx="2148840" cy="365760"/>
          </a:xfrm>
          <a:prstGeom prst="rect">
            <a:avLst/>
          </a:prstGeom>
          <a:noFill/>
          <a:ln/>
        </p:spPr>
        <p:txBody>
          <a:bodyPr wrap="square" lIns="0" tIns="0" rIns="0" bIns="0" rtlCol="0" anchor="ctr"/>
          <a:lstStyle/>
          <a:p>
            <a:pPr algn="ctr" indent="0" marL="0">
              <a:buNone/>
            </a:pPr>
            <a:r>
              <a:rPr lang="en-US" sz="1300" dirty="0">
                <a:solidFill>
                  <a:srgbClr val="667085"/>
                </a:solidFill>
              </a:rPr>
              <a:t>Laptop → Mouse</a:t>
            </a:r>
            <a:endParaRPr lang="en-US" sz="1300" dirty="0"/>
          </a:p>
        </p:txBody>
      </p:sp>
      <p:sp>
        <p:nvSpPr>
          <p:cNvPr id="19" name="Text 17"/>
          <p:cNvSpPr/>
          <p:nvPr/>
        </p:nvSpPr>
        <p:spPr>
          <a:xfrm>
            <a:off x="1280160" y="4983480"/>
            <a:ext cx="9601200" cy="411480"/>
          </a:xfrm>
          <a:prstGeom prst="rect">
            <a:avLst/>
          </a:prstGeom>
          <a:noFill/>
          <a:ln/>
        </p:spPr>
        <p:txBody>
          <a:bodyPr wrap="square" lIns="0" tIns="0" rIns="0" bIns="0" rtlCol="0" anchor="ctr"/>
          <a:lstStyle/>
          <a:p>
            <a:pPr algn="ctr" indent="0" marL="0">
              <a:buNone/>
            </a:pPr>
            <a:r>
              <a:rPr lang="en-US" sz="1900" b="1" dirty="0">
                <a:solidFill>
                  <a:srgbClr val="15233C"/>
                </a:solidFill>
              </a:rPr>
              <a:t>A correctly designed fact grain makes market-basket analysis straightforward.</a:t>
            </a:r>
            <a:endParaRPr lang="en-US" sz="19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ML LIFECYCLE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Where MLflow Fits</a:t>
            </a:r>
            <a:endParaRPr lang="en-US" sz="2800" dirty="0"/>
          </a:p>
        </p:txBody>
      </p:sp>
      <p:sp>
        <p:nvSpPr>
          <p:cNvPr id="4" name="Shape 2"/>
          <p:cNvSpPr/>
          <p:nvPr/>
        </p:nvSpPr>
        <p:spPr>
          <a:xfrm>
            <a:off x="822960" y="2011680"/>
            <a:ext cx="2743200" cy="1143000"/>
          </a:xfrm>
          <a:prstGeom prst="roundRect">
            <a:avLst>
              <a:gd name="adj" fmla="val 4800"/>
            </a:avLst>
          </a:prstGeom>
          <a:solidFill>
            <a:srgbClr val="E8F0FF"/>
          </a:solidFill>
          <a:ln w="12700">
            <a:solidFill>
              <a:srgbClr val="E8F0FF"/>
            </a:solidFill>
            <a:prstDash val="solid"/>
          </a:ln>
        </p:spPr>
      </p:sp>
      <p:sp>
        <p:nvSpPr>
          <p:cNvPr id="5" name="Text 3"/>
          <p:cNvSpPr/>
          <p:nvPr/>
        </p:nvSpPr>
        <p:spPr>
          <a:xfrm>
            <a:off x="868680" y="2057400"/>
            <a:ext cx="2651760" cy="1051560"/>
          </a:xfrm>
          <a:prstGeom prst="rect">
            <a:avLst/>
          </a:prstGeom>
          <a:noFill/>
          <a:ln/>
        </p:spPr>
        <p:txBody>
          <a:bodyPr wrap="square" lIns="254" tIns="254" rIns="254" bIns="254" rtlCol="0" anchor="ctr">
            <a:normAutofit/>
          </a:bodyPr>
          <a:lstStyle/>
          <a:p>
            <a:pPr algn="ctr" indent="0" marL="0">
              <a:buNone/>
            </a:pPr>
            <a:r>
              <a:rPr lang="en-US" sz="2300" b="1" dirty="0">
                <a:solidFill>
                  <a:srgbClr val="2E5BFF"/>
                </a:solidFill>
              </a:rPr>
              <a:t>DATA</a:t>
            </a:r>
            <a:endParaRPr lang="en-US" sz="2300" dirty="0"/>
          </a:p>
          <a:p>
            <a:pPr algn="ctr" indent="0" marL="0">
              <a:buNone/>
            </a:pPr>
            <a:r>
              <a:rPr lang="en-US" sz="2300" b="1" dirty="0">
                <a:solidFill>
                  <a:srgbClr val="2E5BFF"/>
                </a:solidFill>
              </a:rPr>
              <a:t>FOUNDATION</a:t>
            </a:r>
            <a:endParaRPr lang="en-US" sz="2300" dirty="0"/>
          </a:p>
        </p:txBody>
      </p:sp>
      <p:sp>
        <p:nvSpPr>
          <p:cNvPr id="6" name="Shape 4"/>
          <p:cNvSpPr/>
          <p:nvPr/>
        </p:nvSpPr>
        <p:spPr>
          <a:xfrm>
            <a:off x="3566160" y="2578608"/>
            <a:ext cx="685800" cy="0"/>
          </a:xfrm>
          <a:prstGeom prst="line">
            <a:avLst/>
          </a:prstGeom>
          <a:noFill/>
          <a:ln w="38100">
            <a:solidFill>
              <a:srgbClr val="98A2B3"/>
            </a:solidFill>
            <a:prstDash val="solid"/>
            <a:headEnd type="none"/>
            <a:tailEnd type="triangle"/>
          </a:ln>
        </p:spPr>
      </p:sp>
      <p:sp>
        <p:nvSpPr>
          <p:cNvPr id="7" name="Shape 5"/>
          <p:cNvSpPr/>
          <p:nvPr/>
        </p:nvSpPr>
        <p:spPr>
          <a:xfrm>
            <a:off x="4251960" y="2011680"/>
            <a:ext cx="2743200" cy="1143000"/>
          </a:xfrm>
          <a:prstGeom prst="roundRect">
            <a:avLst>
              <a:gd name="adj" fmla="val 4800"/>
            </a:avLst>
          </a:prstGeom>
          <a:solidFill>
            <a:srgbClr val="EDE9FE"/>
          </a:solidFill>
          <a:ln w="12700">
            <a:solidFill>
              <a:srgbClr val="EDE9FE"/>
            </a:solidFill>
            <a:prstDash val="solid"/>
          </a:ln>
        </p:spPr>
      </p:sp>
      <p:sp>
        <p:nvSpPr>
          <p:cNvPr id="8" name="Text 6"/>
          <p:cNvSpPr/>
          <p:nvPr/>
        </p:nvSpPr>
        <p:spPr>
          <a:xfrm>
            <a:off x="4297680" y="2057400"/>
            <a:ext cx="2651760" cy="1051560"/>
          </a:xfrm>
          <a:prstGeom prst="rect">
            <a:avLst/>
          </a:prstGeom>
          <a:noFill/>
          <a:ln/>
        </p:spPr>
        <p:txBody>
          <a:bodyPr wrap="square" lIns="254" tIns="254" rIns="254" bIns="254" rtlCol="0" anchor="ctr">
            <a:normAutofit/>
          </a:bodyPr>
          <a:lstStyle/>
          <a:p>
            <a:pPr algn="ctr" indent="0" marL="0">
              <a:buNone/>
            </a:pPr>
            <a:r>
              <a:rPr lang="en-US" sz="2300" b="1" dirty="0">
                <a:solidFill>
                  <a:srgbClr val="7C3AED"/>
                </a:solidFill>
              </a:rPr>
              <a:t>MODEL</a:t>
            </a:r>
            <a:endParaRPr lang="en-US" sz="2300" dirty="0"/>
          </a:p>
          <a:p>
            <a:pPr algn="ctr" indent="0" marL="0">
              <a:buNone/>
            </a:pPr>
            <a:r>
              <a:rPr lang="en-US" sz="2300" b="1" dirty="0">
                <a:solidFill>
                  <a:srgbClr val="7C3AED"/>
                </a:solidFill>
              </a:rPr>
              <a:t>EXPERIMENTS</a:t>
            </a:r>
            <a:endParaRPr lang="en-US" sz="2300" dirty="0"/>
          </a:p>
        </p:txBody>
      </p:sp>
      <p:sp>
        <p:nvSpPr>
          <p:cNvPr id="9" name="Shape 7"/>
          <p:cNvSpPr/>
          <p:nvPr/>
        </p:nvSpPr>
        <p:spPr>
          <a:xfrm>
            <a:off x="6995160" y="2578608"/>
            <a:ext cx="685800" cy="0"/>
          </a:xfrm>
          <a:prstGeom prst="line">
            <a:avLst/>
          </a:prstGeom>
          <a:noFill/>
          <a:ln w="38100">
            <a:solidFill>
              <a:srgbClr val="98A2B3"/>
            </a:solidFill>
            <a:prstDash val="solid"/>
            <a:headEnd type="none"/>
            <a:tailEnd type="triangle"/>
          </a:ln>
        </p:spPr>
      </p:sp>
      <p:sp>
        <p:nvSpPr>
          <p:cNvPr id="10" name="Shape 8"/>
          <p:cNvSpPr/>
          <p:nvPr/>
        </p:nvSpPr>
        <p:spPr>
          <a:xfrm>
            <a:off x="7680960" y="2011680"/>
            <a:ext cx="2743200" cy="1143000"/>
          </a:xfrm>
          <a:prstGeom prst="roundRect">
            <a:avLst>
              <a:gd name="adj" fmla="val 4800"/>
            </a:avLst>
          </a:prstGeom>
          <a:solidFill>
            <a:srgbClr val="E8F6ED"/>
          </a:solidFill>
          <a:ln w="12700">
            <a:solidFill>
              <a:srgbClr val="E8F6ED"/>
            </a:solidFill>
            <a:prstDash val="solid"/>
          </a:ln>
        </p:spPr>
      </p:sp>
      <p:sp>
        <p:nvSpPr>
          <p:cNvPr id="11" name="Text 9"/>
          <p:cNvSpPr/>
          <p:nvPr/>
        </p:nvSpPr>
        <p:spPr>
          <a:xfrm>
            <a:off x="7726680" y="2057400"/>
            <a:ext cx="2651760" cy="1051560"/>
          </a:xfrm>
          <a:prstGeom prst="rect">
            <a:avLst/>
          </a:prstGeom>
          <a:noFill/>
          <a:ln/>
        </p:spPr>
        <p:txBody>
          <a:bodyPr wrap="square" lIns="254" tIns="254" rIns="254" bIns="254" rtlCol="0" anchor="ctr">
            <a:normAutofit/>
          </a:bodyPr>
          <a:lstStyle/>
          <a:p>
            <a:pPr algn="ctr" indent="0" marL="0">
              <a:buNone/>
            </a:pPr>
            <a:r>
              <a:rPr lang="en-US" sz="2200" b="1" dirty="0">
                <a:solidFill>
                  <a:srgbClr val="16A34A"/>
                </a:solidFill>
              </a:rPr>
              <a:t>MLFLOW</a:t>
            </a:r>
            <a:endParaRPr lang="en-US" sz="2200" dirty="0"/>
          </a:p>
          <a:p>
            <a:pPr algn="ctr" indent="0" marL="0">
              <a:buNone/>
            </a:pPr>
            <a:r>
              <a:rPr lang="en-US" sz="2200" b="1" dirty="0">
                <a:solidFill>
                  <a:srgbClr val="16A34A"/>
                </a:solidFill>
              </a:rPr>
              <a:t>TRACK + MANAGE</a:t>
            </a:r>
            <a:endParaRPr lang="en-US" sz="2200" dirty="0"/>
          </a:p>
        </p:txBody>
      </p:sp>
      <p:sp>
        <p:nvSpPr>
          <p:cNvPr id="12" name="Text 10"/>
          <p:cNvSpPr/>
          <p:nvPr/>
        </p:nvSpPr>
        <p:spPr>
          <a:xfrm>
            <a:off x="7818120" y="3520440"/>
            <a:ext cx="2971800" cy="1508760"/>
          </a:xfrm>
          <a:prstGeom prst="rect">
            <a:avLst/>
          </a:prstGeom>
          <a:noFill/>
          <a:ln/>
        </p:spPr>
        <p:txBody>
          <a:bodyPr wrap="square" lIns="254" tIns="254" rIns="254" bIns="254" rtlCol="0" anchor="ctr">
            <a:normAutofit/>
          </a:bodyPr>
          <a:lstStyle/>
          <a:p>
            <a:pPr marL="177800" indent="-177800">
              <a:buSzPct val="100000"/>
              <a:buChar char="•"/>
            </a:pPr>
            <a:r>
              <a:rPr lang="en-US" sz="1450" dirty="0">
                <a:solidFill>
                  <a:srgbClr val="1F2937"/>
                </a:solidFill>
              </a:rPr>
              <a:t>Experiment tracking</a:t>
            </a:r>
            <a:endParaRPr lang="en-US" sz="1450" dirty="0"/>
          </a:p>
          <a:p>
            <a:pPr marL="177800" indent="-177800">
              <a:buSzPct val="100000"/>
              <a:buChar char="•"/>
            </a:pPr>
            <a:r>
              <a:rPr lang="en-US" sz="1450" dirty="0">
                <a:solidFill>
                  <a:srgbClr val="1F2937"/>
                </a:solidFill>
              </a:rPr>
              <a:t>Evaluation</a:t>
            </a:r>
            <a:endParaRPr lang="en-US" sz="1450" dirty="0"/>
          </a:p>
          <a:p>
            <a:pPr marL="177800" indent="-177800">
              <a:buSzPct val="100000"/>
              <a:buChar char="•"/>
            </a:pPr>
            <a:r>
              <a:rPr lang="en-US" sz="1450" dirty="0">
                <a:solidFill>
                  <a:srgbClr val="1F2937"/>
                </a:solidFill>
              </a:rPr>
              <a:t>Model registry</a:t>
            </a:r>
            <a:endParaRPr lang="en-US" sz="1450" dirty="0"/>
          </a:p>
          <a:p>
            <a:pPr marL="177800" indent="-177800">
              <a:buSzPct val="100000"/>
              <a:buChar char="•"/>
            </a:pPr>
            <a:r>
              <a:rPr lang="en-US" sz="1450" dirty="0">
                <a:solidFill>
                  <a:srgbClr val="1F2937"/>
                </a:solidFill>
              </a:rPr>
              <a:t>Deployment support</a:t>
            </a:r>
            <a:endParaRPr lang="en-US" sz="1450" dirty="0"/>
          </a:p>
        </p:txBody>
      </p:sp>
      <p:sp>
        <p:nvSpPr>
          <p:cNvPr id="13" name="Text 11"/>
          <p:cNvSpPr/>
          <p:nvPr/>
        </p:nvSpPr>
        <p:spPr>
          <a:xfrm>
            <a:off x="1005840" y="5285232"/>
            <a:ext cx="10058400" cy="420624"/>
          </a:xfrm>
          <a:prstGeom prst="rect">
            <a:avLst/>
          </a:prstGeom>
          <a:noFill/>
          <a:ln/>
        </p:spPr>
        <p:txBody>
          <a:bodyPr wrap="square" lIns="0" tIns="0" rIns="0" bIns="0" rtlCol="0" anchor="ctr"/>
          <a:lstStyle/>
          <a:p>
            <a:pPr algn="ctr" indent="0" marL="0">
              <a:buNone/>
            </a:pPr>
            <a:r>
              <a:rPr lang="en-US" sz="1800" b="1" dirty="0">
                <a:solidFill>
                  <a:srgbClr val="15233C"/>
                </a:solidFill>
              </a:rPr>
              <a:t>Course priority first: build reliable warehouse data and understand the mining algorithms.</a:t>
            </a:r>
            <a:endParaRPr lang="en-US" sz="18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SETUP CHECKLIST</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Lab 0 — What You Will Do This Week</a:t>
            </a:r>
            <a:endParaRPr lang="en-US" sz="2800" dirty="0"/>
          </a:p>
        </p:txBody>
      </p:sp>
      <p:sp>
        <p:nvSpPr>
          <p:cNvPr id="4" name="Shape 2"/>
          <p:cNvSpPr/>
          <p:nvPr/>
        </p:nvSpPr>
        <p:spPr>
          <a:xfrm>
            <a:off x="731520" y="1435608"/>
            <a:ext cx="530352" cy="530352"/>
          </a:xfrm>
          <a:prstGeom prst="ellipse">
            <a:avLst/>
          </a:prstGeom>
          <a:solidFill>
            <a:srgbClr val="15233C"/>
          </a:solidFill>
          <a:ln w="12700">
            <a:solidFill>
              <a:srgbClr val="15233C"/>
            </a:solidFill>
            <a:prstDash val="solid"/>
          </a:ln>
        </p:spPr>
      </p:sp>
      <p:sp>
        <p:nvSpPr>
          <p:cNvPr id="5" name="Text 3"/>
          <p:cNvSpPr/>
          <p:nvPr/>
        </p:nvSpPr>
        <p:spPr>
          <a:xfrm>
            <a:off x="731520" y="1572768"/>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p:nvPr/>
        </p:nvSpPr>
        <p:spPr>
          <a:xfrm>
            <a:off x="1463040" y="1371600"/>
            <a:ext cx="4709160" cy="658368"/>
          </a:xfrm>
          <a:prstGeom prst="rect">
            <a:avLst/>
          </a:prstGeom>
          <a:noFill/>
          <a:ln/>
        </p:spPr>
        <p:txBody>
          <a:bodyPr wrap="square" lIns="0" tIns="0" rIns="0" bIns="0" rtlCol="0" anchor="ctr">
            <a:normAutofit/>
          </a:bodyPr>
          <a:lstStyle/>
          <a:p>
            <a:pPr indent="0" marL="0">
              <a:buNone/>
            </a:pPr>
            <a:r>
              <a:rPr lang="en-US" sz="1650" b="1" dirty="0">
                <a:solidFill>
                  <a:srgbClr val="1F2937"/>
                </a:solidFill>
              </a:rPr>
              <a:t>Create Databricks Free Edition account</a:t>
            </a:r>
            <a:endParaRPr lang="en-US" sz="1650" dirty="0"/>
          </a:p>
        </p:txBody>
      </p:sp>
      <p:sp>
        <p:nvSpPr>
          <p:cNvPr id="7" name="Shape 5"/>
          <p:cNvSpPr/>
          <p:nvPr/>
        </p:nvSpPr>
        <p:spPr>
          <a:xfrm>
            <a:off x="731520" y="2916936"/>
            <a:ext cx="530352" cy="530352"/>
          </a:xfrm>
          <a:prstGeom prst="ellipse">
            <a:avLst/>
          </a:prstGeom>
          <a:solidFill>
            <a:srgbClr val="15233C"/>
          </a:solidFill>
          <a:ln w="12700">
            <a:solidFill>
              <a:srgbClr val="15233C"/>
            </a:solidFill>
            <a:prstDash val="solid"/>
          </a:ln>
        </p:spPr>
      </p:sp>
      <p:sp>
        <p:nvSpPr>
          <p:cNvPr id="8" name="Text 6"/>
          <p:cNvSpPr/>
          <p:nvPr/>
        </p:nvSpPr>
        <p:spPr>
          <a:xfrm>
            <a:off x="731520" y="3054096"/>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p:nvPr/>
        </p:nvSpPr>
        <p:spPr>
          <a:xfrm>
            <a:off x="1463040" y="2852928"/>
            <a:ext cx="4709160" cy="658368"/>
          </a:xfrm>
          <a:prstGeom prst="rect">
            <a:avLst/>
          </a:prstGeom>
          <a:noFill/>
          <a:ln/>
        </p:spPr>
        <p:txBody>
          <a:bodyPr wrap="square" lIns="0" tIns="0" rIns="0" bIns="0" rtlCol="0" anchor="ctr">
            <a:normAutofit/>
          </a:bodyPr>
          <a:lstStyle/>
          <a:p>
            <a:pPr indent="0" marL="0">
              <a:buNone/>
            </a:pPr>
            <a:r>
              <a:rPr lang="en-US" sz="1650" b="1" dirty="0">
                <a:solidFill>
                  <a:srgbClr val="1F2937"/>
                </a:solidFill>
              </a:rPr>
              <a:t>Locate your workspace URL</a:t>
            </a:r>
            <a:endParaRPr lang="en-US" sz="1650" dirty="0"/>
          </a:p>
        </p:txBody>
      </p:sp>
      <p:sp>
        <p:nvSpPr>
          <p:cNvPr id="10" name="Shape 8"/>
          <p:cNvSpPr/>
          <p:nvPr/>
        </p:nvSpPr>
        <p:spPr>
          <a:xfrm>
            <a:off x="731520" y="4398264"/>
            <a:ext cx="530352" cy="530352"/>
          </a:xfrm>
          <a:prstGeom prst="ellipse">
            <a:avLst/>
          </a:prstGeom>
          <a:solidFill>
            <a:srgbClr val="15233C"/>
          </a:solidFill>
          <a:ln w="12700">
            <a:solidFill>
              <a:srgbClr val="15233C"/>
            </a:solidFill>
            <a:prstDash val="solid"/>
          </a:ln>
        </p:spPr>
      </p:sp>
      <p:sp>
        <p:nvSpPr>
          <p:cNvPr id="11" name="Text 9"/>
          <p:cNvSpPr/>
          <p:nvPr/>
        </p:nvSpPr>
        <p:spPr>
          <a:xfrm>
            <a:off x="731520" y="4535424"/>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p:nvPr/>
        </p:nvSpPr>
        <p:spPr>
          <a:xfrm>
            <a:off x="1463040" y="4334256"/>
            <a:ext cx="4709160" cy="658368"/>
          </a:xfrm>
          <a:prstGeom prst="rect">
            <a:avLst/>
          </a:prstGeom>
          <a:noFill/>
          <a:ln/>
        </p:spPr>
        <p:txBody>
          <a:bodyPr wrap="square" lIns="0" tIns="0" rIns="0" bIns="0" rtlCol="0" anchor="ctr">
            <a:normAutofit/>
          </a:bodyPr>
          <a:lstStyle/>
          <a:p>
            <a:pPr indent="0" marL="0">
              <a:buNone/>
            </a:pPr>
            <a:r>
              <a:rPr lang="en-US" sz="1650" b="1" dirty="0">
                <a:solidFill>
                  <a:srgbClr val="1F2937"/>
                </a:solidFill>
              </a:rPr>
              <a:t>Install VS Code + Python + Jupyter + Databricks extension</a:t>
            </a:r>
            <a:endParaRPr lang="en-US" sz="1650" dirty="0"/>
          </a:p>
        </p:txBody>
      </p:sp>
      <p:sp>
        <p:nvSpPr>
          <p:cNvPr id="13" name="Shape 11"/>
          <p:cNvSpPr/>
          <p:nvPr/>
        </p:nvSpPr>
        <p:spPr>
          <a:xfrm>
            <a:off x="6309360" y="1435608"/>
            <a:ext cx="530352" cy="530352"/>
          </a:xfrm>
          <a:prstGeom prst="ellipse">
            <a:avLst/>
          </a:prstGeom>
          <a:solidFill>
            <a:srgbClr val="15233C"/>
          </a:solidFill>
          <a:ln w="12700">
            <a:solidFill>
              <a:srgbClr val="15233C"/>
            </a:solidFill>
            <a:prstDash val="solid"/>
          </a:ln>
        </p:spPr>
      </p:sp>
      <p:sp>
        <p:nvSpPr>
          <p:cNvPr id="14" name="Text 12"/>
          <p:cNvSpPr/>
          <p:nvPr/>
        </p:nvSpPr>
        <p:spPr>
          <a:xfrm>
            <a:off x="6309360" y="1572768"/>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p:nvPr/>
        </p:nvSpPr>
        <p:spPr>
          <a:xfrm>
            <a:off x="7040880" y="1371600"/>
            <a:ext cx="4709160" cy="658368"/>
          </a:xfrm>
          <a:prstGeom prst="rect">
            <a:avLst/>
          </a:prstGeom>
          <a:noFill/>
          <a:ln/>
        </p:spPr>
        <p:txBody>
          <a:bodyPr wrap="square" lIns="0" tIns="0" rIns="0" bIns="0" rtlCol="0" anchor="ctr">
            <a:normAutofit/>
          </a:bodyPr>
          <a:lstStyle/>
          <a:p>
            <a:pPr indent="0" marL="0">
              <a:buNone/>
            </a:pPr>
            <a:r>
              <a:rPr lang="en-US" sz="1650" b="1" dirty="0">
                <a:solidFill>
                  <a:srgbClr val="1F2937"/>
                </a:solidFill>
              </a:rPr>
              <a:t>Create Python 3.12 virtual environment</a:t>
            </a:r>
            <a:endParaRPr lang="en-US" sz="1650" dirty="0"/>
          </a:p>
        </p:txBody>
      </p:sp>
      <p:sp>
        <p:nvSpPr>
          <p:cNvPr id="16" name="Shape 14"/>
          <p:cNvSpPr/>
          <p:nvPr/>
        </p:nvSpPr>
        <p:spPr>
          <a:xfrm>
            <a:off x="6309360" y="2916936"/>
            <a:ext cx="530352" cy="530352"/>
          </a:xfrm>
          <a:prstGeom prst="ellipse">
            <a:avLst/>
          </a:prstGeom>
          <a:solidFill>
            <a:srgbClr val="15233C"/>
          </a:solidFill>
          <a:ln w="12700">
            <a:solidFill>
              <a:srgbClr val="15233C"/>
            </a:solidFill>
            <a:prstDash val="solid"/>
          </a:ln>
        </p:spPr>
      </p:sp>
      <p:sp>
        <p:nvSpPr>
          <p:cNvPr id="17" name="Text 15"/>
          <p:cNvSpPr/>
          <p:nvPr/>
        </p:nvSpPr>
        <p:spPr>
          <a:xfrm>
            <a:off x="6309360" y="3054096"/>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6"/>
          <p:cNvSpPr/>
          <p:nvPr/>
        </p:nvSpPr>
        <p:spPr>
          <a:xfrm>
            <a:off x="7040880" y="2852928"/>
            <a:ext cx="4709160" cy="658368"/>
          </a:xfrm>
          <a:prstGeom prst="rect">
            <a:avLst/>
          </a:prstGeom>
          <a:noFill/>
          <a:ln/>
        </p:spPr>
        <p:txBody>
          <a:bodyPr wrap="square" lIns="0" tIns="0" rIns="0" bIns="0" rtlCol="0" anchor="ctr">
            <a:normAutofit/>
          </a:bodyPr>
          <a:lstStyle/>
          <a:p>
            <a:pPr indent="0" marL="0">
              <a:buNone/>
            </a:pPr>
            <a:r>
              <a:rPr lang="en-US" sz="1650" b="1" dirty="0">
                <a:solidFill>
                  <a:srgbClr val="1F2937"/>
                </a:solidFill>
              </a:rPr>
              <a:t>Install Databricks Connect 17.3.x</a:t>
            </a:r>
            <a:endParaRPr lang="en-US" sz="1650" dirty="0"/>
          </a:p>
        </p:txBody>
      </p:sp>
      <p:sp>
        <p:nvSpPr>
          <p:cNvPr id="19" name="Shape 17"/>
          <p:cNvSpPr/>
          <p:nvPr/>
        </p:nvSpPr>
        <p:spPr>
          <a:xfrm>
            <a:off x="6309360" y="4398264"/>
            <a:ext cx="530352" cy="530352"/>
          </a:xfrm>
          <a:prstGeom prst="ellipse">
            <a:avLst/>
          </a:prstGeom>
          <a:solidFill>
            <a:srgbClr val="E53935"/>
          </a:solidFill>
          <a:ln w="12700">
            <a:solidFill>
              <a:srgbClr val="E53935"/>
            </a:solidFill>
            <a:prstDash val="solid"/>
          </a:ln>
        </p:spPr>
      </p:sp>
      <p:sp>
        <p:nvSpPr>
          <p:cNvPr id="20" name="Text 18"/>
          <p:cNvSpPr/>
          <p:nvPr/>
        </p:nvSpPr>
        <p:spPr>
          <a:xfrm>
            <a:off x="6309360" y="4535424"/>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9"/>
          <p:cNvSpPr/>
          <p:nvPr/>
        </p:nvSpPr>
        <p:spPr>
          <a:xfrm>
            <a:off x="7040880" y="4334256"/>
            <a:ext cx="4709160" cy="658368"/>
          </a:xfrm>
          <a:prstGeom prst="rect">
            <a:avLst/>
          </a:prstGeom>
          <a:noFill/>
          <a:ln/>
        </p:spPr>
        <p:txBody>
          <a:bodyPr wrap="square" lIns="0" tIns="0" rIns="0" bIns="0" rtlCol="0" anchor="ctr">
            <a:normAutofit/>
          </a:bodyPr>
          <a:lstStyle/>
          <a:p>
            <a:pPr indent="0" marL="0">
              <a:buNone/>
            </a:pPr>
            <a:r>
              <a:rPr lang="en-US" sz="1650" b="1" dirty="0">
                <a:solidFill>
                  <a:srgbClr val="1F2937"/>
                </a:solidFill>
              </a:rPr>
              <a:t>Run first serverless PySpark DataFrame</a:t>
            </a:r>
            <a:endParaRPr lang="en-US" sz="1650" dirty="0"/>
          </a:p>
        </p:txBody>
      </p:sp>
      <p:sp>
        <p:nvSpPr>
          <p:cNvPr id="22" name="Text 20"/>
          <p:cNvSpPr/>
          <p:nvPr/>
        </p:nvSpPr>
        <p:spPr>
          <a:xfrm>
            <a:off x="1143000" y="5742432"/>
            <a:ext cx="9875520" cy="347472"/>
          </a:xfrm>
          <a:prstGeom prst="rect">
            <a:avLst/>
          </a:prstGeom>
          <a:noFill/>
          <a:ln/>
        </p:spPr>
        <p:txBody>
          <a:bodyPr wrap="square" lIns="0" tIns="0" rIns="0" bIns="0" rtlCol="0" anchor="ctr"/>
          <a:lstStyle/>
          <a:p>
            <a:pPr algn="ctr" indent="0" marL="0">
              <a:buNone/>
            </a:pPr>
            <a:r>
              <a:rPr lang="en-US" sz="1800" b="1" dirty="0">
                <a:solidFill>
                  <a:srgbClr val="E53935"/>
                </a:solidFill>
              </a:rPr>
              <a:t>Do not skip setup — every later lab assumes this connection works.</a:t>
            </a:r>
            <a:endParaRPr lang="en-US" sz="18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LAB 0 VALIDATION</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The First Notebook</a:t>
            </a:r>
            <a:endParaRPr lang="en-US" sz="2800" dirty="0"/>
          </a:p>
        </p:txBody>
      </p:sp>
      <p:sp>
        <p:nvSpPr>
          <p:cNvPr id="4" name="Shape 2"/>
          <p:cNvSpPr/>
          <p:nvPr/>
        </p:nvSpPr>
        <p:spPr>
          <a:xfrm>
            <a:off x="658368" y="1325880"/>
            <a:ext cx="7498080" cy="4526280"/>
          </a:xfrm>
          <a:prstGeom prst="roundRect">
            <a:avLst/>
          </a:prstGeom>
          <a:solidFill>
            <a:srgbClr val="111827"/>
          </a:solidFill>
          <a:ln w="12700">
            <a:solidFill>
              <a:srgbClr val="111827"/>
            </a:solidFill>
            <a:prstDash val="solid"/>
          </a:ln>
        </p:spPr>
      </p:sp>
      <p:sp>
        <p:nvSpPr>
          <p:cNvPr id="5" name="Text 3"/>
          <p:cNvSpPr/>
          <p:nvPr/>
        </p:nvSpPr>
        <p:spPr>
          <a:xfrm>
            <a:off x="914400" y="1600200"/>
            <a:ext cx="6995160" cy="3886200"/>
          </a:xfrm>
          <a:prstGeom prst="rect">
            <a:avLst/>
          </a:prstGeom>
          <a:noFill/>
          <a:ln/>
        </p:spPr>
        <p:txBody>
          <a:bodyPr wrap="square" lIns="381" tIns="381" rIns="381" bIns="381" rtlCol="0" anchor="ctr">
            <a:normAutofit/>
          </a:bodyPr>
          <a:lstStyle/>
          <a:p>
            <a:pPr indent="0" marL="0">
              <a:buNone/>
            </a:pPr>
            <a:r>
              <a:rPr lang="en-US" sz="1320" dirty="0">
                <a:solidFill>
                  <a:srgbClr val="F9FAFB"/>
                </a:solidFill>
                <a:latin typeface="Courier New" pitchFamily="34" charset="0"/>
                <a:ea typeface="Courier New" pitchFamily="34" charset="-122"/>
                <a:cs typeface="Courier New" pitchFamily="34" charset="-120"/>
              </a:rPr>
              <a:t>from databricks.connect import DatabricksSession</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spark = DatabricksSession.builder.serverless().getOrCreate()</a:t>
            </a:r>
            <a:endParaRPr lang="en-US" sz="1320" dirty="0"/>
          </a:p>
          <a:p>
            <a:pPr indent="0" marL="0">
              <a:buNone/>
            </a:pP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data = [</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    ("Laptop", 1200),</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    ("Mouse", 35),</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    ("Keyboard", 80),</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    ("Monitor", 450)</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a:t>
            </a:r>
            <a:endParaRPr lang="en-US" sz="1320" dirty="0"/>
          </a:p>
          <a:p>
            <a:pPr indent="0" marL="0">
              <a:buNone/>
            </a:pP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df = spark.createDataFrame(data, ["Product", "Price"])</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df.show()</a:t>
            </a:r>
            <a:endParaRPr lang="en-US" sz="1320" dirty="0"/>
          </a:p>
          <a:p>
            <a:pPr indent="0" marL="0">
              <a:buNone/>
            </a:pPr>
            <a:r>
              <a:rPr lang="en-US" sz="1320" dirty="0">
                <a:solidFill>
                  <a:srgbClr val="F9FAFB"/>
                </a:solidFill>
                <a:latin typeface="Courier New" pitchFamily="34" charset="0"/>
                <a:ea typeface="Courier New" pitchFamily="34" charset="-122"/>
                <a:cs typeface="Courier New" pitchFamily="34" charset="-120"/>
              </a:rPr>
              <a:t>df.filter(df.Price &gt; 100).show()</a:t>
            </a:r>
            <a:endParaRPr lang="en-US" sz="1320" dirty="0"/>
          </a:p>
        </p:txBody>
      </p:sp>
      <p:sp>
        <p:nvSpPr>
          <p:cNvPr id="6" name="Shape 4"/>
          <p:cNvSpPr/>
          <p:nvPr/>
        </p:nvSpPr>
        <p:spPr>
          <a:xfrm>
            <a:off x="8458200" y="1325880"/>
            <a:ext cx="3063240" cy="4526280"/>
          </a:xfrm>
          <a:prstGeom prst="roundRect">
            <a:avLst>
              <a:gd name="adj" fmla="val 2388"/>
            </a:avLst>
          </a:prstGeom>
          <a:solidFill>
            <a:srgbClr val="FFFFFF"/>
          </a:solidFill>
          <a:ln w="12700">
            <a:solidFill>
              <a:srgbClr val="D9E0E8"/>
            </a:solidFill>
            <a:prstDash val="solid"/>
          </a:ln>
        </p:spPr>
      </p:sp>
      <p:sp>
        <p:nvSpPr>
          <p:cNvPr id="7" name="Shape 5"/>
          <p:cNvSpPr/>
          <p:nvPr/>
        </p:nvSpPr>
        <p:spPr>
          <a:xfrm>
            <a:off x="8458200" y="1325880"/>
            <a:ext cx="64008" cy="4526280"/>
          </a:xfrm>
          <a:prstGeom prst="rect">
            <a:avLst/>
          </a:prstGeom>
          <a:solidFill>
            <a:srgbClr val="16A34A"/>
          </a:solidFill>
          <a:ln w="12700">
            <a:solidFill>
              <a:srgbClr val="16A34A"/>
            </a:solidFill>
            <a:prstDash val="solid"/>
          </a:ln>
        </p:spPr>
      </p:sp>
      <p:sp>
        <p:nvSpPr>
          <p:cNvPr id="8" name="Text 6"/>
          <p:cNvSpPr/>
          <p:nvPr/>
        </p:nvSpPr>
        <p:spPr>
          <a:xfrm>
            <a:off x="8686800" y="1490472"/>
            <a:ext cx="2651760" cy="256032"/>
          </a:xfrm>
          <a:prstGeom prst="rect">
            <a:avLst/>
          </a:prstGeom>
          <a:noFill/>
          <a:ln/>
        </p:spPr>
        <p:txBody>
          <a:bodyPr wrap="square" lIns="0" tIns="0" rIns="0" bIns="0" rtlCol="0" anchor="ctr"/>
          <a:lstStyle/>
          <a:p>
            <a:pPr indent="0" marL="0">
              <a:buNone/>
            </a:pPr>
            <a:r>
              <a:rPr lang="en-US" sz="1900" b="1" dirty="0">
                <a:solidFill>
                  <a:srgbClr val="15233C"/>
                </a:solidFill>
              </a:rPr>
              <a:t>What this proves</a:t>
            </a:r>
            <a:endParaRPr lang="en-US" sz="1900" dirty="0"/>
          </a:p>
        </p:txBody>
      </p:sp>
      <p:sp>
        <p:nvSpPr>
          <p:cNvPr id="9" name="Text 7"/>
          <p:cNvSpPr/>
          <p:nvPr/>
        </p:nvSpPr>
        <p:spPr>
          <a:xfrm>
            <a:off x="8686800" y="1892808"/>
            <a:ext cx="2651760" cy="3813048"/>
          </a:xfrm>
          <a:prstGeom prst="rect">
            <a:avLst/>
          </a:prstGeom>
          <a:noFill/>
          <a:ln/>
        </p:spPr>
        <p:txBody>
          <a:bodyPr wrap="square" lIns="254" tIns="254" rIns="254" bIns="254" rtlCol="0" anchor="t">
            <a:normAutofit/>
          </a:bodyPr>
          <a:lstStyle/>
          <a:p>
            <a:pPr indent="0" marL="0">
              <a:buNone/>
            </a:pPr>
            <a:r>
              <a:rPr lang="en-US" sz="1520" dirty="0">
                <a:solidFill>
                  <a:srgbClr val="1F2937"/>
                </a:solidFill>
              </a:rPr>
              <a:t>✓ Authentication works</a:t>
            </a:r>
            <a:endParaRPr lang="en-US" sz="1520" dirty="0"/>
          </a:p>
          <a:p>
            <a:pPr indent="0" marL="0">
              <a:buNone/>
            </a:pPr>
            <a:r>
              <a:rPr lang="en-US" sz="1520" dirty="0">
                <a:solidFill>
                  <a:srgbClr val="1F2937"/>
                </a:solidFill>
              </a:rPr>
              <a:t>✓ Serverless session starts</a:t>
            </a:r>
            <a:endParaRPr lang="en-US" sz="1520" dirty="0"/>
          </a:p>
          <a:p>
            <a:pPr indent="0" marL="0">
              <a:buNone/>
            </a:pPr>
            <a:r>
              <a:rPr lang="en-US" sz="1520" dirty="0">
                <a:solidFill>
                  <a:srgbClr val="1F2937"/>
                </a:solidFill>
              </a:rPr>
              <a:t>✓ DataFrame is created</a:t>
            </a:r>
            <a:endParaRPr lang="en-US" sz="1520" dirty="0"/>
          </a:p>
          <a:p>
            <a:pPr indent="0" marL="0">
              <a:buNone/>
            </a:pPr>
            <a:r>
              <a:rPr lang="en-US" sz="1520" dirty="0">
                <a:solidFill>
                  <a:srgbClr val="1F2937"/>
                </a:solidFill>
              </a:rPr>
              <a:t>✓ Spark executes remotely</a:t>
            </a:r>
            <a:endParaRPr lang="en-US" sz="1520" dirty="0"/>
          </a:p>
          <a:p>
            <a:pPr indent="0" marL="0">
              <a:buNone/>
            </a:pPr>
            <a:r>
              <a:rPr lang="en-US" sz="1520" dirty="0">
                <a:solidFill>
                  <a:srgbClr val="1F2937"/>
                </a:solidFill>
              </a:rPr>
              <a:t>✓ Filter operation returns results</a:t>
            </a:r>
            <a:endParaRPr lang="en-US" sz="152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LOCAL VS REMOTE</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Databricks Connect Architecture</a:t>
            </a:r>
            <a:endParaRPr lang="en-US" sz="2800" dirty="0"/>
          </a:p>
        </p:txBody>
      </p:sp>
      <p:sp>
        <p:nvSpPr>
          <p:cNvPr id="4" name="Shape 2"/>
          <p:cNvSpPr/>
          <p:nvPr/>
        </p:nvSpPr>
        <p:spPr>
          <a:xfrm>
            <a:off x="594360" y="1965960"/>
            <a:ext cx="2377440" cy="1051560"/>
          </a:xfrm>
          <a:prstGeom prst="roundRect">
            <a:avLst>
              <a:gd name="adj" fmla="val 5217"/>
            </a:avLst>
          </a:prstGeom>
          <a:solidFill>
            <a:srgbClr val="E8F0FF"/>
          </a:solidFill>
          <a:ln w="12700">
            <a:solidFill>
              <a:srgbClr val="E8F0FF"/>
            </a:solidFill>
            <a:prstDash val="solid"/>
          </a:ln>
        </p:spPr>
      </p:sp>
      <p:sp>
        <p:nvSpPr>
          <p:cNvPr id="5" name="Text 3"/>
          <p:cNvSpPr/>
          <p:nvPr/>
        </p:nvSpPr>
        <p:spPr>
          <a:xfrm>
            <a:off x="640080" y="2011680"/>
            <a:ext cx="2286000" cy="960120"/>
          </a:xfrm>
          <a:prstGeom prst="rect">
            <a:avLst/>
          </a:prstGeom>
          <a:noFill/>
          <a:ln/>
        </p:spPr>
        <p:txBody>
          <a:bodyPr wrap="square" lIns="254" tIns="254" rIns="254" bIns="254" rtlCol="0" anchor="ctr">
            <a:normAutofit/>
          </a:bodyPr>
          <a:lstStyle/>
          <a:p>
            <a:pPr algn="ctr" indent="0" marL="0">
              <a:buNone/>
            </a:pPr>
            <a:r>
              <a:rPr lang="en-US" sz="2100" b="1" dirty="0">
                <a:solidFill>
                  <a:srgbClr val="2E5BFF"/>
                </a:solidFill>
              </a:rPr>
              <a:t>VS CODE</a:t>
            </a:r>
            <a:endParaRPr lang="en-US" sz="2100" dirty="0"/>
          </a:p>
        </p:txBody>
      </p:sp>
      <p:sp>
        <p:nvSpPr>
          <p:cNvPr id="6" name="Shape 4"/>
          <p:cNvSpPr/>
          <p:nvPr/>
        </p:nvSpPr>
        <p:spPr>
          <a:xfrm>
            <a:off x="3429000" y="1965960"/>
            <a:ext cx="2377440" cy="1051560"/>
          </a:xfrm>
          <a:prstGeom prst="roundRect">
            <a:avLst>
              <a:gd name="adj" fmla="val 5217"/>
            </a:avLst>
          </a:prstGeom>
          <a:solidFill>
            <a:srgbClr val="EDF0F3"/>
          </a:solidFill>
          <a:ln w="12700">
            <a:solidFill>
              <a:srgbClr val="EDF0F3"/>
            </a:solidFill>
            <a:prstDash val="solid"/>
          </a:ln>
        </p:spPr>
      </p:sp>
      <p:sp>
        <p:nvSpPr>
          <p:cNvPr id="7" name="Text 5"/>
          <p:cNvSpPr/>
          <p:nvPr/>
        </p:nvSpPr>
        <p:spPr>
          <a:xfrm>
            <a:off x="3474720" y="2011680"/>
            <a:ext cx="2286000" cy="960120"/>
          </a:xfrm>
          <a:prstGeom prst="rect">
            <a:avLst/>
          </a:prstGeom>
          <a:noFill/>
          <a:ln/>
        </p:spPr>
        <p:txBody>
          <a:bodyPr wrap="square" lIns="254" tIns="254" rIns="254" bIns="254" rtlCol="0" anchor="ctr">
            <a:normAutofit/>
          </a:bodyPr>
          <a:lstStyle/>
          <a:p>
            <a:pPr algn="ctr" indent="0" marL="0">
              <a:buNone/>
            </a:pPr>
            <a:r>
              <a:rPr lang="en-US" sz="1800" b="1" dirty="0">
                <a:solidFill>
                  <a:srgbClr val="64748B"/>
                </a:solidFill>
              </a:rPr>
              <a:t>lab00.ipynb</a:t>
            </a:r>
            <a:endParaRPr lang="en-US" sz="1800" dirty="0"/>
          </a:p>
        </p:txBody>
      </p:sp>
      <p:sp>
        <p:nvSpPr>
          <p:cNvPr id="8" name="Shape 6"/>
          <p:cNvSpPr/>
          <p:nvPr/>
        </p:nvSpPr>
        <p:spPr>
          <a:xfrm>
            <a:off x="6263640" y="1965960"/>
            <a:ext cx="2377440" cy="1051560"/>
          </a:xfrm>
          <a:prstGeom prst="roundRect">
            <a:avLst>
              <a:gd name="adj" fmla="val 5217"/>
            </a:avLst>
          </a:prstGeom>
          <a:solidFill>
            <a:srgbClr val="EDE9FE"/>
          </a:solidFill>
          <a:ln w="12700">
            <a:solidFill>
              <a:srgbClr val="EDE9FE"/>
            </a:solidFill>
            <a:prstDash val="solid"/>
          </a:ln>
        </p:spPr>
      </p:sp>
      <p:sp>
        <p:nvSpPr>
          <p:cNvPr id="9" name="Text 7"/>
          <p:cNvSpPr/>
          <p:nvPr/>
        </p:nvSpPr>
        <p:spPr>
          <a:xfrm>
            <a:off x="6309360" y="2011680"/>
            <a:ext cx="2286000" cy="960120"/>
          </a:xfrm>
          <a:prstGeom prst="rect">
            <a:avLst/>
          </a:prstGeom>
          <a:noFill/>
          <a:ln/>
        </p:spPr>
        <p:txBody>
          <a:bodyPr wrap="square" lIns="254" tIns="254" rIns="254" bIns="254" rtlCol="0" anchor="ctr">
            <a:normAutofit/>
          </a:bodyPr>
          <a:lstStyle/>
          <a:p>
            <a:pPr algn="ctr" indent="0" marL="0">
              <a:buNone/>
            </a:pPr>
            <a:r>
              <a:rPr lang="en-US" sz="1800" b="1" dirty="0">
                <a:solidFill>
                  <a:srgbClr val="7C3AED"/>
                </a:solidFill>
              </a:rPr>
              <a:t>DATABRICKS</a:t>
            </a:r>
            <a:endParaRPr lang="en-US" sz="1800" dirty="0"/>
          </a:p>
          <a:p>
            <a:pPr algn="ctr" indent="0" marL="0">
              <a:buNone/>
            </a:pPr>
            <a:r>
              <a:rPr lang="en-US" sz="1800" b="1" dirty="0">
                <a:solidFill>
                  <a:srgbClr val="7C3AED"/>
                </a:solidFill>
              </a:rPr>
              <a:t>CONNECT</a:t>
            </a:r>
            <a:endParaRPr lang="en-US" sz="1800" dirty="0"/>
          </a:p>
        </p:txBody>
      </p:sp>
      <p:sp>
        <p:nvSpPr>
          <p:cNvPr id="10" name="Shape 8"/>
          <p:cNvSpPr/>
          <p:nvPr/>
        </p:nvSpPr>
        <p:spPr>
          <a:xfrm>
            <a:off x="9098280" y="1965960"/>
            <a:ext cx="2514600" cy="1051560"/>
          </a:xfrm>
          <a:prstGeom prst="roundRect">
            <a:avLst>
              <a:gd name="adj" fmla="val 5217"/>
            </a:avLst>
          </a:prstGeom>
          <a:solidFill>
            <a:srgbClr val="FDECEC"/>
          </a:solidFill>
          <a:ln w="12700">
            <a:solidFill>
              <a:srgbClr val="FDECEC"/>
            </a:solidFill>
            <a:prstDash val="solid"/>
          </a:ln>
        </p:spPr>
      </p:sp>
      <p:sp>
        <p:nvSpPr>
          <p:cNvPr id="11" name="Text 9"/>
          <p:cNvSpPr/>
          <p:nvPr/>
        </p:nvSpPr>
        <p:spPr>
          <a:xfrm>
            <a:off x="9144000" y="2011680"/>
            <a:ext cx="2423160" cy="960120"/>
          </a:xfrm>
          <a:prstGeom prst="rect">
            <a:avLst/>
          </a:prstGeom>
          <a:noFill/>
          <a:ln/>
        </p:spPr>
        <p:txBody>
          <a:bodyPr wrap="square" lIns="254" tIns="254" rIns="254" bIns="254" rtlCol="0" anchor="ctr">
            <a:normAutofit/>
          </a:bodyPr>
          <a:lstStyle/>
          <a:p>
            <a:pPr algn="ctr" indent="0" marL="0">
              <a:buNone/>
            </a:pPr>
            <a:r>
              <a:rPr lang="en-US" sz="1800" b="1" dirty="0">
                <a:solidFill>
                  <a:srgbClr val="E53935"/>
                </a:solidFill>
              </a:rPr>
              <a:t>SERVERLESS</a:t>
            </a:r>
            <a:endParaRPr lang="en-US" sz="1800" dirty="0"/>
          </a:p>
          <a:p>
            <a:pPr algn="ctr" indent="0" marL="0">
              <a:buNone/>
            </a:pPr>
            <a:r>
              <a:rPr lang="en-US" sz="1800" b="1" dirty="0">
                <a:solidFill>
                  <a:srgbClr val="E53935"/>
                </a:solidFill>
              </a:rPr>
              <a:t>SPARK</a:t>
            </a:r>
            <a:endParaRPr lang="en-US" sz="1800" dirty="0"/>
          </a:p>
        </p:txBody>
      </p:sp>
      <p:sp>
        <p:nvSpPr>
          <p:cNvPr id="12" name="Shape 10"/>
          <p:cNvSpPr/>
          <p:nvPr/>
        </p:nvSpPr>
        <p:spPr>
          <a:xfrm>
            <a:off x="2971800" y="2496312"/>
            <a:ext cx="411480" cy="0"/>
          </a:xfrm>
          <a:prstGeom prst="line">
            <a:avLst/>
          </a:prstGeom>
          <a:noFill/>
          <a:ln w="33020">
            <a:solidFill>
              <a:srgbClr val="98A2B3"/>
            </a:solidFill>
            <a:prstDash val="solid"/>
            <a:headEnd type="none"/>
            <a:tailEnd type="triangle"/>
          </a:ln>
        </p:spPr>
      </p:sp>
      <p:sp>
        <p:nvSpPr>
          <p:cNvPr id="13" name="Shape 11"/>
          <p:cNvSpPr/>
          <p:nvPr/>
        </p:nvSpPr>
        <p:spPr>
          <a:xfrm>
            <a:off x="5806440" y="2496312"/>
            <a:ext cx="411480" cy="0"/>
          </a:xfrm>
          <a:prstGeom prst="line">
            <a:avLst/>
          </a:prstGeom>
          <a:noFill/>
          <a:ln w="33020">
            <a:solidFill>
              <a:srgbClr val="98A2B3"/>
            </a:solidFill>
            <a:prstDash val="solid"/>
            <a:headEnd type="none"/>
            <a:tailEnd type="triangle"/>
          </a:ln>
        </p:spPr>
      </p:sp>
      <p:sp>
        <p:nvSpPr>
          <p:cNvPr id="14" name="Shape 12"/>
          <p:cNvSpPr/>
          <p:nvPr/>
        </p:nvSpPr>
        <p:spPr>
          <a:xfrm>
            <a:off x="8641080" y="2496312"/>
            <a:ext cx="411480" cy="0"/>
          </a:xfrm>
          <a:prstGeom prst="line">
            <a:avLst/>
          </a:prstGeom>
          <a:noFill/>
          <a:ln w="33020">
            <a:solidFill>
              <a:srgbClr val="98A2B3"/>
            </a:solidFill>
            <a:prstDash val="solid"/>
            <a:headEnd type="none"/>
            <a:tailEnd type="triangle"/>
          </a:ln>
        </p:spPr>
      </p:sp>
      <p:sp>
        <p:nvSpPr>
          <p:cNvPr id="15" name="Text 13"/>
          <p:cNvSpPr/>
          <p:nvPr/>
        </p:nvSpPr>
        <p:spPr>
          <a:xfrm>
            <a:off x="1737360" y="3703320"/>
            <a:ext cx="2743200" cy="274320"/>
          </a:xfrm>
          <a:prstGeom prst="rect">
            <a:avLst/>
          </a:prstGeom>
          <a:noFill/>
          <a:ln/>
        </p:spPr>
        <p:txBody>
          <a:bodyPr wrap="square" lIns="0" tIns="0" rIns="0" bIns="0" rtlCol="0" anchor="ctr"/>
          <a:lstStyle/>
          <a:p>
            <a:pPr algn="ctr" indent="0" marL="0">
              <a:buNone/>
            </a:pPr>
            <a:r>
              <a:rPr lang="en-US" sz="1200" b="1" spc="120" kern="0" dirty="0">
                <a:solidFill>
                  <a:srgbClr val="2E5BFF"/>
                </a:solidFill>
              </a:rPr>
              <a:t>LOCAL COMPUTER</a:t>
            </a:r>
            <a:endParaRPr lang="en-US" sz="1200" dirty="0"/>
          </a:p>
        </p:txBody>
      </p:sp>
      <p:sp>
        <p:nvSpPr>
          <p:cNvPr id="16" name="Shape 14"/>
          <p:cNvSpPr/>
          <p:nvPr/>
        </p:nvSpPr>
        <p:spPr>
          <a:xfrm>
            <a:off x="685800" y="4096512"/>
            <a:ext cx="5257800" cy="0"/>
          </a:xfrm>
          <a:prstGeom prst="line">
            <a:avLst/>
          </a:prstGeom>
          <a:noFill/>
          <a:ln w="25400">
            <a:solidFill>
              <a:srgbClr val="2E5BFF"/>
            </a:solidFill>
            <a:prstDash val="solid"/>
          </a:ln>
        </p:spPr>
      </p:sp>
      <p:sp>
        <p:nvSpPr>
          <p:cNvPr id="17" name="Text 15"/>
          <p:cNvSpPr/>
          <p:nvPr/>
        </p:nvSpPr>
        <p:spPr>
          <a:xfrm>
            <a:off x="7772400" y="3703320"/>
            <a:ext cx="2926080" cy="274320"/>
          </a:xfrm>
          <a:prstGeom prst="rect">
            <a:avLst/>
          </a:prstGeom>
          <a:noFill/>
          <a:ln/>
        </p:spPr>
        <p:txBody>
          <a:bodyPr wrap="square" lIns="0" tIns="0" rIns="0" bIns="0" rtlCol="0" anchor="ctr"/>
          <a:lstStyle/>
          <a:p>
            <a:pPr algn="ctr" indent="0" marL="0">
              <a:buNone/>
            </a:pPr>
            <a:r>
              <a:rPr lang="en-US" sz="1200" b="1" spc="120" kern="0" dirty="0">
                <a:solidFill>
                  <a:srgbClr val="E53935"/>
                </a:solidFill>
              </a:rPr>
              <a:t>REMOTE DATABRICKS</a:t>
            </a:r>
            <a:endParaRPr lang="en-US" sz="1200" dirty="0"/>
          </a:p>
        </p:txBody>
      </p:sp>
      <p:sp>
        <p:nvSpPr>
          <p:cNvPr id="18" name="Shape 16"/>
          <p:cNvSpPr/>
          <p:nvPr/>
        </p:nvSpPr>
        <p:spPr>
          <a:xfrm>
            <a:off x="6172200" y="4096512"/>
            <a:ext cx="5257800" cy="0"/>
          </a:xfrm>
          <a:prstGeom prst="line">
            <a:avLst/>
          </a:prstGeom>
          <a:noFill/>
          <a:ln w="25400">
            <a:solidFill>
              <a:srgbClr val="E53935"/>
            </a:solidFill>
            <a:prstDash val="solid"/>
          </a:ln>
        </p:spPr>
      </p:sp>
      <p:sp>
        <p:nvSpPr>
          <p:cNvPr id="19" name="Text 17"/>
          <p:cNvSpPr/>
          <p:nvPr/>
        </p:nvSpPr>
        <p:spPr>
          <a:xfrm>
            <a:off x="1188720" y="4983480"/>
            <a:ext cx="9784080" cy="411480"/>
          </a:xfrm>
          <a:prstGeom prst="rect">
            <a:avLst/>
          </a:prstGeom>
          <a:noFill/>
          <a:ln/>
        </p:spPr>
        <p:txBody>
          <a:bodyPr wrap="square" lIns="0" tIns="0" rIns="0" bIns="0" rtlCol="0" anchor="ctr"/>
          <a:lstStyle/>
          <a:p>
            <a:pPr algn="ctr" indent="0" marL="0">
              <a:buNone/>
            </a:pPr>
            <a:r>
              <a:rPr lang="en-US" sz="2000" b="1" dirty="0">
                <a:solidFill>
                  <a:srgbClr val="15233C"/>
                </a:solidFill>
              </a:rPr>
              <a:t>You write locally. The expensive data processing executes remotely.</a:t>
            </a:r>
            <a:endParaRPr lang="en-US" sz="2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STRICT REQUIREMENTS</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Version Baseline for Lab 0</a:t>
            </a:r>
            <a:endParaRPr lang="en-US" sz="2800" dirty="0"/>
          </a:p>
        </p:txBody>
      </p:sp>
      <p:sp>
        <p:nvSpPr>
          <p:cNvPr id="4" name="Shape 2"/>
          <p:cNvSpPr/>
          <p:nvPr/>
        </p:nvSpPr>
        <p:spPr>
          <a:xfrm>
            <a:off x="1143000" y="1600200"/>
            <a:ext cx="4206240" cy="2560320"/>
          </a:xfrm>
          <a:prstGeom prst="roundRect">
            <a:avLst>
              <a:gd name="adj" fmla="val 2143"/>
            </a:avLst>
          </a:prstGeom>
          <a:solidFill>
            <a:srgbClr val="E8F0FF"/>
          </a:solidFill>
          <a:ln w="12700">
            <a:solidFill>
              <a:srgbClr val="E8F0FF"/>
            </a:solidFill>
            <a:prstDash val="solid"/>
          </a:ln>
        </p:spPr>
      </p:sp>
      <p:sp>
        <p:nvSpPr>
          <p:cNvPr id="5" name="Text 3"/>
          <p:cNvSpPr/>
          <p:nvPr/>
        </p:nvSpPr>
        <p:spPr>
          <a:xfrm>
            <a:off x="1188720" y="1645920"/>
            <a:ext cx="4114800" cy="2468880"/>
          </a:xfrm>
          <a:prstGeom prst="rect">
            <a:avLst/>
          </a:prstGeom>
          <a:noFill/>
          <a:ln/>
        </p:spPr>
        <p:txBody>
          <a:bodyPr wrap="square" lIns="254" tIns="254" rIns="254" bIns="254" rtlCol="0" anchor="ctr">
            <a:normAutofit/>
          </a:bodyPr>
          <a:lstStyle/>
          <a:p>
            <a:pPr algn="ctr" indent="0" marL="0">
              <a:buNone/>
            </a:pPr>
            <a:r>
              <a:rPr lang="en-US" sz="3000" b="1" dirty="0">
                <a:solidFill>
                  <a:srgbClr val="2E5BFF"/>
                </a:solidFill>
              </a:rPr>
              <a:t>PYTHON</a:t>
            </a:r>
            <a:endParaRPr lang="en-US" sz="3000" dirty="0"/>
          </a:p>
          <a:p>
            <a:pPr algn="ctr" indent="0" marL="0">
              <a:buNone/>
            </a:pPr>
            <a:r>
              <a:rPr lang="en-US" sz="3000" b="1" dirty="0">
                <a:solidFill>
                  <a:srgbClr val="2E5BFF"/>
                </a:solidFill>
              </a:rPr>
              <a:t>3.12</a:t>
            </a:r>
            <a:endParaRPr lang="en-US" sz="3000" dirty="0"/>
          </a:p>
        </p:txBody>
      </p:sp>
      <p:sp>
        <p:nvSpPr>
          <p:cNvPr id="6" name="Shape 4"/>
          <p:cNvSpPr/>
          <p:nvPr/>
        </p:nvSpPr>
        <p:spPr>
          <a:xfrm>
            <a:off x="6858000" y="1600200"/>
            <a:ext cx="4206240" cy="2560320"/>
          </a:xfrm>
          <a:prstGeom prst="roundRect">
            <a:avLst>
              <a:gd name="adj" fmla="val 2143"/>
            </a:avLst>
          </a:prstGeom>
          <a:solidFill>
            <a:srgbClr val="FDECEC"/>
          </a:solidFill>
          <a:ln w="12700">
            <a:solidFill>
              <a:srgbClr val="FDECEC"/>
            </a:solidFill>
            <a:prstDash val="solid"/>
          </a:ln>
        </p:spPr>
      </p:sp>
      <p:sp>
        <p:nvSpPr>
          <p:cNvPr id="7" name="Text 5"/>
          <p:cNvSpPr/>
          <p:nvPr/>
        </p:nvSpPr>
        <p:spPr>
          <a:xfrm>
            <a:off x="6903720" y="1645920"/>
            <a:ext cx="4114800" cy="2468880"/>
          </a:xfrm>
          <a:prstGeom prst="rect">
            <a:avLst/>
          </a:prstGeom>
          <a:noFill/>
          <a:ln/>
        </p:spPr>
        <p:txBody>
          <a:bodyPr wrap="square" lIns="254" tIns="254" rIns="254" bIns="254" rtlCol="0" anchor="ctr">
            <a:normAutofit/>
          </a:bodyPr>
          <a:lstStyle/>
          <a:p>
            <a:pPr algn="ctr" indent="0" marL="0">
              <a:buNone/>
            </a:pPr>
            <a:r>
              <a:rPr lang="en-US" sz="2600" b="1" dirty="0">
                <a:solidFill>
                  <a:srgbClr val="E53935"/>
                </a:solidFill>
              </a:rPr>
              <a:t>DATABRICKS CONNECT</a:t>
            </a:r>
            <a:endParaRPr lang="en-US" sz="2600" dirty="0"/>
          </a:p>
          <a:p>
            <a:pPr algn="ctr" indent="0" marL="0">
              <a:buNone/>
            </a:pPr>
            <a:r>
              <a:rPr lang="en-US" sz="2600" b="1" dirty="0">
                <a:solidFill>
                  <a:srgbClr val="E53935"/>
                </a:solidFill>
              </a:rPr>
              <a:t>17.3 LTS</a:t>
            </a:r>
            <a:endParaRPr lang="en-US" sz="2600" dirty="0"/>
          </a:p>
        </p:txBody>
      </p:sp>
      <p:sp>
        <p:nvSpPr>
          <p:cNvPr id="8" name="Shape 6"/>
          <p:cNvSpPr/>
          <p:nvPr/>
        </p:nvSpPr>
        <p:spPr>
          <a:xfrm>
            <a:off x="3931920" y="4800600"/>
            <a:ext cx="4343400" cy="310896"/>
          </a:xfrm>
          <a:prstGeom prst="roundRect">
            <a:avLst>
              <a:gd name="adj" fmla="val 23529"/>
            </a:avLst>
          </a:prstGeom>
          <a:solidFill>
            <a:srgbClr val="15233C"/>
          </a:solidFill>
          <a:ln w="12700">
            <a:solidFill>
              <a:srgbClr val="15233C"/>
            </a:solidFill>
            <a:prstDash val="solid"/>
          </a:ln>
        </p:spPr>
      </p:sp>
      <p:sp>
        <p:nvSpPr>
          <p:cNvPr id="9" name="Text 7"/>
          <p:cNvSpPr/>
          <p:nvPr/>
        </p:nvSpPr>
        <p:spPr>
          <a:xfrm>
            <a:off x="4005072" y="4864608"/>
            <a:ext cx="4197096" cy="146304"/>
          </a:xfrm>
          <a:prstGeom prst="rect">
            <a:avLst/>
          </a:prstGeom>
          <a:noFill/>
          <a:ln/>
        </p:spPr>
        <p:txBody>
          <a:bodyPr wrap="square" lIns="0" tIns="0" rIns="0" bIns="0" rtlCol="0" anchor="ctr"/>
          <a:lstStyle/>
          <a:p>
            <a:pPr algn="ctr" indent="0" marL="0">
              <a:buNone/>
            </a:pPr>
            <a:r>
              <a:rPr lang="en-US" sz="1000" b="1" dirty="0">
                <a:solidFill>
                  <a:srgbClr val="FFFFFF"/>
                </a:solidFill>
              </a:rPr>
              <a:t>Version alignment matters</a:t>
            </a:r>
            <a:endParaRPr lang="en-US" sz="1000" dirty="0"/>
          </a:p>
        </p:txBody>
      </p:sp>
      <p:sp>
        <p:nvSpPr>
          <p:cNvPr id="10" name="Text 8"/>
          <p:cNvSpPr/>
          <p:nvPr/>
        </p:nvSpPr>
        <p:spPr>
          <a:xfrm>
            <a:off x="1371600" y="5440680"/>
            <a:ext cx="9464040" cy="411480"/>
          </a:xfrm>
          <a:prstGeom prst="rect">
            <a:avLst/>
          </a:prstGeom>
          <a:noFill/>
          <a:ln/>
        </p:spPr>
        <p:txBody>
          <a:bodyPr wrap="square" lIns="0" tIns="0" rIns="0" bIns="0" rtlCol="0" anchor="ctr"/>
          <a:lstStyle/>
          <a:p>
            <a:pPr algn="ctr" indent="0" marL="0">
              <a:buNone/>
            </a:pPr>
            <a:r>
              <a:rPr lang="en-US" sz="1700" b="1" dirty="0">
                <a:solidFill>
                  <a:srgbClr val="1F2937"/>
                </a:solidFill>
              </a:rPr>
              <a:t>A mismatched local client and runtime can cause connection or compatibility failures.</a:t>
            </a:r>
            <a:endParaRPr lang="en-US" sz="17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SUMMARY</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What You Should Understand After Lecture 1</a:t>
            </a:r>
            <a:endParaRPr lang="en-US" sz="2800" dirty="0"/>
          </a:p>
        </p:txBody>
      </p:sp>
      <p:sp>
        <p:nvSpPr>
          <p:cNvPr id="4" name="Shape 2"/>
          <p:cNvSpPr/>
          <p:nvPr/>
        </p:nvSpPr>
        <p:spPr>
          <a:xfrm>
            <a:off x="868680" y="1344168"/>
            <a:ext cx="530352" cy="530352"/>
          </a:xfrm>
          <a:prstGeom prst="ellipse">
            <a:avLst/>
          </a:prstGeom>
          <a:solidFill>
            <a:srgbClr val="2E5BFF"/>
          </a:solidFill>
          <a:ln w="12700">
            <a:solidFill>
              <a:srgbClr val="2E5BFF"/>
            </a:solidFill>
            <a:prstDash val="solid"/>
          </a:ln>
        </p:spPr>
      </p:sp>
      <p:sp>
        <p:nvSpPr>
          <p:cNvPr id="5" name="Text 3"/>
          <p:cNvSpPr/>
          <p:nvPr/>
        </p:nvSpPr>
        <p:spPr>
          <a:xfrm>
            <a:off x="868680" y="1481328"/>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p:nvPr/>
        </p:nvSpPr>
        <p:spPr>
          <a:xfrm>
            <a:off x="1645920" y="1325880"/>
            <a:ext cx="9418320" cy="640080"/>
          </a:xfrm>
          <a:prstGeom prst="rect">
            <a:avLst/>
          </a:prstGeom>
          <a:noFill/>
          <a:ln/>
        </p:spPr>
        <p:txBody>
          <a:bodyPr wrap="square" lIns="0" tIns="0" rIns="0" bIns="0" rtlCol="0" anchor="ctr">
            <a:normAutofit/>
          </a:bodyPr>
          <a:lstStyle/>
          <a:p>
            <a:pPr indent="0" marL="0">
              <a:buNone/>
            </a:pPr>
            <a:r>
              <a:rPr lang="en-US" sz="1850" b="1" dirty="0">
                <a:solidFill>
                  <a:srgbClr val="1F2937"/>
                </a:solidFill>
              </a:rPr>
              <a:t>DW + DM are stages of one workflow</a:t>
            </a:r>
            <a:endParaRPr lang="en-US" sz="1850" dirty="0"/>
          </a:p>
        </p:txBody>
      </p:sp>
      <p:sp>
        <p:nvSpPr>
          <p:cNvPr id="7" name="Shape 5"/>
          <p:cNvSpPr/>
          <p:nvPr/>
        </p:nvSpPr>
        <p:spPr>
          <a:xfrm>
            <a:off x="868680" y="2240280"/>
            <a:ext cx="530352" cy="530352"/>
          </a:xfrm>
          <a:prstGeom prst="ellipse">
            <a:avLst/>
          </a:prstGeom>
          <a:solidFill>
            <a:srgbClr val="E53935"/>
          </a:solidFill>
          <a:ln w="12700">
            <a:solidFill>
              <a:srgbClr val="E53935"/>
            </a:solidFill>
            <a:prstDash val="solid"/>
          </a:ln>
        </p:spPr>
      </p:sp>
      <p:sp>
        <p:nvSpPr>
          <p:cNvPr id="8" name="Text 6"/>
          <p:cNvSpPr/>
          <p:nvPr/>
        </p:nvSpPr>
        <p:spPr>
          <a:xfrm>
            <a:off x="868680" y="2377440"/>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p:nvPr/>
        </p:nvSpPr>
        <p:spPr>
          <a:xfrm>
            <a:off x="1645920" y="2221992"/>
            <a:ext cx="9418320" cy="640080"/>
          </a:xfrm>
          <a:prstGeom prst="rect">
            <a:avLst/>
          </a:prstGeom>
          <a:noFill/>
          <a:ln/>
        </p:spPr>
        <p:txBody>
          <a:bodyPr wrap="square" lIns="0" tIns="0" rIns="0" bIns="0" rtlCol="0" anchor="ctr">
            <a:normAutofit/>
          </a:bodyPr>
          <a:lstStyle/>
          <a:p>
            <a:pPr indent="0" marL="0">
              <a:buNone/>
            </a:pPr>
            <a:r>
              <a:rPr lang="en-US" sz="1850" b="1" dirty="0">
                <a:solidFill>
                  <a:srgbClr val="1F2937"/>
                </a:solidFill>
              </a:rPr>
              <a:t>Databricks unifies engineering, SQL, and ML</a:t>
            </a:r>
            <a:endParaRPr lang="en-US" sz="1850" dirty="0"/>
          </a:p>
        </p:txBody>
      </p:sp>
      <p:sp>
        <p:nvSpPr>
          <p:cNvPr id="10" name="Shape 8"/>
          <p:cNvSpPr/>
          <p:nvPr/>
        </p:nvSpPr>
        <p:spPr>
          <a:xfrm>
            <a:off x="868680" y="3136392"/>
            <a:ext cx="530352" cy="530352"/>
          </a:xfrm>
          <a:prstGeom prst="ellipse">
            <a:avLst/>
          </a:prstGeom>
          <a:solidFill>
            <a:srgbClr val="A16207"/>
          </a:solidFill>
          <a:ln w="12700">
            <a:solidFill>
              <a:srgbClr val="A16207"/>
            </a:solidFill>
            <a:prstDash val="solid"/>
          </a:ln>
        </p:spPr>
      </p:sp>
      <p:sp>
        <p:nvSpPr>
          <p:cNvPr id="11" name="Text 9"/>
          <p:cNvSpPr/>
          <p:nvPr/>
        </p:nvSpPr>
        <p:spPr>
          <a:xfrm>
            <a:off x="868680" y="3273552"/>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p:nvPr/>
        </p:nvSpPr>
        <p:spPr>
          <a:xfrm>
            <a:off x="1645920" y="3118104"/>
            <a:ext cx="9418320" cy="640080"/>
          </a:xfrm>
          <a:prstGeom prst="rect">
            <a:avLst/>
          </a:prstGeom>
          <a:noFill/>
          <a:ln/>
        </p:spPr>
        <p:txBody>
          <a:bodyPr wrap="square" lIns="0" tIns="0" rIns="0" bIns="0" rtlCol="0" anchor="ctr">
            <a:normAutofit/>
          </a:bodyPr>
          <a:lstStyle/>
          <a:p>
            <a:pPr indent="0" marL="0">
              <a:buNone/>
            </a:pPr>
            <a:r>
              <a:rPr lang="en-US" sz="1850" b="1" dirty="0">
                <a:solidFill>
                  <a:srgbClr val="1F2937"/>
                </a:solidFill>
              </a:rPr>
              <a:t>Bronze → Silver → Gold manages progressive refinement</a:t>
            </a:r>
            <a:endParaRPr lang="en-US" sz="1850" dirty="0"/>
          </a:p>
        </p:txBody>
      </p:sp>
      <p:sp>
        <p:nvSpPr>
          <p:cNvPr id="13" name="Shape 11"/>
          <p:cNvSpPr/>
          <p:nvPr/>
        </p:nvSpPr>
        <p:spPr>
          <a:xfrm>
            <a:off x="868680" y="4032504"/>
            <a:ext cx="530352" cy="530352"/>
          </a:xfrm>
          <a:prstGeom prst="ellipse">
            <a:avLst/>
          </a:prstGeom>
          <a:solidFill>
            <a:srgbClr val="0F766E"/>
          </a:solidFill>
          <a:ln w="12700">
            <a:solidFill>
              <a:srgbClr val="0F766E"/>
            </a:solidFill>
            <a:prstDash val="solid"/>
          </a:ln>
        </p:spPr>
      </p:sp>
      <p:sp>
        <p:nvSpPr>
          <p:cNvPr id="14" name="Text 12"/>
          <p:cNvSpPr/>
          <p:nvPr/>
        </p:nvSpPr>
        <p:spPr>
          <a:xfrm>
            <a:off x="868680" y="4169664"/>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p:nvPr/>
        </p:nvSpPr>
        <p:spPr>
          <a:xfrm>
            <a:off x="1645920" y="4014216"/>
            <a:ext cx="9418320" cy="640080"/>
          </a:xfrm>
          <a:prstGeom prst="rect">
            <a:avLst/>
          </a:prstGeom>
          <a:noFill/>
          <a:ln/>
        </p:spPr>
        <p:txBody>
          <a:bodyPr wrap="square" lIns="0" tIns="0" rIns="0" bIns="0" rtlCol="0" anchor="ctr">
            <a:normAutofit/>
          </a:bodyPr>
          <a:lstStyle/>
          <a:p>
            <a:pPr indent="0" marL="0">
              <a:buNone/>
            </a:pPr>
            <a:r>
              <a:rPr lang="en-US" sz="1850" b="1" dirty="0">
                <a:solidFill>
                  <a:srgbClr val="1F2937"/>
                </a:solidFill>
              </a:rPr>
              <a:t>SQL remains critical in dimensional warehouses</a:t>
            </a:r>
            <a:endParaRPr lang="en-US" sz="1850" dirty="0"/>
          </a:p>
        </p:txBody>
      </p:sp>
      <p:sp>
        <p:nvSpPr>
          <p:cNvPr id="16" name="Shape 14"/>
          <p:cNvSpPr/>
          <p:nvPr/>
        </p:nvSpPr>
        <p:spPr>
          <a:xfrm>
            <a:off x="868680" y="4928616"/>
            <a:ext cx="530352" cy="530352"/>
          </a:xfrm>
          <a:prstGeom prst="ellipse">
            <a:avLst/>
          </a:prstGeom>
          <a:solidFill>
            <a:srgbClr val="7C3AED"/>
          </a:solidFill>
          <a:ln w="12700">
            <a:solidFill>
              <a:srgbClr val="7C3AED"/>
            </a:solidFill>
            <a:prstDash val="solid"/>
          </a:ln>
        </p:spPr>
      </p:sp>
      <p:sp>
        <p:nvSpPr>
          <p:cNvPr id="17" name="Text 15"/>
          <p:cNvSpPr/>
          <p:nvPr/>
        </p:nvSpPr>
        <p:spPr>
          <a:xfrm>
            <a:off x="868680" y="5065776"/>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6"/>
          <p:cNvSpPr/>
          <p:nvPr/>
        </p:nvSpPr>
        <p:spPr>
          <a:xfrm>
            <a:off x="1645920" y="4910328"/>
            <a:ext cx="9418320" cy="640080"/>
          </a:xfrm>
          <a:prstGeom prst="rect">
            <a:avLst/>
          </a:prstGeom>
          <a:noFill/>
          <a:ln/>
        </p:spPr>
        <p:txBody>
          <a:bodyPr wrap="square" lIns="0" tIns="0" rIns="0" bIns="0" rtlCol="0" anchor="ctr">
            <a:normAutofit/>
          </a:bodyPr>
          <a:lstStyle/>
          <a:p>
            <a:pPr indent="0" marL="0">
              <a:buNone/>
            </a:pPr>
            <a:r>
              <a:rPr lang="en-US" sz="1850" b="1" dirty="0">
                <a:solidFill>
                  <a:srgbClr val="1F2937"/>
                </a:solidFill>
              </a:rPr>
              <a:t>Reliable data is the foundation of reliable models</a:t>
            </a:r>
            <a:endParaRPr lang="en-US" sz="1850" dirty="0"/>
          </a:p>
        </p:txBody>
      </p:sp>
      <p:sp>
        <p:nvSpPr>
          <p:cNvPr id="19" name="Text 17"/>
          <p:cNvSpPr/>
          <p:nvPr/>
        </p:nvSpPr>
        <p:spPr>
          <a:xfrm>
            <a:off x="914400" y="5715000"/>
            <a:ext cx="10332720" cy="347472"/>
          </a:xfrm>
          <a:prstGeom prst="rect">
            <a:avLst/>
          </a:prstGeom>
          <a:noFill/>
          <a:ln/>
        </p:spPr>
        <p:txBody>
          <a:bodyPr wrap="square" lIns="0" tIns="0" rIns="0" bIns="0" rtlCol="0" anchor="ctr"/>
          <a:lstStyle/>
          <a:p>
            <a:pPr algn="ctr" indent="0" marL="0">
              <a:buNone/>
            </a:pPr>
            <a:r>
              <a:rPr lang="en-US" sz="1750" b="1" dirty="0">
                <a:solidFill>
                  <a:srgbClr val="15233C"/>
                </a:solidFill>
              </a:rPr>
              <a:t>Mental model to keep: raw data → refined warehouse → feature data → mining model → knowledge.</a:t>
            </a:r>
            <a:endParaRPr lang="en-US" sz="175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347472"/>
            <a:ext cx="5669280" cy="201168"/>
          </a:xfrm>
          <a:prstGeom prst="rect">
            <a:avLst/>
          </a:prstGeom>
          <a:noFill/>
          <a:ln/>
        </p:spPr>
        <p:txBody>
          <a:bodyPr wrap="square" lIns="0" tIns="0" rIns="0" bIns="0" rtlCol="0" anchor="ctr"/>
          <a:lstStyle/>
          <a:p>
            <a:pPr indent="0" marL="0">
              <a:buNone/>
            </a:pPr>
            <a:r>
              <a:rPr lang="en-US" sz="1050" b="1" spc="120" kern="0" dirty="0">
                <a:solidFill>
                  <a:srgbClr val="E53935"/>
                </a:solidFill>
              </a:rPr>
              <a:t>FURTHER READING</a:t>
            </a:r>
            <a:endParaRPr lang="en-US" sz="1050" dirty="0"/>
          </a:p>
        </p:txBody>
      </p:sp>
      <p:sp>
        <p:nvSpPr>
          <p:cNvPr id="3" name="Text 1"/>
          <p:cNvSpPr/>
          <p:nvPr/>
        </p:nvSpPr>
        <p:spPr>
          <a:xfrm>
            <a:off x="566928" y="640080"/>
            <a:ext cx="10972800" cy="502920"/>
          </a:xfrm>
          <a:prstGeom prst="rect">
            <a:avLst/>
          </a:prstGeom>
          <a:noFill/>
          <a:ln/>
        </p:spPr>
        <p:txBody>
          <a:bodyPr wrap="square" lIns="0" tIns="0" rIns="0" bIns="0" rtlCol="0" anchor="ctr"/>
          <a:lstStyle/>
          <a:p>
            <a:pPr indent="0" marL="0">
              <a:buNone/>
            </a:pPr>
            <a:r>
              <a:rPr lang="en-US" sz="2800" b="1" dirty="0">
                <a:solidFill>
                  <a:srgbClr val="15233C"/>
                </a:solidFill>
              </a:rPr>
              <a:t>References</a:t>
            </a:r>
            <a:endParaRPr lang="en-US" sz="2800" dirty="0"/>
          </a:p>
        </p:txBody>
      </p:sp>
      <p:sp>
        <p:nvSpPr>
          <p:cNvPr id="4" name="Shape 2"/>
          <p:cNvSpPr/>
          <p:nvPr/>
        </p:nvSpPr>
        <p:spPr>
          <a:xfrm>
            <a:off x="777240" y="1417320"/>
            <a:ext cx="10652760" cy="1078992"/>
          </a:xfrm>
          <a:prstGeom prst="roundRect">
            <a:avLst>
              <a:gd name="adj" fmla="val 6780"/>
            </a:avLst>
          </a:prstGeom>
          <a:solidFill>
            <a:srgbClr val="FFFFFF"/>
          </a:solidFill>
          <a:ln w="12700">
            <a:solidFill>
              <a:srgbClr val="D9E0E8"/>
            </a:solidFill>
            <a:prstDash val="solid"/>
          </a:ln>
        </p:spPr>
      </p:sp>
      <p:sp>
        <p:nvSpPr>
          <p:cNvPr id="5" name="Shape 3"/>
          <p:cNvSpPr/>
          <p:nvPr/>
        </p:nvSpPr>
        <p:spPr>
          <a:xfrm>
            <a:off x="777240" y="1417320"/>
            <a:ext cx="64008" cy="1078992"/>
          </a:xfrm>
          <a:prstGeom prst="rect">
            <a:avLst/>
          </a:prstGeom>
          <a:solidFill>
            <a:srgbClr val="E53935"/>
          </a:solidFill>
          <a:ln w="12700">
            <a:solidFill>
              <a:srgbClr val="E53935"/>
            </a:solidFill>
            <a:prstDash val="solid"/>
          </a:ln>
        </p:spPr>
      </p:sp>
      <p:sp>
        <p:nvSpPr>
          <p:cNvPr id="6" name="Text 4"/>
          <p:cNvSpPr/>
          <p:nvPr/>
        </p:nvSpPr>
        <p:spPr>
          <a:xfrm>
            <a:off x="1005840" y="1581912"/>
            <a:ext cx="10241280" cy="256032"/>
          </a:xfrm>
          <a:prstGeom prst="rect">
            <a:avLst/>
          </a:prstGeom>
          <a:noFill/>
          <a:ln/>
        </p:spPr>
        <p:txBody>
          <a:bodyPr wrap="square" lIns="0" tIns="0" rIns="0" bIns="0" rtlCol="0" anchor="ctr"/>
          <a:lstStyle/>
          <a:p>
            <a:pPr indent="0" marL="0">
              <a:buNone/>
            </a:pPr>
            <a:r>
              <a:rPr lang="en-US" sz="1800" b="1" dirty="0">
                <a:solidFill>
                  <a:srgbClr val="15233C"/>
                </a:solidFill>
              </a:rPr>
              <a:t>Databricks Documentation</a:t>
            </a:r>
            <a:endParaRPr lang="en-US" sz="1800" dirty="0"/>
          </a:p>
        </p:txBody>
      </p:sp>
      <p:sp>
        <p:nvSpPr>
          <p:cNvPr id="7" name="Text 5"/>
          <p:cNvSpPr/>
          <p:nvPr/>
        </p:nvSpPr>
        <p:spPr>
          <a:xfrm>
            <a:off x="1005840" y="1984248"/>
            <a:ext cx="10241280" cy="365760"/>
          </a:xfrm>
          <a:prstGeom prst="rect">
            <a:avLst/>
          </a:prstGeom>
          <a:noFill/>
          <a:ln/>
        </p:spPr>
        <p:txBody>
          <a:bodyPr wrap="square" lIns="254" tIns="254" rIns="254" bIns="254" rtlCol="0" anchor="t">
            <a:normAutofit/>
          </a:bodyPr>
          <a:lstStyle/>
          <a:p>
            <a:pPr indent="0" marL="0">
              <a:buNone/>
            </a:pPr>
            <a:r>
              <a:rPr lang="en-US" sz="1420" dirty="0">
                <a:solidFill>
                  <a:srgbClr val="1F2937"/>
                </a:solidFill>
              </a:rPr>
              <a:t>Free Edition • Lakehouse architecture • Medallion architecture • Schema enforcement • Serverless compute • MLflow</a:t>
            </a:r>
            <a:endParaRPr lang="en-US" sz="1420" dirty="0"/>
          </a:p>
        </p:txBody>
      </p:sp>
      <p:sp>
        <p:nvSpPr>
          <p:cNvPr id="8" name="Shape 6"/>
          <p:cNvSpPr/>
          <p:nvPr/>
        </p:nvSpPr>
        <p:spPr>
          <a:xfrm>
            <a:off x="777240" y="2788920"/>
            <a:ext cx="10652760" cy="1078992"/>
          </a:xfrm>
          <a:prstGeom prst="roundRect">
            <a:avLst>
              <a:gd name="adj" fmla="val 6780"/>
            </a:avLst>
          </a:prstGeom>
          <a:solidFill>
            <a:srgbClr val="FFFFFF"/>
          </a:solidFill>
          <a:ln w="12700">
            <a:solidFill>
              <a:srgbClr val="D9E0E8"/>
            </a:solidFill>
            <a:prstDash val="solid"/>
          </a:ln>
        </p:spPr>
      </p:sp>
      <p:sp>
        <p:nvSpPr>
          <p:cNvPr id="9" name="Shape 7"/>
          <p:cNvSpPr/>
          <p:nvPr/>
        </p:nvSpPr>
        <p:spPr>
          <a:xfrm>
            <a:off x="777240" y="2788920"/>
            <a:ext cx="64008" cy="1078992"/>
          </a:xfrm>
          <a:prstGeom prst="rect">
            <a:avLst/>
          </a:prstGeom>
          <a:solidFill>
            <a:srgbClr val="2E5BFF"/>
          </a:solidFill>
          <a:ln w="12700">
            <a:solidFill>
              <a:srgbClr val="2E5BFF"/>
            </a:solidFill>
            <a:prstDash val="solid"/>
          </a:ln>
        </p:spPr>
      </p:sp>
      <p:sp>
        <p:nvSpPr>
          <p:cNvPr id="10" name="Text 8"/>
          <p:cNvSpPr/>
          <p:nvPr/>
        </p:nvSpPr>
        <p:spPr>
          <a:xfrm>
            <a:off x="1005840" y="2953512"/>
            <a:ext cx="10241280" cy="256032"/>
          </a:xfrm>
          <a:prstGeom prst="rect">
            <a:avLst/>
          </a:prstGeom>
          <a:noFill/>
          <a:ln/>
        </p:spPr>
        <p:txBody>
          <a:bodyPr wrap="square" lIns="0" tIns="0" rIns="0" bIns="0" rtlCol="0" anchor="ctr"/>
          <a:lstStyle/>
          <a:p>
            <a:pPr indent="0" marL="0">
              <a:buNone/>
            </a:pPr>
            <a:r>
              <a:rPr lang="en-US" sz="1800" b="1" dirty="0">
                <a:solidFill>
                  <a:srgbClr val="15233C"/>
                </a:solidFill>
              </a:rPr>
              <a:t>Verma, S.</a:t>
            </a:r>
            <a:endParaRPr lang="en-US" sz="1800" dirty="0"/>
          </a:p>
        </p:txBody>
      </p:sp>
      <p:sp>
        <p:nvSpPr>
          <p:cNvPr id="11" name="Text 9"/>
          <p:cNvSpPr/>
          <p:nvPr/>
        </p:nvSpPr>
        <p:spPr>
          <a:xfrm>
            <a:off x="1005840" y="3355848"/>
            <a:ext cx="10241280" cy="365760"/>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Data Engineering with Databricks</a:t>
            </a:r>
            <a:endParaRPr lang="en-US" sz="1500" dirty="0"/>
          </a:p>
        </p:txBody>
      </p:sp>
      <p:sp>
        <p:nvSpPr>
          <p:cNvPr id="12" name="Shape 10"/>
          <p:cNvSpPr/>
          <p:nvPr/>
        </p:nvSpPr>
        <p:spPr>
          <a:xfrm>
            <a:off x="777240" y="4160520"/>
            <a:ext cx="10652760" cy="1078992"/>
          </a:xfrm>
          <a:prstGeom prst="roundRect">
            <a:avLst>
              <a:gd name="adj" fmla="val 6780"/>
            </a:avLst>
          </a:prstGeom>
          <a:solidFill>
            <a:srgbClr val="FFFFFF"/>
          </a:solidFill>
          <a:ln w="12700">
            <a:solidFill>
              <a:srgbClr val="D9E0E8"/>
            </a:solidFill>
            <a:prstDash val="solid"/>
          </a:ln>
        </p:spPr>
      </p:sp>
      <p:sp>
        <p:nvSpPr>
          <p:cNvPr id="13" name="Shape 11"/>
          <p:cNvSpPr/>
          <p:nvPr/>
        </p:nvSpPr>
        <p:spPr>
          <a:xfrm>
            <a:off x="777240" y="4160520"/>
            <a:ext cx="64008" cy="1078992"/>
          </a:xfrm>
          <a:prstGeom prst="rect">
            <a:avLst/>
          </a:prstGeom>
          <a:solidFill>
            <a:srgbClr val="7C3AED"/>
          </a:solidFill>
          <a:ln w="12700">
            <a:solidFill>
              <a:srgbClr val="7C3AED"/>
            </a:solidFill>
            <a:prstDash val="solid"/>
          </a:ln>
        </p:spPr>
      </p:sp>
      <p:sp>
        <p:nvSpPr>
          <p:cNvPr id="14" name="Text 12"/>
          <p:cNvSpPr/>
          <p:nvPr/>
        </p:nvSpPr>
        <p:spPr>
          <a:xfrm>
            <a:off x="1005840" y="4325112"/>
            <a:ext cx="10241280" cy="256032"/>
          </a:xfrm>
          <a:prstGeom prst="rect">
            <a:avLst/>
          </a:prstGeom>
          <a:noFill/>
          <a:ln/>
        </p:spPr>
        <p:txBody>
          <a:bodyPr wrap="square" lIns="0" tIns="0" rIns="0" bIns="0" rtlCol="0" anchor="ctr"/>
          <a:lstStyle/>
          <a:p>
            <a:pPr indent="0" marL="0">
              <a:buNone/>
            </a:pPr>
            <a:r>
              <a:rPr lang="en-US" sz="1800" b="1" dirty="0">
                <a:solidFill>
                  <a:srgbClr val="15233C"/>
                </a:solidFill>
              </a:rPr>
              <a:t>Databricks</a:t>
            </a:r>
            <a:endParaRPr lang="en-US" sz="1800" dirty="0"/>
          </a:p>
        </p:txBody>
      </p:sp>
      <p:sp>
        <p:nvSpPr>
          <p:cNvPr id="15" name="Text 13"/>
          <p:cNvSpPr/>
          <p:nvPr/>
        </p:nvSpPr>
        <p:spPr>
          <a:xfrm>
            <a:off x="1005840" y="4727448"/>
            <a:ext cx="10241280" cy="365760"/>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Big Book of Data Warehousing and BI</a:t>
            </a:r>
            <a:endParaRPr lang="en-US" sz="1500" dirty="0"/>
          </a:p>
        </p:txBody>
      </p:sp>
      <p:sp>
        <p:nvSpPr>
          <p:cNvPr id="16" name="Text 14"/>
          <p:cNvSpPr/>
          <p:nvPr/>
        </p:nvSpPr>
        <p:spPr>
          <a:xfrm>
            <a:off x="4023360" y="5623560"/>
            <a:ext cx="4114800" cy="384048"/>
          </a:xfrm>
          <a:prstGeom prst="rect">
            <a:avLst/>
          </a:prstGeom>
          <a:noFill/>
          <a:ln/>
        </p:spPr>
        <p:txBody>
          <a:bodyPr wrap="square" lIns="0" tIns="0" rIns="0" bIns="0" rtlCol="0" anchor="ctr"/>
          <a:lstStyle/>
          <a:p>
            <a:pPr algn="ctr" indent="0" marL="0">
              <a:buNone/>
            </a:pPr>
            <a:r>
              <a:rPr lang="en-US" sz="2000" b="1" dirty="0">
                <a:solidFill>
                  <a:srgbClr val="15233C"/>
                </a:solidFill>
              </a:rPr>
              <a:t>Lecture 1 complete</a:t>
            </a:r>
            <a:endParaRPr lang="en-US" sz="2000" dirty="0"/>
          </a:p>
        </p:txBody>
      </p:sp>
      <p:sp>
        <p:nvSpPr>
          <p:cNvPr id="25" name="Slide Number Placeholder 0"/>
          <p:cNvSpPr>
            <a:spLocks noGrp="1"/>
          </p:cNvSpPr>
          <p:nvPr>
            <p:ph type="sldNum" sz="quarter" idx="4294967295"/>
          </p:nvPr>
        </p:nvSpPr>
        <p:spPr>
          <a:xfrm>
            <a:off x="11658600" y="6455664"/>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98A2B3"/>
                </a:solidFill>
              </a:defRPr>
            </a:lvl1pPr>
          </a:lstStyle>
          <a:p>
            <a:pPr algn="l"/>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COMP 454-3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From Data to Knowledge with Databricks</dc:title>
  <dc:subject>COMP 454-3 — Data Warehouses and Data Mining</dc:subject>
  <dc:creator>Ismail</dc:creator>
  <cp:lastModifiedBy>Ismail</cp:lastModifiedBy>
  <cp:revision>1</cp:revision>
  <dcterms:created xsi:type="dcterms:W3CDTF">2026-09-18T04:36:13Z</dcterms:created>
  <dcterms:modified xsi:type="dcterms:W3CDTF">2026-09-18T04:36:13Z</dcterms:modified>
</cp:coreProperties>
</file>